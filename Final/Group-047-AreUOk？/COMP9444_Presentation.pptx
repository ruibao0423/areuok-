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6" r:id="rId21"/>
    <p:sldId id="273" r:id="rId22"/>
    <p:sldId id="274" r:id="rId23"/>
    <p:sldId id="275" r:id="rId24"/>
    <p:sldId id="287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0"/>
        <p:guide pos="290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ECC8B-2226-40D8-BFCB-32E2FDD4AEBE}" type="datetimeFigureOut">
              <a:rPr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99D8B-030F-426B-AD6D-BC87552DABE3}" type="slidenum">
              <a:rPr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Our project (047) tackles two clinical tasks on breast ultrasound — telling normal/benign/malignant apart (classification) and outlining the tumour (segmentation). Our headline contribution is a *fair* benchmark: we reproduced 13 published models and built 2 of our own, all under one carefully cleaned, leakage-free data split, so the comparison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parts: the clinical problem and prior work; the data and what our exploration revealed; the 13 models we reproduced; our own two improved models with an ablation; results with two kinds of comparison; and finally what we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clinical problem first. Ultrasound is the workhorse for breast screening because it's safe and cheap, but it is genuinely hard to read. That's the motivation for computer-aided diagnosis. We attack two complementary tasks — classify the image, and outline the mass — and note up front that missing a malignant case is the costliest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real BUSI images with the radiologist's ground-truth contour. Notice benign (green) and malignant (red) masses can look similar; boundaries blur into surrounding tissue; there's speckle, shadowing and even caliper/text annotations burnt into the frame. Normal images have no lesion. This is why hand-crafted features struggle and why we need learned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brief points us at three papers: the BUSI dataset itself, Yap's early CNN detection study, and the original U-Net. These are our mandatory reproductions and the backbone of the literature. Everything else we added builds outward from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classification we lean on the three canonical CNN backbones — ResNet, DenseNet, EfficientNet — all ImageNet-pretrained. For segmentation we cover the U-Net family plus attention variants, DeepLab's atrous convolutions, two BUS-specific nets (AAU-Net, CResU-Net), and nnU-Net as a strong self-configuring baseline. A recurring theme in the literature is inflated BUSI scores from data leakage — which we deliberately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most relevant prior work combines both tasks two ways. Bruno's dual-stage pipeline is sequential: segment, crop, classify. Lu's MTL-OCA is joint: one backbone, two heads. We reproduce both, and then extend the dual-stage line into our own improved pipeline. This slide sets up the design space for our combined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BUSI: 780 images from 600 patients, three classes, with ground-truth masks. We didn't just look — we ran ten analyses. Four of them changed what we did next: the class imbalance drove loss weighting; the tiny benign lesions explain why segmentation is hard; overlapping intensities mean we can't threshold, we need learned features; and — crucially — a third of the data are near-duplicates, which forces a special data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findings. Top: the classes are imbalanced — benign dominates, normal is rare — so we weight the loss by inverse frequency and report macro-F1, which treats every class equally. Bottom: malignant lesions are large but benign lesions are tiny, a median of under 4% of the image. Small targets are exactly where Dice punishes you, so we average Dice per image rather than pooling all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Top: lesions concentrate near the image centre — an acquisition bias worth knowing when we crop ROIs. Bottom-left: the brightness and contrast distributions of the three classes overlap almost completely. So a simple intensity threshold can't separate classes — we genuinely need learned features, and we normalise inputs so brightness differences don't dominate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our most important methodological finding. Using perceptual hashing we discovered that a THIRD of BUSI images are near-duplicates — repeated frames of the same scan — and a few duplicates even carry conflicting benign/malignant labels. If you split randomly, the same lesion lands in both train and test, and your scores are inflated. Our fix is a cluster-level split: near-duplicates stay together on one side. This single decision is why our numbers are lower — but honest — than many published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model runs through the same four-stage pipeline. We clean conflicting labels and merge masks; we de-leak with cluster-level splitting; we letterbox to 256×256 preserving aspect ratio, go grayscale, and normalise; and we augment the training split only. Because the split is identical for all models, differences in the results come from the architecture, not from data handling. Metrics: macro-F1 for classification, per-image Dice/IoU for segmentation, and confidence intervals for our final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the full menu. Eight segmentation models — including the three mandatory reproductions marked with a star — three classification backbones, and two combined models. Then our two contributions in amber: an improved segmenter and an improved dual-stage pipeline. For each reproduction we reused only the pretrained backbone where relevant; the heads, losses and training loops are our own implementation, which matters for the marking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 mandatory reproductions. We wrote the U-Net from scratch. We reproduced Yap's patch-based LeNet detector — including the tricky balanced hard-negative sampling and sliding-window inference — and Yap's best model, the transfer-learned FCN-AlexNet. We're careful to state exactly what is our own code versus a reused pretrained backbone, which the rubric explicitly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required nets we reproduced five stronger segmenters. Attention U-Net is a controlled comparison — same recipe as our U-Net — so any change is due purely to the attention gate. DeepLabV3+ with a pretrained ResNet-50 is our best baseline. nnU-Net is the famous self-configuring net, here as its blueprint. AAU-Net and CResU-Net are BUS-specific designs with reported state-of-the-art numbers we test honestly under our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classification we fine-tune the three canonical pretrained backbones. We deliberately pick the smallest variant of each — ResNet-18, DenseNet-121, EfficientNet-B0 — because BUSI is small and larger nets overfit. All share the same recipe: pseudo-RGB inputs, a fresh three-way head, and class-weighted cross-entropy so the rare malignant class isn't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combined baselines. The dual-stage pipeline is a clean sequence: DeepLabV3+ segments, we crop the lesion ROI, and EfficientNet classifies that crop — so the classifier only sees the tumour, not the clutter. MTL-OCA is the joint alternative: one Res-UNet backbone with two heads and a weighted three-term loss. We reproduce both, and we'll show the joint model pays a price for sharing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improving, we had to pick which combined design to build on. Head-to-head, the joint MTL-OCA model loses on both tasks because it forces one backbone to serve segmentation and classification at once — a compromise that's too costly on small data. The dual-stage pipeline instead lets us plug in our best specialist for each stage. Four reasons sealed it: it's modular, so we can improve each stage on its own; it enables a controlled experiment — fix the classifier, swap the segmenter, and measure the segmenter's true contribution; it reuses our strongest models; and it produces an explicit mask and ROI, which is far more interpretable for a clinician. So we extend the dual-stage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improved segmenter is motivated directly by the baselines: transfer learning helped, so we make it central. We take a U-Net decoder but swap in an ImageNet-pretrained EfficientNet-B4 encoder. On top we add a Focal Tversky loss to chase missed lesions, and test-time augmentation with post-processing. Crucially, we don't just stack tricks — we ablate each one to see what actually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payoff of ablating. Read down the table: the from-scratch U-Net scores 0.648. Adding the pretrained encoder jumps it to 0.765 — that one change is essentially the entire improvement, and it also halves the number of completely-missed lesions. The fancy Focal Tversky loss doesn't raise Dice; it just trades precision for recall. TTA does nothing measurable. The lesson is blunt: transfer learning matters more than architectural cleverness on a dataset this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improved pipeline. Same skeleton as Bruno, but Stage 1 is now our pretrained segmenter, and — importantly — Stage 2 is kept identical, so any change in the end-to-end score is due to segmentation alone. The real contribution is the evaluation rigour along the bottom: masks generated out-of-fold so the classifier never trains on its own test-time inputs, five-seed ensembling to remove luck, and a bootstrap confidence interval to tell a real gain from noise. This is what most BUSI papers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dual-stage counterpart to the segmenter ablation — and arguably the most important methodological result of the project. First, OOF: to train the Stage-2 classifier on predicted-mask crops, we need predicted masks for the TRAINING images. If we used a segmenter that had already seen those images, the masks would be unrealistically perfect. So we use 5-fold cross-fitting — each image's mask comes from a segmenter trained only on the other folds. That gives realistic masks and removes the train-clean / test-imperfect mismatch. It's a correctness fix, not a way to inflate the score. Then the ablation: we add shape features, then radiomics. Read the confidence intervals — they all overlap the pure-CNN baseline, so hand-crafted features give no reliable gain and we drop them. The only thing that survives is ensembling: averaging five seeds lifts the per-seed 0.847 to 0.875. The lesson: on 98 images, single-run differences of a few points are just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Segmentation results, ranked by Dice. Four things to notice. First, our improved segmenter is top. Second, our reproductions of published models score below their reported numbers — that's the leakage removal, and it's the honest number. Third, the heavyweight nnU-Net does not win; a good pretrained encoder beats it. Fourth, the controlled U-Net versus Attention U-Net pair shows the attention gate actually hurts slightly here. Bigger and fancier is not better on small ultrasound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Classification. EfficientNet-B0 wins with macro-F1 0.828 and an excellent AUC. All three specialist backbones clearly beat the joint multi-task model, which underperforms on both tasks — confirming that on small data a shared backbone is a false economy. The confusion matrix shows the expected clinical pattern: the minority malignant class is hardest, and it's where every model makes most of its mistakes — exactly the errors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dual-stage story has two punchlines. First, the bottleneck: a much stronger segmenter barely changes the end-to-end F1, and the perfect-segmentation upper bound sits far above what we reach — so the limiting factor is the classifier, not the mask. Second, rigour: table (a) looks like every trick helps, a neat climb from 0.804 to 0.840. But once we add confidence intervals in table (b), those gains overlap and vanish. Hand-crafted features do nothing reliable; the only thing that survives is ensembling. On a 98-image test set, single-run differences are mostly noise — a central lesson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ways to compare. On the left, horizontal: for each task our model versus the strongest baseline — we win on all three. On the right, vertical: our leakage-free Dice against the numbers those same papers reported. The consistent drop is not our models being weak — it's the near-duplicate leakage we removed. Same models, honest split, lower-but-trustworthy numbers. This contrast is, in a sense, our main scientific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Zooming out, three findings that go beyond BUSI. One: evaluation hygiene dominates — how you split the data changes the headline more than the architecture does. Two: transfer learning is the decisive lever on small medical datasets, beating clever losses and self-configuring frameworks. Three: always find and fix the real bottleneck — here it was the classifier, not the segmenter — and report confidence intervals so you don't chase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Strengths: one fair split, controlled experiments, honest statistics, and best-in-class results on both our segmenter and our pipeline. Limitations: it's a single small dataset with a 98-image test set, so confidence intervals are wide; we couldn't afford full nested cross-validation; we're 2D and single-centre; and our radiomics features didn't help. Future work: try foundation models like MedSAM, strengthen and ensemble the ROI classifier, run nested cross-validation, and validate on external multi-centre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close: the whole project distils to one line — on small, noisy ultrasound data, clean evaluation and transfer learning beat architectural complexity every time. Our headline numbers: 0.760 Dice for the segmenter, 0.828 macro-F1 for the classifier, and 0.875 for the dual-stage pipeline with a reported confidence interval. Thank you — we're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A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051560"/>
            <a:ext cx="310896" cy="310896"/>
          </a:xfrm>
          <a:prstGeom prst="ellipse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051560"/>
            <a:ext cx="310896" cy="310896"/>
          </a:xfrm>
          <a:prstGeom prst="ellipse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051560"/>
            <a:ext cx="310896" cy="310896"/>
          </a:xfrm>
          <a:prstGeom prst="ellipse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FE0EA"/>
                </a:solidFill>
                <a:latin typeface="Calibri" panose="020F0502020204030204"/>
              </a:rPr>
              <a:t>COMP9444 · Neural Networks &amp; Deep Learning · Term 2, 2026</a:t>
            </a:r>
            <a:endParaRPr sz="1400" b="1" i="0">
              <a:solidFill>
                <a:srgbClr val="BFE0E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10698480" cy="1285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lang="en-US" sz="4000" b="1">
                <a:solidFill>
                  <a:srgbClr val="FFFFFF"/>
                </a:solidFill>
                <a:latin typeface="Calibri" panose="020F0502020204030204"/>
              </a:rPr>
              <a:t>Breast</a:t>
            </a:r>
            <a:r>
              <a:rPr lang="zh-CN" sz="40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sz="4000" b="1" i="0">
                <a:solidFill>
                  <a:srgbClr val="FFFFFF"/>
                </a:solidFill>
                <a:latin typeface="Calibri" panose="020F0502020204030204"/>
              </a:rPr>
              <a:t>Cancer </a:t>
            </a:r>
            <a:r>
              <a:rPr lang="en-US" sz="4000" b="1">
                <a:solidFill>
                  <a:srgbClr val="FFFFFF"/>
                </a:solidFill>
                <a:latin typeface="Calibri" panose="020F0502020204030204"/>
              </a:rPr>
              <a:t>Classification</a:t>
            </a:r>
            <a:r>
              <a:rPr sz="4000" b="1" i="0">
                <a:solidFill>
                  <a:srgbClr val="FFFFFF"/>
                </a:solidFill>
                <a:latin typeface="Calibri" panose="020F0502020204030204"/>
              </a:rPr>
              <a:t> &amp;</a:t>
            </a:r>
            <a:endParaRPr lang="ja-JP" altLang="en-US" sz="4000" b="1" i="0">
              <a:solidFill>
                <a:srgbClr val="FFFFFF"/>
              </a:solidFill>
              <a:latin typeface="Calibri" panose="020F0502020204030204"/>
              <a:ea typeface="MS PGothic" panose="020B0600070205080204" charset="-128"/>
              <a:cs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 panose="020F0502020204030204"/>
              </a:rPr>
              <a:t>Segmentation on Ultrasound Images</a:t>
            </a:r>
            <a:endParaRPr sz="4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6EAF0"/>
                </a:solidFill>
                <a:latin typeface="Calibri" panose="020F0502020204030204"/>
              </a:rPr>
              <a:t>A leakage-free benchmark of </a:t>
            </a:r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15 deep-learning models</a:t>
            </a:r>
            <a:r>
              <a:rPr sz="1700" b="0" i="0">
                <a:solidFill>
                  <a:srgbClr val="D6EAF0"/>
                </a:solidFill>
                <a:latin typeface="Calibri" panose="020F0502020204030204"/>
              </a:rPr>
              <a:t> on the BUSI dataset</a:t>
            </a:r>
            <a:endParaRPr sz="1700" b="0" i="0">
              <a:solidFill>
                <a:srgbClr val="D6EAF0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7315200" cy="1220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Group Project 047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FE0EA"/>
                </a:solidFill>
                <a:latin typeface="Calibri" panose="020F0502020204030204"/>
              </a:rPr>
              <a:t>Classification  ·  Segmentation  ·  Dual-stage pipeline</a:t>
            </a:r>
            <a:endParaRPr sz="1250" b="0" i="0">
              <a:solidFill>
                <a:srgbClr val="BFE0EA"/>
              </a:solidFill>
              <a:latin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BFE0EA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Rui</a:t>
            </a:r>
            <a:r>
              <a:rPr lang="zh-CN" altLang="en-US" sz="1250">
                <a:solidFill>
                  <a:srgbClr val="BFE0EA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Bao,Qiyu Fan,Zihan Xia,Feiheng Wang,Haotian Xu</a:t>
            </a:r>
            <a:endParaRPr lang="zh-CN" altLang="en-US" sz="1250">
              <a:solidFill>
                <a:srgbClr val="BFE0EA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lang="zh-CN" altLang="en-US" sz="1250">
                <a:solidFill>
                  <a:srgbClr val="BFE0EA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Group name: AreUOK?</a:t>
            </a:r>
            <a:endParaRPr lang="zh-CN" altLang="en-US" sz="1250">
              <a:solidFill>
                <a:srgbClr val="BFE0EA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altLang="en-US" sz="1250">
              <a:solidFill>
                <a:srgbClr val="BFE0EA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0" y="5669280"/>
            <a:ext cx="2194560" cy="56692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5669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38"/>
                </a:solidFill>
                <a:latin typeface="Calibri" panose="020F0502020204030204"/>
              </a:rPr>
              <a:t>13 reproduced + 2 improved</a:t>
            </a:r>
            <a:endParaRPr sz="1200" b="1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A33D"/>
                </a:solidFill>
                <a:latin typeface="Calibri" panose="020F0502020204030204"/>
              </a:rPr>
              <a:t>AGENDA</a:t>
            </a:r>
            <a:endParaRPr sz="125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What we'll walk through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ea typeface="+mn-lt"/>
                <a:cs typeface="+mn-lt"/>
              </a:rPr>
              <a:t>Presenter:</a:t>
            </a:r>
            <a:r>
              <a:rPr lang="zh-CN" altLang="en-US" sz="900">
                <a:solidFill>
                  <a:srgbClr val="8A94A6"/>
                </a:solidFill>
                <a:ea typeface="+mn-lt"/>
                <a:cs typeface="+mn-lt"/>
              </a:rPr>
              <a:t> HaoTian Xu</a:t>
            </a:r>
            <a:r>
              <a:rPr lang="en-US" altLang="zh-CN" sz="900">
                <a:solidFill>
                  <a:srgbClr val="8A94A6"/>
                </a:solidFill>
                <a:ea typeface="+mn-lt"/>
                <a:cs typeface="+mn-lt"/>
              </a:rPr>
              <a:t> z5578047</a:t>
            </a:r>
            <a:endParaRPr lang="en-US" altLang="zh-CN" sz="900">
              <a:solidFill>
                <a:srgbClr val="8A94A6"/>
              </a:solidFill>
              <a:ea typeface="+mn-lt"/>
              <a:cs typeface="+mn-lt"/>
            </a:endParaRPr>
          </a:p>
          <a:p>
            <a:endParaRPr lang="zh-CN" altLang="en-US" sz="900" dirty="0">
              <a:solidFill>
                <a:srgbClr val="8A94A6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118872" cy="205740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1" y="1947672"/>
            <a:ext cx="786384" cy="786384"/>
          </a:xfrm>
          <a:prstGeom prst="ellipse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194767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65960" y="200253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Introduction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247802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Problem statement &amp; literature review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16552" y="169164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6552" y="1691640"/>
            <a:ext cx="118872" cy="205740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72584" y="1947672"/>
            <a:ext cx="786384" cy="786384"/>
          </a:xfrm>
          <a:prstGeom prst="ellipse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194767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272" y="200253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Data &amp; EDA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5272" y="247802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Dataset, 10 analyses, pre-processing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55864" y="169164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55864" y="1691640"/>
            <a:ext cx="118872" cy="2057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11896" y="1947672"/>
            <a:ext cx="786384" cy="786384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94767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44584" y="200253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Models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44584" y="247802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13 reproduced: seg · cls · combined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06908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069080"/>
            <a:ext cx="118872" cy="205740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1" y="4325112"/>
            <a:ext cx="786384" cy="786384"/>
          </a:xfrm>
          <a:prstGeom prst="ellipse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432511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65960" y="437997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Improvements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65960" y="485546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2 segmenters + 1 dual-stage + ablation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16552" y="406908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16552" y="4069080"/>
            <a:ext cx="118872" cy="20574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72584" y="4325112"/>
            <a:ext cx="786384" cy="7863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4" y="432511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05272" y="437997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Results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05272" y="485546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Horizontal &amp; vertical comparison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55864" y="4069080"/>
            <a:ext cx="338328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55864" y="4069080"/>
            <a:ext cx="118872" cy="2057400"/>
          </a:xfrm>
          <a:prstGeom prst="roundRect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11896" y="4325112"/>
            <a:ext cx="786384" cy="786384"/>
          </a:xfrm>
          <a:prstGeom prst="ellipse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4325112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44584" y="437997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38"/>
                </a:solidFill>
                <a:latin typeface="Calibri" panose="020F0502020204030204"/>
              </a:rPr>
              <a:t>Discussion</a:t>
            </a:r>
            <a:endParaRPr sz="17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44584" y="4855464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5596B"/>
                </a:solidFill>
                <a:latin typeface="Calibri" panose="020F0502020204030204"/>
              </a:rPr>
              <a:t>Findings, limits, future work</a:t>
            </a:r>
            <a:endParaRPr sz="1250" b="0" i="0">
              <a:solidFill>
                <a:srgbClr val="4559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1 · INTRODUCTION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Problem statement: why breast-ultrasound CAD?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HaoTian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Xu z5578047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0350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4D64"/>
                </a:solidFill>
                <a:latin typeface="Calibri" panose="020F0502020204030204"/>
              </a:rPr>
              <a:t>•  Clinical stakes: </a:t>
            </a:r>
            <a:r>
              <a:rPr sz="1450" b="0">
                <a:solidFill>
                  <a:srgbClr val="1B2A38"/>
                </a:solidFill>
                <a:latin typeface="Calibri" panose="020F0502020204030204"/>
              </a:rPr>
              <a:t>breast cancer is a leading cause of cancer death in women; early detection is the single biggest lever on survival.</a:t>
            </a:r>
            <a:endParaRPr sz="14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4D64"/>
                </a:solidFill>
                <a:latin typeface="Calibri" panose="020F0502020204030204"/>
              </a:rPr>
              <a:t>•  Ultrasound (BUS): </a:t>
            </a:r>
            <a:r>
              <a:rPr sz="1450" b="0">
                <a:solidFill>
                  <a:srgbClr val="1B2A38"/>
                </a:solidFill>
                <a:latin typeface="Calibri" panose="020F0502020204030204"/>
              </a:rPr>
              <a:t>safe, cheap, radiation-free — ideal for screening, dense breasts and younger patients.</a:t>
            </a:r>
            <a:endParaRPr sz="14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4D64"/>
                </a:solidFill>
                <a:latin typeface="Calibri" panose="020F0502020204030204"/>
              </a:rPr>
              <a:t>•  But it's hard: </a:t>
            </a:r>
            <a:r>
              <a:rPr sz="1450" b="0">
                <a:solidFill>
                  <a:srgbClr val="1B2A38"/>
                </a:solidFill>
                <a:latin typeface="Calibri" panose="020F0502020204030204"/>
              </a:rPr>
              <a:t>speckle noise, low contrast, acoustic shadows, blurred lesion boundaries — reading is slow and operator-dependent, even for experts.</a:t>
            </a:r>
            <a:endParaRPr sz="14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4D64"/>
                </a:solidFill>
                <a:latin typeface="Calibri" panose="020F0502020204030204"/>
              </a:rPr>
              <a:t>•  Our goal: </a:t>
            </a:r>
            <a:r>
              <a:rPr sz="1450" b="0">
                <a:solidFill>
                  <a:srgbClr val="1B2A38"/>
                </a:solidFill>
                <a:latin typeface="Calibri" panose="020F0502020204030204"/>
              </a:rPr>
              <a:t>a deep-learning CAD system that supports radiologists on two tasks:</a:t>
            </a:r>
            <a:endParaRPr sz="14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350" b="0">
                <a:solidFill>
                  <a:srgbClr val="45596B"/>
                </a:solidFill>
                <a:latin typeface="Calibri" panose="020F0502020204030204"/>
              </a:rPr>
              <a:t>Classification — normal / benign / malignant</a:t>
            </a:r>
            <a:endParaRPr sz="1350" b="0">
              <a:solidFill>
                <a:srgbClr val="45596B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350" b="0">
                <a:solidFill>
                  <a:srgbClr val="45596B"/>
                </a:solidFill>
                <a:latin typeface="Calibri" panose="020F0502020204030204"/>
              </a:rPr>
              <a:t>Segmentation — delineate the tumour boundary</a:t>
            </a:r>
            <a:endParaRPr sz="1350" b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86600" y="1691640"/>
            <a:ext cx="434340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74519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TASK 1 · CLASSIFICATION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Assign each image to </a:t>
            </a:r>
            <a:r>
              <a:rPr sz="1300" b="1" i="0">
                <a:solidFill>
                  <a:srgbClr val="8A94A6"/>
                </a:solidFill>
                <a:latin typeface="Calibri" panose="020F0502020204030204"/>
              </a:rPr>
              <a:t>normal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 / </a:t>
            </a:r>
            <a:r>
              <a:rPr sz="1300" b="1" i="0">
                <a:solidFill>
                  <a:srgbClr val="3AA655"/>
                </a:solidFill>
                <a:latin typeface="Calibri" panose="020F0502020204030204"/>
              </a:rPr>
              <a:t>benign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 / </a:t>
            </a: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malignant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5596B"/>
                </a:solidFill>
                <a:latin typeface="Calibri" panose="020F0502020204030204"/>
              </a:rPr>
              <a:t>3 classes · imbalanced · malignant recall matters most.</a:t>
            </a:r>
            <a:endParaRPr sz="1200" b="0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86600" y="3977639"/>
            <a:ext cx="434340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1605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TASK 2 · SEGMENTATION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0920" y="457200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Predict a pixel-level </a:t>
            </a: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lesion mask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 vs. background.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5596B"/>
                </a:solidFill>
                <a:latin typeface="Calibri" panose="020F0502020204030204"/>
              </a:rPr>
              <a:t>Dice / IoU · tiny benign lesions are the challenge.</a:t>
            </a:r>
            <a:endParaRPr sz="1200" b="0" i="1">
              <a:solidFill>
                <a:srgbClr val="4559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1 · INTRODUCTION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Why ultrasound is hard to read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ea typeface="Calibri" panose="020F0502020204030204"/>
                <a:cs typeface="Calibri" panose="020F0502020204030204"/>
              </a:rPr>
              <a:t>HaoTian</a:t>
            </a:r>
            <a:r>
              <a:rPr lang="zh-CN" altLang="en-US" sz="900" dirty="0">
                <a:solidFill>
                  <a:srgbClr val="8A94A6"/>
                </a:solidFill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ea typeface="Calibri" panose="020F0502020204030204"/>
                <a:cs typeface="Calibri" panose="020F0502020204030204"/>
              </a:rPr>
              <a:t>Xu z5578047</a:t>
            </a:r>
            <a:endParaRPr lang="en-US" altLang="zh-CN" sz="900">
              <a:solidFill>
                <a:srgbClr val="8A94A6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3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pic>
        <p:nvPicPr>
          <p:cNvPr id="10" name="Picture 9" descr="fig03_samp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551" y="1554480"/>
            <a:ext cx="6566337" cy="448056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686800" y="1691640"/>
            <a:ext cx="2743200" cy="42062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187451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What makes it hard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87968" y="2331720"/>
            <a:ext cx="2377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benign &amp; malignant masses overlap in look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boundaries are fuzzy / low-contrast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speckle noise + acoustic shadows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annotation text baked into images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normal = no lesion at all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1 · LITERATURE REVIEW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Foundation: the three papers in the project brief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HaoTian</a:t>
            </a:r>
            <a:r>
              <a:rPr lang="zh-CN" altLang="en-US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Xu z5578047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4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401568" cy="2880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01568" cy="566928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11680"/>
            <a:ext cx="3401568" cy="246888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1737360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[1] BUSI dataset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08" y="2377440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45596B"/>
                </a:solidFill>
                <a:latin typeface="Calibri" panose="020F0502020204030204"/>
              </a:rPr>
              <a:t>Al-Dhabyani et al., 2020</a:t>
            </a:r>
            <a:endParaRPr sz="120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8408" y="2788920"/>
            <a:ext cx="299923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780 images, 3 classes + ground-truth masks. The de-facto benchmark; small, so augmentation matters.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98264" y="1691640"/>
            <a:ext cx="3401568" cy="2880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8264" y="1691640"/>
            <a:ext cx="3401568" cy="566928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8264" y="2011680"/>
            <a:ext cx="3401568" cy="24688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1737360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[2] Yap et al.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9431" y="2377440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45596B"/>
                </a:solidFill>
                <a:latin typeface="Calibri" panose="020F0502020204030204"/>
              </a:rPr>
              <a:t>CNN lesion detection, 2018</a:t>
            </a:r>
            <a:endParaRPr sz="120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9431" y="2788920"/>
            <a:ext cx="299923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First deep BUS study: patch-LeNet vs. U-Net vs. transfer-learned FCN-AlexNet (FCN best).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19288" y="1691640"/>
            <a:ext cx="3401568" cy="2880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1691640"/>
            <a:ext cx="3401568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9288" y="2011680"/>
            <a:ext cx="3401568" cy="246888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737360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[3] U-Net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377440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45596B"/>
                </a:solidFill>
                <a:latin typeface="Calibri" panose="020F0502020204030204"/>
              </a:rPr>
              <a:t>Ronneberger et al., 2015</a:t>
            </a:r>
            <a:endParaRPr sz="120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0456" y="2788920"/>
            <a:ext cx="299923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Encoder–decoder with skip connections — the foundational biomedical segmentation net.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892040"/>
            <a:ext cx="10634472" cy="960120"/>
          </a:xfrm>
          <a:prstGeom prst="roundRect">
            <a:avLst/>
          </a:prstGeom>
          <a:solidFill>
            <a:srgbClr val="E6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2920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38"/>
                </a:solidFill>
                <a:latin typeface="Calibri" panose="020F0502020204030204"/>
              </a:rPr>
              <a:t>These three define our required reproductions. </a:t>
            </a:r>
            <a:r>
              <a:rPr sz="1350" b="0" i="0">
                <a:solidFill>
                  <a:srgbClr val="0E4D64"/>
                </a:solidFill>
                <a:latin typeface="Calibri" panose="020F0502020204030204"/>
              </a:rPr>
              <a:t>We reproduce all three (U-Net, patch-LeNet, FCN-AlexNet) — then go far beyond them.</a:t>
            </a:r>
            <a:endParaRPr sz="1350" b="0" i="0">
              <a:solidFill>
                <a:srgbClr val="0E4D6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1 · LITERATURE REVIEW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The architecture landscape we drew from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HaoTian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Xu z5578047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5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5212080" cy="4343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CLASSIFICATION BACKBONES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ResNet [4]: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residual shortcuts → very deep nets trainable (ILSVRC'15).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DenseNet [5]: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dense connectivity → feature reuse, parameter-efficient, good on small data.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EfficientNet [6]: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compound depth/width/resolution scaling; small variants transfer well.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Note: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Grad-CAM for interpretable heatmaps; caution on 'near-perfect' BUSI numbers (leakage).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57800" cy="4343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SEGMENTATION ARCHITECTURES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Skip-connection: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U-Net family — UNet++, UNet3+, Attention U-Net (learns *where to look*).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DeepLabV3+ [7]: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atrous separable conv + ASPP for multi-scale context.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AAU-Net [12]: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BUS-specific attention for fuzzy boundaries / irregular shapes.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CResU-Net [13]: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residual + dense Co-Blocks; strong reported BUSI Dice.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nnU-Net [20]: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self-configuring U-Net; strong general baseline.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1 · LITERATURE REVIEW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Combining the two tasks — our design space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HaoTian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Xu z5578047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6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5212080" cy="3566160"/>
          </a:xfrm>
          <a:prstGeom prst="roundRect">
            <a:avLst/>
          </a:prstGeom>
          <a:solidFill>
            <a:srgbClr val="EAF3EE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736686"/>
            <a:ext cx="5212080" cy="54864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57400"/>
            <a:ext cx="5212080" cy="2286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17933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SEQUENTIAL · Dual-stage  [17]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1">
                <a:solidFill>
                  <a:srgbClr val="1B2A38"/>
                </a:solidFill>
                <a:latin typeface="Calibri" panose="020F0502020204030204"/>
              </a:rPr>
              <a:t>Bruno et al., 2025</a:t>
            </a:r>
            <a:endParaRPr sz="1300" b="1" i="1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Segment first → crop the lesion ROI → classify the ROI (benign/malignant).</a:t>
            </a:r>
            <a:endParaRPr sz="135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1">
                <a:solidFill>
                  <a:srgbClr val="45596B"/>
                </a:solidFill>
                <a:latin typeface="Calibri" panose="020F0502020204030204"/>
              </a:rPr>
              <a:t>Focusing the classifier on the lesion removes background clutter.</a:t>
            </a:r>
            <a:endParaRPr sz="1250" b="0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AA655"/>
                </a:solidFill>
                <a:latin typeface="Calibri" panose="020F0502020204030204"/>
              </a:rPr>
              <a:t>→ We adopt this and then improve it.</a:t>
            </a:r>
            <a:endParaRPr sz="130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1737360"/>
            <a:ext cx="5257800" cy="3566160"/>
          </a:xfrm>
          <a:prstGeom prst="roundRect">
            <a:avLst/>
          </a:prstGeom>
          <a:solidFill>
            <a:srgbClr val="F3ECEC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737360"/>
            <a:ext cx="5257800" cy="54864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5257800" cy="228600"/>
          </a:xfrm>
          <a:prstGeom prst="rect">
            <a:avLst/>
          </a:prstGeom>
          <a:solidFill>
            <a:srgbClr val="F3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9436" y="1717933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JOINT · Multi-task  [24]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1">
                <a:solidFill>
                  <a:srgbClr val="1B2A38"/>
                </a:solidFill>
                <a:latin typeface="Calibri" panose="020F0502020204030204"/>
              </a:rPr>
              <a:t>Lu et al., 2025 (MTL-OCA)</a:t>
            </a:r>
            <a:endParaRPr sz="1300" b="1" i="1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One shared encoder feeds two heads: a segmentation head (object-contextual attention) and a classification head.</a:t>
            </a:r>
            <a:endParaRPr sz="135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1">
                <a:solidFill>
                  <a:srgbClr val="45596B"/>
                </a:solidFill>
                <a:latin typeface="Calibri" panose="020F0502020204030204"/>
              </a:rPr>
              <a:t>Solves both at once — but sharing capacity is a compromise.</a:t>
            </a:r>
            <a:endParaRPr sz="1250" b="0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→ We reproduce it as the joint alternative.</a:t>
            </a:r>
            <a:endParaRPr sz="130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3447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These two lines — sequential vs. joint — frame our combined-task experiments.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AA655"/>
                </a:solidFill>
                <a:latin typeface="Calibri" panose="020F0502020204030204"/>
              </a:rPr>
              <a:t>2 · DATA</a:t>
            </a:r>
            <a:endParaRPr sz="12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The BUSI dataset at a glance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Zihan Xia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z5579843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7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246888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2468880" cy="9144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4D64"/>
                </a:solidFill>
                <a:latin typeface="Calibri" panose="020F0502020204030204"/>
              </a:rPr>
              <a:t>780</a:t>
            </a:r>
            <a:endParaRPr sz="30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5596B"/>
                </a:solidFill>
                <a:latin typeface="Calibri" panose="020F0502020204030204"/>
              </a:rPr>
              <a:t>ultrasound images</a:t>
            </a:r>
            <a:endParaRPr sz="120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4720" y="1645920"/>
            <a:ext cx="246888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8AA6"/>
                </a:solidFill>
                <a:latin typeface="Calibri" panose="020F0502020204030204"/>
              </a:rPr>
              <a:t>3</a:t>
            </a:r>
            <a:endParaRPr sz="300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2514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5596B"/>
                </a:solidFill>
                <a:latin typeface="Calibri" panose="020F0502020204030204"/>
              </a:rPr>
              <a:t>classes (n/b/m)</a:t>
            </a:r>
            <a:endParaRPr sz="120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1645920"/>
            <a:ext cx="246888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645920"/>
            <a:ext cx="2468880" cy="9144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AA655"/>
                </a:solidFill>
                <a:latin typeface="Calibri" panose="020F0502020204030204"/>
              </a:rPr>
              <a:t>600</a:t>
            </a:r>
            <a:endParaRPr sz="300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5596B"/>
                </a:solidFill>
                <a:latin typeface="Calibri" panose="020F0502020204030204"/>
              </a:rPr>
              <a:t>female patients (25–75y)</a:t>
            </a:r>
            <a:endParaRPr sz="120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69680" y="1645920"/>
            <a:ext cx="246888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1645920"/>
            <a:ext cx="2468880" cy="9144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8A33D"/>
                </a:solidFill>
                <a:latin typeface="Calibri" panose="020F0502020204030204"/>
              </a:rPr>
              <a:t>~500²</a:t>
            </a:r>
            <a:endParaRPr sz="300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514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5596B"/>
                </a:solidFill>
                <a:latin typeface="Calibri" panose="020F0502020204030204"/>
              </a:rPr>
              <a:t>avg px · PNG + masks</a:t>
            </a:r>
            <a:endParaRPr sz="120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2918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38"/>
                </a:solidFill>
                <a:latin typeface="Calibri" panose="020F0502020204030204"/>
              </a:rPr>
              <a:t>We ran a 10-part exploratory analysis; four questions drove every downstream design choice:</a:t>
            </a:r>
            <a:endParaRPr sz="14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5166360" cy="914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40480"/>
            <a:ext cx="109728" cy="91440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95020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38"/>
                </a:solidFill>
                <a:latin typeface="Calibri" panose="020F0502020204030204"/>
              </a:rPr>
              <a:t>How imbalanced?</a:t>
            </a:r>
            <a:endParaRPr sz="13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" y="431596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596B"/>
                </a:solidFill>
                <a:latin typeface="Calibri" panose="020F0502020204030204"/>
              </a:rPr>
              <a:t>benign 56% · malignant 27% · normal 17% → class weights</a:t>
            </a:r>
            <a:endParaRPr sz="12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72200" y="3840480"/>
            <a:ext cx="5166360" cy="914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3840480"/>
            <a:ext cx="109728" cy="91440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95020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38"/>
                </a:solidFill>
                <a:latin typeface="Calibri" panose="020F0502020204030204"/>
              </a:rPr>
              <a:t>How big are lesions?</a:t>
            </a:r>
            <a:endParaRPr sz="13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46520" y="431596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596B"/>
                </a:solidFill>
                <a:latin typeface="Calibri" panose="020F0502020204030204"/>
              </a:rPr>
              <a:t>benign median just 3.8% of image → hard to segment</a:t>
            </a:r>
            <a:endParaRPr sz="12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4892040"/>
            <a:ext cx="5166360" cy="914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4892040"/>
            <a:ext cx="109728" cy="9144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0017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38"/>
                </a:solidFill>
                <a:latin typeface="Calibri" panose="020F0502020204030204"/>
              </a:rPr>
              <a:t>Can intensity classify?</a:t>
            </a:r>
            <a:endParaRPr sz="13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" y="5367527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596B"/>
                </a:solidFill>
                <a:latin typeface="Calibri" panose="020F0502020204030204"/>
              </a:rPr>
              <a:t>distributions overlap → need learned features + normalisation</a:t>
            </a:r>
            <a:endParaRPr sz="12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72200" y="4892040"/>
            <a:ext cx="5166360" cy="914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72200" y="4892040"/>
            <a:ext cx="109728" cy="91440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0017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A38"/>
                </a:solidFill>
                <a:latin typeface="Calibri" panose="020F0502020204030204"/>
              </a:rPr>
              <a:t>Is the data clean?</a:t>
            </a:r>
            <a:endParaRPr sz="13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46520" y="5367527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596B"/>
                </a:solidFill>
                <a:latin typeface="Calibri" panose="020F0502020204030204"/>
              </a:rPr>
              <a:t>36% are near-duplicates, some cross-class → leakage risk!</a:t>
            </a:r>
            <a:endParaRPr sz="1200" b="0" i="0">
              <a:solidFill>
                <a:srgbClr val="4559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AA655"/>
                </a:solidFill>
                <a:latin typeface="Calibri" panose="020F0502020204030204"/>
              </a:rPr>
              <a:t>2 · EDA</a:t>
            </a:r>
            <a:endParaRPr sz="12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Imbalanced classes &amp; tiny benign lesions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Zihan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Xia z5579843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8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pic>
        <p:nvPicPr>
          <p:cNvPr id="10" name="Picture 9" descr="fig01_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032" y="1600200"/>
            <a:ext cx="5078494" cy="219456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pic>
        <p:nvPicPr>
          <p:cNvPr id="11" name="Picture 10" descr="fig05_area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2831"/>
            <a:ext cx="5486400" cy="2101296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400800" y="1645920"/>
            <a:ext cx="5029200" cy="429768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 panose="020F0502020204030204"/>
              </a:rPr>
              <a:t>Read-outs → design choices</a:t>
            </a:r>
            <a:endParaRPr sz="14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46177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Imbalance: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benign 56% / malignant 27% / normal 17%.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200" b="0">
                <a:solidFill>
                  <a:srgbClr val="45596B"/>
                </a:solidFill>
                <a:latin typeface="Calibri" panose="020F0502020204030204"/>
              </a:rPr>
              <a:t>→ inverse-frequency class weights in the loss; report macro-F1 not accuracy.</a:t>
            </a:r>
            <a:endParaRPr sz="1200" b="0">
              <a:solidFill>
                <a:srgbClr val="45596B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4D64"/>
                </a:solidFill>
                <a:latin typeface="Calibri" panose="020F0502020204030204"/>
              </a:rPr>
              <a:t>•  Lesion size: </a:t>
            </a:r>
            <a:r>
              <a:rPr sz="1300" b="0">
                <a:solidFill>
                  <a:srgbClr val="1B2A38"/>
                </a:solidFill>
                <a:latin typeface="Calibri" panose="020F0502020204030204"/>
              </a:rPr>
              <a:t>malignant median 12.1% of image vs. benign only 3.8%.</a:t>
            </a:r>
            <a:endParaRPr sz="13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200" b="0">
                <a:solidFill>
                  <a:srgbClr val="45596B"/>
                </a:solidFill>
                <a:latin typeface="Calibri" panose="020F0502020204030204"/>
              </a:rPr>
              <a:t>→ tiny benign masses are the hardest to segment; Dice is very sensitive here.</a:t>
            </a:r>
            <a:endParaRPr sz="1200" b="0">
              <a:solidFill>
                <a:srgbClr val="45596B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200" b="0">
                <a:solidFill>
                  <a:srgbClr val="45596B"/>
                </a:solidFill>
                <a:latin typeface="Calibri" panose="020F0502020204030204"/>
              </a:rPr>
              <a:t>→ score Dice per-image then average (don't pool pixels — big lesions would dominate).</a:t>
            </a:r>
            <a:endParaRPr sz="1200" b="0">
              <a:solidFill>
                <a:srgbClr val="4559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AA655"/>
                </a:solidFill>
                <a:latin typeface="Calibri" panose="020F0502020204030204"/>
              </a:rPr>
              <a:t>2 · EDA</a:t>
            </a:r>
            <a:endParaRPr sz="12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Location bias &amp; why intensity alone fails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Zihan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Xia z5579843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9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pic>
        <p:nvPicPr>
          <p:cNvPr id="10" name="Picture 9" descr="fig06_location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567" y="1600200"/>
            <a:ext cx="6190384" cy="214884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pic>
        <p:nvPicPr>
          <p:cNvPr id="11" name="Picture 10" descr="fig07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12" y="3886200"/>
            <a:ext cx="7245054" cy="219456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8458200" y="3886200"/>
            <a:ext cx="2971800" cy="21945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9368" y="404164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Takeaways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59368" y="4480560"/>
            <a:ext cx="2606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lesions cluster near image centre (acquisition bias).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class intensity/contrast overlap heavily.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› 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→ pixel brightness is a weak feature; need learned features + normalisation.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2 · EDA — KEY FINDING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Hidden trap: near-duplicates cause data leakage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Zihan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Xia z5579843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10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pic>
        <p:nvPicPr>
          <p:cNvPr id="10" name="Picture 9" descr="fig09_duplic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51" y="1554480"/>
            <a:ext cx="5788417" cy="219456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pic>
        <p:nvPicPr>
          <p:cNvPr id="11" name="Picture 10" descr="fig10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81" y="3840480"/>
            <a:ext cx="5657756" cy="219456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635240" y="1645920"/>
            <a:ext cx="3794760" cy="4343400"/>
          </a:xfrm>
          <a:prstGeom prst="roundRect">
            <a:avLst/>
          </a:prstGeom>
          <a:solidFill>
            <a:srgbClr val="F7E9E9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35240" y="1645920"/>
            <a:ext cx="3794760" cy="50292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20240"/>
            <a:ext cx="3794760" cy="228600"/>
          </a:xfrm>
          <a:prstGeom prst="rect">
            <a:avLst/>
          </a:prstGeom>
          <a:solidFill>
            <a:srgbClr val="F7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580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THE PROBLEM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36408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pHash finds 277 imgs (36%) in 124 near-duplicate clusters.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some duplicates even span classes (benign≈malignant copy!).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a random 70/30 split leaks ~59 clusters across train &amp; test.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36408" y="4434840"/>
            <a:ext cx="33832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5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553712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Our fix:</a:t>
            </a:r>
            <a:endParaRPr sz="1300" b="1" i="0">
              <a:solidFill>
                <a:srgbClr val="E1595B"/>
              </a:solidFill>
              <a:latin typeface="Calibri" panose="020F050202020403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cluster-level, class-stratified 70/15/15 split — no duplicate can cross the train/test line.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AA655"/>
                </a:solidFill>
                <a:latin typeface="Calibri" panose="020F0502020204030204"/>
              </a:rPr>
              <a:t>2 · PRE-PROCESSING</a:t>
            </a:r>
            <a:endParaRPr sz="12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One shared, leakage-free data pipeline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Zihan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Xia z5579843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11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487168" cy="1737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2487168" cy="45720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11680"/>
            <a:ext cx="24871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08856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CLEAN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" y="235000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drop cross-class duplicate · merge multi-masks by union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282696" y="2523744"/>
            <a:ext cx="219456" cy="256032"/>
          </a:xfrm>
          <a:prstGeom prst="rightArrow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783080"/>
            <a:ext cx="2487168" cy="1737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1783080"/>
            <a:ext cx="2487168" cy="45720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011680"/>
            <a:ext cx="24871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08856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DE-LEAK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66744" y="235000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pHash → 124 clusters · cluster-level stratified 70/15/15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6025896" y="2523744"/>
            <a:ext cx="219456" cy="256032"/>
          </a:xfrm>
          <a:prstGeom prst="rightArrow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2487168" cy="1737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783080"/>
            <a:ext cx="2487168" cy="45720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011680"/>
            <a:ext cx="24871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708856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PRE-PROCESS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9944" y="235000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letterbox 256×256 · grayscale · normalise [-1,1] or ImageNet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769096" y="2523744"/>
            <a:ext cx="219456" cy="256032"/>
          </a:xfrm>
          <a:prstGeom prst="rightArrow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06840" y="1783080"/>
            <a:ext cx="2487168" cy="17373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1783080"/>
            <a:ext cx="2487168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2011680"/>
            <a:ext cx="24871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715911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AUGMENT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53144" y="235000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train-only: h-flip · affine · brightness/contrast jitter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3886200"/>
            <a:ext cx="525780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04164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How the splits are used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" y="448056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Segmentation: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645 benign+malignant lesion images → 445 / 102 / 98.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Classification: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all 3 classes, 778 → 540 / 120 / 118.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Same split: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every model sees the identical split → fair comparison.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3886200"/>
            <a:ext cx="5257800" cy="20574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416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Evaluation metrics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448056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Classification: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macro-F1 (primary), balanced-acc, macro-AUC, confusion matrix.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Segmentation: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Dice &amp; IoU (per-image mean) + pixel P/R; Yap detection metrics.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•  Robustness: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multi-seed mean ± std + bootstrap 95% CI on final pipeline.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3 · MODELS &amp; METHODS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13 reproduced models + 2 of our own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/>
              </a:rPr>
              <a:t>Feiheng Wang z5531339</a:t>
            </a:r>
            <a:endParaRPr lang="en-US" altLang="zh-CN" sz="900">
              <a:solidFill>
                <a:srgbClr val="8A94A6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12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246120" cy="3703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246120" cy="50292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965960"/>
            <a:ext cx="3246120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17416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SEGMENTATION (8)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2331720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3317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U-Net [3]*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0120" y="2715768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71576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Attention U-Net [9]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0120" y="3099815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099815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DeepLabV3+ [7]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3483863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483863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nnU-Net [20]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0120" y="3867911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867911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AAU-Net [12]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0120" y="4251959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251959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CResU-Net [13]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0120" y="4636007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636007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FCN-AlexNet [2]*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0120" y="5020055"/>
            <a:ext cx="2880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020055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Patch-LeNet [2]*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06240" y="1691640"/>
            <a:ext cx="2240280" cy="3703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240" y="1691640"/>
            <a:ext cx="2240280" cy="5029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1965960"/>
            <a:ext cx="2240280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161741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CLASSIFICATION (3)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89120" y="2331720"/>
            <a:ext cx="187452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233172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ResNet-18 [4]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89120" y="2715768"/>
            <a:ext cx="187452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271576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DenseNet-121 [5]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89120" y="3099815"/>
            <a:ext cx="187452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3099815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EfficientNet-B0 [6]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629400" y="1691640"/>
            <a:ext cx="2194560" cy="3703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29400" y="1691640"/>
            <a:ext cx="2194560" cy="50292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9400" y="1965960"/>
            <a:ext cx="2194560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161741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COMBINED (2)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812280" y="2331720"/>
            <a:ext cx="182880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22008" y="2331720"/>
            <a:ext cx="16916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Dual-stage [17]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812280" y="2715768"/>
            <a:ext cx="182880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22008" y="2715768"/>
            <a:ext cx="16916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MTL-OCA [24]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006840" y="1691640"/>
            <a:ext cx="2404872" cy="3703320"/>
          </a:xfrm>
          <a:prstGeom prst="roundRect">
            <a:avLst/>
          </a:prstGeom>
          <a:solidFill>
            <a:srgbClr val="F7EDDD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06840" y="1691640"/>
            <a:ext cx="2404872" cy="5029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1965960"/>
            <a:ext cx="2404872" cy="228600"/>
          </a:xfrm>
          <a:prstGeom prst="rect">
            <a:avLst/>
          </a:prstGeom>
          <a:solidFill>
            <a:srgbClr val="F7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92729" y="1617416"/>
            <a:ext cx="24048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OUR IMPROVEMENTS (2)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189719" y="2377440"/>
            <a:ext cx="20391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250545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38"/>
                </a:solidFill>
                <a:latin typeface="Calibri" panose="020F0502020204030204"/>
              </a:rPr>
              <a:t>★ Improved segmenter</a:t>
            </a:r>
            <a:endParaRPr sz="1250" b="1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596B"/>
                </a:solidFill>
                <a:latin typeface="Calibri" panose="020F0502020204030204"/>
              </a:rPr>
              <a:t>(pretrained EffB4 U-Net)</a:t>
            </a:r>
            <a:endParaRPr sz="11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189719" y="3749039"/>
            <a:ext cx="20391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877055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38"/>
                </a:solidFill>
                <a:latin typeface="Calibri" panose="020F0502020204030204"/>
              </a:rPr>
              <a:t>★ Improved dual-stage</a:t>
            </a:r>
            <a:endParaRPr sz="1250" b="1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596B"/>
                </a:solidFill>
                <a:latin typeface="Calibri" panose="020F0502020204030204"/>
              </a:rPr>
              <a:t>(rigorous eval)</a:t>
            </a:r>
            <a:endParaRPr sz="11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5596B"/>
                </a:solidFill>
                <a:latin typeface="Calibri" panose="020F0502020204030204"/>
              </a:rPr>
              <a:t>* = the three papers named in the project brief.   </a:t>
            </a:r>
            <a:r>
              <a:rPr sz="1150" b="1" i="0">
                <a:solidFill>
                  <a:srgbClr val="0E4D64"/>
                </a:solidFill>
                <a:latin typeface="Calibri" panose="020F0502020204030204"/>
              </a:rPr>
              <a:t>Every reused backbone is pretrained torchvision; every head, loss &amp; training loop is our own.</a:t>
            </a:r>
            <a:endParaRPr sz="1150" b="1" i="0">
              <a:solidFill>
                <a:srgbClr val="0E4D6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3 · REPRODUCTION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The three required papers, from scratch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Feiheng Wang </a:t>
            </a:r>
            <a:r>
              <a:rPr lang="en-US" altLang="zh-CN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z5531339</a:t>
            </a:r>
            <a:endParaRPr lang="en-US" altLang="zh-CN" sz="900">
              <a:solidFill>
                <a:srgbClr val="8A94A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13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401568" cy="32461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74519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4D64"/>
                </a:solidFill>
                <a:latin typeface="Calibri" panose="020F0502020204030204"/>
              </a:rPr>
              <a:t>U-Net [3]</a:t>
            </a:r>
            <a:endParaRPr sz="16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28600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Ronneberger 2015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8408" y="2651760"/>
            <a:ext cx="18288" cy="1737360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2651760"/>
            <a:ext cx="28529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4-level encoder/decoder, skip connections, Dice+BCE. Built entirely from scratch in PyTorch.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78408" y="4526280"/>
            <a:ext cx="1371600" cy="310896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526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from-scratch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98264" y="1691640"/>
            <a:ext cx="3401568" cy="32461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1874519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4D64"/>
                </a:solidFill>
                <a:latin typeface="Calibri" panose="020F0502020204030204"/>
              </a:rPr>
              <a:t>Patch-LeNet [2]</a:t>
            </a:r>
            <a:endParaRPr sz="16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9431" y="228600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Yap 2018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99431" y="2651760"/>
            <a:ext cx="18288" cy="1737360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651760"/>
            <a:ext cx="28529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Tiny LeNet classifies 28×28 patches; balanced hard-negative sampling; sliding-window detection map.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99431" y="4526280"/>
            <a:ext cx="1371600" cy="310896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4526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detection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19288" y="1691640"/>
            <a:ext cx="3401568" cy="32461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874519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4D64"/>
                </a:solidFill>
                <a:latin typeface="Calibri" panose="020F0502020204030204"/>
              </a:rPr>
              <a:t>FCN-AlexNet [2]</a:t>
            </a:r>
            <a:endParaRPr sz="16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28600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Yap 2018 · best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0456" y="2651760"/>
            <a:ext cx="18288" cy="1737360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2651760"/>
            <a:ext cx="28529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Pretrained AlexNet → fully-convolutional; fc6/fc7 recast as conv + bilinear upsample. Yap's best method.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0456" y="4526280"/>
            <a:ext cx="1371600" cy="310896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526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transfer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5212080"/>
            <a:ext cx="10634472" cy="777240"/>
          </a:xfrm>
          <a:prstGeom prst="roundRect">
            <a:avLst/>
          </a:prstGeom>
          <a:solidFill>
            <a:srgbClr val="E6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Own work: 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full U-Net; the LeNet + hard-negative patch sampler + sliding-window inference; the FCN head &amp; fine-tuning. Only the AlexNet backbone is a pretrained component.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3 · SEGMENTATION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Five stronger segmentation architectures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Feiheng Wang </a:t>
            </a:r>
            <a:r>
              <a:rPr lang="en-US" altLang="zh-CN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z5531339</a:t>
            </a:r>
            <a:endParaRPr lang="en-US" altLang="zh-CN" sz="900">
              <a:solidFill>
                <a:srgbClr val="8A94A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14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10634472" cy="7772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109728" cy="7772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64592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Attention U-Net [9]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7639" y="1700784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additive attention gates on skips — *same recipe* as our U-Net, so it isolates the gate's effect.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514600"/>
            <a:ext cx="10634472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514600"/>
            <a:ext cx="109728" cy="7772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DeepLabV3+ [7]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77639" y="2569464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pretrained ResNet-50 + ASPP (atrous rates 6/12/18) + light decoder. Our strongest reproduced baseline.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34472" cy="7772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383280"/>
            <a:ext cx="109728" cy="7772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832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nnU-Net [20]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77639" y="3438144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the fixed blueprint 2D U-Net + deep supervision (InstanceNorm, poly-LR, SGD). A strong general baseline.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251959"/>
            <a:ext cx="10634472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251959"/>
            <a:ext cx="109728" cy="7772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51959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AAU-Net [12]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77639" y="4306823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BUS-specific Hybrid Adaptive Attention Module: multi-receptive-field + channel &amp; spatial self-attention.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5120640"/>
            <a:ext cx="10634472" cy="7772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120640"/>
            <a:ext cx="109728" cy="7772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2064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CResU-Net [13]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7639" y="5175503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block-scheduled encoder: Co-Block (dense concat) + ResNet + MultiRes blocks; pure-Dice loss.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3 · CLASSIFICATION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Three ImageNet-pretrained backbones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Feiheng Wang </a:t>
            </a:r>
            <a:r>
              <a:rPr lang="en-US" altLang="zh-CN" sz="900">
                <a:solidFill>
                  <a:srgbClr val="8A94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z5531339</a:t>
            </a:r>
            <a:endParaRPr lang="en-US" altLang="zh-CN" sz="900">
              <a:solidFill>
                <a:srgbClr val="8A94A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15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3401568" cy="26517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3401568" cy="5486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57400"/>
            <a:ext cx="34015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1739956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 panose="020F0502020204030204"/>
              </a:rPr>
              <a:t>ResNet-18 [4]</a:t>
            </a:r>
            <a:endParaRPr sz="15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08" y="2395728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He 2016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8408" y="2788920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smallest residual net (BUSI is tiny) · fresh 3-way head · SGD fine-tune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98264" y="1737360"/>
            <a:ext cx="3401568" cy="26517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8264" y="1737360"/>
            <a:ext cx="3401568" cy="54864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8264" y="2057400"/>
            <a:ext cx="34015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1739956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 panose="020F0502020204030204"/>
              </a:rPr>
              <a:t>DenseNet-121 [5]</a:t>
            </a:r>
            <a:endParaRPr sz="15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9431" y="2395728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Huang 2017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9431" y="2788920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dense feature reuse · dropout + 3-way head · AdamW + early stop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19288" y="1737360"/>
            <a:ext cx="3401568" cy="26517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1737360"/>
            <a:ext cx="3401568" cy="54864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9288" y="2057400"/>
            <a:ext cx="3401568" cy="2286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5178" y="1718790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 panose="020F0502020204030204"/>
              </a:rPr>
              <a:t>EfficientNet-B0 [6]</a:t>
            </a:r>
            <a:endParaRPr sz="15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395728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45596B"/>
                </a:solidFill>
                <a:latin typeface="Calibri" panose="020F0502020204030204"/>
              </a:rPr>
              <a:t>Tan &amp; Le 2019</a:t>
            </a:r>
            <a:endParaRPr sz="115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0456" y="2788920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smallest compound-scaled variant · dropout + 3-way head · Adam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709160"/>
            <a:ext cx="10634472" cy="1234440"/>
          </a:xfrm>
          <a:prstGeom prst="roundRect">
            <a:avLst/>
          </a:prstGeom>
          <a:solidFill>
            <a:srgbClr val="E6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6460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Shared recipe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5230368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3-channel ImageNet-normalised 256×256 (grayscale→pseudo-RGB) · final layer replaced by a fresh 3-way head · </a:t>
            </a: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inverse-frequency weighted cross-entropy</a:t>
            </a: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 to counter class imbalance.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300" b="1">
                <a:solidFill>
                  <a:srgbClr val="E1595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IMPROVEMENT</a:t>
            </a:r>
            <a:endParaRPr lang="en-US" altLang="zh-CN" sz="13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zh-CN" sz="1250" b="1" i="0">
              <a:solidFill>
                <a:srgbClr val="0E4D64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Baseline combined models we reproduced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Rui Bao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z5532117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16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 panose="020F0502020204030204"/>
              </a:rPr>
              <a:t>Dual-stage [17] — segmentation-guided classification (sequential)</a:t>
            </a:r>
            <a:endParaRPr sz="14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1783080" cy="1005840"/>
          </a:xfrm>
          <a:prstGeom prst="round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Input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F1F4"/>
                </a:solidFill>
                <a:latin typeface="Calibri" panose="020F0502020204030204"/>
              </a:rPr>
              <a:t>image</a:t>
            </a:r>
            <a:endParaRPr sz="1100" b="0" i="0">
              <a:solidFill>
                <a:srgbClr val="E8F1F4"/>
              </a:solidFill>
              <a:latin typeface="Calibri" panose="020F0502020204030204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633472" y="2350008"/>
            <a:ext cx="402336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1783080" cy="100584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96596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DeepLabV3+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F1F4"/>
                </a:solidFill>
                <a:latin typeface="Calibri" panose="020F0502020204030204"/>
              </a:rPr>
              <a:t>(segment)</a:t>
            </a:r>
            <a:endParaRPr sz="1100" b="0" i="0">
              <a:solidFill>
                <a:srgbClr val="E8F1F4"/>
              </a:solidFill>
              <a:latin typeface="Calibri" panose="020F0502020204030204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873752" y="2350008"/>
            <a:ext cx="402336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0" y="1965960"/>
            <a:ext cx="1783080" cy="100584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6596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ROI crop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F1F4"/>
                </a:solidFill>
                <a:latin typeface="Calibri" panose="020F0502020204030204"/>
              </a:rPr>
              <a:t>(mask→bbox)</a:t>
            </a:r>
            <a:endParaRPr sz="1100" b="0" i="0">
              <a:solidFill>
                <a:srgbClr val="E8F1F4"/>
              </a:solidFill>
              <a:latin typeface="Calibri" panose="020F050202020403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114032" y="2350008"/>
            <a:ext cx="402336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1965960"/>
            <a:ext cx="1783080" cy="100584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6596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EfficientNet-B0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F1F4"/>
                </a:solidFill>
                <a:latin typeface="Calibri" panose="020F0502020204030204"/>
              </a:rPr>
              <a:t>(classify)</a:t>
            </a:r>
            <a:endParaRPr sz="1100" b="0" i="0">
              <a:solidFill>
                <a:srgbClr val="E8F1F4"/>
              </a:solidFill>
              <a:latin typeface="Calibri" panose="020F0502020204030204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9354311" y="2350008"/>
            <a:ext cx="402336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1965960"/>
            <a:ext cx="1783080" cy="100584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96596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Benign /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F1F4"/>
                </a:solidFill>
                <a:latin typeface="Calibri" panose="020F0502020204030204"/>
              </a:rPr>
              <a:t>Malignant</a:t>
            </a:r>
            <a:endParaRPr sz="1100" b="0" i="0">
              <a:solidFill>
                <a:srgbClr val="E8F1F4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34290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1595B"/>
                </a:solidFill>
                <a:latin typeface="Calibri" panose="020F0502020204030204"/>
              </a:rPr>
              <a:t>MTL-OCA [24] — multi-task, one shared backbone (joint)</a:t>
            </a:r>
            <a:endParaRPr sz="140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3886200"/>
            <a:ext cx="10561320" cy="19659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206240"/>
            <a:ext cx="2286000" cy="132588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Shared
Res-UNet
encoder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429000" y="4370832"/>
            <a:ext cx="457200" cy="219456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3429000" y="5074920"/>
            <a:ext cx="457200" cy="219456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77639" y="4160520"/>
            <a:ext cx="3108960" cy="64008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41605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Segmentation head (OCA attention)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977639" y="4937760"/>
            <a:ext cx="3108960" cy="64008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5165467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Classification head 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6640" y="4160520"/>
            <a:ext cx="3749039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Loss = 0.4·CE(soft) + CE(final) + CE(cls).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5596B"/>
                </a:solidFill>
                <a:latin typeface="Calibri" panose="020F0502020204030204"/>
              </a:rPr>
              <a:t>Solves both tasks at once, but shares capacity — we'll see it underperforms specialists.</a:t>
            </a:r>
            <a:endParaRPr sz="1200" b="0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7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4 · IMPROVEMENT — DESIGN DECISION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53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Which combined model do we improve — and why?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4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7"/>
          <p:cNvSpPr txBox="1"/>
          <p:nvPr/>
        </p:nvSpPr>
        <p:spPr>
          <a:xfrm>
            <a:off x="502920" y="6473952"/>
            <a:ext cx="7315200" cy="605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Rui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Bao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z5532117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endParaRPr lang="en-US" altLang="zh-CN" sz="9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6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17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57" name="TextBox 9"/>
          <p:cNvSpPr txBox="1"/>
          <p:nvPr/>
        </p:nvSpPr>
        <p:spPr>
          <a:xfrm>
            <a:off x="777240" y="146304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We reproduced both combined approaches — </a:t>
            </a:r>
            <a:r>
              <a:rPr sz="1350" b="1" i="0">
                <a:solidFill>
                  <a:srgbClr val="3AA655"/>
                </a:solidFill>
                <a:latin typeface="Calibri" panose="020F0502020204030204"/>
              </a:rPr>
              <a:t>sequential dual-stage [17]</a:t>
            </a: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 and </a:t>
            </a:r>
            <a:r>
              <a:rPr sz="1350" b="1" i="0">
                <a:solidFill>
                  <a:srgbClr val="E1595B"/>
                </a:solidFill>
                <a:latin typeface="Calibri" panose="020F0502020204030204"/>
              </a:rPr>
              <a:t>joint multi-task MTL-OCA [25]</a:t>
            </a: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. We chose to optimise the dual-stage line. Here's the reasoning:</a:t>
            </a:r>
            <a:endParaRPr sz="13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8" name="Rounded Rectangle 10"/>
          <p:cNvSpPr/>
          <p:nvPr/>
        </p:nvSpPr>
        <p:spPr>
          <a:xfrm>
            <a:off x="777240" y="2057400"/>
            <a:ext cx="4709160" cy="39319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1"/>
          <p:cNvSpPr txBox="1"/>
          <p:nvPr/>
        </p:nvSpPr>
        <p:spPr>
          <a:xfrm>
            <a:off x="987552" y="221284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HEAD-TO-HEAD (our reproductions)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60" name="TextBox 12"/>
          <p:cNvSpPr txBox="1"/>
          <p:nvPr/>
        </p:nvSpPr>
        <p:spPr>
          <a:xfrm>
            <a:off x="987552" y="27432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38"/>
                </a:solidFill>
                <a:latin typeface="Calibri" panose="020F0502020204030204"/>
              </a:rPr>
              <a:t>Segmentation Dice</a:t>
            </a:r>
            <a:endParaRPr sz="12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61" name="TextBox 13"/>
          <p:cNvSpPr txBox="1"/>
          <p:nvPr/>
        </p:nvSpPr>
        <p:spPr>
          <a:xfrm>
            <a:off x="987552" y="303580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MTL-OCA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62" name="Rectangle 14"/>
          <p:cNvSpPr/>
          <p:nvPr/>
        </p:nvSpPr>
        <p:spPr>
          <a:xfrm>
            <a:off x="2286000" y="3054096"/>
            <a:ext cx="2377440" cy="17373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5"/>
          <p:cNvSpPr/>
          <p:nvPr/>
        </p:nvSpPr>
        <p:spPr>
          <a:xfrm>
            <a:off x="2286000" y="3054096"/>
            <a:ext cx="1454993" cy="173736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"/>
          <p:cNvSpPr txBox="1"/>
          <p:nvPr/>
        </p:nvSpPr>
        <p:spPr>
          <a:xfrm>
            <a:off x="4681728" y="30266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0.612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65" name="TextBox 17"/>
          <p:cNvSpPr txBox="1"/>
          <p:nvPr/>
        </p:nvSpPr>
        <p:spPr>
          <a:xfrm>
            <a:off x="987552" y="331012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3AA655"/>
                </a:solidFill>
                <a:latin typeface="Calibri" panose="020F0502020204030204"/>
              </a:rPr>
              <a:t>dual-stage seg</a:t>
            </a:r>
            <a:endParaRPr sz="9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66" name="Rectangle 18"/>
          <p:cNvSpPr/>
          <p:nvPr/>
        </p:nvSpPr>
        <p:spPr>
          <a:xfrm>
            <a:off x="2286000" y="3328416"/>
            <a:ext cx="2377440" cy="17373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9"/>
          <p:cNvSpPr/>
          <p:nvPr/>
        </p:nvSpPr>
        <p:spPr>
          <a:xfrm>
            <a:off x="2286000" y="3328416"/>
            <a:ext cx="1806854" cy="173736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20"/>
          <p:cNvSpPr txBox="1"/>
          <p:nvPr/>
        </p:nvSpPr>
        <p:spPr>
          <a:xfrm>
            <a:off x="4681728" y="33009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3AA655"/>
                </a:solidFill>
                <a:latin typeface="Calibri" panose="020F0502020204030204"/>
              </a:rPr>
              <a:t>0.760</a:t>
            </a:r>
            <a:endParaRPr sz="9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69" name="TextBox 21"/>
          <p:cNvSpPr txBox="1"/>
          <p:nvPr/>
        </p:nvSpPr>
        <p:spPr>
          <a:xfrm>
            <a:off x="987552" y="37947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38"/>
                </a:solidFill>
                <a:latin typeface="Calibri" panose="020F0502020204030204"/>
              </a:rPr>
              <a:t>Classification macro-F1</a:t>
            </a:r>
            <a:endParaRPr sz="12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70" name="TextBox 22"/>
          <p:cNvSpPr txBox="1"/>
          <p:nvPr/>
        </p:nvSpPr>
        <p:spPr>
          <a:xfrm>
            <a:off x="987552" y="40873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MTL-OCA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71" name="Rectangle 23"/>
          <p:cNvSpPr/>
          <p:nvPr/>
        </p:nvSpPr>
        <p:spPr>
          <a:xfrm>
            <a:off x="2286000" y="4105656"/>
            <a:ext cx="2377440" cy="17373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24"/>
          <p:cNvSpPr/>
          <p:nvPr/>
        </p:nvSpPr>
        <p:spPr>
          <a:xfrm>
            <a:off x="2286000" y="4105656"/>
            <a:ext cx="1711756" cy="173736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25"/>
          <p:cNvSpPr txBox="1"/>
          <p:nvPr/>
        </p:nvSpPr>
        <p:spPr>
          <a:xfrm>
            <a:off x="4681728" y="407822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0.720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74" name="TextBox 26"/>
          <p:cNvSpPr txBox="1"/>
          <p:nvPr/>
        </p:nvSpPr>
        <p:spPr>
          <a:xfrm>
            <a:off x="987552" y="4361688"/>
            <a:ext cx="12801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950" b="1">
                <a:solidFill>
                  <a:srgbClr val="3AA655"/>
                </a:solidFill>
                <a:latin typeface="Calibri" panose="020F0502020204030204"/>
              </a:rPr>
              <a:t>Dual-stage cls</a:t>
            </a:r>
            <a:endParaRPr lang="zh-CN" altLang="en-US" sz="950" b="1" i="0">
              <a:solidFill>
                <a:srgbClr val="3AA655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5" name="Rectangle 27"/>
          <p:cNvSpPr/>
          <p:nvPr/>
        </p:nvSpPr>
        <p:spPr>
          <a:xfrm>
            <a:off x="2286000" y="4379976"/>
            <a:ext cx="2377440" cy="17373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28"/>
          <p:cNvSpPr/>
          <p:nvPr/>
        </p:nvSpPr>
        <p:spPr>
          <a:xfrm>
            <a:off x="2286000" y="4379976"/>
            <a:ext cx="1968520" cy="173736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29"/>
          <p:cNvSpPr txBox="1"/>
          <p:nvPr/>
        </p:nvSpPr>
        <p:spPr>
          <a:xfrm>
            <a:off x="4681728" y="435254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3AA655"/>
                </a:solidFill>
                <a:latin typeface="Calibri" panose="020F0502020204030204"/>
              </a:rPr>
              <a:t>0.828</a:t>
            </a:r>
            <a:endParaRPr sz="9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78" name="Rounded Rectangle 30"/>
          <p:cNvSpPr/>
          <p:nvPr/>
        </p:nvSpPr>
        <p:spPr>
          <a:xfrm>
            <a:off x="987552" y="4937760"/>
            <a:ext cx="4297680" cy="914400"/>
          </a:xfrm>
          <a:prstGeom prst="roundRect">
            <a:avLst/>
          </a:prstGeom>
          <a:solidFill>
            <a:srgbClr val="F3ECEC"/>
          </a:solidFill>
          <a:ln w="12700">
            <a:solidFill>
              <a:srgbClr val="E15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31"/>
          <p:cNvSpPr txBox="1"/>
          <p:nvPr/>
        </p:nvSpPr>
        <p:spPr>
          <a:xfrm>
            <a:off x="1143000" y="502920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One shared backbone makes MTL-OCA underperform on </a:t>
            </a:r>
            <a:r>
              <a:rPr sz="1150" b="1" i="0">
                <a:solidFill>
                  <a:srgbClr val="E1595B"/>
                </a:solidFill>
                <a:latin typeface="Calibri" panose="020F0502020204030204"/>
              </a:rPr>
              <a:t>both</a:t>
            </a: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 tasks. Dual-stage instead plugs in our </a:t>
            </a:r>
            <a:r>
              <a:rPr sz="1150" b="1" i="0">
                <a:solidFill>
                  <a:srgbClr val="3AA655"/>
                </a:solidFill>
                <a:latin typeface="Calibri" panose="020F0502020204030204"/>
              </a:rPr>
              <a:t>best specialists</a:t>
            </a: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80" name="Rounded Rectangle 32"/>
          <p:cNvSpPr/>
          <p:nvPr/>
        </p:nvSpPr>
        <p:spPr>
          <a:xfrm>
            <a:off x="5715000" y="2057400"/>
            <a:ext cx="274320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33"/>
          <p:cNvSpPr/>
          <p:nvPr/>
        </p:nvSpPr>
        <p:spPr>
          <a:xfrm>
            <a:off x="5715000" y="2057400"/>
            <a:ext cx="2743200" cy="73152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34"/>
          <p:cNvSpPr txBox="1"/>
          <p:nvPr/>
        </p:nvSpPr>
        <p:spPr>
          <a:xfrm>
            <a:off x="5879592" y="22037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8AA6"/>
                </a:solidFill>
                <a:latin typeface="Calibri" panose="020F0502020204030204"/>
              </a:rPr>
              <a:t>① Modular &amp; swappable</a:t>
            </a:r>
            <a:endParaRPr sz="130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183" name="TextBox 35"/>
          <p:cNvSpPr txBox="1"/>
          <p:nvPr/>
        </p:nvSpPr>
        <p:spPr>
          <a:xfrm>
            <a:off x="5879592" y="2587752"/>
            <a:ext cx="2414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improve Stage 1 (segmenter) and Stage 2 (classifier) independently.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84" name="Rounded Rectangle 36"/>
          <p:cNvSpPr/>
          <p:nvPr/>
        </p:nvSpPr>
        <p:spPr>
          <a:xfrm>
            <a:off x="8668512" y="2057400"/>
            <a:ext cx="274320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37"/>
          <p:cNvSpPr/>
          <p:nvPr/>
        </p:nvSpPr>
        <p:spPr>
          <a:xfrm>
            <a:off x="8668512" y="2057400"/>
            <a:ext cx="2743200" cy="73152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38"/>
          <p:cNvSpPr txBox="1"/>
          <p:nvPr/>
        </p:nvSpPr>
        <p:spPr>
          <a:xfrm>
            <a:off x="8833104" y="22037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AA655"/>
                </a:solidFill>
                <a:latin typeface="Calibri" panose="020F0502020204030204"/>
              </a:rPr>
              <a:t>② Controlled science</a:t>
            </a:r>
            <a:endParaRPr sz="130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87" name="TextBox 39"/>
          <p:cNvSpPr txBox="1"/>
          <p:nvPr/>
        </p:nvSpPr>
        <p:spPr>
          <a:xfrm>
            <a:off x="8833104" y="2587752"/>
            <a:ext cx="2414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fix Stage 2 byte-for-byte, swap Stage 1 → isolate the segmenter's effect (impossible in a joint net).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88" name="Rounded Rectangle 40"/>
          <p:cNvSpPr/>
          <p:nvPr/>
        </p:nvSpPr>
        <p:spPr>
          <a:xfrm>
            <a:off x="5715000" y="3657600"/>
            <a:ext cx="274320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41"/>
          <p:cNvSpPr/>
          <p:nvPr/>
        </p:nvSpPr>
        <p:spPr>
          <a:xfrm>
            <a:off x="5715000" y="3657600"/>
            <a:ext cx="2743200" cy="7315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42"/>
          <p:cNvSpPr txBox="1"/>
          <p:nvPr/>
        </p:nvSpPr>
        <p:spPr>
          <a:xfrm>
            <a:off x="5879592" y="38039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 panose="020F0502020204030204"/>
              </a:rPr>
              <a:t>③ Best-of-breed reuse</a:t>
            </a:r>
            <a:endParaRPr sz="13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91" name="TextBox 43"/>
          <p:cNvSpPr txBox="1"/>
          <p:nvPr/>
        </p:nvSpPr>
        <p:spPr>
          <a:xfrm>
            <a:off x="5879592" y="4187952"/>
            <a:ext cx="2414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plug in our strongest segmenter + strongest classifier; gains compound.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92" name="Rounded Rectangle 44"/>
          <p:cNvSpPr/>
          <p:nvPr/>
        </p:nvSpPr>
        <p:spPr>
          <a:xfrm>
            <a:off x="8668512" y="3657600"/>
            <a:ext cx="2743200" cy="141732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45"/>
          <p:cNvSpPr/>
          <p:nvPr/>
        </p:nvSpPr>
        <p:spPr>
          <a:xfrm>
            <a:off x="8668512" y="3657600"/>
            <a:ext cx="2743200" cy="73152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46"/>
          <p:cNvSpPr txBox="1"/>
          <p:nvPr/>
        </p:nvSpPr>
        <p:spPr>
          <a:xfrm>
            <a:off x="8833104" y="38039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3D"/>
                </a:solidFill>
                <a:latin typeface="Calibri" panose="020F0502020204030204"/>
              </a:rPr>
              <a:t>④ Clinical interpretability</a:t>
            </a:r>
            <a:endParaRPr sz="130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195" name="TextBox 47"/>
          <p:cNvSpPr txBox="1"/>
          <p:nvPr/>
        </p:nvSpPr>
        <p:spPr>
          <a:xfrm>
            <a:off x="8833104" y="4187952"/>
            <a:ext cx="2414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explicit lesion mask + ROI shows the radiologist *where* — not just a label.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96" name="Rounded Rectangle 48"/>
          <p:cNvSpPr/>
          <p:nvPr/>
        </p:nvSpPr>
        <p:spPr>
          <a:xfrm>
            <a:off x="5715000" y="4937760"/>
            <a:ext cx="5696712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49"/>
          <p:cNvSpPr txBox="1"/>
          <p:nvPr/>
        </p:nvSpPr>
        <p:spPr>
          <a:xfrm>
            <a:off x="5943600" y="493776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8A33D"/>
                </a:solidFill>
                <a:latin typeface="Calibri" panose="020F0502020204030204"/>
              </a:rPr>
              <a:t>Decision:</a:t>
            </a:r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 extend &amp; rigorously evaluate the dual-stage pipeline.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FE6EC"/>
                </a:solidFill>
                <a:latin typeface="Calibri" panose="020F0502020204030204"/>
              </a:rPr>
              <a:t>Stage 1 = our improved segmenter · Stage 2 = strengthened classifier.</a:t>
            </a:r>
            <a:endParaRPr sz="1200" b="0" i="0">
              <a:solidFill>
                <a:srgbClr val="CFE6E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zh-CN" sz="1250" b="1">
                <a:solidFill>
                  <a:srgbClr val="E1595B"/>
                </a:solidFill>
                <a:latin typeface="Calibri" panose="020F0502020204030204"/>
                <a:cs typeface="Calibri" panose="020F0502020204030204"/>
              </a:rPr>
              <a:t>4 · IMPROVEMENT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Improved segmenter: transfer learning first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605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Rui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Bao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z5532117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endParaRPr lang="zh-CN" altLang="en-US" sz="9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17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1595B"/>
                </a:solidFill>
                <a:latin typeface="Calibri" panose="020F0502020204030204"/>
              </a:rPr>
              <a:t>Insight from baselines: </a:t>
            </a:r>
            <a:r>
              <a:rPr sz="1350" b="0" i="0">
                <a:solidFill>
                  <a:srgbClr val="1B2A38"/>
                </a:solidFill>
                <a:latin typeface="Calibri" panose="020F0502020204030204"/>
              </a:rPr>
              <a:t>the only nets that used transfer learning (DeepLabV3+) beat the from-scratch ones. So we build a pretrained-encoder U-Net.</a:t>
            </a:r>
            <a:endParaRPr sz="13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3401568" cy="22860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3401568" cy="9144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860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① Pretrained EffB4 encoder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08" y="29718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ImageNet EfficientNet-B4 encoder + U-Net decoder (via smp).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78408" y="3977639"/>
            <a:ext cx="2999232" cy="310896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77639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the decisive ingredient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98264" y="2103120"/>
            <a:ext cx="3401568" cy="22860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8264" y="2103120"/>
            <a:ext cx="3401568" cy="9144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22860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② Focal Tversky + BCE loss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9431" y="29718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penalises false negatives to attack the missed-lesion tail.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99431" y="3977639"/>
            <a:ext cx="2999232" cy="310896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3977639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trades precision↔recall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19288" y="2103120"/>
            <a:ext cx="3401568" cy="228600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2103120"/>
            <a:ext cx="3401568" cy="91440"/>
          </a:xfrm>
          <a:prstGeom prst="round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22860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③ TTA + post-processing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9718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8"/>
                </a:solidFill>
                <a:latin typeface="Calibri" panose="020F0502020204030204"/>
              </a:rPr>
              <a:t>flip/multi-scale test-time aug + largest-connected-component.</a:t>
            </a:r>
            <a:endParaRPr sz="12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20456" y="3977639"/>
            <a:ext cx="2999232" cy="310896"/>
          </a:xfrm>
          <a:prstGeom prst="round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3977639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no Dice gain here</a:t>
            </a:r>
            <a:endParaRPr sz="1050" b="1" i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29" name="Picture 28" descr="Improved_PretrainedUNet_EffB4_examp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4572000"/>
            <a:ext cx="685800" cy="137160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4937760" y="4572000"/>
            <a:ext cx="6492240" cy="1371600"/>
          </a:xfrm>
          <a:prstGeom prst="roundRect">
            <a:avLst/>
          </a:prstGeom>
          <a:solidFill>
            <a:srgbClr val="E6EFF2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47091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 panose="020F0502020204030204"/>
              </a:rPr>
              <a:t>Every idea is tested in a controlled ablation →</a:t>
            </a:r>
            <a:endParaRPr sz="130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66360" y="507492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We add one component at a time and measure test Dice, so we can attribute the gain precisely — not just claim it. </a:t>
            </a: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(Result on next slide.)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4 · ABLATION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What actually makes the segmenter work?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Rui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Bao</a:t>
            </a:r>
            <a:r>
              <a:rPr lang="en-US" altLang="zh-CN" sz="9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z5532117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endParaRPr lang="en-US" altLang="zh-CN" sz="9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18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783080"/>
          <a:ext cx="676656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Configuration (add one component each row)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Dice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Dice std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pixel recall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From-scratch U-Net (Dice+BCE)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0.648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0.362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0.637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+ ImageNet-pretrained EffB4 encoder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0.765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0.285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0.763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+ Focal Tversky loss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0.282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0.800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+ TTA + post-processing (full model)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0.307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0.790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72400" y="1783080"/>
            <a:ext cx="3657600" cy="4160520"/>
          </a:xfrm>
          <a:prstGeom prst="roundRect">
            <a:avLst/>
          </a:prstGeom>
          <a:solidFill>
            <a:srgbClr val="F7E9E9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938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1595B"/>
                </a:solidFill>
                <a:latin typeface="Calibri" panose="020F0502020204030204"/>
              </a:rPr>
              <a:t>Verdict</a:t>
            </a:r>
            <a:endParaRPr sz="140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3568" y="2377440"/>
            <a:ext cx="32918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Pretrained encoder =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+0.117 Dice, and far fewer completely-missed lesions (std 0.362→0.285).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150">
                <a:solidFill>
                  <a:srgbClr val="45596B"/>
                </a:solidFill>
                <a:latin typeface="Calibri" panose="020F0502020204030204"/>
              </a:rPr>
              <a:t>      –  </a:t>
            </a:r>
            <a:r>
              <a:rPr sz="1150" b="0">
                <a:solidFill>
                  <a:srgbClr val="45596B"/>
                </a:solidFill>
                <a:latin typeface="Calibri" panose="020F0502020204030204"/>
              </a:rPr>
              <a:t>essentially the ENTIRE gain.</a:t>
            </a:r>
            <a:endParaRPr sz="1150" b="0">
              <a:solidFill>
                <a:srgbClr val="45596B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Focal Tversky: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no overall Dice gain, but raises recall 0.76→0.80 — a precision/recall knob.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250" b="1">
                <a:solidFill>
                  <a:srgbClr val="0E4D64"/>
                </a:solidFill>
                <a:latin typeface="Calibri" panose="020F0502020204030204"/>
              </a:rPr>
              <a:t>TTA + post-proc: </a:t>
            </a:r>
            <a:r>
              <a:rPr sz="1250" b="0">
                <a:solidFill>
                  <a:srgbClr val="1B2A38"/>
                </a:solidFill>
                <a:latin typeface="Calibri" panose="020F0502020204030204"/>
              </a:rPr>
              <a:t>no measurable Dice gain on this data.</a:t>
            </a:r>
            <a:endParaRPr sz="125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Lesson: </a:t>
            </a:r>
            <a:r>
              <a:rPr sz="1300" b="1" i="0">
                <a:solidFill>
                  <a:srgbClr val="1B2A38"/>
                </a:solidFill>
                <a:latin typeface="Calibri" panose="020F0502020204030204"/>
              </a:rPr>
              <a:t>on small, noisy BUSI, transfer learning beats architectural/loss cleverness.</a:t>
            </a:r>
            <a:endParaRPr sz="1300" b="1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4 · IMPROVEMENT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Improved dual-stage pipeline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605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Rui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Bao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z5532117</a:t>
            </a:r>
            <a:endParaRPr lang="en-US" altLang="zh-CN" sz="900">
              <a:solidFill>
                <a:srgbClr val="8A94A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endParaRPr lang="zh-CN" altLang="en-US" sz="9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19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965960" cy="1234440"/>
          </a:xfrm>
          <a:prstGeom prst="round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11095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Input US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image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19" y="2624328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EAF3F5"/>
                </a:solidFill>
                <a:latin typeface="Calibri" panose="020F0502020204030204"/>
              </a:rPr>
              <a:t>256×256 grayscale</a:t>
            </a:r>
            <a:endParaRPr sz="1000" b="0" i="1">
              <a:solidFill>
                <a:srgbClr val="EAF3F5"/>
              </a:solidFill>
              <a:latin typeface="Calibri" panose="020F0502020204030204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628900" y="2281428"/>
            <a:ext cx="283464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6935" y="1783080"/>
            <a:ext cx="1965960" cy="123444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5" y="1911095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STAGE 1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Improved U-Net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0087" y="2624328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EAF3F5"/>
                </a:solidFill>
                <a:latin typeface="Calibri" panose="020F0502020204030204"/>
              </a:rPr>
              <a:t>EffB4 encoder → mask</a:t>
            </a:r>
            <a:endParaRPr sz="1000" b="0" i="1">
              <a:solidFill>
                <a:srgbClr val="EAF3F5"/>
              </a:solidFill>
              <a:latin typeface="Calibri" panose="020F050202020403020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87468" y="2281428"/>
            <a:ext cx="283464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75503" y="1783080"/>
            <a:ext cx="1965960" cy="123444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3" y="1911095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ROI extract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8655" y="2624328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EAF3F5"/>
                </a:solidFill>
                <a:latin typeface="Calibri" panose="020F0502020204030204"/>
              </a:rPr>
              <a:t>largest CC · bbox +15% crop</a:t>
            </a:r>
            <a:endParaRPr sz="1000" b="0" i="1">
              <a:solidFill>
                <a:srgbClr val="EAF3F5"/>
              </a:solidFill>
              <a:latin typeface="Calibri" panose="020F05020202040302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146035" y="2281428"/>
            <a:ext cx="283464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34071" y="1783080"/>
            <a:ext cx="1965960" cy="123444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1" y="1911095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STAGE 2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EfficientNet-B0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07223" y="2624328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EAF3F5"/>
                </a:solidFill>
                <a:latin typeface="Calibri" panose="020F0502020204030204"/>
              </a:rPr>
              <a:t>classify the ROI crop</a:t>
            </a:r>
            <a:endParaRPr sz="1000" b="0" i="1">
              <a:solidFill>
                <a:srgbClr val="EAF3F5"/>
              </a:solidFill>
              <a:latin typeface="Calibri" panose="020F0502020204030204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9404604" y="2281428"/>
            <a:ext cx="283464" cy="237744"/>
          </a:xfrm>
          <a:prstGeom prst="rightArrow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1783080"/>
            <a:ext cx="1965960" cy="123444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911095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Benign /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Malignant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65792" y="2624328"/>
            <a:ext cx="1819656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lang="zh-CN" sz="1000" i="1">
                <a:solidFill>
                  <a:srgbClr val="EAF3F5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optional shape features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31546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Controlled substitution: </a:t>
            </a:r>
            <a:r>
              <a:rPr sz="1250" b="0" i="0">
                <a:solidFill>
                  <a:srgbClr val="1B2A38"/>
                </a:solidFill>
                <a:latin typeface="Calibri" panose="020F0502020204030204"/>
              </a:rPr>
              <a:t>Stage-1 swapped for our stronger segmenter; Stage-2 kept byte-for-byte → any change is attributable to segmentation alone.</a:t>
            </a:r>
            <a:endParaRPr sz="12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8368" y="3703320"/>
            <a:ext cx="10744200" cy="21488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840480"/>
            <a:ext cx="10332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zh-CN" sz="1400" b="1">
                <a:solidFill>
                  <a:srgbClr val="0E4D64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Rigorous evaluation 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68680" y="4251960"/>
            <a:ext cx="32918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8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4251960"/>
            <a:ext cx="3291840" cy="73152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389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8AA6"/>
                </a:solidFill>
                <a:latin typeface="Calibri" panose="020F0502020204030204"/>
              </a:rPr>
              <a:t>Out-of-fold masks</a:t>
            </a:r>
            <a:endParaRPr sz="125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3271" y="4773168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38"/>
                </a:solidFill>
                <a:latin typeface="Calibri" panose="020F0502020204030204"/>
              </a:rPr>
              <a:t>5-fold cross-fitting: each training image's mask comes from a segmenter that never saw it (no train/test mismatch).</a:t>
            </a:r>
            <a:endParaRPr sz="11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89120" y="4251960"/>
            <a:ext cx="32918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A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89120" y="4251960"/>
            <a:ext cx="3291840" cy="73152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4389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AA655"/>
                </a:solidFill>
                <a:latin typeface="Calibri" panose="020F0502020204030204"/>
              </a:rPr>
              <a:t>5-seed ensemble</a:t>
            </a:r>
            <a:endParaRPr sz="125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53712" y="4773168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38"/>
                </a:solidFill>
                <a:latin typeface="Calibri" panose="020F0502020204030204"/>
              </a:rPr>
              <a:t>every configuration run with 5 seeds and ensembled — kills single-run luck.</a:t>
            </a:r>
            <a:endParaRPr sz="11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909560" y="4251960"/>
            <a:ext cx="32918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5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09560" y="4251960"/>
            <a:ext cx="3291840" cy="73152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4389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Bootstrap 95% CI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74152" y="4773168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38"/>
                </a:solidFill>
                <a:latin typeface="Calibri" panose="020F0502020204030204"/>
              </a:rPr>
              <a:t>confidence interval on the 98-image test set — is a difference real or just noise?</a:t>
            </a:r>
            <a:endParaRPr sz="1100" b="0" i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1595B"/>
                </a:solidFill>
                <a:latin typeface="Calibri" panose="020F0502020204030204"/>
              </a:rPr>
              <a:t>4 · ABLATION</a:t>
            </a:r>
            <a:endParaRPr sz="12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Dual-stage ablation: which ideas survive honest evaluation?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Rui</a:t>
            </a:r>
            <a:r>
              <a:rPr lang="zh-CN" sz="90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Bao </a:t>
            </a:r>
            <a:r>
              <a:rPr lang="en-US" altLang="zh-CN" sz="90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z5532117</a:t>
            </a:r>
            <a:endParaRPr lang="zh-CN" altLang="en-US" sz="9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21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We test every pipeline idea the honest way — </a:t>
            </a:r>
            <a:r>
              <a:rPr sz="1300" b="1" i="0">
                <a:solidFill>
                  <a:srgbClr val="E1595B"/>
                </a:solidFill>
                <a:latin typeface="Calibri" panose="020F0502020204030204"/>
              </a:rPr>
              <a:t>out-of-fold masks · 5 seeds · bootstrap 95% CI</a:t>
            </a:r>
            <a:r>
              <a:rPr sz="1300" b="0" i="0">
                <a:solidFill>
                  <a:srgbClr val="1B2A38"/>
                </a:solidFill>
                <a:latin typeface="Calibri" panose="020F0502020204030204"/>
              </a:rPr>
              <a:t> — and ask which gains are actually real.</a:t>
            </a:r>
            <a:endParaRPr sz="130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4480560" cy="3977639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1214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WHAT IS OUT-OF-FOLD (OOF)?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2606040"/>
            <a:ext cx="292608" cy="15544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21892" y="2606040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6504" y="2606040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1115" y="2606040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95728" y="2606040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2793492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21892" y="2793492"/>
            <a:ext cx="292608" cy="15544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46504" y="2793492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1115" y="2793492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95728" y="2793492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2980944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21892" y="2980944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46504" y="2980944"/>
            <a:ext cx="292608" cy="15544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71115" y="2980944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95728" y="2980944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3168396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21892" y="3168396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46504" y="3168396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71115" y="3168396"/>
            <a:ext cx="292608" cy="15544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95728" y="3168396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3355848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21892" y="3355848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46504" y="3355848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71115" y="3355848"/>
            <a:ext cx="292608" cy="155448"/>
          </a:xfrm>
          <a:prstGeom prst="rect">
            <a:avLst/>
          </a:prstGeom>
          <a:solidFill>
            <a:srgbClr val="B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95728" y="3355848"/>
            <a:ext cx="292608" cy="155448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7499" y="2587752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2A38"/>
                </a:solidFill>
                <a:latin typeface="Calibri" panose="020F0502020204030204"/>
              </a:rPr>
              <a:t>each row = one fold</a:t>
            </a:r>
            <a:endParaRPr sz="1050" b="1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596B"/>
                </a:solidFill>
                <a:latin typeface="Calibri" panose="020F0502020204030204"/>
              </a:rPr>
              <a:t>its mask is predicted by</a:t>
            </a:r>
            <a:endParaRPr sz="1000" b="0" i="0">
              <a:solidFill>
                <a:srgbClr val="45596B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596B"/>
                </a:solidFill>
                <a:latin typeface="Calibri" panose="020F0502020204030204"/>
              </a:rPr>
              <a:t>a model trained on the</a:t>
            </a:r>
            <a:endParaRPr sz="1000" b="0" i="0">
              <a:solidFill>
                <a:srgbClr val="45596B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596B"/>
                </a:solidFill>
                <a:latin typeface="Calibri" panose="020F0502020204030204"/>
              </a:rPr>
              <a:t>other 4 folds only.</a:t>
            </a:r>
            <a:endParaRPr sz="10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97280" y="3675887"/>
            <a:ext cx="219456" cy="137160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63931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45596B"/>
                </a:solidFill>
                <a:latin typeface="Calibri" panose="020F0502020204030204"/>
              </a:rPr>
              <a:t>held-out image (mask predicted, never self-seen)</a:t>
            </a:r>
            <a:endParaRPr sz="950" b="0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7552" y="3977639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1595B"/>
                </a:solidFill>
                <a:latin typeface="Calibri" panose="020F0502020204030204"/>
              </a:rPr>
              <a:t>Why:</a:t>
            </a: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 Stage-2 must train on </a:t>
            </a:r>
            <a:r>
              <a:rPr sz="1150" b="1" i="0">
                <a:solidFill>
                  <a:srgbClr val="1B2A38"/>
                </a:solidFill>
                <a:latin typeface="Calibri" panose="020F0502020204030204"/>
              </a:rPr>
              <a:t>predicted</a:t>
            </a:r>
            <a:r>
              <a:rPr sz="1150" b="0" i="0">
                <a:solidFill>
                  <a:srgbClr val="1B2A38"/>
                </a:solidFill>
                <a:latin typeface="Calibri" panose="020F0502020204030204"/>
              </a:rPr>
              <a:t>-mask crops. OOF generates realistic (imperfect) masks for the training images without a segmenter ever seeing its own image.</a:t>
            </a:r>
            <a:endParaRPr sz="1150" b="0" i="0">
              <a:solidFill>
                <a:srgbClr val="1B2A38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E4D64"/>
                </a:solidFill>
                <a:latin typeface="Calibri" panose="020F0502020204030204"/>
              </a:rPr>
              <a:t>→ removes the train-on-clean / test-on-imperfect mismatch. A </a:t>
            </a:r>
            <a:r>
              <a:rPr sz="1100" b="1" i="0">
                <a:solidFill>
                  <a:srgbClr val="0E4D64"/>
                </a:solidFill>
                <a:latin typeface="Calibri" panose="020F0502020204030204"/>
              </a:rPr>
              <a:t>correctness fix</a:t>
            </a:r>
            <a:r>
              <a:rPr sz="1100" b="0" i="0">
                <a:solidFill>
                  <a:srgbClr val="0E4D64"/>
                </a:solidFill>
                <a:latin typeface="Calibri" panose="020F0502020204030204"/>
              </a:rPr>
              <a:t>, not a score trick.</a:t>
            </a:r>
            <a:endParaRPr sz="1100" b="0" i="0">
              <a:solidFill>
                <a:srgbClr val="0E4D64"/>
              </a:solidFill>
              <a:latin typeface="Calibri" panose="020F0502020204030204"/>
            </a:endParaRP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40680" y="1965960"/>
          <a:ext cx="5943600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234440"/>
                <a:gridCol w="100584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Configuration (all OOF cross-fit)</a:t>
                      </a:r>
                      <a:endParaRPr sz="11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per-seed F1</a:t>
                      </a:r>
                      <a:endParaRPr sz="11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5-seed ens.</a:t>
                      </a:r>
                      <a:endParaRPr sz="11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95% CI</a:t>
                      </a:r>
                      <a:endParaRPr sz="11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Strengthened Stage-2 (pure CNN)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0.847 ± 0.011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0.875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[0.80, 0.94]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+ shape features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0.861 ± 0.016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0.875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[0.80, 0.94]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+ radiomics (shape + texture)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0.862 ± 0.013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0.863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[0.79, 0.93]</a:t>
                      </a:r>
                      <a:endParaRPr sz="110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5440680" y="4114800"/>
            <a:ext cx="5943600" cy="1828800"/>
          </a:xfrm>
          <a:prstGeom prst="roundRect">
            <a:avLst/>
          </a:prstGeom>
          <a:solidFill>
            <a:srgbClr val="F7E9E9"/>
          </a:solidFill>
          <a:ln w="9525">
            <a:solidFill>
              <a:srgbClr val="CBD8DE"/>
            </a:solidFill>
          </a:ln>
          <a:effectLst>
            <a:outerShdw blurRad="90000" dist="38100" dir="5400000" rotWithShape="0">
              <a:srgbClr val="1B2A38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0992" y="4251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1595B"/>
                </a:solidFill>
                <a:latin typeface="Calibri" panose="020F0502020204030204"/>
              </a:rPr>
              <a:t>Verdict</a:t>
            </a:r>
            <a:endParaRPr sz="13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50992" y="4681728"/>
            <a:ext cx="5532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Hand features: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shape / radiomics CIs fully overlap the pure-CNN baseline → NO reliable gain. Dropped.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5-seed ensembling: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per-seed 0.847 → ensemble 0.875 — the ONLY component that robustly helps.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sz="1150" b="1">
                <a:solidFill>
                  <a:srgbClr val="0E4D64"/>
                </a:solidFill>
                <a:latin typeface="Calibri" panose="020F0502020204030204"/>
              </a:rPr>
              <a:t>Lesson: </a:t>
            </a:r>
            <a:r>
              <a:rPr sz="1150" b="0">
                <a:solidFill>
                  <a:srgbClr val="1B2A38"/>
                </a:solidFill>
                <a:latin typeface="Calibri" panose="020F0502020204030204"/>
              </a:rPr>
              <a:t>on 98 test images, single-run gains up to ~±0.05 are noise → always report CIs.</a:t>
            </a:r>
            <a:endParaRPr sz="115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A33D"/>
                </a:solidFill>
                <a:latin typeface="Calibri" panose="020F0502020204030204"/>
              </a:rPr>
              <a:t>5 · RESULTS</a:t>
            </a:r>
            <a:endParaRPr sz="125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Segmentation leaderboard (leakage-free, 98 imgs)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20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554480"/>
          <a:ext cx="6903720" cy="345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914400"/>
                <a:gridCol w="658368"/>
                <a:gridCol w="658368"/>
                <a:gridCol w="749808"/>
                <a:gridCol w="749808"/>
                <a:gridCol w="65836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Type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Dice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IoU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F-meas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Params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Paper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Improved Pretrained-UNet (ours)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ours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0.760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0.688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0.854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20.2M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DeepLabV3+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transfer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0.739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0.652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0.810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26.7M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AAU-Net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reprod.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0.730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0.638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0.723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42.7M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0.775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nnU-Net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reprod.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0.717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0.627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0.781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8.5M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CResU-Net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reprod.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0.693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0.600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0.772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33.5M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0.829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U-Net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scratch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0.648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0.570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0.779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31.0M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Attention U-Net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scratch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0.629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0.540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0.631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31.4M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MTL-OCA (seg)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joint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0.612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0.515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8.2M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0.838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FCN-AlexNet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transfer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0.582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0.471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0.804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28.7M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—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09560" y="1554480"/>
            <a:ext cx="3520440" cy="44348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17007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4D64"/>
                </a:solidFill>
                <a:latin typeface="Calibri" panose="020F0502020204030204"/>
              </a:rPr>
              <a:t>Reading the board</a:t>
            </a:r>
            <a:endParaRPr sz="13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10727" y="2148840"/>
            <a:ext cx="3127248" cy="2574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400" b="1">
                <a:solidFill>
                  <a:srgbClr val="0E4D64"/>
                </a:solidFill>
                <a:latin typeface="Calibri" panose="020F0502020204030204"/>
              </a:rPr>
              <a:t>① </a:t>
            </a:r>
            <a:r>
              <a:rPr lang="en-US" sz="1400" b="0">
                <a:solidFill>
                  <a:srgbClr val="1B2A38"/>
                </a:solidFill>
                <a:latin typeface="Calibri" panose="020F0502020204030204"/>
              </a:rPr>
              <a:t>our pretrained U-Net wins (Dice 0.760).</a:t>
            </a:r>
            <a:endParaRPr lang="en-US" altLang="zh-CN" sz="1400" b="0">
              <a:solidFill>
                <a:srgbClr val="1B2A38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400" b="1" dirty="0">
                <a:solidFill>
                  <a:srgbClr val="0E4D64"/>
                </a:solidFill>
                <a:latin typeface="Calibri" panose="020F0502020204030204"/>
              </a:rPr>
              <a:t>② </a:t>
            </a:r>
            <a:r>
              <a:rPr lang="en-US" sz="1400" b="0" dirty="0">
                <a:solidFill>
                  <a:srgbClr val="1B2A38"/>
                </a:solidFill>
                <a:latin typeface="Calibri" panose="020F0502020204030204"/>
              </a:rPr>
              <a:t>reproductions fall below paper numbers (</a:t>
            </a:r>
            <a:r>
              <a:rPr lang="en-US" sz="1400" b="0" dirty="0" err="1">
                <a:solidFill>
                  <a:srgbClr val="1B2A38"/>
                </a:solidFill>
                <a:latin typeface="Calibri" panose="020F0502020204030204"/>
              </a:rPr>
              <a:t>CResU</a:t>
            </a:r>
            <a:r>
              <a:rPr lang="en-US" sz="1400" b="0" dirty="0">
                <a:solidFill>
                  <a:srgbClr val="1B2A38"/>
                </a:solidFill>
                <a:latin typeface="Calibri" panose="020F0502020204030204"/>
              </a:rPr>
              <a:t> 0.829→0.693) — leakage removed = honest.</a:t>
            </a:r>
            <a:endParaRPr lang="en-US" sz="14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400" b="1" dirty="0">
                <a:solidFill>
                  <a:srgbClr val="0E4D64"/>
                </a:solidFill>
                <a:latin typeface="Calibri" panose="020F0502020204030204"/>
              </a:rPr>
              <a:t>③ </a:t>
            </a:r>
            <a:r>
              <a:rPr lang="en-US" sz="1400" b="0" dirty="0" err="1">
                <a:solidFill>
                  <a:srgbClr val="1B2A38"/>
                </a:solidFill>
                <a:latin typeface="Calibri" panose="020F0502020204030204"/>
              </a:rPr>
              <a:t>nnU</a:t>
            </a:r>
            <a:r>
              <a:rPr lang="en-US" sz="1400" b="0" dirty="0">
                <a:solidFill>
                  <a:srgbClr val="1B2A38"/>
                </a:solidFill>
                <a:latin typeface="Calibri" panose="020F0502020204030204"/>
              </a:rPr>
              <a:t>-Net (0.717) does NOT dominate — a good pretrained encoder beats a heavy framework.</a:t>
            </a:r>
            <a:endParaRPr lang="en-US" sz="14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400" b="1">
                <a:solidFill>
                  <a:srgbClr val="0E4D64"/>
                </a:solidFill>
                <a:latin typeface="Calibri" panose="020F0502020204030204"/>
              </a:rPr>
              <a:t>④ </a:t>
            </a:r>
            <a:r>
              <a:rPr lang="en-US" sz="1400" b="0">
                <a:solidFill>
                  <a:srgbClr val="1B2A38"/>
                </a:solidFill>
                <a:latin typeface="Calibri" panose="020F0502020204030204"/>
              </a:rPr>
              <a:t>U-Net 0.648 vs Attn 0.629 (same recipe) → attention gate doesn't help here.</a:t>
            </a:r>
            <a:endParaRPr lang="en-US" sz="14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A33D"/>
                </a:solidFill>
                <a:latin typeface="Calibri" panose="020F0502020204030204"/>
              </a:rPr>
              <a:t>5 · RESULTS</a:t>
            </a:r>
            <a:endParaRPr sz="125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Classification results (3-class, 118 imgs)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altLang="en-US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altLang="zh-CN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21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600200"/>
          <a:ext cx="6126480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51560"/>
                <a:gridCol w="1005840"/>
                <a:gridCol w="96012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Type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macro-F1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Accuracy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AUC</a:t>
                      </a:r>
                      <a:endParaRPr sz="12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0E4D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EfficientNet-B0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transfer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0.828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0.848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0.969</a:t>
                      </a:r>
                      <a:endParaRPr sz="12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ResNet-18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transfer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0.810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0.822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0.966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DenseNet-121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transfer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0.793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0.805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0.947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MTL-OCA (cls)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joint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0.720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0.746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0.900</a:t>
                      </a:r>
                      <a:endParaRPr sz="12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EfficientNet_TanLe2019_conf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146" y="3977639"/>
            <a:ext cx="2418587" cy="2103120"/>
          </a:xfrm>
          <a:prstGeom prst="rect">
            <a:avLst/>
          </a:prstGeom>
          <a:ln w="9525">
            <a:solidFill>
              <a:srgbClr val="CBD8DE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77240" y="37033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45596B"/>
                </a:solidFill>
                <a:latin typeface="Calibri" panose="020F0502020204030204"/>
              </a:rPr>
              <a:t>Best model confusion matrix</a:t>
            </a:r>
            <a:endParaRPr sz="1100" b="1" i="1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086600" y="1600200"/>
            <a:ext cx="4343400" cy="443484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1755648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0E4D64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sz="2000" b="1" i="0">
                <a:solidFill>
                  <a:srgbClr val="0E4D64"/>
                </a:solidFill>
                <a:latin typeface="Calibri" panose="020F0502020204030204"/>
              </a:rPr>
              <a:t>Analysis</a:t>
            </a:r>
            <a:endParaRPr lang="en-US" altLang="zh-CN" sz="2000" b="1" i="0">
              <a:solidFill>
                <a:srgbClr val="0E4D64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87768" y="2212848"/>
            <a:ext cx="3950208" cy="2926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lang="en-US" sz="16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600" b="1">
                <a:solidFill>
                  <a:srgbClr val="0E4D64"/>
                </a:solidFill>
                <a:latin typeface="Calibri" panose="020F0502020204030204"/>
              </a:rPr>
              <a:t>Winner: </a:t>
            </a:r>
            <a:r>
              <a:rPr lang="en-US" sz="1600" b="0">
                <a:solidFill>
                  <a:srgbClr val="1B2A38"/>
                </a:solidFill>
                <a:latin typeface="Calibri" panose="020F0502020204030204"/>
              </a:rPr>
              <a:t>EfficientNet-B0 leads (macro-F1 0.828, AUC 0.969).</a:t>
            </a:r>
            <a:endParaRPr lang="en-US" altLang="zh-CN" sz="1600" b="0">
              <a:solidFill>
                <a:srgbClr val="1B2A38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lang="en-US" sz="16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600" b="1">
                <a:solidFill>
                  <a:srgbClr val="0E4D64"/>
                </a:solidFill>
                <a:latin typeface="Calibri" panose="020F0502020204030204"/>
              </a:rPr>
              <a:t>Specialists win: </a:t>
            </a:r>
            <a:r>
              <a:rPr lang="en-US" sz="1600" b="0">
                <a:solidFill>
                  <a:srgbClr val="1B2A38"/>
                </a:solidFill>
                <a:latin typeface="Calibri" panose="020F0502020204030204"/>
              </a:rPr>
              <a:t>all 3 pretrained backbones beat the joint MTL-OCA (0.720).</a:t>
            </a:r>
            <a:endParaRPr lang="en-US" sz="16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lang="en-US" sz="16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600" b="1">
                <a:solidFill>
                  <a:srgbClr val="0E4D64"/>
                </a:solidFill>
                <a:latin typeface="Calibri" panose="020F0502020204030204"/>
              </a:rPr>
              <a:t>Why: </a:t>
            </a:r>
            <a:r>
              <a:rPr lang="en-US" sz="1600" b="0">
                <a:solidFill>
                  <a:srgbClr val="1B2A38"/>
                </a:solidFill>
                <a:latin typeface="Calibri" panose="020F0502020204030204"/>
              </a:rPr>
              <a:t>MTL underperforms on BOTH tasks — sharing one backbone is a compromise too costly on small data.</a:t>
            </a:r>
            <a:endParaRPr lang="en-US" sz="16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lang="en-US" sz="1600" b="1">
                <a:solidFill>
                  <a:srgbClr val="E8A33D"/>
                </a:solidFill>
                <a:latin typeface="Calibri" panose="020F0502020204030204"/>
              </a:rPr>
              <a:t>•  </a:t>
            </a:r>
            <a:r>
              <a:rPr lang="en-US" sz="1600" b="1">
                <a:solidFill>
                  <a:srgbClr val="0E4D64"/>
                </a:solidFill>
                <a:latin typeface="Calibri" panose="020F0502020204030204"/>
              </a:rPr>
              <a:t>Error analysis: </a:t>
            </a:r>
            <a:r>
              <a:rPr lang="en-US" sz="1600" b="0">
                <a:solidFill>
                  <a:srgbClr val="1B2A38"/>
                </a:solidFill>
                <a:latin typeface="Calibri" panose="020F0502020204030204"/>
              </a:rPr>
              <a:t>malignant (minority class) is the hardest and the main error source for every model.</a:t>
            </a:r>
            <a:endParaRPr lang="en-US" sz="16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A33D"/>
                </a:solidFill>
                <a:latin typeface="Calibri" panose="020F0502020204030204"/>
              </a:rPr>
              <a:t>5 · RESULTS</a:t>
            </a:r>
            <a:endParaRPr sz="125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Dual-stage: the bottleneck is the classifier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22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45596B"/>
                </a:solidFill>
                <a:latin typeface="Calibri" panose="020F0502020204030204"/>
              </a:rPr>
              <a:t>(a) single-run ladder — looks like a tidy climb…</a:t>
            </a:r>
            <a:endParaRPr sz="1250" b="1" i="1">
              <a:solidFill>
                <a:srgbClr val="45596B"/>
              </a:solidFill>
              <a:latin typeface="Calibri" panose="020F050202020403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810512"/>
          <a:ext cx="566013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822960"/>
                <a:gridCol w="658368"/>
                <a:gridCol w="658368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Pipeline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1F8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St-1 Dice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1F8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F1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1F8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1F8A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GT-ROI F1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1F8AA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Bruno (DeepLabV3+→EffB0)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0.739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0.804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0.827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0.865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Ours: Improved-UNet Stage 1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0.807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0.827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0.884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Ours: + strengthened Stage 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0.817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0.837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0.882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Ours: + shape features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0.761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0.840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0.857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0.850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45596B"/>
                </a:solidFill>
                <a:latin typeface="Calibri" panose="020F0502020204030204"/>
              </a:rPr>
              <a:t>(b) rigorous: out-of-fold + 5-seed ensemble + bootstrap 95% CI</a:t>
            </a:r>
            <a:endParaRPr sz="1250" b="1" i="1">
              <a:solidFill>
                <a:srgbClr val="45596B"/>
              </a:solidFill>
              <a:latin typeface="Calibri" panose="020F05020202040302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4315968"/>
          <a:ext cx="63093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1051560"/>
                <a:gridCol w="14173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Pipeline (rigorous)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Ensemble F1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per-seed mean±std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95% CI</a:t>
                      </a:r>
                      <a:endParaRPr sz="10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159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OOF + no hand features (pure CNN)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0.875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0.847 ± 0.011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[0.80, 0.94]</a:t>
                      </a:r>
                      <a:endParaRPr sz="1050" b="1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3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OOF + shape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0.875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0.861 ± 0.016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[0.80, 0.94]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OOF + radiomics (shape+texture)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0.863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0.862 ± 0.013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A38"/>
                          </a:solidFill>
                          <a:latin typeface="Calibri" panose="020F0502020204030204"/>
                        </a:rPr>
                        <a:t>[0.79, 0.93]</a:t>
                      </a:r>
                      <a:endParaRPr sz="1050" b="0">
                        <a:solidFill>
                          <a:srgbClr val="1B2A38"/>
                        </a:solidFill>
                        <a:latin typeface="Calibri" panose="020F0502020204030204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858000" y="1810512"/>
            <a:ext cx="4572000" cy="4160520"/>
          </a:xfrm>
          <a:prstGeom prst="roundRect">
            <a:avLst/>
          </a:prstGeom>
          <a:solidFill>
            <a:srgbClr val="F7E9E9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965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>
                <a:solidFill>
                  <a:srgbClr val="E1595B"/>
                </a:solidFill>
                <a:latin typeface="Calibri" panose="020F0502020204030204"/>
              </a:rPr>
              <a:t>Two messages</a:t>
            </a:r>
            <a:endParaRPr lang="en-US" altLang="zh-CN" sz="2400" b="1" i="0">
              <a:solidFill>
                <a:srgbClr val="E1595B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59168" y="2423160"/>
            <a:ext cx="4206240" cy="2981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lang="en-US" sz="2000" b="1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lang="en-US" sz="2000" b="1">
                <a:solidFill>
                  <a:srgbClr val="0E4D64"/>
                </a:solidFill>
                <a:latin typeface="Calibri" panose="020F0502020204030204"/>
              </a:rPr>
              <a:t>① Bottleneck: </a:t>
            </a:r>
            <a:r>
              <a:rPr lang="en-US" sz="2000" b="0">
                <a:solidFill>
                  <a:srgbClr val="1B2A38"/>
                </a:solidFill>
                <a:latin typeface="Calibri" panose="020F0502020204030204"/>
              </a:rPr>
              <a:t>a much stronger Stage-1 (Dice 0.739→0.760) barely moves F1 (0.804→0.807). The gap to the GT-ROI upper bound (~0.87) is the classifier's own error.</a:t>
            </a:r>
            <a:endParaRPr lang="en-US" altLang="zh-CN" sz="2000" b="0">
              <a:solidFill>
                <a:srgbClr val="1B2A38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lang="en-US" sz="2000" b="1" dirty="0">
                <a:solidFill>
                  <a:srgbClr val="E1595B"/>
                </a:solidFill>
                <a:latin typeface="Calibri" panose="020F0502020204030204"/>
              </a:rPr>
              <a:t>•  </a:t>
            </a:r>
            <a:r>
              <a:rPr lang="en-US" sz="2000" b="1" dirty="0">
                <a:solidFill>
                  <a:srgbClr val="0E4D64"/>
                </a:solidFill>
                <a:latin typeface="Calibri" panose="020F0502020204030204"/>
              </a:rPr>
              <a:t>② </a:t>
            </a:r>
            <a:r>
              <a:rPr lang="en-US" sz="2000" b="1" dirty="0" err="1">
                <a:solidFill>
                  <a:srgbClr val="0E4D64"/>
                </a:solidFill>
                <a:latin typeface="Calibri" panose="020F0502020204030204"/>
              </a:rPr>
              <a:t>Rigour</a:t>
            </a:r>
            <a:r>
              <a:rPr lang="en-US" sz="2000" b="1" dirty="0">
                <a:solidFill>
                  <a:srgbClr val="0E4D64"/>
                </a:solidFill>
                <a:latin typeface="Calibri" panose="020F0502020204030204"/>
              </a:rPr>
              <a:t>: </a:t>
            </a:r>
            <a:r>
              <a:rPr lang="en-US" sz="2000" b="0" dirty="0">
                <a:solidFill>
                  <a:srgbClr val="1B2A38"/>
                </a:solidFill>
                <a:latin typeface="Calibri" panose="020F0502020204030204"/>
              </a:rPr>
              <a:t>the tidy ladder in (a) dissolves under CIs in (b): shape/texture features give no reliable gain — only </a:t>
            </a:r>
            <a:r>
              <a:rPr lang="en-US" sz="2000" b="0" dirty="0" err="1">
                <a:solidFill>
                  <a:srgbClr val="1B2A38"/>
                </a:solidFill>
                <a:latin typeface="Calibri" panose="020F0502020204030204"/>
              </a:rPr>
              <a:t>ensembling</a:t>
            </a:r>
            <a:r>
              <a:rPr lang="en-US" sz="2000" b="0" dirty="0">
                <a:solidFill>
                  <a:srgbClr val="1B2A38"/>
                </a:solidFill>
                <a:latin typeface="Calibri" panose="020F0502020204030204"/>
              </a:rPr>
              <a:t> survives (0.847→0.875).</a:t>
            </a:r>
            <a:endParaRPr lang="en-US" sz="2000" b="0">
              <a:solidFill>
                <a:srgbClr val="1B2A3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A33D"/>
                </a:solidFill>
                <a:latin typeface="Calibri" panose="020F0502020204030204"/>
              </a:rPr>
              <a:t>5 · COMPARISON</a:t>
            </a:r>
            <a:endParaRPr sz="125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Two comparisons: across models &amp; vs. reported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</a:t>
            </a:r>
            <a:r>
              <a:rPr lang="en-US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23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5212080" cy="429768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HORIZONTAL — best per task (ours vs baseline)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Seg · Improved U-Net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5840" y="2560320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560320"/>
            <a:ext cx="3405225" cy="146304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2432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A655"/>
                </a:solidFill>
                <a:latin typeface="Calibri" panose="020F0502020204030204"/>
              </a:rPr>
              <a:t>0.760</a:t>
            </a:r>
            <a:endParaRPr sz="100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28529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Seg · DeepLabV3+ (base)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05840" y="3127248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127248"/>
            <a:ext cx="3311133" cy="146304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99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8AA6"/>
                </a:solidFill>
                <a:latin typeface="Calibri" panose="020F0502020204030204"/>
              </a:rPr>
              <a:t>0.739</a:t>
            </a:r>
            <a:endParaRPr sz="1000" b="1" i="0">
              <a:solidFill>
                <a:srgbClr val="1F8AA6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34198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Cls · EfficientNet-B0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5840" y="3694176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3694176"/>
            <a:ext cx="3709903" cy="146304"/>
          </a:xfrm>
          <a:prstGeom prst="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3566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A655"/>
                </a:solidFill>
                <a:latin typeface="Calibri" panose="020F0502020204030204"/>
              </a:rPr>
              <a:t>0.828</a:t>
            </a:r>
            <a:endParaRPr sz="1000" b="1" i="0">
              <a:solidFill>
                <a:srgbClr val="3AA655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398678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Cls · MTL-OCA (base)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05840" y="4261104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4261104"/>
            <a:ext cx="3226003" cy="14630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4133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94A6"/>
                </a:solidFill>
                <a:latin typeface="Calibri" panose="020F0502020204030204"/>
              </a:rPr>
              <a:t>0.720</a:t>
            </a:r>
            <a:endParaRPr sz="10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" y="45537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Dual · OOF+ensemble (ours)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05840" y="4828032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4828032"/>
            <a:ext cx="3920490" cy="146304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4700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1595B"/>
                </a:solidFill>
                <a:latin typeface="Calibri" panose="020F0502020204030204"/>
              </a:rPr>
              <a:t>0.875</a:t>
            </a:r>
            <a:endParaRPr sz="100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5840" y="5120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B2A38"/>
                </a:solidFill>
                <a:latin typeface="Calibri" panose="020F0502020204030204"/>
              </a:rPr>
              <a:t>Dual · Bruno (base)</a:t>
            </a:r>
            <a:endParaRPr sz="1050" b="0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5840" y="5394960"/>
            <a:ext cx="4480560" cy="146304"/>
          </a:xfrm>
          <a:prstGeom prst="rect">
            <a:avLst/>
          </a:prstGeom>
          <a:solidFill>
            <a:srgbClr val="E1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5394960"/>
            <a:ext cx="3602370" cy="14630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4688" y="52669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94A6"/>
                </a:solidFill>
                <a:latin typeface="Calibri" panose="020F0502020204030204"/>
              </a:rPr>
              <a:t>0.804</a:t>
            </a:r>
            <a:endParaRPr sz="10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1645920"/>
            <a:ext cx="5257800" cy="429768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 panose="020F0502020204030204"/>
              </a:rPr>
              <a:t>VERTICAL — our leakage-free vs. paper-reported Dice</a:t>
            </a:r>
            <a:endParaRPr sz="1250" b="1" i="0">
              <a:solidFill>
                <a:srgbClr val="0E4D64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23317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A38"/>
                </a:solidFill>
                <a:latin typeface="Calibri" panose="020F0502020204030204"/>
              </a:rPr>
              <a:t>CResU-Net</a:t>
            </a:r>
            <a:endParaRPr sz="11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0" y="2624327"/>
            <a:ext cx="3941795" cy="182880"/>
          </a:xfrm>
          <a:prstGeom prst="rect">
            <a:avLst/>
          </a:prstGeom>
          <a:solidFill>
            <a:srgbClr val="C7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88315" y="2606039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5596B"/>
                </a:solidFill>
                <a:latin typeface="Calibri" panose="020F0502020204030204"/>
              </a:rPr>
              <a:t>paper 0.829</a:t>
            </a:r>
            <a:endParaRPr sz="95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00800" y="2862072"/>
            <a:ext cx="3295131" cy="182880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1651" y="284378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ours 0.693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3291839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A38"/>
                </a:solidFill>
                <a:latin typeface="Calibri" panose="020F0502020204030204"/>
              </a:rPr>
              <a:t>AAU-Net</a:t>
            </a:r>
            <a:endParaRPr sz="11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00800" y="3584447"/>
            <a:ext cx="3685032" cy="182880"/>
          </a:xfrm>
          <a:prstGeom prst="rect">
            <a:avLst/>
          </a:prstGeom>
          <a:solidFill>
            <a:srgbClr val="C7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31552" y="3566159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5596B"/>
                </a:solidFill>
                <a:latin typeface="Calibri" panose="020F0502020204030204"/>
              </a:rPr>
              <a:t>paper 0.775</a:t>
            </a:r>
            <a:endParaRPr sz="95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400800" y="3822191"/>
            <a:ext cx="3471062" cy="182880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17582" y="380390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ours 0.730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00800" y="4251959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A38"/>
                </a:solidFill>
                <a:latin typeface="Calibri" panose="020F0502020204030204"/>
              </a:rPr>
              <a:t>MTL-OCA</a:t>
            </a:r>
            <a:endParaRPr sz="11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400800" y="4544568"/>
            <a:ext cx="3984589" cy="182880"/>
          </a:xfrm>
          <a:prstGeom prst="rect">
            <a:avLst/>
          </a:prstGeom>
          <a:solidFill>
            <a:srgbClr val="C7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31109" y="4526279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5596B"/>
                </a:solidFill>
                <a:latin typeface="Calibri" panose="020F0502020204030204"/>
              </a:rPr>
              <a:t>paper 0.838</a:t>
            </a:r>
            <a:endParaRPr sz="95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00800" y="4782312"/>
            <a:ext cx="2909986" cy="182880"/>
          </a:xfrm>
          <a:prstGeom prst="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6506" y="4764023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1595B"/>
                </a:solidFill>
                <a:latin typeface="Calibri" panose="020F0502020204030204"/>
              </a:rPr>
              <a:t>ours 0.612</a:t>
            </a:r>
            <a:endParaRPr sz="950" b="1" i="0">
              <a:solidFill>
                <a:srgbClr val="E1595B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00800" y="5440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2A38"/>
                </a:solidFill>
                <a:latin typeface="Calibri" panose="020F0502020204030204"/>
              </a:rPr>
              <a:t>The drop = removed near-duplicate leakage. </a:t>
            </a:r>
            <a:r>
              <a:rPr sz="1100" b="1" i="0">
                <a:solidFill>
                  <a:srgbClr val="E1595B"/>
                </a:solidFill>
                <a:latin typeface="Calibri" panose="020F0502020204030204"/>
              </a:rPr>
              <a:t>Our numbers are lower but trustworthy.</a:t>
            </a:r>
            <a:endParaRPr sz="1100" b="1" i="0">
              <a:solidFill>
                <a:srgbClr val="E159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596B"/>
                </a:solidFill>
                <a:latin typeface="Calibri" panose="020F0502020204030204"/>
              </a:rPr>
              <a:t>6 · DISCUSSION</a:t>
            </a:r>
            <a:endParaRPr sz="125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Three findings that generalise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24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10634472" cy="12801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822960" cy="128016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2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B2A38"/>
                </a:solidFill>
                <a:latin typeface="Calibri" panose="020F0502020204030204"/>
              </a:rPr>
              <a:t>Evaluation hygiene matters most</a:t>
            </a:r>
            <a:endParaRPr sz="16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313432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5596B"/>
                </a:solidFill>
                <a:latin typeface="Calibri" panose="020F0502020204030204"/>
              </a:rPr>
              <a:t>Removing near-duplicate leakage drops published BUSI scores substantially (CResU 0.829→0.693). Much 'SOTA' rests on how you split.</a:t>
            </a:r>
            <a:endParaRPr sz="13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108960"/>
            <a:ext cx="10634472" cy="12801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822960" cy="128016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B2A38"/>
                </a:solidFill>
                <a:latin typeface="Calibri" panose="020F0502020204030204"/>
              </a:rPr>
              <a:t>Transfer learning is decisive</a:t>
            </a:r>
            <a:endParaRPr sz="16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28800" y="3730752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5596B"/>
                </a:solidFill>
                <a:latin typeface="Calibri" panose="020F0502020204030204"/>
              </a:rPr>
              <a:t>An ImageNet encoder alone lifts Dice 0.648→0.765 and slashes missed lesions — beating attention gates, custom losses &amp; nnU-Net.</a:t>
            </a:r>
            <a:endParaRPr sz="1300" b="0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10634472" cy="12801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526280"/>
            <a:ext cx="822960" cy="128016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470916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B2A38"/>
                </a:solidFill>
                <a:latin typeface="Calibri" panose="020F0502020204030204"/>
              </a:rPr>
              <a:t>Fix the real bottleneck</a:t>
            </a:r>
            <a:endParaRPr sz="165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28800" y="5148072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5596B"/>
                </a:solidFill>
                <a:latin typeface="Calibri" panose="020F0502020204030204"/>
              </a:rPr>
              <a:t>The dual-stage pipeline is limited by its classifier, not its segmenter. Invest capacity where the measured gap is — and report CIs.</a:t>
            </a:r>
            <a:endParaRPr sz="1300" b="0" i="0">
              <a:solidFill>
                <a:srgbClr val="4559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75488"/>
            <a:ext cx="118872" cy="658368"/>
          </a:xfrm>
          <a:prstGeom prst="rect">
            <a:avLst/>
          </a:prstGeom>
          <a:solidFill>
            <a:srgbClr val="45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596B"/>
                </a:solidFill>
                <a:latin typeface="Calibri" panose="020F0502020204030204"/>
              </a:rPr>
              <a:t>6 · DISCUSSION</a:t>
            </a:r>
            <a:endParaRPr sz="1250" b="1" i="0">
              <a:solidFill>
                <a:srgbClr val="45596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2A38"/>
                </a:solidFill>
                <a:latin typeface="Calibri" panose="020F0502020204030204"/>
              </a:rPr>
              <a:t>Strengths, limitations &amp; future work</a:t>
            </a:r>
            <a:endParaRPr sz="2500" b="1" i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10634472" cy="18288"/>
          </a:xfrm>
          <a:prstGeom prst="rect">
            <a:avLst/>
          </a:prstGeom>
          <a:solidFill>
            <a:srgbClr val="CB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 panose="020F0502020204030204"/>
              </a:rPr>
              <a:t>COMP9444 · Group Project 047 · Breast Ultrasound (BUSI)</a:t>
            </a:r>
            <a:endParaRPr sz="900" b="0" i="0">
              <a:solidFill>
                <a:srgbClr val="8A94A6"/>
              </a:solidFill>
              <a:latin typeface="Calibri" panose="020F0502020204030204"/>
            </a:endParaRPr>
          </a:p>
          <a:p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Presenter:</a:t>
            </a:r>
            <a:r>
              <a:rPr lang="zh-CN" sz="900" dirty="0">
                <a:solidFill>
                  <a:srgbClr val="8A94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900" dirty="0" err="1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QIyu</a:t>
            </a:r>
            <a:r>
              <a:rPr lang="en-US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Fan </a:t>
            </a:r>
            <a:r>
              <a:rPr lang="en-US" altLang="zh-CN" sz="900" dirty="0">
                <a:solidFill>
                  <a:srgbClr val="8A94A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z5555929</a:t>
            </a:r>
            <a:endParaRPr lang="en-US" altLang="zh-CN" sz="900" dirty="0">
              <a:solidFill>
                <a:srgbClr val="8A94A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zh-CN" sz="900" dirty="0">
              <a:solidFill>
                <a:srgbClr val="8A94A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4A6"/>
                </a:solidFill>
                <a:latin typeface="Calibri" panose="020F0502020204030204"/>
              </a:rPr>
              <a:t>25</a:t>
            </a:r>
            <a:endParaRPr sz="900" b="1" i="0">
              <a:solidFill>
                <a:srgbClr val="8A94A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401568" cy="42519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01568" cy="502920"/>
          </a:xfrm>
          <a:prstGeom prst="roundRect">
            <a:avLst/>
          </a:prstGeom>
          <a:solidFill>
            <a:srgbClr val="3A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68260"/>
            <a:ext cx="3388082" cy="263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STRENGTHS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08" y="237744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3AA655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one leakage-free split for all 15 models → truly fair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3AA655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controlled ablations &amp; substitutions attribute gains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3AA655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multi-seed + bootstrap CIs → statistically honest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3AA655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best-in-class segmenter (0.760) &amp; pipeline (0.875)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98264" y="1691640"/>
            <a:ext cx="3401568" cy="42519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1691640"/>
            <a:ext cx="3401568" cy="502920"/>
          </a:xfrm>
          <a:prstGeom prst="roundRect">
            <a:avLst/>
          </a:prstGeom>
          <a:solidFill>
            <a:srgbClr val="E1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2161517"/>
            <a:ext cx="3408311" cy="26300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1737360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LIMITATIONS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9431" y="237744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single small dataset (98-image test) → wide CIs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no full nested cross-validation (compute)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2D only; no external / multi-centre validation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E1595B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hand-crafted radiomics gave no reliable lift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19288" y="1691640"/>
            <a:ext cx="3401568" cy="4251960"/>
          </a:xfrm>
          <a:prstGeom prst="roundRect">
            <a:avLst/>
          </a:prstGeom>
          <a:solidFill>
            <a:srgbClr val="F1F6F8"/>
          </a:solidFill>
          <a:ln w="9525">
            <a:solidFill>
              <a:srgbClr val="CB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19288" y="1691640"/>
            <a:ext cx="3401568" cy="502920"/>
          </a:xfrm>
          <a:prstGeom prst="round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2154774"/>
            <a:ext cx="3394825" cy="33043"/>
          </a:xfrm>
          <a:prstGeom prst="rect">
            <a:avLst/>
          </a:prstGeom>
          <a:solidFill>
            <a:srgbClr val="F1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FUTURE WORK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0456" y="237744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1F8AA6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foundation-model segmenters (MedSAM)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1F8AA6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stronger / ensembled ROI classifiers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1F8AA6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nested CV under the same leakage-free protocol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1F8AA6"/>
                </a:solidFill>
                <a:latin typeface="Calibri" panose="020F0502020204030204"/>
              </a:rPr>
              <a:t>›  </a:t>
            </a:r>
            <a:r>
              <a:rPr sz="1200" b="0">
                <a:solidFill>
                  <a:srgbClr val="1B2A38"/>
                </a:solidFill>
                <a:latin typeface="Calibri" panose="020F0502020204030204"/>
              </a:rPr>
              <a:t>multi-centre external validation</a:t>
            </a:r>
            <a:endParaRPr sz="1200" b="0">
              <a:solidFill>
                <a:srgbClr val="1B2A3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FD0DE"/>
                </a:solidFill>
                <a:latin typeface="Calibri" panose="020F0502020204030204"/>
              </a:rPr>
              <a:t>IN ONE SENTENCE</a:t>
            </a:r>
            <a:endParaRPr sz="1400" b="1" i="0">
              <a:solidFill>
                <a:srgbClr val="9FD0D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55448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On small, noisy ultrasound data,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clean evaluation + transfer learning beat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architectural complexity — every time.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3383280" cy="1234440"/>
          </a:xfrm>
          <a:prstGeom prst="roundRect">
            <a:avLst/>
          </a:prstGeom>
          <a:solidFill>
            <a:srgbClr val="0A3646"/>
          </a:solidFill>
          <a:ln w="12700">
            <a:solidFill>
              <a:srgbClr val="1F8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502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8A33D"/>
                </a:solidFill>
                <a:latin typeface="Calibri" panose="020F0502020204030204"/>
              </a:rPr>
              <a:t>0.760</a:t>
            </a:r>
            <a:endParaRPr sz="280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E6EC"/>
                </a:solidFill>
                <a:latin typeface="Calibri" panose="020F0502020204030204"/>
              </a:rPr>
              <a:t>best Dice (segmenter)</a:t>
            </a:r>
            <a:endParaRPr sz="1200" b="1" i="0">
              <a:solidFill>
                <a:srgbClr val="CFE6EC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60" y="3794760"/>
            <a:ext cx="3383280" cy="1234440"/>
          </a:xfrm>
          <a:prstGeom prst="roundRect">
            <a:avLst/>
          </a:prstGeom>
          <a:solidFill>
            <a:srgbClr val="0A3646"/>
          </a:solidFill>
          <a:ln w="12700">
            <a:solidFill>
              <a:srgbClr val="1F8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9502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8A33D"/>
                </a:solidFill>
                <a:latin typeface="Calibri" panose="020F0502020204030204"/>
              </a:rPr>
              <a:t>0.828</a:t>
            </a:r>
            <a:endParaRPr sz="280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4526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E6EC"/>
                </a:solidFill>
                <a:latin typeface="Calibri" panose="020F0502020204030204"/>
              </a:rPr>
              <a:t>best macro-F1 (classifier)</a:t>
            </a:r>
            <a:endParaRPr sz="1200" b="1" i="0">
              <a:solidFill>
                <a:srgbClr val="CFE6EC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3794760"/>
            <a:ext cx="3383280" cy="1234440"/>
          </a:xfrm>
          <a:prstGeom prst="roundRect">
            <a:avLst/>
          </a:prstGeom>
          <a:solidFill>
            <a:srgbClr val="0A3646"/>
          </a:solidFill>
          <a:ln w="12700">
            <a:solidFill>
              <a:srgbClr val="1F8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9502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8A33D"/>
                </a:solidFill>
                <a:latin typeface="Calibri" panose="020F0502020204030204"/>
              </a:rPr>
              <a:t>0.875</a:t>
            </a:r>
            <a:endParaRPr sz="2800" b="1" i="0">
              <a:solidFill>
                <a:srgbClr val="E8A33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E6EC"/>
                </a:solidFill>
                <a:latin typeface="Calibri" panose="020F0502020204030204"/>
              </a:rPr>
              <a:t>dual-stage F1 (CI 0.80–0.94)</a:t>
            </a:r>
            <a:endParaRPr sz="1200" b="1" i="0">
              <a:solidFill>
                <a:srgbClr val="CFE6E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COMP9444 · Group Project 047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D0DE"/>
                </a:solidFill>
                <a:latin typeface="Calibri" panose="020F0502020204030204"/>
              </a:rPr>
              <a:t>Breast Cancer Classification &amp; Segmentation · BUSI</a:t>
            </a:r>
            <a:endParaRPr sz="1200" b="0" i="0">
              <a:solidFill>
                <a:srgbClr val="9FD0D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594360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zh-CN" sz="16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Thank you </a:t>
            </a:r>
            <a:endParaRPr lang="zh-CN">
              <a:ea typeface="宋体" panose="02010600030101010101" pitchFamily="2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247" t="1042" r="197" b="-1042"/>
          <a:stretch>
            <a:fillRect/>
          </a:stretch>
        </p:blipFill>
        <p:spPr>
          <a:xfrm>
            <a:off x="61463" y="0"/>
            <a:ext cx="12075036" cy="6858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19803</Words>
  <Application>WPS 演示</Application>
  <PresentationFormat>宽屏</PresentationFormat>
  <Paragraphs>1237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Arial</vt:lpstr>
      <vt:lpstr>Calibri</vt:lpstr>
      <vt:lpstr>MS PGothic</vt:lpstr>
      <vt:lpstr>微软雅黑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哈哈</cp:lastModifiedBy>
  <cp:revision>32</cp:revision>
  <dcterms:created xsi:type="dcterms:W3CDTF">2013-01-27T09:14:00Z</dcterms:created>
  <dcterms:modified xsi:type="dcterms:W3CDTF">2026-08-05T05:16:13Z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51FDF6D9BFCF4709967387ACF8E5060B_12</vt:lpwstr>
  </property>
  <property fmtid="{D5CDD505-2E9C-101B-9397-08002B2CF9AE}" pid="3" name="KSOProductBuildVer">
    <vt:lpwstr>2052-12.1.0.28043</vt:lpwstr>
  </property>
</Properties>
</file>