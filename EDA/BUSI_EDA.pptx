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DE6F0"/>
                </a:solidFill>
                <a:latin typeface="Calibri"/>
              </a:rPr>
              <a:t>Breast Ultrasound Images Dataset (BUSI) — 780 images, 3 classes, with lesion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COMP9444 Group Project 047 — Breast Cancer Classification &amp;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Source: Al-Dhabyani et al. (2020), Data in Brief 28:104863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Total images: 780  (benign 437 / malignant 210 / normal 133)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Class balance: 56.03% / 26.92% / 17.05%  → imbalanced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Masks: 780/780 images have ≥1 lesion mask (100%); 17 images have multiple masks (max 3)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Images with a real lesion: 647 (all normal images have empty masks)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Image sizes: NOT uniform — 639 unique sizes; width 190–1048 px, height 310–719 px (median 564×474)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Lesion area (median): malignant 12.1% vs benign 3.8% of image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Data quality: 1 exact duplicate (labeled 2 classes), 186 near-duplicate pairs, 277 images (36%) in 124 clusters, 10 cross-class pairs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1. Class Distribution</a:t>
            </a:r>
          </a:p>
        </p:txBody>
      </p:sp>
      <p:pic>
        <p:nvPicPr>
          <p:cNvPr id="4" name="Picture 3" descr="fig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3358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780 images, heavily imbalanced: benign 56% &gt; malignant 27% &gt; normal 17%.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Benign is ~3.3× the normal class → majority-class bias risk.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Mitigate with stratified splits, class weights, and balanced augmentation.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Normal images carry no lesion → segmentation effectively uses 647 lesion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2. Image Size &amp; Aspect Ratio</a:t>
            </a:r>
          </a:p>
        </p:txBody>
      </p:sp>
      <p:pic>
        <p:nvPicPr>
          <p:cNvPr id="4" name="Picture 3" descr="fig02_imag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233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Sizes are NOT the advertised uniform 500×500: 639 distinct sizes.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Width 190–1048 px, height 310–719 px; most images are landscape (W/H&gt;1).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A fixed input size is required — resize (e.g. 256×256).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Prefer resize-with-padding to avoid distorting lesion shape/aspect.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3. Sample Visualization</a:t>
            </a:r>
          </a:p>
        </p:txBody>
      </p:sp>
      <p:pic>
        <p:nvPicPr>
          <p:cNvPr id="4" name="Picture 3" descr="fig03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6383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Benign: oval, well-circumscribed, hypoechoic lesions.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Malignant: irregular, ill-defined, often with posterior shadowing.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Burned-in text &amp; calipers ('RT LOQ', 'RIGHT BREAST') appear on images.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→ risk of shortcut learning; consider cropping/inpainting annotations.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4. Mask Availability &amp; Image–Mask Matching</a:t>
            </a:r>
          </a:p>
        </p:txBody>
      </p:sp>
      <p:pic>
        <p:nvPicPr>
          <p:cNvPr id="4" name="Picture 3" descr="fig04_mask_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31965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Every image has at least one mask — no orphan images or masks.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17 images have multiple lesion masks (16 benign, 1 malignant), up to 3.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For binary segmentation, merge multiple masks via pixel-wise union.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Normal masks are all-zero (background only).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5. Lesion Area Ratio</a:t>
            </a:r>
          </a:p>
        </p:txBody>
      </p:sp>
      <p:pic>
        <p:nvPicPr>
          <p:cNvPr id="4" name="Picture 3" descr="fig05_area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29768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Malignant lesions are much larger: median 12.1% of image vs benign 3.8%.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Many benign lesions are tiny → strong foreground/background imbalance at pixel level.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Dice/IoU are sensitive to small masks — consider Dice+BCE or Tversky loss.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Lesion size is itself a discriminative cue for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6. Lesion Location Heatmap</a:t>
            </a:r>
          </a:p>
        </p:txBody>
      </p:sp>
      <p:pic>
        <p:nvPicPr>
          <p:cNvPr id="4" name="Picture 3" descr="fig06_loc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2697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Lesions concentrate slightly above the image centre for both classes.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Sonographers centre the probe on the lesion → spatial acquisition bias.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Models can exploit position; random crops/translations improve robustness.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Normal class has no lesion signal (empty heatmap).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7. Pixel Intensity / Contrast</a:t>
            </a:r>
          </a:p>
        </p:txBody>
      </p:sp>
      <p:pic>
        <p:nvPicPr>
          <p:cNvPr id="4" name="Picture 3" descr="fig07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2354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Mean brightness and contrast overlap heavily across the three classes.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Global intensity alone is a weak class separator → need texture &amp; shape.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Wide brightness range across images → apply per-image normalization.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Optional CLAHE can enhance low-contrast speckled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8. Lesion Shape Analysis</a:t>
            </a:r>
          </a:p>
        </p:txBody>
      </p:sp>
      <p:pic>
        <p:nvPicPr>
          <p:cNvPr id="4" name="Picture 3" descr="fig08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2012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Malignant lesions are less circular, with lower solidity/extent.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Higher eccentricity → more elongated / irregular boundaries.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Shape descriptors are discriminative — supports boundary-aware models.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Motivates Attention U-Net and boundary/contour-aware losses.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9. Duplicate / Near-Duplicate Detection</a:t>
            </a:r>
          </a:p>
        </p:txBody>
      </p:sp>
      <p:pic>
        <p:nvPicPr>
          <p:cNvPr id="4" name="Picture 3" descr="fig09_duplic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2946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1 EXACT duplicate (identical file) is labeled BOTH benign and malignant.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186 near-duplicate pairs (pHash≤5); 277 images (36%) in 124 clusters.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10 near-duplicate pairs cross class boundaries (label conflicts).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Known BUSI issue (Pawłowska et al., Letter to the Editor, 2023).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10. Train–Test Leakage Check</a:t>
            </a:r>
          </a:p>
        </p:txBody>
      </p:sp>
      <p:pic>
        <p:nvPicPr>
          <p:cNvPr id="4" name="Picture 3" descr="fig10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772400" cy="3014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4E52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91640"/>
            <a:ext cx="3611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A naive random 70/30 split leaks ~59 near-duplicate clusters across train/test.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Duplicates on both sides inflate reported accuracy/Dice (optimistic bias).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Use a GROUPED split: keep each duplicate cluster (ideally each patient) on one side.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De-duplicate and resolve cross-class conflicts before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EDA analysis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C44E52"/>
                </a:solidFill>
                <a:latin typeface="Calibri"/>
              </a:rPr>
              <a:t>Data-Quality Issues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Issues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Class imbalance (56 / 27 / 17%).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Non-uniform image sizes (639 unique).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Burned-in annotations, calipers &amp; text.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1 exact + 186 near-duplicate pairs; 35% of images affected.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10 cross-class duplicate pairs (label conflicts).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Center/acquisition spatial bias.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Tiny benign lesions → pixel imbalance.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Recommended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De-duplicate; manually resolve cross-class conflicts.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Grouped / patient-aware train-val-test split.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Resize-with-padding to 256×256; per-image normalization.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Stratified split + class weights + balanced augmentation.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Merge multi-masks (union) for binary segmentation.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Crop/inpaint burned-in annotations to avoid shortcuts.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Report per-class metrics; Dice+BCE for small lesions.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Implications for Modeling (Project 047)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Classification: transfer-learned ResNet / DenseNet / EfficientNet-B0 with class weights; add Grad-CAM for interpretability.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Segmentation: U-Net baseline, then DeepLabv3+ and Attention U-Net; train on benign+malignant (647 imgs); merge masks.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Loss: combine Dice + BCE (or Tversky) to handle small benign lesions and pixel imbalance.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End-to-end pipeline (main method): segment lesion → crop ROI → classify (Bruno et al. 2025 style), reusing the same backbones.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Evaluation: grouped cross-validation with NO duplicate leakage; report per-class Accuracy/F1/AUC and Dice/IoU.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Preprocessing settled by EDA: resize+pad 256×256, normalize, augment (flip/rotate/scale), optional CLAHE.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