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Our project (047) tackles two clinical tasks on breast ultrasound — telling normal/benign/malignant apart (classification) and outlining the tumour (segmentation). Our headline contribution is a *fair* benchmark: we reproduced 13 published models and built 2 of our own, all under one carefully cleaned, leakage-free data split, so the comparison is honest.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the clinical problem and prior work; the data and what our exploration revealed; the 13 models we reproduced; our own two improved models with an ablation; results with two kinds of comparison; and finally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clinical problem first. Ultrasound is the workhorse for breast screening because it's safe and cheap, but it is genuinely hard to read. That's the motivation for computer-aided diagnosis. We attack two complementary tasks — classify the image, and outline the mass — and note up front that missing a malignant case is the costliest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BUSI images with the radiologist's ground-truth contour. Notice benign (green) and malignant (red) masses can look similar; boundaries blur into surrounding tissue; there's speckle, shadowing and even caliper/text annotations burnt into the frame. Normal images have no lesion. This is why hand-crafted features struggle and why we need learned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points us at three papers: the BUSI dataset itself, Yap's early CNN detection study, and the original U-Net. These are our mandatory reproductions and the backbone of the literature. Everything else we added builds outward from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classification we lean on the three canonical CNN backbones — ResNet, DenseNet, EfficientNet — all ImageNet-pretrained. For segmentation we cover the U-Net family plus attention variants, DeepLab's atrous convolutions, two BUS-specific nets (AAU-Net, CResU-Net), and nnU-Net as a strong self-configuring baseline. A recurring theme in the literature is inflated BUSI scores from data leakage — which we deliberately fix.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relevant prior work combines both tasks two ways. Bruno's dual-stage pipeline is sequential: segment, crop, classify. Lu's MTL-OCA is joint: one backbone, two heads. We reproduce both, and then extend the dual-stage line into our own improved pipeline. This slide sets up the design space for our combined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 780 images from 600 patients, three classes, with ground-truth masks. We didn't just look — we ran ten analyses. Four of them changed what we did next: the class imbalance drove loss weighting; the tiny benign lesions explain why segmentation is hard; overlapping intensities mean we can't threshold, we need learned features; and — crucially — a third of the data are near-duplicates, which forces a special data split.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findings. Top: the classes are imbalanced — benign dominates, normal is rare — so we weight the loss by inverse frequency and report macro-F1, which treats every class equally. Bottom: malignant lesions are large but benign lesions are tiny, a median of under 4% of the image. Small targets are exactly where Dice punishes you, so we average Dice per image rather than pooling all pixels.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lesions concentrate near the image centre — an acquisition bias worth knowing when we crop ROIs. Bottom-left: the brightness and contrast distributions of the three classes overlap almost completely. So a simple intensity threshold can't separate classes — we genuinely need learned features, and we normalise inputs so brightness differences don't dominate training.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most important methodological finding. Using perceptual hashing we discovered that a THIRD of BUSI images are near-duplicates — repeated frames of the same scan — and a few duplicates even carry conflicting benign/malignant labels. If you split randomly, the same lesion lands in both train and test, and your scores are inflated. Our fix is a cluster-level split: near-duplicates stay together on one side. This single decision is why our numbers are lower — but honest — than many published papers.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runs through the same four-stage pipeline. We clean conflicting labels and merge masks; we de-leak with cluster-level splitting; we letterbox to 256×256 preserving aspect ratio, go grayscale, and normalise; and we augment the training split only. Because the split is identical for all models, differences in the results come from the architecture, not from data handling. Metrics: macro-F1 for classification, per-image Dice/IoU for segmentation, and confidence intervals for our final pipeline.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menu. Eight segmentation models — including the three mandatory reproductions marked with a star — three classification backbones, and two combined models. Then our two contributions in amber: an improved segmenter and an improved dual-stage pipeline. For each reproduction we reused only the pretrained backbone where relevant; the heads, losses and training loops are our own implementation, which matters for the marking rubric.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mandatory reproductions. We wrote the U-Net from scratch. We reproduced Yap's patch-based LeNet detector — including the tricky balanced hard-negative sampling and sliding-window inference — and Yap's best model, the transfer-learned FCN-AlexNet. We're careful to state exactly what is our own code versus a reused pretrained backbone, which the rubric explicitly rewards.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required nets we reproduced five stronger segmenters. Attention U-Net is a controlled comparison — same recipe as our U-Net — so any change is due purely to the attention gate. DeepLabV3+ with a pretrained ResNet-50 is our best baseline. nnU-Net is the famous self-configuring net, here as its blueprint. AAU-Net and CResU-Net are BUS-specific designs with reported state-of-the-art numbers we test honestly under our split.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classification we fine-tune the three canonical pretrained backbones. We deliberately pick the smallest variant of each — ResNet-18, DenseNet-121, EfficientNet-B0 — because BUSI is small and larger nets overfit. All share the same recipe: pseudo-RGB inputs, a fresh three-way head, and class-weighted cross-entropy so the rare malignant class isn't ignored.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combined baselines. The dual-stage pipeline is a clean sequence: DeepLabV3+ segments, we crop the lesion ROI, and EfficientNet classifies that crop — so the classifier only sees the tumour, not the clutter. MTL-OCA is the joint alternative: one Res-UNet backbone with two heads and a weighted three-term loss. We reproduce both, and we'll show the joint model pays a price for sharing capacity.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improving, we had to pick which combined design to build on. Head-to-head, the joint MTL-OCA model loses on both tasks because it forces one backbone to serve segmentation and classification at once — a compromise that's too costly on small data. The dual-stage pipeline instead lets us plug in our best specialist for each stage. Four reasons sealed it: it's modular, so we can improve each stage on its own; it enables a controlled experiment — fix the classifier, swap the segmenter, and measure the segmenter's true contribution; it reuses our strongest models; and it produces an explicit mask and ROI, which is far more interpretable for a clinician. So we extend the dual-stage 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improved segmenter is motivated directly by the baselines: transfer learning helped, so we make it central. We take a U-Net decoder but swap in an ImageNet-pretrained EfficientNet-B4 encoder. On top we add a Focal Tversky loss to chase missed lesions, and test-time augmentation with post-processing. Crucially, we don't just stack tricks — we ablate each one to see what actually helps.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ablating. Read down the table: the from-scratch U-Net scores 0.648. Adding the pretrained encoder jumps it to 0.765 — that one change is essentially the entire improvement, and it also halves the number of completely-missed lesions. The fancy Focal Tversky loss doesn't raise Dice; it just trades precision for recall. TTA does nothing measurable. The lesson is blunt: transfer learning matters more than architectural cleverness on a dataset this small.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improved pipeline. Same skeleton as Bruno, but Stage 1 is now our pretrained segmenter, and — importantly — Stage 2 is kept identical, so any change in the end-to-end score is due to segmentation alone. The real contribution is the evaluation rigour along the bottom: masks generated out-of-fold so the classifier never trains on its own test-time inputs, five-seed ensembling to remove luck, and a bootstrap confidence interval to tell a real gain from noise. This is what most BUSI papers skip.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dual-stage counterpart to the segmenter ablation — and arguably the most important methodological result of the project. First, OOF: to train the Stage-2 classifier on predicted-mask crops, we need predicted masks for the TRAINING images. If we used a segmenter that had already seen those images, the masks would be unrealistically perfect. So we use 5-fold cross-fitting — each image's mask comes from a segmenter trained only on the other folds. That gives realistic masks and removes the train-clean / test-imperfect mismatch. It's a correctness fix, not a way to inflate the score. Then the ablation: we add shape features, then radiomics. Read the confidence intervals — they all overlap the pure-CNN baseline, so hand-crafted features give no reliable gain and we drop them. The only thing that survives is ensembling: averaging five seeds lifts the per-seed 0.847 to 0.875. The lesson: on 98 images, single-run differences of a few points are just noise.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Segmentation results, ranked by Dice. Four things to notice. First, our improved segmenter is top. Second, our reproductions of published models score below their reported numbers — that's the leakage removal, and it's the honest number. Third, the heavyweight nnU-Net does not win; a good pretrained encoder beats it. Fourth, the controlled U-Net versus Attention U-Net pair shows the attention gate actually hurts slightly here. Bigger and fancier is not better on small ultrasound data.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EfficientNet-B0 wins with macro-F1 0.828 and an excellent AUC. All three specialist backbones clearly beat the joint multi-task model, which underperforms on both tasks — confirming that on small data a shared backbone is a false economy. The confusion matrix shows the expected clinical pattern: the minority malignant class is hardest, and it's where every model makes most of its mistakes — exactly the errors that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dual-stage result: the pipeline is bottlenecked by its classifier, not its segmenter. Read across the table — we lift Stage-1 Dice from 0.739 to 0.760, but the end-to-end F1 hardly moves, from 0.804 to 0.807, because everything after Stage-1 is held fixed. The clincher is the GT-ROI column: if we feed the classifier perfect ground-truth-mask crops, it still only reaches about 0.87. That ceiling sits far above our achieved score, which means the remaining error is the classifier's own, not caused by imperfect masks. So a rough mask is already good enough to crop the ROI — the place to invest is the classifier. And which classifier tweaks actually help? As the ablation slide showed, only ensembling survives the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compare. On the left, horizontal: for each task our model versus the strongest baseline — we win on all three. On the right, vertical: our leakage-free Dice against the numbers those same papers reported. The consistent drop is not our models being weak — it's the near-duplicate leakage we removed. Same models, honest split, lower-but-trustworthy numbers. This contrast is, in a sense, our main scientific 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Zooming out, three findings that go beyond BUSI. One: evaluation hygiene dominates — how you split the data changes the headline more than the architecture does. Two: transfer learning is the decisive lever on small medical datasets, beating clever losses and self-configuring frameworks. Three: always find and fix the real bottleneck — here it was the classifier, not the segmenter — and report confidence intervals so you don't chase noise.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Strengths: one fair split, controlled experiments, honest statistics, and best-in-class results on both our segmenter and our pipeline. Limitations: it's a single small dataset with a 98-image test set, so confidence intervals are wide; we couldn't afford full nested cross-validation; we're 2D and single-centre; and our radiomics features didn't help. Future work: try foundation models like MedSAM, strengthen and ensemble the ROI classifier, run nested cross-validation, and validate on external multi-centre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whole project distils to one line — on small, noisy ultrasound data, clean evaluation and transfer learning beat architectural complexity every time. Our headline numbers: 0.760 Dice for the segmenter, 0.828 macro-F1 for the 3-class classifier, and 0.875 for the dual-stage pipeline. Important caveat if asked: these are NOT comparable — they are different tasks, metrics and test sets. The pipeline's 0.875 is a 2-class (benign/malignant) problem on 98 images, which is inherently easier than the 3-class 0.828, and it also benefits from ROI cropping and 5-seed ensembling; the 0.760 Dice measures pixel overlap, a different quantity entirely. So the pipeline scoring above the classifier is expected, not a paradox.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reference index. All 25 papers we engaged with, numbered as cited throughout the deck. Green numbers are the models we actually reproduced or the data we used in our leakage-free benchmark; grey numbers are cited for context — surveys, foundation models, and closely related work. The task tag shows whether each paper targets segmentation, classification, both, or is a survey.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0A3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011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051560"/>
            <a:ext cx="310896" cy="310896"/>
          </a:xfrm>
          <a:prstGeom prst="ellipse">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25880" y="1051560"/>
            <a:ext cx="310896" cy="310896"/>
          </a:xfrm>
          <a:prstGeom prst="ellipse">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800" y="1051560"/>
            <a:ext cx="310896" cy="310896"/>
          </a:xfrm>
          <a:prstGeom prst="ellipse">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BFE0EA"/>
                </a:solidFill>
                <a:latin typeface="Calibri"/>
              </a:rPr>
              <a:t>COMP9444 · Neural Networks &amp; Deep Learning · Term 2, 2026</a:t>
            </a:r>
          </a:p>
        </p:txBody>
      </p:sp>
      <p:sp>
        <p:nvSpPr>
          <p:cNvPr id="10" name="TextBox 9"/>
          <p:cNvSpPr txBox="1"/>
          <p:nvPr/>
        </p:nvSpPr>
        <p:spPr>
          <a:xfrm>
            <a:off x="804672" y="2057400"/>
            <a:ext cx="10698480" cy="1737360"/>
          </a:xfrm>
          <a:prstGeom prst="rect">
            <a:avLst/>
          </a:prstGeom>
          <a:noFill/>
        </p:spPr>
        <p:txBody>
          <a:bodyPr wrap="square" anchor="t" lIns="0" rIns="0" tIns="0" bIns="0">
            <a:spAutoFit/>
          </a:bodyPr>
          <a:lstStyle/>
          <a:p>
            <a:pPr algn="l">
              <a:lnSpc>
                <a:spcPct val="102000"/>
              </a:lnSpc>
              <a:spcBef>
                <a:spcPts val="0"/>
              </a:spcBef>
              <a:spcAft>
                <a:spcPts val="400"/>
              </a:spcAft>
            </a:pPr>
            <a:r>
              <a:rPr sz="4000" b="1" i="0">
                <a:solidFill>
                  <a:srgbClr val="FFFFFF"/>
                </a:solidFill>
                <a:latin typeface="Calibri"/>
              </a:rPr>
              <a:t>Breast Cancer Classification &amp;</a:t>
            </a:r>
          </a:p>
          <a:p>
            <a:pPr algn="l">
              <a:lnSpc>
                <a:spcPct val="102000"/>
              </a:lnSpc>
              <a:spcBef>
                <a:spcPts val="0"/>
              </a:spcBef>
              <a:spcAft>
                <a:spcPts val="400"/>
              </a:spcAft>
            </a:pPr>
            <a:r>
              <a:rPr sz="4000" b="1" i="0">
                <a:solidFill>
                  <a:srgbClr val="FFFFFF"/>
                </a:solidFill>
                <a:latin typeface="Calibri"/>
              </a:rPr>
              <a:t>Segmentation on Ultrasound Images</a:t>
            </a:r>
          </a:p>
        </p:txBody>
      </p:sp>
      <p:sp>
        <p:nvSpPr>
          <p:cNvPr id="11" name="TextBox 10"/>
          <p:cNvSpPr txBox="1"/>
          <p:nvPr/>
        </p:nvSpPr>
        <p:spPr>
          <a:xfrm>
            <a:off x="822960" y="3977639"/>
            <a:ext cx="105156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0" i="0">
                <a:solidFill>
                  <a:srgbClr val="D6EAF0"/>
                </a:solidFill>
                <a:latin typeface="Calibri"/>
              </a:rPr>
              <a:t>A leakage-free benchmark of </a:t>
            </a:r>
            <a:r>
              <a:rPr sz="1700" b="1" i="0">
                <a:solidFill>
                  <a:srgbClr val="FFFFFF"/>
                </a:solidFill>
                <a:latin typeface="Calibri"/>
              </a:rPr>
              <a:t>15 deep-learning models</a:t>
            </a:r>
            <a:r>
              <a:rPr sz="1700" b="0" i="0">
                <a:solidFill>
                  <a:srgbClr val="D6EAF0"/>
                </a:solidFill>
                <a:latin typeface="Calibri"/>
              </a:rPr>
              <a:t> on the BUSI dataset</a:t>
            </a:r>
          </a:p>
        </p:txBody>
      </p:sp>
      <p:sp>
        <p:nvSpPr>
          <p:cNvPr id="12" name="TextBox 11"/>
          <p:cNvSpPr txBox="1"/>
          <p:nvPr/>
        </p:nvSpPr>
        <p:spPr>
          <a:xfrm>
            <a:off x="822960" y="5623560"/>
            <a:ext cx="7315200" cy="45720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FFFFFF"/>
                </a:solidFill>
                <a:latin typeface="Calibri"/>
              </a:rPr>
              <a:t>Group Project 047</a:t>
            </a:r>
          </a:p>
          <a:p>
            <a:pPr algn="l">
              <a:lnSpc>
                <a:spcPct val="100000"/>
              </a:lnSpc>
              <a:spcBef>
                <a:spcPts val="0"/>
              </a:spcBef>
              <a:spcAft>
                <a:spcPts val="400"/>
              </a:spcAft>
            </a:pPr>
            <a:r>
              <a:rPr sz="1250" b="0" i="0">
                <a:solidFill>
                  <a:srgbClr val="BFE0EA"/>
                </a:solidFill>
                <a:latin typeface="Calibri"/>
              </a:rPr>
              <a:t>Classification  ·  Segmentation  ·  Dual-stage pipeline</a:t>
            </a:r>
          </a:p>
        </p:txBody>
      </p:sp>
      <p:sp>
        <p:nvSpPr>
          <p:cNvPr id="13" name="Rounded Rectangle 12"/>
          <p:cNvSpPr/>
          <p:nvPr/>
        </p:nvSpPr>
        <p:spPr>
          <a:xfrm>
            <a:off x="9144000" y="5669280"/>
            <a:ext cx="2194560" cy="566928"/>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5669280"/>
            <a:ext cx="219456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B2A38"/>
                </a:solidFill>
                <a:latin typeface="Calibri"/>
              </a:rPr>
              <a:t>13 reproduced + 2 improved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AGENDA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What we'll walk through</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a:t>
            </a:r>
          </a:p>
        </p:txBody>
      </p:sp>
      <p:sp>
        <p:nvSpPr>
          <p:cNvPr id="10" name="Rounded Rectangle 9"/>
          <p:cNvSpPr/>
          <p:nvPr/>
        </p:nvSpPr>
        <p:spPr>
          <a:xfrm>
            <a:off x="777240" y="169164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118872" cy="205740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1" y="1947672"/>
            <a:ext cx="786384" cy="786384"/>
          </a:xfrm>
          <a:prstGeom prst="ellipse">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194767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1</a:t>
            </a:r>
          </a:p>
        </p:txBody>
      </p:sp>
      <p:sp>
        <p:nvSpPr>
          <p:cNvPr id="14" name="TextBox 13"/>
          <p:cNvSpPr txBox="1"/>
          <p:nvPr/>
        </p:nvSpPr>
        <p:spPr>
          <a:xfrm>
            <a:off x="1965960" y="200253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Introduction</a:t>
            </a:r>
          </a:p>
        </p:txBody>
      </p:sp>
      <p:sp>
        <p:nvSpPr>
          <p:cNvPr id="15" name="TextBox 14"/>
          <p:cNvSpPr txBox="1"/>
          <p:nvPr/>
        </p:nvSpPr>
        <p:spPr>
          <a:xfrm>
            <a:off x="1965960" y="247802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Problem statement &amp; literature review</a:t>
            </a:r>
          </a:p>
        </p:txBody>
      </p:sp>
      <p:sp>
        <p:nvSpPr>
          <p:cNvPr id="16" name="Rounded Rectangle 15"/>
          <p:cNvSpPr/>
          <p:nvPr/>
        </p:nvSpPr>
        <p:spPr>
          <a:xfrm>
            <a:off x="4416552" y="169164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16552" y="1691640"/>
            <a:ext cx="118872" cy="205740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72584" y="1947672"/>
            <a:ext cx="786384" cy="786384"/>
          </a:xfrm>
          <a:prstGeom prst="ellipse">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72584" y="194767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2</a:t>
            </a:r>
          </a:p>
        </p:txBody>
      </p:sp>
      <p:sp>
        <p:nvSpPr>
          <p:cNvPr id="20" name="TextBox 19"/>
          <p:cNvSpPr txBox="1"/>
          <p:nvPr/>
        </p:nvSpPr>
        <p:spPr>
          <a:xfrm>
            <a:off x="5605272" y="200253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Data &amp; EDA</a:t>
            </a:r>
          </a:p>
        </p:txBody>
      </p:sp>
      <p:sp>
        <p:nvSpPr>
          <p:cNvPr id="21" name="TextBox 20"/>
          <p:cNvSpPr txBox="1"/>
          <p:nvPr/>
        </p:nvSpPr>
        <p:spPr>
          <a:xfrm>
            <a:off x="5605272" y="247802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Dataset, 10 analyses, pre-processing</a:t>
            </a:r>
          </a:p>
        </p:txBody>
      </p:sp>
      <p:sp>
        <p:nvSpPr>
          <p:cNvPr id="22" name="Rounded Rectangle 21"/>
          <p:cNvSpPr/>
          <p:nvPr/>
        </p:nvSpPr>
        <p:spPr>
          <a:xfrm>
            <a:off x="8055864" y="169164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55864" y="1691640"/>
            <a:ext cx="118872" cy="205740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11896" y="1947672"/>
            <a:ext cx="786384" cy="786384"/>
          </a:xfrm>
          <a:prstGeom prst="ellipse">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1896" y="194767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3</a:t>
            </a:r>
          </a:p>
        </p:txBody>
      </p:sp>
      <p:sp>
        <p:nvSpPr>
          <p:cNvPr id="26" name="TextBox 25"/>
          <p:cNvSpPr txBox="1"/>
          <p:nvPr/>
        </p:nvSpPr>
        <p:spPr>
          <a:xfrm>
            <a:off x="9244584" y="200253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Models</a:t>
            </a:r>
          </a:p>
        </p:txBody>
      </p:sp>
      <p:sp>
        <p:nvSpPr>
          <p:cNvPr id="27" name="TextBox 26"/>
          <p:cNvSpPr txBox="1"/>
          <p:nvPr/>
        </p:nvSpPr>
        <p:spPr>
          <a:xfrm>
            <a:off x="9244584" y="247802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13 reproduced: seg · cls · combined</a:t>
            </a:r>
          </a:p>
        </p:txBody>
      </p:sp>
      <p:sp>
        <p:nvSpPr>
          <p:cNvPr id="28" name="Rounded Rectangle 27"/>
          <p:cNvSpPr/>
          <p:nvPr/>
        </p:nvSpPr>
        <p:spPr>
          <a:xfrm>
            <a:off x="777240" y="406908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77240" y="4069080"/>
            <a:ext cx="118872" cy="205740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3271" y="4325112"/>
            <a:ext cx="786384" cy="786384"/>
          </a:xfrm>
          <a:prstGeom prst="ellipse">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1" y="432511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4</a:t>
            </a:r>
          </a:p>
        </p:txBody>
      </p:sp>
      <p:sp>
        <p:nvSpPr>
          <p:cNvPr id="32" name="TextBox 31"/>
          <p:cNvSpPr txBox="1"/>
          <p:nvPr/>
        </p:nvSpPr>
        <p:spPr>
          <a:xfrm>
            <a:off x="1965960" y="437997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Improvements</a:t>
            </a:r>
          </a:p>
        </p:txBody>
      </p:sp>
      <p:sp>
        <p:nvSpPr>
          <p:cNvPr id="33" name="TextBox 32"/>
          <p:cNvSpPr txBox="1"/>
          <p:nvPr/>
        </p:nvSpPr>
        <p:spPr>
          <a:xfrm>
            <a:off x="1965960" y="485546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2 segmenters + 1 dual-stage + ablation</a:t>
            </a:r>
          </a:p>
        </p:txBody>
      </p:sp>
      <p:sp>
        <p:nvSpPr>
          <p:cNvPr id="34" name="Rounded Rectangle 33"/>
          <p:cNvSpPr/>
          <p:nvPr/>
        </p:nvSpPr>
        <p:spPr>
          <a:xfrm>
            <a:off x="4416552" y="406908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416552" y="4069080"/>
            <a:ext cx="118872" cy="205740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72584" y="4325112"/>
            <a:ext cx="786384" cy="7863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72584" y="432511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5</a:t>
            </a:r>
          </a:p>
        </p:txBody>
      </p:sp>
      <p:sp>
        <p:nvSpPr>
          <p:cNvPr id="38" name="TextBox 37"/>
          <p:cNvSpPr txBox="1"/>
          <p:nvPr/>
        </p:nvSpPr>
        <p:spPr>
          <a:xfrm>
            <a:off x="5605272" y="437997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Results</a:t>
            </a:r>
          </a:p>
        </p:txBody>
      </p:sp>
      <p:sp>
        <p:nvSpPr>
          <p:cNvPr id="39" name="TextBox 38"/>
          <p:cNvSpPr txBox="1"/>
          <p:nvPr/>
        </p:nvSpPr>
        <p:spPr>
          <a:xfrm>
            <a:off x="5605272" y="485546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Horizontal &amp; vertical comparison</a:t>
            </a:r>
          </a:p>
        </p:txBody>
      </p:sp>
      <p:sp>
        <p:nvSpPr>
          <p:cNvPr id="40" name="Rounded Rectangle 39"/>
          <p:cNvSpPr/>
          <p:nvPr/>
        </p:nvSpPr>
        <p:spPr>
          <a:xfrm>
            <a:off x="8055864" y="406908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55864" y="4069080"/>
            <a:ext cx="118872" cy="2057400"/>
          </a:xfrm>
          <a:prstGeom prst="roundRect">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11896" y="4325112"/>
            <a:ext cx="786384" cy="786384"/>
          </a:xfrm>
          <a:prstGeom prst="ellipse">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11896" y="432511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6</a:t>
            </a:r>
          </a:p>
        </p:txBody>
      </p:sp>
      <p:sp>
        <p:nvSpPr>
          <p:cNvPr id="44" name="TextBox 43"/>
          <p:cNvSpPr txBox="1"/>
          <p:nvPr/>
        </p:nvSpPr>
        <p:spPr>
          <a:xfrm>
            <a:off x="9244584" y="437997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Discussion</a:t>
            </a:r>
          </a:p>
        </p:txBody>
      </p:sp>
      <p:sp>
        <p:nvSpPr>
          <p:cNvPr id="45" name="TextBox 44"/>
          <p:cNvSpPr txBox="1"/>
          <p:nvPr/>
        </p:nvSpPr>
        <p:spPr>
          <a:xfrm>
            <a:off x="9244584" y="485546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Findings, limits, future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INTRODUCTION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Problem statement: why breast-ultrasound CAD?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a:t>
            </a:r>
          </a:p>
        </p:txBody>
      </p:sp>
      <p:sp>
        <p:nvSpPr>
          <p:cNvPr id="10" name="TextBox 9"/>
          <p:cNvSpPr txBox="1"/>
          <p:nvPr/>
        </p:nvSpPr>
        <p:spPr>
          <a:xfrm>
            <a:off x="777240" y="1600200"/>
            <a:ext cx="6035040" cy="4480560"/>
          </a:xfrm>
          <a:prstGeom prst="rect">
            <a:avLst/>
          </a:prstGeom>
          <a:noFill/>
        </p:spPr>
        <p:txBody>
          <a:bodyPr wrap="square" lIns="0" rIns="0" tIns="0" bIns="0">
            <a:spAutoFit/>
          </a:bodyPr>
          <a:lstStyle/>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Clinical stakes: </a:t>
            </a:r>
            <a:r>
              <a:rPr sz="1450" b="0">
                <a:solidFill>
                  <a:srgbClr val="1B2A38"/>
                </a:solidFill>
                <a:latin typeface="Calibri"/>
              </a:rPr>
              <a:t>breast cancer is a leading cause of cancer death in women; early detection is the single biggest lever on survival.</a:t>
            </a:r>
          </a:p>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Ultrasound (BUS): </a:t>
            </a:r>
            <a:r>
              <a:rPr sz="1450" b="0">
                <a:solidFill>
                  <a:srgbClr val="1B2A38"/>
                </a:solidFill>
                <a:latin typeface="Calibri"/>
              </a:rPr>
              <a:t>safe, cheap, radiation-free — ideal for screening, dense breasts and younger patients.</a:t>
            </a:r>
          </a:p>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But it's hard: </a:t>
            </a:r>
            <a:r>
              <a:rPr sz="1450" b="0">
                <a:solidFill>
                  <a:srgbClr val="1B2A38"/>
                </a:solidFill>
                <a:latin typeface="Calibri"/>
              </a:rPr>
              <a:t>speckle noise, low contrast, acoustic shadows, blurred lesion boundaries — reading is slow and operator-dependent, even for experts.</a:t>
            </a:r>
          </a:p>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Our goal: </a:t>
            </a:r>
            <a:r>
              <a:rPr sz="1450" b="0">
                <a:solidFill>
                  <a:srgbClr val="1B2A38"/>
                </a:solidFill>
                <a:latin typeface="Calibri"/>
              </a:rPr>
              <a:t>a deep-learning CAD system that supports radiologists on two tasks:</a:t>
            </a:r>
          </a:p>
          <a:p>
            <a:pPr>
              <a:lnSpc>
                <a:spcPct val="102000"/>
              </a:lnSpc>
              <a:spcBef>
                <a:spcPts val="0"/>
              </a:spcBef>
              <a:spcAft>
                <a:spcPts val="1100"/>
              </a:spcAft>
            </a:pPr>
            <a:r>
              <a:rPr sz="1350">
                <a:solidFill>
                  <a:srgbClr val="45596B"/>
                </a:solidFill>
                <a:latin typeface="Calibri"/>
              </a:rPr>
              <a:t>      –  </a:t>
            </a:r>
            <a:r>
              <a:rPr sz="1350" b="0">
                <a:solidFill>
                  <a:srgbClr val="45596B"/>
                </a:solidFill>
                <a:latin typeface="Calibri"/>
              </a:rPr>
              <a:t>Classification — normal / benign / malignant</a:t>
            </a:r>
          </a:p>
          <a:p>
            <a:pPr>
              <a:lnSpc>
                <a:spcPct val="102000"/>
              </a:lnSpc>
              <a:spcBef>
                <a:spcPts val="0"/>
              </a:spcBef>
              <a:spcAft>
                <a:spcPts val="1100"/>
              </a:spcAft>
            </a:pPr>
            <a:r>
              <a:rPr sz="1350">
                <a:solidFill>
                  <a:srgbClr val="45596B"/>
                </a:solidFill>
                <a:latin typeface="Calibri"/>
              </a:rPr>
              <a:t>      –  </a:t>
            </a:r>
            <a:r>
              <a:rPr sz="1350" b="0">
                <a:solidFill>
                  <a:srgbClr val="45596B"/>
                </a:solidFill>
                <a:latin typeface="Calibri"/>
              </a:rPr>
              <a:t>Segmentation — delineate the tumour boundary</a:t>
            </a:r>
          </a:p>
        </p:txBody>
      </p:sp>
      <p:sp>
        <p:nvSpPr>
          <p:cNvPr id="11" name="Rounded Rectangle 10"/>
          <p:cNvSpPr/>
          <p:nvPr/>
        </p:nvSpPr>
        <p:spPr>
          <a:xfrm>
            <a:off x="7086600" y="1691640"/>
            <a:ext cx="43434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1874519"/>
            <a:ext cx="38404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TASK 1 · CLASSIFICATION</a:t>
            </a:r>
          </a:p>
        </p:txBody>
      </p:sp>
      <p:sp>
        <p:nvSpPr>
          <p:cNvPr id="13" name="TextBox 12"/>
          <p:cNvSpPr txBox="1"/>
          <p:nvPr/>
        </p:nvSpPr>
        <p:spPr>
          <a:xfrm>
            <a:off x="7360920" y="2286000"/>
            <a:ext cx="3840480" cy="1280160"/>
          </a:xfrm>
          <a:prstGeom prst="rect">
            <a:avLst/>
          </a:prstGeom>
          <a:noFill/>
        </p:spPr>
        <p:txBody>
          <a:bodyPr wrap="square" anchor="t" lIns="0" rIns="0" tIns="0" bIns="0">
            <a:spAutoFit/>
          </a:bodyPr>
          <a:lstStyle/>
          <a:p>
            <a:pPr algn="l">
              <a:lnSpc>
                <a:spcPct val="110000"/>
              </a:lnSpc>
              <a:spcBef>
                <a:spcPts val="0"/>
              </a:spcBef>
              <a:spcAft>
                <a:spcPts val="400"/>
              </a:spcAft>
            </a:pPr>
            <a:r>
              <a:rPr sz="1300" b="0" i="0">
                <a:solidFill>
                  <a:srgbClr val="1B2A38"/>
                </a:solidFill>
                <a:latin typeface="Calibri"/>
              </a:rPr>
              <a:t>Assign each image to </a:t>
            </a:r>
            <a:r>
              <a:rPr sz="1300" b="1" i="0">
                <a:solidFill>
                  <a:srgbClr val="8A94A6"/>
                </a:solidFill>
                <a:latin typeface="Calibri"/>
              </a:rPr>
              <a:t>normal</a:t>
            </a:r>
            <a:r>
              <a:rPr sz="1300" b="0" i="0">
                <a:solidFill>
                  <a:srgbClr val="1B2A38"/>
                </a:solidFill>
                <a:latin typeface="Calibri"/>
              </a:rPr>
              <a:t> / </a:t>
            </a:r>
            <a:r>
              <a:rPr sz="1300" b="1" i="0">
                <a:solidFill>
                  <a:srgbClr val="3AA655"/>
                </a:solidFill>
                <a:latin typeface="Calibri"/>
              </a:rPr>
              <a:t>benign</a:t>
            </a:r>
            <a:r>
              <a:rPr sz="1300" b="0" i="0">
                <a:solidFill>
                  <a:srgbClr val="1B2A38"/>
                </a:solidFill>
                <a:latin typeface="Calibri"/>
              </a:rPr>
              <a:t> / </a:t>
            </a:r>
            <a:r>
              <a:rPr sz="1300" b="1" i="0">
                <a:solidFill>
                  <a:srgbClr val="E1595B"/>
                </a:solidFill>
                <a:latin typeface="Calibri"/>
              </a:rPr>
              <a:t>malignant</a:t>
            </a:r>
            <a:r>
              <a:rPr sz="1300" b="0" i="0">
                <a:solidFill>
                  <a:srgbClr val="1B2A38"/>
                </a:solidFill>
                <a:latin typeface="Calibri"/>
              </a:rPr>
              <a:t>.</a:t>
            </a:r>
          </a:p>
          <a:p>
            <a:pPr algn="l">
              <a:lnSpc>
                <a:spcPct val="110000"/>
              </a:lnSpc>
              <a:spcBef>
                <a:spcPts val="0"/>
              </a:spcBef>
              <a:spcAft>
                <a:spcPts val="400"/>
              </a:spcAft>
            </a:pPr>
            <a:r>
              <a:rPr sz="1200" b="0" i="1">
                <a:solidFill>
                  <a:srgbClr val="45596B"/>
                </a:solidFill>
                <a:latin typeface="Calibri"/>
              </a:rPr>
              <a:t>3 classes · imbalanced · malignant recall matters most.</a:t>
            </a:r>
          </a:p>
        </p:txBody>
      </p:sp>
      <p:sp>
        <p:nvSpPr>
          <p:cNvPr id="14" name="Rounded Rectangle 13"/>
          <p:cNvSpPr/>
          <p:nvPr/>
        </p:nvSpPr>
        <p:spPr>
          <a:xfrm>
            <a:off x="7086600" y="3977639"/>
            <a:ext cx="43434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20" y="4160520"/>
            <a:ext cx="38404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TASK 2 · SEGMENTATION</a:t>
            </a:r>
          </a:p>
        </p:txBody>
      </p:sp>
      <p:sp>
        <p:nvSpPr>
          <p:cNvPr id="16" name="TextBox 15"/>
          <p:cNvSpPr txBox="1"/>
          <p:nvPr/>
        </p:nvSpPr>
        <p:spPr>
          <a:xfrm>
            <a:off x="7360920" y="4572000"/>
            <a:ext cx="3840480" cy="1280160"/>
          </a:xfrm>
          <a:prstGeom prst="rect">
            <a:avLst/>
          </a:prstGeom>
          <a:noFill/>
        </p:spPr>
        <p:txBody>
          <a:bodyPr wrap="square" anchor="t" lIns="0" rIns="0" tIns="0" bIns="0">
            <a:spAutoFit/>
          </a:bodyPr>
          <a:lstStyle/>
          <a:p>
            <a:pPr algn="l">
              <a:lnSpc>
                <a:spcPct val="110000"/>
              </a:lnSpc>
              <a:spcBef>
                <a:spcPts val="0"/>
              </a:spcBef>
              <a:spcAft>
                <a:spcPts val="400"/>
              </a:spcAft>
            </a:pPr>
            <a:r>
              <a:rPr sz="1300" b="0" i="0">
                <a:solidFill>
                  <a:srgbClr val="1B2A38"/>
                </a:solidFill>
                <a:latin typeface="Calibri"/>
              </a:rPr>
              <a:t>Predict a pixel-level </a:t>
            </a:r>
            <a:r>
              <a:rPr sz="1300" b="1" i="0">
                <a:solidFill>
                  <a:srgbClr val="E1595B"/>
                </a:solidFill>
                <a:latin typeface="Calibri"/>
              </a:rPr>
              <a:t>lesion mask</a:t>
            </a:r>
            <a:r>
              <a:rPr sz="1300" b="0" i="0">
                <a:solidFill>
                  <a:srgbClr val="1B2A38"/>
                </a:solidFill>
                <a:latin typeface="Calibri"/>
              </a:rPr>
              <a:t> vs. background.</a:t>
            </a:r>
          </a:p>
          <a:p>
            <a:pPr algn="l">
              <a:lnSpc>
                <a:spcPct val="110000"/>
              </a:lnSpc>
              <a:spcBef>
                <a:spcPts val="0"/>
              </a:spcBef>
              <a:spcAft>
                <a:spcPts val="400"/>
              </a:spcAft>
            </a:pPr>
            <a:r>
              <a:rPr sz="1200" b="0" i="1">
                <a:solidFill>
                  <a:srgbClr val="45596B"/>
                </a:solidFill>
                <a:latin typeface="Calibri"/>
              </a:rPr>
              <a:t>Dice / IoU · tiny benign lesions are the challenge.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INTRODUCTION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Why ultrasound is hard to read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3</a:t>
            </a:r>
          </a:p>
        </p:txBody>
      </p:sp>
      <p:pic>
        <p:nvPicPr>
          <p:cNvPr id="10" name="Picture 9" descr="fig03_samples.png"/>
          <p:cNvPicPr>
            <a:picLocks noChangeAspect="1"/>
          </p:cNvPicPr>
          <p:nvPr/>
        </p:nvPicPr>
        <p:blipFill>
          <a:blip r:embed="rId2"/>
          <a:stretch>
            <a:fillRect/>
          </a:stretch>
        </p:blipFill>
        <p:spPr>
          <a:xfrm>
            <a:off x="1334551" y="1554480"/>
            <a:ext cx="6566337" cy="4480560"/>
          </a:xfrm>
          <a:prstGeom prst="rect">
            <a:avLst/>
          </a:prstGeom>
          <a:ln w="9525">
            <a:solidFill>
              <a:srgbClr val="CBD8DE"/>
            </a:solidFill>
          </a:ln>
        </p:spPr>
      </p:pic>
      <p:sp>
        <p:nvSpPr>
          <p:cNvPr id="11" name="Rounded Rectangle 10"/>
          <p:cNvSpPr/>
          <p:nvPr/>
        </p:nvSpPr>
        <p:spPr>
          <a:xfrm>
            <a:off x="8686800" y="1691640"/>
            <a:ext cx="2743200" cy="4206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87968" y="1874519"/>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What makes it hard</a:t>
            </a:r>
          </a:p>
        </p:txBody>
      </p:sp>
      <p:sp>
        <p:nvSpPr>
          <p:cNvPr id="13" name="TextBox 12"/>
          <p:cNvSpPr txBox="1"/>
          <p:nvPr/>
        </p:nvSpPr>
        <p:spPr>
          <a:xfrm>
            <a:off x="8887968" y="2331720"/>
            <a:ext cx="2377440" cy="3566160"/>
          </a:xfrm>
          <a:prstGeom prst="rect">
            <a:avLst/>
          </a:prstGeom>
          <a:noFill/>
        </p:spPr>
        <p:txBody>
          <a:bodyPr wrap="square" lIns="0" rIns="0" tIns="0" bIns="0">
            <a:spAutoFit/>
          </a:bodyPr>
          <a:lstStyle/>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benign &amp; malignant masses overlap in look</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boundaries are fuzzy / low-contrast</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speckle noise + acoustic shadows</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annotation text baked into images</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normal = no lesion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LITERATURE REVIEW</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Foundation: the three papers in the project brief</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4</a:t>
            </a:r>
          </a:p>
        </p:txBody>
      </p:sp>
      <p:sp>
        <p:nvSpPr>
          <p:cNvPr id="10" name="Rounded Rectangle 9"/>
          <p:cNvSpPr/>
          <p:nvPr/>
        </p:nvSpPr>
        <p:spPr>
          <a:xfrm>
            <a:off x="777240" y="1691640"/>
            <a:ext cx="3401568" cy="2880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3401568" cy="566928"/>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11680"/>
            <a:ext cx="3401568" cy="24688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1737360"/>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[1] BUSI dataset</a:t>
            </a:r>
          </a:p>
        </p:txBody>
      </p:sp>
      <p:sp>
        <p:nvSpPr>
          <p:cNvPr id="14" name="TextBox 13"/>
          <p:cNvSpPr txBox="1"/>
          <p:nvPr/>
        </p:nvSpPr>
        <p:spPr>
          <a:xfrm>
            <a:off x="978408" y="2377440"/>
            <a:ext cx="2999232"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1">
                <a:solidFill>
                  <a:srgbClr val="45596B"/>
                </a:solidFill>
                <a:latin typeface="Calibri"/>
              </a:rPr>
              <a:t>Al-Dhabyani et al., 2020</a:t>
            </a:r>
          </a:p>
        </p:txBody>
      </p:sp>
      <p:sp>
        <p:nvSpPr>
          <p:cNvPr id="15" name="TextBox 14"/>
          <p:cNvSpPr txBox="1"/>
          <p:nvPr/>
        </p:nvSpPr>
        <p:spPr>
          <a:xfrm>
            <a:off x="978408" y="2788920"/>
            <a:ext cx="2999232" cy="164592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1B2A38"/>
                </a:solidFill>
                <a:latin typeface="Calibri"/>
              </a:rPr>
              <a:t>780 images, 3 classes + ground-truth masks. The de-facto benchmark; small, so augmentation matters.</a:t>
            </a:r>
          </a:p>
        </p:txBody>
      </p:sp>
      <p:sp>
        <p:nvSpPr>
          <p:cNvPr id="16" name="Rounded Rectangle 15"/>
          <p:cNvSpPr/>
          <p:nvPr/>
        </p:nvSpPr>
        <p:spPr>
          <a:xfrm>
            <a:off x="4398264" y="1691640"/>
            <a:ext cx="3401568" cy="2880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8264" y="1691640"/>
            <a:ext cx="3401568" cy="566928"/>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011680"/>
            <a:ext cx="3401568" cy="24688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1737360"/>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[2] Yap et al.</a:t>
            </a:r>
          </a:p>
        </p:txBody>
      </p:sp>
      <p:sp>
        <p:nvSpPr>
          <p:cNvPr id="20" name="TextBox 19"/>
          <p:cNvSpPr txBox="1"/>
          <p:nvPr/>
        </p:nvSpPr>
        <p:spPr>
          <a:xfrm>
            <a:off x="4599431" y="2377440"/>
            <a:ext cx="2999232"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1">
                <a:solidFill>
                  <a:srgbClr val="45596B"/>
                </a:solidFill>
                <a:latin typeface="Calibri"/>
              </a:rPr>
              <a:t>CNN lesion detection, 2018</a:t>
            </a:r>
          </a:p>
        </p:txBody>
      </p:sp>
      <p:sp>
        <p:nvSpPr>
          <p:cNvPr id="21" name="TextBox 20"/>
          <p:cNvSpPr txBox="1"/>
          <p:nvPr/>
        </p:nvSpPr>
        <p:spPr>
          <a:xfrm>
            <a:off x="4599431" y="2788920"/>
            <a:ext cx="2999232" cy="164592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1B2A38"/>
                </a:solidFill>
                <a:latin typeface="Calibri"/>
              </a:rPr>
              <a:t>First deep BUS study: patch-LeNet vs. U-Net vs. transfer-learned FCN-AlexNet (FCN best).</a:t>
            </a:r>
          </a:p>
        </p:txBody>
      </p:sp>
      <p:sp>
        <p:nvSpPr>
          <p:cNvPr id="22" name="Rounded Rectangle 21"/>
          <p:cNvSpPr/>
          <p:nvPr/>
        </p:nvSpPr>
        <p:spPr>
          <a:xfrm>
            <a:off x="8019288" y="1691640"/>
            <a:ext cx="3401568" cy="2880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9288" y="1691640"/>
            <a:ext cx="3401568" cy="566928"/>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2011680"/>
            <a:ext cx="3401568" cy="24688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1737360"/>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[3] U-Net</a:t>
            </a:r>
          </a:p>
        </p:txBody>
      </p:sp>
      <p:sp>
        <p:nvSpPr>
          <p:cNvPr id="26" name="TextBox 25"/>
          <p:cNvSpPr txBox="1"/>
          <p:nvPr/>
        </p:nvSpPr>
        <p:spPr>
          <a:xfrm>
            <a:off x="8220456" y="2377440"/>
            <a:ext cx="2999232"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1">
                <a:solidFill>
                  <a:srgbClr val="45596B"/>
                </a:solidFill>
                <a:latin typeface="Calibri"/>
              </a:rPr>
              <a:t>Ronneberger et al., 2015</a:t>
            </a:r>
          </a:p>
        </p:txBody>
      </p:sp>
      <p:sp>
        <p:nvSpPr>
          <p:cNvPr id="27" name="TextBox 26"/>
          <p:cNvSpPr txBox="1"/>
          <p:nvPr/>
        </p:nvSpPr>
        <p:spPr>
          <a:xfrm>
            <a:off x="8220456" y="2788920"/>
            <a:ext cx="2999232" cy="164592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1B2A38"/>
                </a:solidFill>
                <a:latin typeface="Calibri"/>
              </a:rPr>
              <a:t>Encoder–decoder with skip connections — the foundational biomedical segmentation net.</a:t>
            </a:r>
          </a:p>
        </p:txBody>
      </p:sp>
      <p:sp>
        <p:nvSpPr>
          <p:cNvPr id="28" name="Rounded Rectangle 27"/>
          <p:cNvSpPr/>
          <p:nvPr/>
        </p:nvSpPr>
        <p:spPr>
          <a:xfrm>
            <a:off x="777240" y="4892040"/>
            <a:ext cx="10634472" cy="960120"/>
          </a:xfrm>
          <a:prstGeom prst="roundRect">
            <a:avLst/>
          </a:prstGeom>
          <a:solidFill>
            <a:srgbClr val="E6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029200"/>
            <a:ext cx="10149840" cy="731520"/>
          </a:xfrm>
          <a:prstGeom prst="rect">
            <a:avLst/>
          </a:prstGeom>
          <a:noFill/>
        </p:spPr>
        <p:txBody>
          <a:bodyPr wrap="square" anchor="ctr" lIns="0" rIns="0" tIns="0" bIns="0">
            <a:spAutoFit/>
          </a:bodyPr>
          <a:lstStyle/>
          <a:p>
            <a:pPr algn="l">
              <a:lnSpc>
                <a:spcPct val="110000"/>
              </a:lnSpc>
              <a:spcBef>
                <a:spcPts val="0"/>
              </a:spcBef>
              <a:spcAft>
                <a:spcPts val="400"/>
              </a:spcAft>
            </a:pPr>
            <a:r>
              <a:rPr sz="1350" b="1" i="0">
                <a:solidFill>
                  <a:srgbClr val="1B2A38"/>
                </a:solidFill>
                <a:latin typeface="Calibri"/>
              </a:rPr>
              <a:t>These three define our required reproductions. </a:t>
            </a:r>
            <a:r>
              <a:rPr sz="1350" b="0" i="0">
                <a:solidFill>
                  <a:srgbClr val="0E4D64"/>
                </a:solidFill>
                <a:latin typeface="Calibri"/>
              </a:rPr>
              <a:t>We reproduce all three (U-Net, patch-LeNet, FCN-AlexNet) — then go far beyond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LITERATURE REVIEW</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The architecture landscape we drew from</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5</a:t>
            </a:r>
          </a:p>
        </p:txBody>
      </p:sp>
      <p:sp>
        <p:nvSpPr>
          <p:cNvPr id="10" name="Rounded Rectangle 9"/>
          <p:cNvSpPr/>
          <p:nvPr/>
        </p:nvSpPr>
        <p:spPr>
          <a:xfrm>
            <a:off x="777240" y="1645920"/>
            <a:ext cx="5212080" cy="4343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CLASSIFICATION BACKBONES</a:t>
            </a:r>
          </a:p>
        </p:txBody>
      </p:sp>
      <p:sp>
        <p:nvSpPr>
          <p:cNvPr id="12" name="TextBox 11"/>
          <p:cNvSpPr txBox="1"/>
          <p:nvPr/>
        </p:nvSpPr>
        <p:spPr>
          <a:xfrm>
            <a:off x="1005840" y="2286000"/>
            <a:ext cx="4754880" cy="3657600"/>
          </a:xfrm>
          <a:prstGeom prst="rect">
            <a:avLst/>
          </a:prstGeom>
          <a:noFill/>
        </p:spPr>
        <p:txBody>
          <a:bodyPr wrap="square" lIns="0" rIns="0" tIns="0" bIns="0">
            <a:spAutoFit/>
          </a:bodyPr>
          <a:lstStyle/>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ResNet [4]: </a:t>
            </a:r>
            <a:r>
              <a:rPr sz="1300" b="0">
                <a:solidFill>
                  <a:srgbClr val="1B2A38"/>
                </a:solidFill>
                <a:latin typeface="Calibri"/>
              </a:rPr>
              <a:t>residual shortcuts → very deep nets trainable (ILSVRC'15).</a:t>
            </a:r>
          </a:p>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DenseNet [5]: </a:t>
            </a:r>
            <a:r>
              <a:rPr sz="1300" b="0">
                <a:solidFill>
                  <a:srgbClr val="1B2A38"/>
                </a:solidFill>
                <a:latin typeface="Calibri"/>
              </a:rPr>
              <a:t>dense connectivity → feature reuse, parameter-efficient, good on small data.</a:t>
            </a:r>
          </a:p>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EfficientNet [6]: </a:t>
            </a:r>
            <a:r>
              <a:rPr sz="1300" b="0">
                <a:solidFill>
                  <a:srgbClr val="1B2A38"/>
                </a:solidFill>
                <a:latin typeface="Calibri"/>
              </a:rPr>
              <a:t>compound depth/width/resolution scaling; small variants transfer well.</a:t>
            </a:r>
          </a:p>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Note: </a:t>
            </a:r>
            <a:r>
              <a:rPr sz="1300" b="0">
                <a:solidFill>
                  <a:srgbClr val="1B2A38"/>
                </a:solidFill>
                <a:latin typeface="Calibri"/>
              </a:rPr>
              <a:t>Grad-CAM for interpretable heatmaps; caution on 'near-perfect' BUSI numbers (leakage).</a:t>
            </a:r>
          </a:p>
        </p:txBody>
      </p:sp>
      <p:sp>
        <p:nvSpPr>
          <p:cNvPr id="13" name="Rounded Rectangle 12"/>
          <p:cNvSpPr/>
          <p:nvPr/>
        </p:nvSpPr>
        <p:spPr>
          <a:xfrm>
            <a:off x="6172200" y="1645920"/>
            <a:ext cx="5257800" cy="4343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28800"/>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SEGMENTATION ARCHITECTURES</a:t>
            </a:r>
          </a:p>
        </p:txBody>
      </p:sp>
      <p:sp>
        <p:nvSpPr>
          <p:cNvPr id="15" name="TextBox 14"/>
          <p:cNvSpPr txBox="1"/>
          <p:nvPr/>
        </p:nvSpPr>
        <p:spPr>
          <a:xfrm>
            <a:off x="6400800" y="2286000"/>
            <a:ext cx="4846320" cy="3657600"/>
          </a:xfrm>
          <a:prstGeom prst="rect">
            <a:avLst/>
          </a:prstGeom>
          <a:noFill/>
        </p:spPr>
        <p:txBody>
          <a:bodyPr wrap="square" lIns="0" rIns="0" tIns="0" bIns="0">
            <a:spAutoFit/>
          </a:bodyPr>
          <a:lstStyle/>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Skip-connection: </a:t>
            </a:r>
            <a:r>
              <a:rPr sz="1300" b="0">
                <a:solidFill>
                  <a:srgbClr val="1B2A38"/>
                </a:solidFill>
                <a:latin typeface="Calibri"/>
              </a:rPr>
              <a:t>U-Net family — UNet++, UNet3+, Attention U-Net (learns *where to look*).</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DeepLabV3+ [7]: </a:t>
            </a:r>
            <a:r>
              <a:rPr sz="1300" b="0">
                <a:solidFill>
                  <a:srgbClr val="1B2A38"/>
                </a:solidFill>
                <a:latin typeface="Calibri"/>
              </a:rPr>
              <a:t>atrous separable conv + ASPP for multi-scale context.</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AAU-Net [12]: </a:t>
            </a:r>
            <a:r>
              <a:rPr sz="1300" b="0">
                <a:solidFill>
                  <a:srgbClr val="1B2A38"/>
                </a:solidFill>
                <a:latin typeface="Calibri"/>
              </a:rPr>
              <a:t>BUS-specific attention for fuzzy boundaries / irregular shapes.</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CResU-Net [13]: </a:t>
            </a:r>
            <a:r>
              <a:rPr sz="1300" b="0">
                <a:solidFill>
                  <a:srgbClr val="1B2A38"/>
                </a:solidFill>
                <a:latin typeface="Calibri"/>
              </a:rPr>
              <a:t>residual + dense Co-Blocks; strong reported BUSI Dice.</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nnU-Net [20]: </a:t>
            </a:r>
            <a:r>
              <a:rPr sz="1300" b="0">
                <a:solidFill>
                  <a:srgbClr val="1B2A38"/>
                </a:solidFill>
                <a:latin typeface="Calibri"/>
              </a:rPr>
              <a:t>self-configuring U-Net; strong general baseline.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LITERATURE REVIEW</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Combining the two tasks — our design space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6</a:t>
            </a:r>
          </a:p>
        </p:txBody>
      </p:sp>
      <p:sp>
        <p:nvSpPr>
          <p:cNvPr id="10" name="Rounded Rectangle 9"/>
          <p:cNvSpPr/>
          <p:nvPr/>
        </p:nvSpPr>
        <p:spPr>
          <a:xfrm>
            <a:off x="777240" y="1737360"/>
            <a:ext cx="5212080" cy="3566160"/>
          </a:xfrm>
          <a:prstGeom prst="roundRect">
            <a:avLst/>
          </a:prstGeom>
          <a:solidFill>
            <a:srgbClr val="EAF3EE"/>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737360"/>
            <a:ext cx="5212080" cy="5486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57400"/>
            <a:ext cx="5212080" cy="228600"/>
          </a:xfrm>
          <a:prstGeom prst="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10512"/>
            <a:ext cx="4754880"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SEQUENTIAL · Dual-stage  [17]</a:t>
            </a:r>
          </a:p>
        </p:txBody>
      </p:sp>
      <p:sp>
        <p:nvSpPr>
          <p:cNvPr id="14" name="TextBox 13"/>
          <p:cNvSpPr txBox="1"/>
          <p:nvPr/>
        </p:nvSpPr>
        <p:spPr>
          <a:xfrm>
            <a:off x="1005840" y="2423160"/>
            <a:ext cx="4754880" cy="2743200"/>
          </a:xfrm>
          <a:prstGeom prst="rect">
            <a:avLst/>
          </a:prstGeom>
          <a:noFill/>
        </p:spPr>
        <p:txBody>
          <a:bodyPr wrap="square" anchor="t" lIns="0" rIns="0" tIns="0" bIns="0">
            <a:spAutoFit/>
          </a:bodyPr>
          <a:lstStyle/>
          <a:p>
            <a:pPr algn="l">
              <a:lnSpc>
                <a:spcPct val="112000"/>
              </a:lnSpc>
              <a:spcBef>
                <a:spcPts val="0"/>
              </a:spcBef>
              <a:spcAft>
                <a:spcPts val="700"/>
              </a:spcAft>
            </a:pPr>
            <a:r>
              <a:rPr sz="1300" b="1" i="1">
                <a:solidFill>
                  <a:srgbClr val="1B2A38"/>
                </a:solidFill>
                <a:latin typeface="Calibri"/>
              </a:rPr>
              <a:t>Bruno et al., 2025</a:t>
            </a:r>
          </a:p>
          <a:p>
            <a:pPr algn="l">
              <a:lnSpc>
                <a:spcPct val="112000"/>
              </a:lnSpc>
              <a:spcBef>
                <a:spcPts val="0"/>
              </a:spcBef>
              <a:spcAft>
                <a:spcPts val="700"/>
              </a:spcAft>
            </a:pPr>
            <a:r>
              <a:rPr sz="1350" b="0" i="0">
                <a:solidFill>
                  <a:srgbClr val="1B2A38"/>
                </a:solidFill>
                <a:latin typeface="Calibri"/>
              </a:rPr>
              <a:t>Segment first → crop the lesion ROI → classify the ROI (benign/malignant).</a:t>
            </a:r>
          </a:p>
          <a:p>
            <a:pPr algn="l">
              <a:lnSpc>
                <a:spcPct val="112000"/>
              </a:lnSpc>
              <a:spcBef>
                <a:spcPts val="0"/>
              </a:spcBef>
              <a:spcAft>
                <a:spcPts val="700"/>
              </a:spcAft>
            </a:pPr>
            <a:r>
              <a:rPr sz="1250" b="0" i="1">
                <a:solidFill>
                  <a:srgbClr val="45596B"/>
                </a:solidFill>
                <a:latin typeface="Calibri"/>
              </a:rPr>
              <a:t>Focusing the classifier on the lesion removes background clutter.</a:t>
            </a:r>
          </a:p>
        </p:txBody>
      </p:sp>
      <p:sp>
        <p:nvSpPr>
          <p:cNvPr id="15" name="TextBox 14"/>
          <p:cNvSpPr txBox="1"/>
          <p:nvPr/>
        </p:nvSpPr>
        <p:spPr>
          <a:xfrm>
            <a:off x="1005840" y="4709160"/>
            <a:ext cx="475488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3AA655"/>
                </a:solidFill>
                <a:latin typeface="Calibri"/>
              </a:rPr>
              <a:t>→ We adopt this and then improve it.</a:t>
            </a:r>
          </a:p>
        </p:txBody>
      </p:sp>
      <p:sp>
        <p:nvSpPr>
          <p:cNvPr id="16" name="Rounded Rectangle 15"/>
          <p:cNvSpPr/>
          <p:nvPr/>
        </p:nvSpPr>
        <p:spPr>
          <a:xfrm>
            <a:off x="6172200" y="1737360"/>
            <a:ext cx="5257800" cy="3566160"/>
          </a:xfrm>
          <a:prstGeom prst="roundRect">
            <a:avLst/>
          </a:prstGeom>
          <a:solidFill>
            <a:srgbClr val="F3ECEC"/>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1737360"/>
            <a:ext cx="5257800" cy="54864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057400"/>
            <a:ext cx="5257800" cy="228600"/>
          </a:xfrm>
          <a:prstGeom prst="rect">
            <a:avLst/>
          </a:prstGeom>
          <a:solidFill>
            <a:srgbClr val="F3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810512"/>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JOINT · Multi-task  [24]</a:t>
            </a:r>
          </a:p>
        </p:txBody>
      </p:sp>
      <p:sp>
        <p:nvSpPr>
          <p:cNvPr id="20" name="TextBox 19"/>
          <p:cNvSpPr txBox="1"/>
          <p:nvPr/>
        </p:nvSpPr>
        <p:spPr>
          <a:xfrm>
            <a:off x="6400800" y="2423160"/>
            <a:ext cx="4846320" cy="2743200"/>
          </a:xfrm>
          <a:prstGeom prst="rect">
            <a:avLst/>
          </a:prstGeom>
          <a:noFill/>
        </p:spPr>
        <p:txBody>
          <a:bodyPr wrap="square" anchor="t" lIns="0" rIns="0" tIns="0" bIns="0">
            <a:spAutoFit/>
          </a:bodyPr>
          <a:lstStyle/>
          <a:p>
            <a:pPr algn="l">
              <a:lnSpc>
                <a:spcPct val="112000"/>
              </a:lnSpc>
              <a:spcBef>
                <a:spcPts val="0"/>
              </a:spcBef>
              <a:spcAft>
                <a:spcPts val="700"/>
              </a:spcAft>
            </a:pPr>
            <a:r>
              <a:rPr sz="1300" b="1" i="1">
                <a:solidFill>
                  <a:srgbClr val="1B2A38"/>
                </a:solidFill>
                <a:latin typeface="Calibri"/>
              </a:rPr>
              <a:t>Lu et al., 2025 (MTL-OCA)</a:t>
            </a:r>
          </a:p>
          <a:p>
            <a:pPr algn="l">
              <a:lnSpc>
                <a:spcPct val="112000"/>
              </a:lnSpc>
              <a:spcBef>
                <a:spcPts val="0"/>
              </a:spcBef>
              <a:spcAft>
                <a:spcPts val="700"/>
              </a:spcAft>
            </a:pPr>
            <a:r>
              <a:rPr sz="1350" b="0" i="0">
                <a:solidFill>
                  <a:srgbClr val="1B2A38"/>
                </a:solidFill>
                <a:latin typeface="Calibri"/>
              </a:rPr>
              <a:t>One shared encoder feeds two heads: a segmentation head (object-contextual attention) and a classification head.</a:t>
            </a:r>
          </a:p>
          <a:p>
            <a:pPr algn="l">
              <a:lnSpc>
                <a:spcPct val="112000"/>
              </a:lnSpc>
              <a:spcBef>
                <a:spcPts val="0"/>
              </a:spcBef>
              <a:spcAft>
                <a:spcPts val="700"/>
              </a:spcAft>
            </a:pPr>
            <a:r>
              <a:rPr sz="1250" b="0" i="1">
                <a:solidFill>
                  <a:srgbClr val="45596B"/>
                </a:solidFill>
                <a:latin typeface="Calibri"/>
              </a:rPr>
              <a:t>Solves both at once — but sharing capacity is a compromise.</a:t>
            </a:r>
          </a:p>
        </p:txBody>
      </p:sp>
      <p:sp>
        <p:nvSpPr>
          <p:cNvPr id="21" name="TextBox 20"/>
          <p:cNvSpPr txBox="1"/>
          <p:nvPr/>
        </p:nvSpPr>
        <p:spPr>
          <a:xfrm>
            <a:off x="6400800" y="4709160"/>
            <a:ext cx="484632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1595B"/>
                </a:solidFill>
                <a:latin typeface="Calibri"/>
              </a:rPr>
              <a:t>→ We reproduce it as the joint alternative.</a:t>
            </a:r>
          </a:p>
        </p:txBody>
      </p:sp>
      <p:sp>
        <p:nvSpPr>
          <p:cNvPr id="22" name="Rounded Rectangle 21"/>
          <p:cNvSpPr/>
          <p:nvPr/>
        </p:nvSpPr>
        <p:spPr>
          <a:xfrm>
            <a:off x="777240" y="5486400"/>
            <a:ext cx="10634472" cy="566928"/>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486400"/>
            <a:ext cx="103327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FFFFFF"/>
                </a:solidFill>
                <a:latin typeface="Calibri"/>
              </a:rPr>
              <a:t>These two lines — sequential vs. joint — frame our combined-task experiments.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DATA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The BUSI dataset at a glance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7</a:t>
            </a:r>
          </a:p>
        </p:txBody>
      </p:sp>
      <p:sp>
        <p:nvSpPr>
          <p:cNvPr id="10" name="Rounded Rectangle 9"/>
          <p:cNvSpPr/>
          <p:nvPr/>
        </p:nvSpPr>
        <p:spPr>
          <a:xfrm>
            <a:off x="77724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45920"/>
            <a:ext cx="2468880" cy="9144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0E4D64"/>
                </a:solidFill>
                <a:latin typeface="Calibri"/>
              </a:rPr>
              <a:t>780</a:t>
            </a:r>
          </a:p>
        </p:txBody>
      </p:sp>
      <p:sp>
        <p:nvSpPr>
          <p:cNvPr id="13" name="TextBox 12"/>
          <p:cNvSpPr txBox="1"/>
          <p:nvPr/>
        </p:nvSpPr>
        <p:spPr>
          <a:xfrm>
            <a:off x="91440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ultrasound images</a:t>
            </a:r>
          </a:p>
        </p:txBody>
      </p:sp>
      <p:sp>
        <p:nvSpPr>
          <p:cNvPr id="14" name="Rounded Rectangle 13"/>
          <p:cNvSpPr/>
          <p:nvPr/>
        </p:nvSpPr>
        <p:spPr>
          <a:xfrm>
            <a:off x="347472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74720" y="1645920"/>
            <a:ext cx="2468880" cy="914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1F8AA6"/>
                </a:solidFill>
                <a:latin typeface="Calibri"/>
              </a:rPr>
              <a:t>3</a:t>
            </a:r>
          </a:p>
        </p:txBody>
      </p:sp>
      <p:sp>
        <p:nvSpPr>
          <p:cNvPr id="17" name="TextBox 16"/>
          <p:cNvSpPr txBox="1"/>
          <p:nvPr/>
        </p:nvSpPr>
        <p:spPr>
          <a:xfrm>
            <a:off x="361188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classes (n/b/m)</a:t>
            </a:r>
          </a:p>
        </p:txBody>
      </p:sp>
      <p:sp>
        <p:nvSpPr>
          <p:cNvPr id="18" name="Rounded Rectangle 17"/>
          <p:cNvSpPr/>
          <p:nvPr/>
        </p:nvSpPr>
        <p:spPr>
          <a:xfrm>
            <a:off x="617220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72200" y="1645920"/>
            <a:ext cx="2468880" cy="914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3AA655"/>
                </a:solidFill>
                <a:latin typeface="Calibri"/>
              </a:rPr>
              <a:t>600</a:t>
            </a:r>
          </a:p>
        </p:txBody>
      </p:sp>
      <p:sp>
        <p:nvSpPr>
          <p:cNvPr id="21" name="TextBox 20"/>
          <p:cNvSpPr txBox="1"/>
          <p:nvPr/>
        </p:nvSpPr>
        <p:spPr>
          <a:xfrm>
            <a:off x="630936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female patients (25–75y)</a:t>
            </a:r>
          </a:p>
        </p:txBody>
      </p:sp>
      <p:sp>
        <p:nvSpPr>
          <p:cNvPr id="22" name="Rounded Rectangle 21"/>
          <p:cNvSpPr/>
          <p:nvPr/>
        </p:nvSpPr>
        <p:spPr>
          <a:xfrm>
            <a:off x="886968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69680" y="1645920"/>
            <a:ext cx="2468880" cy="9144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E8A33D"/>
                </a:solidFill>
                <a:latin typeface="Calibri"/>
              </a:rPr>
              <a:t>~500²</a:t>
            </a:r>
          </a:p>
        </p:txBody>
      </p:sp>
      <p:sp>
        <p:nvSpPr>
          <p:cNvPr id="25" name="TextBox 24"/>
          <p:cNvSpPr txBox="1"/>
          <p:nvPr/>
        </p:nvSpPr>
        <p:spPr>
          <a:xfrm>
            <a:off x="900684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avg px · PNG + masks</a:t>
            </a:r>
          </a:p>
        </p:txBody>
      </p:sp>
      <p:sp>
        <p:nvSpPr>
          <p:cNvPr id="26" name="TextBox 25"/>
          <p:cNvSpPr txBox="1"/>
          <p:nvPr/>
        </p:nvSpPr>
        <p:spPr>
          <a:xfrm>
            <a:off x="777240" y="329184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1B2A38"/>
                </a:solidFill>
                <a:latin typeface="Calibri"/>
              </a:rPr>
              <a:t>We ran a 10-part exploratory analysis; four questions drove every downstream design choice:</a:t>
            </a:r>
          </a:p>
        </p:txBody>
      </p:sp>
      <p:sp>
        <p:nvSpPr>
          <p:cNvPr id="27" name="Rounded Rectangle 26"/>
          <p:cNvSpPr/>
          <p:nvPr/>
        </p:nvSpPr>
        <p:spPr>
          <a:xfrm>
            <a:off x="777240" y="384048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3840480"/>
            <a:ext cx="109728" cy="91440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395020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How imbalanced?</a:t>
            </a:r>
          </a:p>
        </p:txBody>
      </p:sp>
      <p:sp>
        <p:nvSpPr>
          <p:cNvPr id="30" name="TextBox 29"/>
          <p:cNvSpPr txBox="1"/>
          <p:nvPr/>
        </p:nvSpPr>
        <p:spPr>
          <a:xfrm>
            <a:off x="1051560" y="4315968"/>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benign 56% · malignant 27% · normal 17% → class weights</a:t>
            </a:r>
          </a:p>
        </p:txBody>
      </p:sp>
      <p:sp>
        <p:nvSpPr>
          <p:cNvPr id="31" name="Rounded Rectangle 30"/>
          <p:cNvSpPr/>
          <p:nvPr/>
        </p:nvSpPr>
        <p:spPr>
          <a:xfrm>
            <a:off x="6172200" y="384048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72200" y="3840480"/>
            <a:ext cx="109728" cy="91440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395020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How big are lesions?</a:t>
            </a:r>
          </a:p>
        </p:txBody>
      </p:sp>
      <p:sp>
        <p:nvSpPr>
          <p:cNvPr id="34" name="TextBox 33"/>
          <p:cNvSpPr txBox="1"/>
          <p:nvPr/>
        </p:nvSpPr>
        <p:spPr>
          <a:xfrm>
            <a:off x="6446520" y="4315968"/>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benign median just 3.8% of image → hard to segment</a:t>
            </a:r>
          </a:p>
        </p:txBody>
      </p:sp>
      <p:sp>
        <p:nvSpPr>
          <p:cNvPr id="35" name="Rounded Rectangle 34"/>
          <p:cNvSpPr/>
          <p:nvPr/>
        </p:nvSpPr>
        <p:spPr>
          <a:xfrm>
            <a:off x="777240" y="489204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77240" y="4892040"/>
            <a:ext cx="109728" cy="91440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00176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Can intensity classify?</a:t>
            </a:r>
          </a:p>
        </p:txBody>
      </p:sp>
      <p:sp>
        <p:nvSpPr>
          <p:cNvPr id="38" name="TextBox 37"/>
          <p:cNvSpPr txBox="1"/>
          <p:nvPr/>
        </p:nvSpPr>
        <p:spPr>
          <a:xfrm>
            <a:off x="1051560" y="5367527"/>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distributions overlap → need learned features + normalisation</a:t>
            </a:r>
          </a:p>
        </p:txBody>
      </p:sp>
      <p:sp>
        <p:nvSpPr>
          <p:cNvPr id="39" name="Rounded Rectangle 38"/>
          <p:cNvSpPr/>
          <p:nvPr/>
        </p:nvSpPr>
        <p:spPr>
          <a:xfrm>
            <a:off x="6172200" y="489204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172200" y="4892040"/>
            <a:ext cx="109728" cy="91440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6520" y="500176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Is the data clean?</a:t>
            </a:r>
          </a:p>
        </p:txBody>
      </p:sp>
      <p:sp>
        <p:nvSpPr>
          <p:cNvPr id="42" name="TextBox 41"/>
          <p:cNvSpPr txBox="1"/>
          <p:nvPr/>
        </p:nvSpPr>
        <p:spPr>
          <a:xfrm>
            <a:off x="6446520" y="5367527"/>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36% are near-duplicates, some cross-class → leakage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EDA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Imbalanced classes &amp; tiny benign lesions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8</a:t>
            </a:r>
          </a:p>
        </p:txBody>
      </p:sp>
      <p:pic>
        <p:nvPicPr>
          <p:cNvPr id="10" name="Picture 9" descr="fig01_class_distribution.png"/>
          <p:cNvPicPr>
            <a:picLocks noChangeAspect="1"/>
          </p:cNvPicPr>
          <p:nvPr/>
        </p:nvPicPr>
        <p:blipFill>
          <a:blip r:embed="rId2"/>
          <a:stretch>
            <a:fillRect/>
          </a:stretch>
        </p:blipFill>
        <p:spPr>
          <a:xfrm>
            <a:off x="844032" y="1600200"/>
            <a:ext cx="5078494" cy="2194560"/>
          </a:xfrm>
          <a:prstGeom prst="rect">
            <a:avLst/>
          </a:prstGeom>
          <a:ln w="9525">
            <a:solidFill>
              <a:srgbClr val="CBD8DE"/>
            </a:solidFill>
          </a:ln>
        </p:spPr>
      </p:pic>
      <p:pic>
        <p:nvPicPr>
          <p:cNvPr id="11" name="Picture 10" descr="fig05_area_ratio.png"/>
          <p:cNvPicPr>
            <a:picLocks noChangeAspect="1"/>
          </p:cNvPicPr>
          <p:nvPr/>
        </p:nvPicPr>
        <p:blipFill>
          <a:blip r:embed="rId3"/>
          <a:stretch>
            <a:fillRect/>
          </a:stretch>
        </p:blipFill>
        <p:spPr>
          <a:xfrm>
            <a:off x="640080" y="3932831"/>
            <a:ext cx="5486400" cy="2101296"/>
          </a:xfrm>
          <a:prstGeom prst="rect">
            <a:avLst/>
          </a:prstGeom>
          <a:ln w="9525">
            <a:solidFill>
              <a:srgbClr val="CBD8DE"/>
            </a:solidFill>
          </a:ln>
        </p:spPr>
      </p:pic>
      <p:sp>
        <p:nvSpPr>
          <p:cNvPr id="12" name="Rounded Rectangle 11"/>
          <p:cNvSpPr/>
          <p:nvPr/>
        </p:nvSpPr>
        <p:spPr>
          <a:xfrm>
            <a:off x="6400800" y="1645920"/>
            <a:ext cx="5029200" cy="429768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828800"/>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E4D64"/>
                </a:solidFill>
                <a:latin typeface="Calibri"/>
              </a:rPr>
              <a:t>Read-outs → design choices</a:t>
            </a:r>
          </a:p>
        </p:txBody>
      </p:sp>
      <p:sp>
        <p:nvSpPr>
          <p:cNvPr id="14" name="TextBox 13"/>
          <p:cNvSpPr txBox="1"/>
          <p:nvPr/>
        </p:nvSpPr>
        <p:spPr>
          <a:xfrm>
            <a:off x="6629400" y="2331720"/>
            <a:ext cx="4617720" cy="3566160"/>
          </a:xfrm>
          <a:prstGeom prst="rect">
            <a:avLst/>
          </a:prstGeom>
          <a:noFill/>
        </p:spPr>
        <p:txBody>
          <a:bodyPr wrap="square" lIns="0" rIns="0" tIns="0" bIns="0">
            <a:spAutoFit/>
          </a:bodyPr>
          <a:lstStyle/>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Imbalance: </a:t>
            </a:r>
            <a:r>
              <a:rPr sz="1300" b="0">
                <a:solidFill>
                  <a:srgbClr val="1B2A38"/>
                </a:solidFill>
                <a:latin typeface="Calibri"/>
              </a:rPr>
              <a:t>benign 56% / malignant 27% / normal 17%.</a:t>
            </a:r>
          </a:p>
          <a:p>
            <a:pPr>
              <a:lnSpc>
                <a:spcPct val="102000"/>
              </a:lnSpc>
              <a:spcBef>
                <a:spcPts val="0"/>
              </a:spcBef>
              <a:spcAft>
                <a:spcPts val="900"/>
              </a:spcAft>
            </a:pPr>
            <a:r>
              <a:rPr sz="1200">
                <a:solidFill>
                  <a:srgbClr val="45596B"/>
                </a:solidFill>
                <a:latin typeface="Calibri"/>
              </a:rPr>
              <a:t>      –  </a:t>
            </a:r>
            <a:r>
              <a:rPr sz="1200" b="0">
                <a:solidFill>
                  <a:srgbClr val="45596B"/>
                </a:solidFill>
                <a:latin typeface="Calibri"/>
              </a:rPr>
              <a:t>→ inverse-frequency class weights in the loss; report macro-F1 not accuracy.</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Lesion size: </a:t>
            </a:r>
            <a:r>
              <a:rPr sz="1300" b="0">
                <a:solidFill>
                  <a:srgbClr val="1B2A38"/>
                </a:solidFill>
                <a:latin typeface="Calibri"/>
              </a:rPr>
              <a:t>malignant median 12.1% of image vs. benign only 3.8%.</a:t>
            </a:r>
          </a:p>
          <a:p>
            <a:pPr>
              <a:lnSpc>
                <a:spcPct val="102000"/>
              </a:lnSpc>
              <a:spcBef>
                <a:spcPts val="0"/>
              </a:spcBef>
              <a:spcAft>
                <a:spcPts val="900"/>
              </a:spcAft>
            </a:pPr>
            <a:r>
              <a:rPr sz="1200">
                <a:solidFill>
                  <a:srgbClr val="45596B"/>
                </a:solidFill>
                <a:latin typeface="Calibri"/>
              </a:rPr>
              <a:t>      –  </a:t>
            </a:r>
            <a:r>
              <a:rPr sz="1200" b="0">
                <a:solidFill>
                  <a:srgbClr val="45596B"/>
                </a:solidFill>
                <a:latin typeface="Calibri"/>
              </a:rPr>
              <a:t>→ tiny benign masses are the hardest to segment; Dice is very sensitive here.</a:t>
            </a:r>
          </a:p>
          <a:p>
            <a:pPr>
              <a:lnSpc>
                <a:spcPct val="102000"/>
              </a:lnSpc>
              <a:spcBef>
                <a:spcPts val="0"/>
              </a:spcBef>
              <a:spcAft>
                <a:spcPts val="900"/>
              </a:spcAft>
            </a:pPr>
            <a:r>
              <a:rPr sz="1200">
                <a:solidFill>
                  <a:srgbClr val="45596B"/>
                </a:solidFill>
                <a:latin typeface="Calibri"/>
              </a:rPr>
              <a:t>      –  </a:t>
            </a:r>
            <a:r>
              <a:rPr sz="1200" b="0">
                <a:solidFill>
                  <a:srgbClr val="45596B"/>
                </a:solidFill>
                <a:latin typeface="Calibri"/>
              </a:rPr>
              <a:t>→ score Dice per-image then average (don't pool pixels — big lesions would dominate).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EDA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Location bias &amp; why intensity alone fails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9</a:t>
            </a:r>
          </a:p>
        </p:txBody>
      </p:sp>
      <p:pic>
        <p:nvPicPr>
          <p:cNvPr id="10" name="Picture 9" descr="fig06_location_heatmap.png"/>
          <p:cNvPicPr>
            <a:picLocks noChangeAspect="1"/>
          </p:cNvPicPr>
          <p:nvPr/>
        </p:nvPicPr>
        <p:blipFill>
          <a:blip r:embed="rId2"/>
          <a:stretch>
            <a:fillRect/>
          </a:stretch>
        </p:blipFill>
        <p:spPr>
          <a:xfrm>
            <a:off x="2985567" y="1600200"/>
            <a:ext cx="6190384" cy="2148840"/>
          </a:xfrm>
          <a:prstGeom prst="rect">
            <a:avLst/>
          </a:prstGeom>
          <a:ln w="9525">
            <a:solidFill>
              <a:srgbClr val="CBD8DE"/>
            </a:solidFill>
          </a:ln>
        </p:spPr>
      </p:pic>
      <p:pic>
        <p:nvPicPr>
          <p:cNvPr id="11" name="Picture 10" descr="fig07_intensity.png"/>
          <p:cNvPicPr>
            <a:picLocks noChangeAspect="1"/>
          </p:cNvPicPr>
          <p:nvPr/>
        </p:nvPicPr>
        <p:blipFill>
          <a:blip r:embed="rId3"/>
          <a:stretch>
            <a:fillRect/>
          </a:stretch>
        </p:blipFill>
        <p:spPr>
          <a:xfrm>
            <a:off x="812312" y="3886200"/>
            <a:ext cx="7245054" cy="2194560"/>
          </a:xfrm>
          <a:prstGeom prst="rect">
            <a:avLst/>
          </a:prstGeom>
          <a:ln w="9525">
            <a:solidFill>
              <a:srgbClr val="CBD8DE"/>
            </a:solidFill>
          </a:ln>
        </p:spPr>
      </p:pic>
      <p:sp>
        <p:nvSpPr>
          <p:cNvPr id="12" name="Rounded Rectangle 11"/>
          <p:cNvSpPr/>
          <p:nvPr/>
        </p:nvSpPr>
        <p:spPr>
          <a:xfrm>
            <a:off x="8458200" y="3886200"/>
            <a:ext cx="2971800" cy="21945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9368" y="4041648"/>
            <a:ext cx="26060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Takeaways</a:t>
            </a:r>
          </a:p>
        </p:txBody>
      </p:sp>
      <p:sp>
        <p:nvSpPr>
          <p:cNvPr id="14" name="TextBox 13"/>
          <p:cNvSpPr txBox="1"/>
          <p:nvPr/>
        </p:nvSpPr>
        <p:spPr>
          <a:xfrm>
            <a:off x="8659368" y="4480560"/>
            <a:ext cx="2606040" cy="1554480"/>
          </a:xfrm>
          <a:prstGeom prst="rect">
            <a:avLst/>
          </a:prstGeom>
          <a:noFill/>
        </p:spPr>
        <p:txBody>
          <a:bodyPr wrap="square" lIns="0" rIns="0" tIns="0" bIns="0">
            <a:spAutoFit/>
          </a:bodyPr>
          <a:lstStyle/>
          <a:p>
            <a:pPr>
              <a:lnSpc>
                <a:spcPct val="102000"/>
              </a:lnSpc>
              <a:spcBef>
                <a:spcPts val="0"/>
              </a:spcBef>
              <a:spcAft>
                <a:spcPts val="800"/>
              </a:spcAft>
            </a:pPr>
            <a:r>
              <a:rPr sz="1150" b="1">
                <a:solidFill>
                  <a:srgbClr val="0E4D64"/>
                </a:solidFill>
                <a:latin typeface="Calibri"/>
              </a:rPr>
              <a:t>›  </a:t>
            </a:r>
            <a:r>
              <a:rPr sz="1150" b="0">
                <a:solidFill>
                  <a:srgbClr val="1B2A38"/>
                </a:solidFill>
                <a:latin typeface="Calibri"/>
              </a:rPr>
              <a:t>lesions cluster near image centre (acquisition bias).</a:t>
            </a:r>
          </a:p>
          <a:p>
            <a:pPr>
              <a:lnSpc>
                <a:spcPct val="102000"/>
              </a:lnSpc>
              <a:spcBef>
                <a:spcPts val="0"/>
              </a:spcBef>
              <a:spcAft>
                <a:spcPts val="800"/>
              </a:spcAft>
            </a:pPr>
            <a:r>
              <a:rPr sz="1150" b="1">
                <a:solidFill>
                  <a:srgbClr val="0E4D64"/>
                </a:solidFill>
                <a:latin typeface="Calibri"/>
              </a:rPr>
              <a:t>›  </a:t>
            </a:r>
            <a:r>
              <a:rPr sz="1150" b="0">
                <a:solidFill>
                  <a:srgbClr val="1B2A38"/>
                </a:solidFill>
                <a:latin typeface="Calibri"/>
              </a:rPr>
              <a:t>class intensity/contrast overlap heavily.</a:t>
            </a:r>
          </a:p>
          <a:p>
            <a:pPr>
              <a:lnSpc>
                <a:spcPct val="102000"/>
              </a:lnSpc>
              <a:spcBef>
                <a:spcPts val="0"/>
              </a:spcBef>
              <a:spcAft>
                <a:spcPts val="800"/>
              </a:spcAft>
            </a:pPr>
            <a:r>
              <a:rPr sz="1150" b="1">
                <a:solidFill>
                  <a:srgbClr val="0E4D64"/>
                </a:solidFill>
                <a:latin typeface="Calibri"/>
              </a:rPr>
              <a:t>›  </a:t>
            </a:r>
            <a:r>
              <a:rPr sz="1150" b="0">
                <a:solidFill>
                  <a:srgbClr val="1B2A38"/>
                </a:solidFill>
                <a:latin typeface="Calibri"/>
              </a:rPr>
              <a:t>→ pixel brightness is a weak feature; need learned features + normalisation.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2 · EDA — KEY FINDING</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Hidden trap: near-duplicates cause data leakage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10</a:t>
            </a:r>
          </a:p>
        </p:txBody>
      </p:sp>
      <p:pic>
        <p:nvPicPr>
          <p:cNvPr id="10" name="Picture 9" descr="fig09_duplicates.png"/>
          <p:cNvPicPr>
            <a:picLocks noChangeAspect="1"/>
          </p:cNvPicPr>
          <p:nvPr/>
        </p:nvPicPr>
        <p:blipFill>
          <a:blip r:embed="rId2"/>
          <a:stretch>
            <a:fillRect/>
          </a:stretch>
        </p:blipFill>
        <p:spPr>
          <a:xfrm>
            <a:off x="1129151" y="1554480"/>
            <a:ext cx="5788417" cy="2194560"/>
          </a:xfrm>
          <a:prstGeom prst="rect">
            <a:avLst/>
          </a:prstGeom>
          <a:ln w="9525">
            <a:solidFill>
              <a:srgbClr val="CBD8DE"/>
            </a:solidFill>
          </a:ln>
        </p:spPr>
      </p:pic>
      <p:pic>
        <p:nvPicPr>
          <p:cNvPr id="11" name="Picture 10" descr="fig10_leakage.png"/>
          <p:cNvPicPr>
            <a:picLocks noChangeAspect="1"/>
          </p:cNvPicPr>
          <p:nvPr/>
        </p:nvPicPr>
        <p:blipFill>
          <a:blip r:embed="rId3"/>
          <a:stretch>
            <a:fillRect/>
          </a:stretch>
        </p:blipFill>
        <p:spPr>
          <a:xfrm>
            <a:off x="1194481" y="3840480"/>
            <a:ext cx="5657756" cy="2194560"/>
          </a:xfrm>
          <a:prstGeom prst="rect">
            <a:avLst/>
          </a:prstGeom>
          <a:ln w="9525">
            <a:solidFill>
              <a:srgbClr val="CBD8DE"/>
            </a:solidFill>
          </a:ln>
        </p:spPr>
      </p:pic>
      <p:sp>
        <p:nvSpPr>
          <p:cNvPr id="12" name="Rounded Rectangle 11"/>
          <p:cNvSpPr/>
          <p:nvPr/>
        </p:nvSpPr>
        <p:spPr>
          <a:xfrm>
            <a:off x="7635240" y="1645920"/>
            <a:ext cx="3794760" cy="4343400"/>
          </a:xfrm>
          <a:prstGeom prst="roundRect">
            <a:avLst/>
          </a:prstGeom>
          <a:solidFill>
            <a:srgbClr val="F7E9E9"/>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35240" y="1645920"/>
            <a:ext cx="3794760" cy="50292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35240" y="1920240"/>
            <a:ext cx="3794760" cy="228600"/>
          </a:xfrm>
          <a:prstGeom prst="rect">
            <a:avLst/>
          </a:prstGeom>
          <a:solidFill>
            <a:srgbClr val="F7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700784"/>
            <a:ext cx="338328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FFFFFF"/>
                </a:solidFill>
                <a:latin typeface="Calibri"/>
              </a:rPr>
              <a:t>THE PROBLEM</a:t>
            </a:r>
          </a:p>
        </p:txBody>
      </p:sp>
      <p:sp>
        <p:nvSpPr>
          <p:cNvPr id="16" name="TextBox 15"/>
          <p:cNvSpPr txBox="1"/>
          <p:nvPr/>
        </p:nvSpPr>
        <p:spPr>
          <a:xfrm>
            <a:off x="7836408" y="2331720"/>
            <a:ext cx="3383280" cy="2011680"/>
          </a:xfrm>
          <a:prstGeom prst="rect">
            <a:avLst/>
          </a:prstGeom>
          <a:noFill/>
        </p:spPr>
        <p:txBody>
          <a:bodyPr wrap="square" lIns="0" rIns="0" tIns="0" bIns="0">
            <a:spAutoFit/>
          </a:bodyPr>
          <a:lstStyle/>
          <a:p>
            <a:pPr>
              <a:lnSpc>
                <a:spcPct val="102000"/>
              </a:lnSpc>
              <a:spcBef>
                <a:spcPts val="0"/>
              </a:spcBef>
              <a:spcAft>
                <a:spcPts val="900"/>
              </a:spcAft>
            </a:pPr>
            <a:r>
              <a:rPr sz="1250" b="1">
                <a:solidFill>
                  <a:srgbClr val="E1595B"/>
                </a:solidFill>
                <a:latin typeface="Calibri"/>
              </a:rPr>
              <a:t>›  </a:t>
            </a:r>
            <a:r>
              <a:rPr sz="1250" b="0">
                <a:solidFill>
                  <a:srgbClr val="1B2A38"/>
                </a:solidFill>
                <a:latin typeface="Calibri"/>
              </a:rPr>
              <a:t>pHash finds 277 imgs (36%) in 124 near-duplicate clusters.</a:t>
            </a:r>
          </a:p>
          <a:p>
            <a:pPr>
              <a:lnSpc>
                <a:spcPct val="102000"/>
              </a:lnSpc>
              <a:spcBef>
                <a:spcPts val="0"/>
              </a:spcBef>
              <a:spcAft>
                <a:spcPts val="900"/>
              </a:spcAft>
            </a:pPr>
            <a:r>
              <a:rPr sz="1250" b="1">
                <a:solidFill>
                  <a:srgbClr val="E1595B"/>
                </a:solidFill>
                <a:latin typeface="Calibri"/>
              </a:rPr>
              <a:t>›  </a:t>
            </a:r>
            <a:r>
              <a:rPr sz="1250" b="0">
                <a:solidFill>
                  <a:srgbClr val="1B2A38"/>
                </a:solidFill>
                <a:latin typeface="Calibri"/>
              </a:rPr>
              <a:t>some duplicates even span classes (benign≈malignant copy!).</a:t>
            </a:r>
          </a:p>
          <a:p>
            <a:pPr>
              <a:lnSpc>
                <a:spcPct val="102000"/>
              </a:lnSpc>
              <a:spcBef>
                <a:spcPts val="0"/>
              </a:spcBef>
              <a:spcAft>
                <a:spcPts val="900"/>
              </a:spcAft>
            </a:pPr>
            <a:r>
              <a:rPr sz="1250" b="1">
                <a:solidFill>
                  <a:srgbClr val="E1595B"/>
                </a:solidFill>
                <a:latin typeface="Calibri"/>
              </a:rPr>
              <a:t>›  </a:t>
            </a:r>
            <a:r>
              <a:rPr sz="1250" b="0">
                <a:solidFill>
                  <a:srgbClr val="1B2A38"/>
                </a:solidFill>
                <a:latin typeface="Calibri"/>
              </a:rPr>
              <a:t>a random 70/30 split leaks ~59 clusters across train &amp; test.</a:t>
            </a:r>
          </a:p>
        </p:txBody>
      </p:sp>
      <p:sp>
        <p:nvSpPr>
          <p:cNvPr id="17" name="Rounded Rectangle 16"/>
          <p:cNvSpPr/>
          <p:nvPr/>
        </p:nvSpPr>
        <p:spPr>
          <a:xfrm>
            <a:off x="7836408" y="4434840"/>
            <a:ext cx="3383280" cy="1371600"/>
          </a:xfrm>
          <a:prstGeom prst="roundRect">
            <a:avLst/>
          </a:prstGeom>
          <a:solidFill>
            <a:srgbClr val="FFFFFF"/>
          </a:solidFill>
          <a:ln w="15240">
            <a:solidFill>
              <a:srgbClr val="E159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4553712"/>
            <a:ext cx="3063240" cy="1188720"/>
          </a:xfrm>
          <a:prstGeom prst="rect">
            <a:avLst/>
          </a:prstGeom>
          <a:noFill/>
        </p:spPr>
        <p:txBody>
          <a:bodyPr wrap="square" anchor="t" lIns="0" rIns="0" tIns="0" bIns="0">
            <a:spAutoFit/>
          </a:bodyPr>
          <a:lstStyle/>
          <a:p>
            <a:pPr algn="l">
              <a:lnSpc>
                <a:spcPct val="110000"/>
              </a:lnSpc>
              <a:spcBef>
                <a:spcPts val="0"/>
              </a:spcBef>
              <a:spcAft>
                <a:spcPts val="400"/>
              </a:spcAft>
            </a:pPr>
            <a:r>
              <a:rPr sz="1300" b="1" i="0">
                <a:solidFill>
                  <a:srgbClr val="E1595B"/>
                </a:solidFill>
                <a:latin typeface="Calibri"/>
              </a:rPr>
              <a:t>Our fix:</a:t>
            </a:r>
          </a:p>
          <a:p>
            <a:pPr algn="l">
              <a:lnSpc>
                <a:spcPct val="110000"/>
              </a:lnSpc>
              <a:spcBef>
                <a:spcPts val="0"/>
              </a:spcBef>
              <a:spcAft>
                <a:spcPts val="400"/>
              </a:spcAft>
            </a:pPr>
            <a:r>
              <a:rPr sz="1250" b="0" i="0">
                <a:solidFill>
                  <a:srgbClr val="1B2A38"/>
                </a:solidFill>
                <a:latin typeface="Calibri"/>
              </a:rPr>
              <a:t>cluster-level, class-stratified 70/15/15 split — no duplicate can cross the train/test 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PRE-PROCESSING</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One shared, leakage-free data pipeline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11</a:t>
            </a:r>
          </a:p>
        </p:txBody>
      </p:sp>
      <p:sp>
        <p:nvSpPr>
          <p:cNvPr id="10" name="Rounded Rectangle 9"/>
          <p:cNvSpPr/>
          <p:nvPr/>
        </p:nvSpPr>
        <p:spPr>
          <a:xfrm>
            <a:off x="7772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783080"/>
            <a:ext cx="2487168" cy="45720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CLEAN</a:t>
            </a:r>
          </a:p>
        </p:txBody>
      </p:sp>
      <p:sp>
        <p:nvSpPr>
          <p:cNvPr id="14" name="TextBox 13"/>
          <p:cNvSpPr txBox="1"/>
          <p:nvPr/>
        </p:nvSpPr>
        <p:spPr>
          <a:xfrm>
            <a:off x="9235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drop cross-class duplicate · merge multi-masks by union</a:t>
            </a:r>
          </a:p>
        </p:txBody>
      </p:sp>
      <p:sp>
        <p:nvSpPr>
          <p:cNvPr id="15" name="Right Arrow 14"/>
          <p:cNvSpPr/>
          <p:nvPr/>
        </p:nvSpPr>
        <p:spPr>
          <a:xfrm>
            <a:off x="3282696" y="2523744"/>
            <a:ext cx="219456" cy="256032"/>
          </a:xfrm>
          <a:prstGeom prst="rightArrow">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204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20440" y="1783080"/>
            <a:ext cx="2487168" cy="45720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204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DE-LEAK</a:t>
            </a:r>
          </a:p>
        </p:txBody>
      </p:sp>
      <p:sp>
        <p:nvSpPr>
          <p:cNvPr id="20" name="TextBox 19"/>
          <p:cNvSpPr txBox="1"/>
          <p:nvPr/>
        </p:nvSpPr>
        <p:spPr>
          <a:xfrm>
            <a:off x="36667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pHash → 124 clusters · cluster-level stratified 70/15/15</a:t>
            </a:r>
          </a:p>
        </p:txBody>
      </p:sp>
      <p:sp>
        <p:nvSpPr>
          <p:cNvPr id="21" name="Right Arrow 20"/>
          <p:cNvSpPr/>
          <p:nvPr/>
        </p:nvSpPr>
        <p:spPr>
          <a:xfrm>
            <a:off x="6025896" y="2523744"/>
            <a:ext cx="219456" cy="256032"/>
          </a:xfrm>
          <a:prstGeom prst="rightArrow">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636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63640" y="1783080"/>
            <a:ext cx="2487168" cy="45720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PRE-PROCESS</a:t>
            </a:r>
          </a:p>
        </p:txBody>
      </p:sp>
      <p:sp>
        <p:nvSpPr>
          <p:cNvPr id="26" name="TextBox 25"/>
          <p:cNvSpPr txBox="1"/>
          <p:nvPr/>
        </p:nvSpPr>
        <p:spPr>
          <a:xfrm>
            <a:off x="64099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letterbox 256×256 · grayscale · normalise [-1,1] or ImageNet</a:t>
            </a:r>
          </a:p>
        </p:txBody>
      </p:sp>
      <p:sp>
        <p:nvSpPr>
          <p:cNvPr id="27" name="Right Arrow 26"/>
          <p:cNvSpPr/>
          <p:nvPr/>
        </p:nvSpPr>
        <p:spPr>
          <a:xfrm>
            <a:off x="8769096" y="2523744"/>
            <a:ext cx="219456" cy="256032"/>
          </a:xfrm>
          <a:prstGeom prst="rightArrow">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068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06840" y="1783080"/>
            <a:ext cx="2487168" cy="45720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068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068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AUGMENT</a:t>
            </a:r>
          </a:p>
        </p:txBody>
      </p:sp>
      <p:sp>
        <p:nvSpPr>
          <p:cNvPr id="32" name="TextBox 31"/>
          <p:cNvSpPr txBox="1"/>
          <p:nvPr/>
        </p:nvSpPr>
        <p:spPr>
          <a:xfrm>
            <a:off x="91531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train-only: h-flip · affine · brightness/contrast jitter</a:t>
            </a:r>
          </a:p>
        </p:txBody>
      </p:sp>
      <p:sp>
        <p:nvSpPr>
          <p:cNvPr id="33" name="Rounded Rectangle 32"/>
          <p:cNvSpPr/>
          <p:nvPr/>
        </p:nvSpPr>
        <p:spPr>
          <a:xfrm>
            <a:off x="777240" y="3886200"/>
            <a:ext cx="52578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404164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How the splits are used</a:t>
            </a:r>
          </a:p>
        </p:txBody>
      </p:sp>
      <p:sp>
        <p:nvSpPr>
          <p:cNvPr id="35" name="TextBox 34"/>
          <p:cNvSpPr txBox="1"/>
          <p:nvPr/>
        </p:nvSpPr>
        <p:spPr>
          <a:xfrm>
            <a:off x="1005840" y="4480560"/>
            <a:ext cx="4846320" cy="1463040"/>
          </a:xfrm>
          <a:prstGeom prst="rect">
            <a:avLst/>
          </a:prstGeom>
          <a:noFill/>
        </p:spPr>
        <p:txBody>
          <a:bodyPr wrap="square" lIns="0" rIns="0" tIns="0" bIns="0">
            <a:spAutoFit/>
          </a:bodyPr>
          <a:lstStyle/>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Segmentation: </a:t>
            </a:r>
            <a:r>
              <a:rPr sz="1250" b="0">
                <a:solidFill>
                  <a:srgbClr val="1B2A38"/>
                </a:solidFill>
                <a:latin typeface="Calibri"/>
              </a:rPr>
              <a:t>645 benign+malignant lesion images → 445 / 102 / 98.</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Classification: </a:t>
            </a:r>
            <a:r>
              <a:rPr sz="1250" b="0">
                <a:solidFill>
                  <a:srgbClr val="1B2A38"/>
                </a:solidFill>
                <a:latin typeface="Calibri"/>
              </a:rPr>
              <a:t>all 3 classes, 778 → 540 / 120 / 118.</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Same split: </a:t>
            </a:r>
            <a:r>
              <a:rPr sz="1250" b="0">
                <a:solidFill>
                  <a:srgbClr val="1B2A38"/>
                </a:solidFill>
                <a:latin typeface="Calibri"/>
              </a:rPr>
              <a:t>every model sees the identical split → fair comparison.</a:t>
            </a:r>
          </a:p>
        </p:txBody>
      </p:sp>
      <p:sp>
        <p:nvSpPr>
          <p:cNvPr id="36" name="Rounded Rectangle 35"/>
          <p:cNvSpPr/>
          <p:nvPr/>
        </p:nvSpPr>
        <p:spPr>
          <a:xfrm>
            <a:off x="6172200" y="3886200"/>
            <a:ext cx="52578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4041648"/>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Evaluation metrics</a:t>
            </a:r>
          </a:p>
        </p:txBody>
      </p:sp>
      <p:sp>
        <p:nvSpPr>
          <p:cNvPr id="38" name="TextBox 37"/>
          <p:cNvSpPr txBox="1"/>
          <p:nvPr/>
        </p:nvSpPr>
        <p:spPr>
          <a:xfrm>
            <a:off x="6400800" y="4480560"/>
            <a:ext cx="4846320" cy="1463040"/>
          </a:xfrm>
          <a:prstGeom prst="rect">
            <a:avLst/>
          </a:prstGeom>
          <a:noFill/>
        </p:spPr>
        <p:txBody>
          <a:bodyPr wrap="square" lIns="0" rIns="0" tIns="0" bIns="0">
            <a:spAutoFit/>
          </a:bodyPr>
          <a:lstStyle/>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Classification: </a:t>
            </a:r>
            <a:r>
              <a:rPr sz="1250" b="0">
                <a:solidFill>
                  <a:srgbClr val="1B2A38"/>
                </a:solidFill>
                <a:latin typeface="Calibri"/>
              </a:rPr>
              <a:t>macro-F1 (primary), balanced-acc, macro-AUC, confusion matrix.</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Segmentation: </a:t>
            </a:r>
            <a:r>
              <a:rPr sz="1250" b="0">
                <a:solidFill>
                  <a:srgbClr val="1B2A38"/>
                </a:solidFill>
                <a:latin typeface="Calibri"/>
              </a:rPr>
              <a:t>Dice &amp; IoU (per-image mean) + pixel P/R; Yap detection metrics.</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Robustness: </a:t>
            </a:r>
            <a:r>
              <a:rPr sz="1250" b="0">
                <a:solidFill>
                  <a:srgbClr val="1B2A38"/>
                </a:solidFill>
                <a:latin typeface="Calibri"/>
              </a:rPr>
              <a:t>multi-seed mean ± std + bootstrap 95% CI on final pipeline.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MODELS &amp; METHODS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13 reproduced models + 2 of our own</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12</a:t>
            </a:r>
          </a:p>
        </p:txBody>
      </p:sp>
      <p:sp>
        <p:nvSpPr>
          <p:cNvPr id="10" name="Rounded Rectangle 9"/>
          <p:cNvSpPr/>
          <p:nvPr/>
        </p:nvSpPr>
        <p:spPr>
          <a:xfrm>
            <a:off x="777240" y="1691640"/>
            <a:ext cx="3246120" cy="3703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3246120" cy="50292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965960"/>
            <a:ext cx="3246120"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737360"/>
            <a:ext cx="324612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50" b="1" i="0">
                <a:solidFill>
                  <a:srgbClr val="FFFFFF"/>
                </a:solidFill>
                <a:latin typeface="Calibri"/>
              </a:rPr>
              <a:t>SEGMENTATION (8)</a:t>
            </a:r>
          </a:p>
        </p:txBody>
      </p:sp>
      <p:sp>
        <p:nvSpPr>
          <p:cNvPr id="14" name="Rounded Rectangle 13"/>
          <p:cNvSpPr/>
          <p:nvPr/>
        </p:nvSpPr>
        <p:spPr>
          <a:xfrm>
            <a:off x="960120" y="2331720"/>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2331720"/>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U-Net [3]*</a:t>
            </a:r>
          </a:p>
        </p:txBody>
      </p:sp>
      <p:sp>
        <p:nvSpPr>
          <p:cNvPr id="16" name="Rounded Rectangle 15"/>
          <p:cNvSpPr/>
          <p:nvPr/>
        </p:nvSpPr>
        <p:spPr>
          <a:xfrm>
            <a:off x="960120" y="2715768"/>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2715768"/>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Attention U-Net [9]</a:t>
            </a:r>
          </a:p>
        </p:txBody>
      </p:sp>
      <p:sp>
        <p:nvSpPr>
          <p:cNvPr id="18" name="Rounded Rectangle 17"/>
          <p:cNvSpPr/>
          <p:nvPr/>
        </p:nvSpPr>
        <p:spPr>
          <a:xfrm>
            <a:off x="960120" y="3099815"/>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3099815"/>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DeepLabV3+ [7]</a:t>
            </a:r>
          </a:p>
        </p:txBody>
      </p:sp>
      <p:sp>
        <p:nvSpPr>
          <p:cNvPr id="20" name="Rounded Rectangle 19"/>
          <p:cNvSpPr/>
          <p:nvPr/>
        </p:nvSpPr>
        <p:spPr>
          <a:xfrm>
            <a:off x="960120" y="3483863"/>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3483863"/>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nnU-Net [20]</a:t>
            </a:r>
          </a:p>
        </p:txBody>
      </p:sp>
      <p:sp>
        <p:nvSpPr>
          <p:cNvPr id="22" name="Rounded Rectangle 21"/>
          <p:cNvSpPr/>
          <p:nvPr/>
        </p:nvSpPr>
        <p:spPr>
          <a:xfrm>
            <a:off x="960120" y="3867911"/>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3867911"/>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AAU-Net [12]</a:t>
            </a:r>
          </a:p>
        </p:txBody>
      </p:sp>
      <p:sp>
        <p:nvSpPr>
          <p:cNvPr id="24" name="Rounded Rectangle 23"/>
          <p:cNvSpPr/>
          <p:nvPr/>
        </p:nvSpPr>
        <p:spPr>
          <a:xfrm>
            <a:off x="960120" y="4251959"/>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9848" y="4251959"/>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CResU-Net [13]</a:t>
            </a:r>
          </a:p>
        </p:txBody>
      </p:sp>
      <p:sp>
        <p:nvSpPr>
          <p:cNvPr id="26" name="Rounded Rectangle 25"/>
          <p:cNvSpPr/>
          <p:nvPr/>
        </p:nvSpPr>
        <p:spPr>
          <a:xfrm>
            <a:off x="960120" y="4636007"/>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9848" y="4636007"/>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FCN-AlexNet [2]*</a:t>
            </a:r>
          </a:p>
        </p:txBody>
      </p:sp>
      <p:sp>
        <p:nvSpPr>
          <p:cNvPr id="28" name="Rounded Rectangle 27"/>
          <p:cNvSpPr/>
          <p:nvPr/>
        </p:nvSpPr>
        <p:spPr>
          <a:xfrm>
            <a:off x="960120" y="5020055"/>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9848" y="5020055"/>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Patch-LeNet [2]*</a:t>
            </a:r>
          </a:p>
        </p:txBody>
      </p:sp>
      <p:sp>
        <p:nvSpPr>
          <p:cNvPr id="30" name="Rounded Rectangle 29"/>
          <p:cNvSpPr/>
          <p:nvPr/>
        </p:nvSpPr>
        <p:spPr>
          <a:xfrm>
            <a:off x="4206240" y="1691640"/>
            <a:ext cx="2240280" cy="3703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206240" y="1691640"/>
            <a:ext cx="2240280" cy="50292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06240" y="1965960"/>
            <a:ext cx="2240280"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1737360"/>
            <a:ext cx="224028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50" b="1" i="0">
                <a:solidFill>
                  <a:srgbClr val="FFFFFF"/>
                </a:solidFill>
                <a:latin typeface="Calibri"/>
              </a:rPr>
              <a:t>CLASSIFICATION (3)</a:t>
            </a:r>
          </a:p>
        </p:txBody>
      </p:sp>
      <p:sp>
        <p:nvSpPr>
          <p:cNvPr id="34" name="Rounded Rectangle 33"/>
          <p:cNvSpPr/>
          <p:nvPr/>
        </p:nvSpPr>
        <p:spPr>
          <a:xfrm>
            <a:off x="4389120" y="2331720"/>
            <a:ext cx="187452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8848" y="2331720"/>
            <a:ext cx="17373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ResNet-18 [4]</a:t>
            </a:r>
          </a:p>
        </p:txBody>
      </p:sp>
      <p:sp>
        <p:nvSpPr>
          <p:cNvPr id="36" name="Rounded Rectangle 35"/>
          <p:cNvSpPr/>
          <p:nvPr/>
        </p:nvSpPr>
        <p:spPr>
          <a:xfrm>
            <a:off x="4389120" y="2715768"/>
            <a:ext cx="187452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2715768"/>
            <a:ext cx="17373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DenseNet-121 [5]</a:t>
            </a:r>
          </a:p>
        </p:txBody>
      </p:sp>
      <p:sp>
        <p:nvSpPr>
          <p:cNvPr id="38" name="Rounded Rectangle 37"/>
          <p:cNvSpPr/>
          <p:nvPr/>
        </p:nvSpPr>
        <p:spPr>
          <a:xfrm>
            <a:off x="4389120" y="3099815"/>
            <a:ext cx="187452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98848" y="3099815"/>
            <a:ext cx="17373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EfficientNet-B0 [6]</a:t>
            </a:r>
          </a:p>
        </p:txBody>
      </p:sp>
      <p:sp>
        <p:nvSpPr>
          <p:cNvPr id="40" name="Rounded Rectangle 39"/>
          <p:cNvSpPr/>
          <p:nvPr/>
        </p:nvSpPr>
        <p:spPr>
          <a:xfrm>
            <a:off x="6629400" y="1691640"/>
            <a:ext cx="2194560" cy="3703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629400" y="1691640"/>
            <a:ext cx="2194560" cy="50292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29400" y="1965960"/>
            <a:ext cx="2194560"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1737360"/>
            <a:ext cx="219456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50" b="1" i="0">
                <a:solidFill>
                  <a:srgbClr val="FFFFFF"/>
                </a:solidFill>
                <a:latin typeface="Calibri"/>
              </a:rPr>
              <a:t>COMBINED (2)</a:t>
            </a:r>
          </a:p>
        </p:txBody>
      </p:sp>
      <p:sp>
        <p:nvSpPr>
          <p:cNvPr id="44" name="Rounded Rectangle 43"/>
          <p:cNvSpPr/>
          <p:nvPr/>
        </p:nvSpPr>
        <p:spPr>
          <a:xfrm>
            <a:off x="6812280" y="2331720"/>
            <a:ext cx="182880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22008" y="2331720"/>
            <a:ext cx="1691639"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Dual-stage [17]</a:t>
            </a:r>
          </a:p>
        </p:txBody>
      </p:sp>
      <p:sp>
        <p:nvSpPr>
          <p:cNvPr id="46" name="Rounded Rectangle 45"/>
          <p:cNvSpPr/>
          <p:nvPr/>
        </p:nvSpPr>
        <p:spPr>
          <a:xfrm>
            <a:off x="6812280" y="2715768"/>
            <a:ext cx="182880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22008" y="2715768"/>
            <a:ext cx="1691639"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MTL-OCA [24]</a:t>
            </a:r>
          </a:p>
        </p:txBody>
      </p:sp>
      <p:sp>
        <p:nvSpPr>
          <p:cNvPr id="48" name="Rounded Rectangle 47"/>
          <p:cNvSpPr/>
          <p:nvPr/>
        </p:nvSpPr>
        <p:spPr>
          <a:xfrm>
            <a:off x="9006840" y="1691640"/>
            <a:ext cx="2404872" cy="3703320"/>
          </a:xfrm>
          <a:prstGeom prst="roundRect">
            <a:avLst/>
          </a:prstGeom>
          <a:solidFill>
            <a:srgbClr val="F7EDDD"/>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006840" y="1691640"/>
            <a:ext cx="2404872" cy="50292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006840" y="1965960"/>
            <a:ext cx="2404872" cy="228600"/>
          </a:xfrm>
          <a:prstGeom prst="rect">
            <a:avLst/>
          </a:prstGeom>
          <a:solidFill>
            <a:srgbClr val="F7E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06840" y="1737360"/>
            <a:ext cx="2404872"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Calibri"/>
              </a:rPr>
              <a:t>OUR IMPROVEMENTS (2)</a:t>
            </a:r>
          </a:p>
        </p:txBody>
      </p:sp>
      <p:sp>
        <p:nvSpPr>
          <p:cNvPr id="52" name="Rounded Rectangle 51"/>
          <p:cNvSpPr/>
          <p:nvPr/>
        </p:nvSpPr>
        <p:spPr>
          <a:xfrm>
            <a:off x="9189719" y="2377440"/>
            <a:ext cx="2039112" cy="1143000"/>
          </a:xfrm>
          <a:prstGeom prst="roundRect">
            <a:avLst/>
          </a:prstGeom>
          <a:solidFill>
            <a:srgbClr val="FFFFFF"/>
          </a:solidFill>
          <a:ln w="1524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26880" y="2505456"/>
            <a:ext cx="1810512" cy="9144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1B2A38"/>
                </a:solidFill>
                <a:latin typeface="Calibri"/>
              </a:rPr>
              <a:t>★ Improved segmenter</a:t>
            </a:r>
          </a:p>
          <a:p>
            <a:pPr algn="l">
              <a:lnSpc>
                <a:spcPct val="105000"/>
              </a:lnSpc>
              <a:spcBef>
                <a:spcPts val="0"/>
              </a:spcBef>
              <a:spcAft>
                <a:spcPts val="400"/>
              </a:spcAft>
            </a:pPr>
            <a:r>
              <a:rPr sz="1100" b="0" i="0">
                <a:solidFill>
                  <a:srgbClr val="45596B"/>
                </a:solidFill>
                <a:latin typeface="Calibri"/>
              </a:rPr>
              <a:t>(pretrained EffB4 U-Net)</a:t>
            </a:r>
          </a:p>
        </p:txBody>
      </p:sp>
      <p:sp>
        <p:nvSpPr>
          <p:cNvPr id="54" name="Rounded Rectangle 53"/>
          <p:cNvSpPr/>
          <p:nvPr/>
        </p:nvSpPr>
        <p:spPr>
          <a:xfrm>
            <a:off x="9189719" y="3749039"/>
            <a:ext cx="2039112" cy="1143000"/>
          </a:xfrm>
          <a:prstGeom prst="roundRect">
            <a:avLst/>
          </a:prstGeom>
          <a:solidFill>
            <a:srgbClr val="FFFFFF"/>
          </a:solidFill>
          <a:ln w="1524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26880" y="3877055"/>
            <a:ext cx="1810512" cy="9144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1B2A38"/>
                </a:solidFill>
                <a:latin typeface="Calibri"/>
              </a:rPr>
              <a:t>★ Improved dual-stage</a:t>
            </a:r>
          </a:p>
          <a:p>
            <a:pPr algn="l">
              <a:lnSpc>
                <a:spcPct val="105000"/>
              </a:lnSpc>
              <a:spcBef>
                <a:spcPts val="0"/>
              </a:spcBef>
              <a:spcAft>
                <a:spcPts val="400"/>
              </a:spcAft>
            </a:pPr>
            <a:r>
              <a:rPr sz="1100" b="0" i="0">
                <a:solidFill>
                  <a:srgbClr val="45596B"/>
                </a:solidFill>
                <a:latin typeface="Calibri"/>
              </a:rPr>
              <a:t>(rigorous eval)</a:t>
            </a:r>
          </a:p>
        </p:txBody>
      </p:sp>
      <p:sp>
        <p:nvSpPr>
          <p:cNvPr id="56" name="TextBox 55"/>
          <p:cNvSpPr txBox="1"/>
          <p:nvPr/>
        </p:nvSpPr>
        <p:spPr>
          <a:xfrm>
            <a:off x="777240" y="5623560"/>
            <a:ext cx="10607040" cy="45720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45596B"/>
                </a:solidFill>
                <a:latin typeface="Calibri"/>
              </a:rPr>
              <a:t>* = the three papers named in the project brief.   </a:t>
            </a:r>
            <a:r>
              <a:rPr sz="1150" b="1" i="0">
                <a:solidFill>
                  <a:srgbClr val="0E4D64"/>
                </a:solidFill>
                <a:latin typeface="Calibri"/>
              </a:rPr>
              <a:t>Every reused backbone is pretrained torchvision; every head, loss &amp; training loop is our 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REPRODUCTION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The three required papers, from scratch</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13</a:t>
            </a:r>
          </a:p>
        </p:txBody>
      </p:sp>
      <p:sp>
        <p:nvSpPr>
          <p:cNvPr id="10" name="Rounded Rectangle 9"/>
          <p:cNvSpPr/>
          <p:nvPr/>
        </p:nvSpPr>
        <p:spPr>
          <a:xfrm>
            <a:off x="777240" y="1691640"/>
            <a:ext cx="3401568" cy="32461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1874519"/>
            <a:ext cx="2999232" cy="41148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E4D64"/>
                </a:solidFill>
                <a:latin typeface="Calibri"/>
              </a:rPr>
              <a:t>U-Net [3]</a:t>
            </a:r>
          </a:p>
        </p:txBody>
      </p:sp>
      <p:sp>
        <p:nvSpPr>
          <p:cNvPr id="12" name="TextBox 11"/>
          <p:cNvSpPr txBox="1"/>
          <p:nvPr/>
        </p:nvSpPr>
        <p:spPr>
          <a:xfrm>
            <a:off x="978408" y="2286000"/>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Ronneberger 2015</a:t>
            </a:r>
          </a:p>
        </p:txBody>
      </p:sp>
      <p:sp>
        <p:nvSpPr>
          <p:cNvPr id="13" name="Rectangle 12"/>
          <p:cNvSpPr/>
          <p:nvPr/>
        </p:nvSpPr>
        <p:spPr>
          <a:xfrm>
            <a:off x="978408" y="2651760"/>
            <a:ext cx="18288" cy="1737360"/>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2651760"/>
            <a:ext cx="2852928" cy="1828800"/>
          </a:xfrm>
          <a:prstGeom prst="rect">
            <a:avLst/>
          </a:prstGeom>
          <a:noFill/>
        </p:spPr>
        <p:txBody>
          <a:bodyPr wrap="square" anchor="t" lIns="0" rIns="0" tIns="0" bIns="0">
            <a:spAutoFit/>
          </a:bodyPr>
          <a:lstStyle/>
          <a:p>
            <a:pPr algn="l">
              <a:lnSpc>
                <a:spcPct val="115000"/>
              </a:lnSpc>
              <a:spcBef>
                <a:spcPts val="0"/>
              </a:spcBef>
              <a:spcAft>
                <a:spcPts val="400"/>
              </a:spcAft>
            </a:pPr>
            <a:r>
              <a:rPr sz="1300" b="0" i="0">
                <a:solidFill>
                  <a:srgbClr val="1B2A38"/>
                </a:solidFill>
                <a:latin typeface="Calibri"/>
              </a:rPr>
              <a:t>4-level encoder/decoder, skip connections, Dice+BCE. Built entirely from scratch in PyTorch.</a:t>
            </a:r>
          </a:p>
        </p:txBody>
      </p:sp>
      <p:sp>
        <p:nvSpPr>
          <p:cNvPr id="15" name="Rounded Rectangle 14"/>
          <p:cNvSpPr/>
          <p:nvPr/>
        </p:nvSpPr>
        <p:spPr>
          <a:xfrm>
            <a:off x="978408" y="4526280"/>
            <a:ext cx="1371600" cy="310896"/>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4526280"/>
            <a:ext cx="1371600"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from-scratch</a:t>
            </a:r>
          </a:p>
        </p:txBody>
      </p:sp>
      <p:sp>
        <p:nvSpPr>
          <p:cNvPr id="17" name="Rounded Rectangle 16"/>
          <p:cNvSpPr/>
          <p:nvPr/>
        </p:nvSpPr>
        <p:spPr>
          <a:xfrm>
            <a:off x="4398264" y="1691640"/>
            <a:ext cx="3401568" cy="32461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1" y="1874519"/>
            <a:ext cx="2999232" cy="41148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E4D64"/>
                </a:solidFill>
                <a:latin typeface="Calibri"/>
              </a:rPr>
              <a:t>Patch-LeNet [2]</a:t>
            </a:r>
          </a:p>
        </p:txBody>
      </p:sp>
      <p:sp>
        <p:nvSpPr>
          <p:cNvPr id="19" name="TextBox 18"/>
          <p:cNvSpPr txBox="1"/>
          <p:nvPr/>
        </p:nvSpPr>
        <p:spPr>
          <a:xfrm>
            <a:off x="4599431" y="2286000"/>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Yap 2018</a:t>
            </a:r>
          </a:p>
        </p:txBody>
      </p:sp>
      <p:sp>
        <p:nvSpPr>
          <p:cNvPr id="20" name="Rectangle 19"/>
          <p:cNvSpPr/>
          <p:nvPr/>
        </p:nvSpPr>
        <p:spPr>
          <a:xfrm>
            <a:off x="4599431" y="2651760"/>
            <a:ext cx="18288" cy="1737360"/>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27448" y="2651760"/>
            <a:ext cx="2852928" cy="1828800"/>
          </a:xfrm>
          <a:prstGeom prst="rect">
            <a:avLst/>
          </a:prstGeom>
          <a:noFill/>
        </p:spPr>
        <p:txBody>
          <a:bodyPr wrap="square" anchor="t" lIns="0" rIns="0" tIns="0" bIns="0">
            <a:spAutoFit/>
          </a:bodyPr>
          <a:lstStyle/>
          <a:p>
            <a:pPr algn="l">
              <a:lnSpc>
                <a:spcPct val="115000"/>
              </a:lnSpc>
              <a:spcBef>
                <a:spcPts val="0"/>
              </a:spcBef>
              <a:spcAft>
                <a:spcPts val="400"/>
              </a:spcAft>
            </a:pPr>
            <a:r>
              <a:rPr sz="1300" b="0" i="0">
                <a:solidFill>
                  <a:srgbClr val="1B2A38"/>
                </a:solidFill>
                <a:latin typeface="Calibri"/>
              </a:rPr>
              <a:t>Tiny LeNet classifies 28×28 patches; balanced hard-negative sampling; sliding-window detection map.</a:t>
            </a:r>
          </a:p>
        </p:txBody>
      </p:sp>
      <p:sp>
        <p:nvSpPr>
          <p:cNvPr id="22" name="Rounded Rectangle 21"/>
          <p:cNvSpPr/>
          <p:nvPr/>
        </p:nvSpPr>
        <p:spPr>
          <a:xfrm>
            <a:off x="4599431" y="4526280"/>
            <a:ext cx="1371600" cy="310896"/>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9431" y="4526280"/>
            <a:ext cx="1371600"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detection</a:t>
            </a:r>
          </a:p>
        </p:txBody>
      </p:sp>
      <p:sp>
        <p:nvSpPr>
          <p:cNvPr id="24" name="Rounded Rectangle 23"/>
          <p:cNvSpPr/>
          <p:nvPr/>
        </p:nvSpPr>
        <p:spPr>
          <a:xfrm>
            <a:off x="8019288" y="1691640"/>
            <a:ext cx="3401568" cy="32461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1874519"/>
            <a:ext cx="2999232" cy="41148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E4D64"/>
                </a:solidFill>
                <a:latin typeface="Calibri"/>
              </a:rPr>
              <a:t>FCN-AlexNet [2]</a:t>
            </a:r>
          </a:p>
        </p:txBody>
      </p:sp>
      <p:sp>
        <p:nvSpPr>
          <p:cNvPr id="26" name="TextBox 25"/>
          <p:cNvSpPr txBox="1"/>
          <p:nvPr/>
        </p:nvSpPr>
        <p:spPr>
          <a:xfrm>
            <a:off x="8220456" y="2286000"/>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Yap 2018 · best</a:t>
            </a:r>
          </a:p>
        </p:txBody>
      </p:sp>
      <p:sp>
        <p:nvSpPr>
          <p:cNvPr id="27" name="Rectangle 26"/>
          <p:cNvSpPr/>
          <p:nvPr/>
        </p:nvSpPr>
        <p:spPr>
          <a:xfrm>
            <a:off x="8220456" y="2651760"/>
            <a:ext cx="18288" cy="1737360"/>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651760"/>
            <a:ext cx="2852928" cy="1828800"/>
          </a:xfrm>
          <a:prstGeom prst="rect">
            <a:avLst/>
          </a:prstGeom>
          <a:noFill/>
        </p:spPr>
        <p:txBody>
          <a:bodyPr wrap="square" anchor="t" lIns="0" rIns="0" tIns="0" bIns="0">
            <a:spAutoFit/>
          </a:bodyPr>
          <a:lstStyle/>
          <a:p>
            <a:pPr algn="l">
              <a:lnSpc>
                <a:spcPct val="115000"/>
              </a:lnSpc>
              <a:spcBef>
                <a:spcPts val="0"/>
              </a:spcBef>
              <a:spcAft>
                <a:spcPts val="400"/>
              </a:spcAft>
            </a:pPr>
            <a:r>
              <a:rPr sz="1300" b="0" i="0">
                <a:solidFill>
                  <a:srgbClr val="1B2A38"/>
                </a:solidFill>
                <a:latin typeface="Calibri"/>
              </a:rPr>
              <a:t>Pretrained AlexNet → fully-convolutional; fc6/fc7 recast as conv + bilinear upsample. Yap's best method.</a:t>
            </a:r>
          </a:p>
        </p:txBody>
      </p:sp>
      <p:sp>
        <p:nvSpPr>
          <p:cNvPr id="29" name="Rounded Rectangle 28"/>
          <p:cNvSpPr/>
          <p:nvPr/>
        </p:nvSpPr>
        <p:spPr>
          <a:xfrm>
            <a:off x="8220456" y="4526280"/>
            <a:ext cx="1371600" cy="310896"/>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4526280"/>
            <a:ext cx="1371600"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transfer</a:t>
            </a:r>
          </a:p>
        </p:txBody>
      </p:sp>
      <p:sp>
        <p:nvSpPr>
          <p:cNvPr id="31" name="Rounded Rectangle 30"/>
          <p:cNvSpPr/>
          <p:nvPr/>
        </p:nvSpPr>
        <p:spPr>
          <a:xfrm>
            <a:off x="777240" y="5212080"/>
            <a:ext cx="10634472" cy="777240"/>
          </a:xfrm>
          <a:prstGeom prst="roundRect">
            <a:avLst/>
          </a:prstGeom>
          <a:solidFill>
            <a:srgbClr val="E6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212080"/>
            <a:ext cx="10241280" cy="777240"/>
          </a:xfrm>
          <a:prstGeom prst="rect">
            <a:avLst/>
          </a:prstGeom>
          <a:noFill/>
        </p:spPr>
        <p:txBody>
          <a:bodyPr wrap="square" anchor="ctr" lIns="0" rIns="0" tIns="0" bIns="0">
            <a:spAutoFit/>
          </a:bodyPr>
          <a:lstStyle/>
          <a:p>
            <a:pPr algn="l">
              <a:lnSpc>
                <a:spcPct val="110000"/>
              </a:lnSpc>
              <a:spcBef>
                <a:spcPts val="0"/>
              </a:spcBef>
              <a:spcAft>
                <a:spcPts val="400"/>
              </a:spcAft>
            </a:pPr>
            <a:r>
              <a:rPr sz="1300" b="1" i="0">
                <a:solidFill>
                  <a:srgbClr val="E1595B"/>
                </a:solidFill>
                <a:latin typeface="Calibri"/>
              </a:rPr>
              <a:t>Own work: </a:t>
            </a:r>
            <a:r>
              <a:rPr sz="1300" b="0" i="0">
                <a:solidFill>
                  <a:srgbClr val="1B2A38"/>
                </a:solidFill>
                <a:latin typeface="Calibri"/>
              </a:rPr>
              <a:t>full U-Net; the LeNet + hard-negative patch sampler + sliding-window inference; the FCN head &amp; fine-tuning. Only the AlexNet backbone is a pretrained component.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SEGMENTATION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Five stronger segmentation architectures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14</a:t>
            </a:r>
          </a:p>
        </p:txBody>
      </p:sp>
      <p:sp>
        <p:nvSpPr>
          <p:cNvPr id="10" name="Rounded Rectangle 9"/>
          <p:cNvSpPr/>
          <p:nvPr/>
        </p:nvSpPr>
        <p:spPr>
          <a:xfrm>
            <a:off x="777240" y="1645920"/>
            <a:ext cx="10634472" cy="777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4592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164592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Attention U-Net [9]</a:t>
            </a:r>
          </a:p>
        </p:txBody>
      </p:sp>
      <p:sp>
        <p:nvSpPr>
          <p:cNvPr id="13" name="TextBox 12"/>
          <p:cNvSpPr txBox="1"/>
          <p:nvPr/>
        </p:nvSpPr>
        <p:spPr>
          <a:xfrm>
            <a:off x="3977639" y="1700784"/>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additive attention gates on skips — *same recipe* as our U-Net, so it isolates the gate's effect.</a:t>
            </a:r>
          </a:p>
        </p:txBody>
      </p:sp>
      <p:sp>
        <p:nvSpPr>
          <p:cNvPr id="14" name="Rounded Rectangle 13"/>
          <p:cNvSpPr/>
          <p:nvPr/>
        </p:nvSpPr>
        <p:spPr>
          <a:xfrm>
            <a:off x="777240" y="2514600"/>
            <a:ext cx="10634472" cy="777240"/>
          </a:xfrm>
          <a:prstGeom prst="roundRect">
            <a:avLst/>
          </a:prstGeom>
          <a:solidFill>
            <a:srgbClr val="FFFFFF"/>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251460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1460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DeepLabV3+ [7]</a:t>
            </a:r>
          </a:p>
        </p:txBody>
      </p:sp>
      <p:sp>
        <p:nvSpPr>
          <p:cNvPr id="17" name="TextBox 16"/>
          <p:cNvSpPr txBox="1"/>
          <p:nvPr/>
        </p:nvSpPr>
        <p:spPr>
          <a:xfrm>
            <a:off x="3977639" y="2569464"/>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pretrained ResNet-50 + ASPP (atrous rates 6/12/18) + light decoder. Our strongest reproduced baseline.</a:t>
            </a:r>
          </a:p>
        </p:txBody>
      </p:sp>
      <p:sp>
        <p:nvSpPr>
          <p:cNvPr id="18" name="Rounded Rectangle 17"/>
          <p:cNvSpPr/>
          <p:nvPr/>
        </p:nvSpPr>
        <p:spPr>
          <a:xfrm>
            <a:off x="777240" y="3383280"/>
            <a:ext cx="10634472" cy="777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38328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8328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nnU-Net [20]</a:t>
            </a:r>
          </a:p>
        </p:txBody>
      </p:sp>
      <p:sp>
        <p:nvSpPr>
          <p:cNvPr id="21" name="TextBox 20"/>
          <p:cNvSpPr txBox="1"/>
          <p:nvPr/>
        </p:nvSpPr>
        <p:spPr>
          <a:xfrm>
            <a:off x="3977639" y="3438144"/>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the fixed blueprint 2D U-Net + deep supervision (InstanceNorm, poly-LR, SGD). A strong general baseline.</a:t>
            </a:r>
          </a:p>
        </p:txBody>
      </p:sp>
      <p:sp>
        <p:nvSpPr>
          <p:cNvPr id="22" name="Rounded Rectangle 21"/>
          <p:cNvSpPr/>
          <p:nvPr/>
        </p:nvSpPr>
        <p:spPr>
          <a:xfrm>
            <a:off x="777240" y="4251959"/>
            <a:ext cx="10634472" cy="777240"/>
          </a:xfrm>
          <a:prstGeom prst="roundRect">
            <a:avLst/>
          </a:prstGeom>
          <a:solidFill>
            <a:srgbClr val="FFFFFF"/>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251959"/>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251959"/>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AAU-Net [12]</a:t>
            </a:r>
          </a:p>
        </p:txBody>
      </p:sp>
      <p:sp>
        <p:nvSpPr>
          <p:cNvPr id="25" name="TextBox 24"/>
          <p:cNvSpPr txBox="1"/>
          <p:nvPr/>
        </p:nvSpPr>
        <p:spPr>
          <a:xfrm>
            <a:off x="3977639" y="4306823"/>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BUS-specific Hybrid Adaptive Attention Module: multi-receptive-field + channel &amp; spatial self-attention.</a:t>
            </a:r>
          </a:p>
        </p:txBody>
      </p:sp>
      <p:sp>
        <p:nvSpPr>
          <p:cNvPr id="26" name="Rounded Rectangle 25"/>
          <p:cNvSpPr/>
          <p:nvPr/>
        </p:nvSpPr>
        <p:spPr>
          <a:xfrm>
            <a:off x="777240" y="5120640"/>
            <a:ext cx="10634472" cy="777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512064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12064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CResU-Net [13]</a:t>
            </a:r>
          </a:p>
        </p:txBody>
      </p:sp>
      <p:sp>
        <p:nvSpPr>
          <p:cNvPr id="29" name="TextBox 28"/>
          <p:cNvSpPr txBox="1"/>
          <p:nvPr/>
        </p:nvSpPr>
        <p:spPr>
          <a:xfrm>
            <a:off x="3977639" y="5175503"/>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block-scheduled encoder: Co-Block (dense concat) + ResNet + MultiRes blocks; pure-Dice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CLASSIFICATION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Three ImageNet-pretrained backbones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15</a:t>
            </a:r>
          </a:p>
        </p:txBody>
      </p:sp>
      <p:sp>
        <p:nvSpPr>
          <p:cNvPr id="10" name="Rounded Rectangle 9"/>
          <p:cNvSpPr/>
          <p:nvPr/>
        </p:nvSpPr>
        <p:spPr>
          <a:xfrm>
            <a:off x="777240" y="1737360"/>
            <a:ext cx="3401568" cy="26517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737360"/>
            <a:ext cx="3401568" cy="5486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5740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1810512"/>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50" b="1" i="0">
                <a:solidFill>
                  <a:srgbClr val="FFFFFF"/>
                </a:solidFill>
                <a:latin typeface="Calibri"/>
              </a:rPr>
              <a:t>ResNet-18 [4]</a:t>
            </a:r>
          </a:p>
        </p:txBody>
      </p:sp>
      <p:sp>
        <p:nvSpPr>
          <p:cNvPr id="14" name="TextBox 13"/>
          <p:cNvSpPr txBox="1"/>
          <p:nvPr/>
        </p:nvSpPr>
        <p:spPr>
          <a:xfrm>
            <a:off x="978408" y="2395728"/>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He 2016</a:t>
            </a:r>
          </a:p>
        </p:txBody>
      </p:sp>
      <p:sp>
        <p:nvSpPr>
          <p:cNvPr id="15" name="TextBox 14"/>
          <p:cNvSpPr txBox="1"/>
          <p:nvPr/>
        </p:nvSpPr>
        <p:spPr>
          <a:xfrm>
            <a:off x="978408" y="2788920"/>
            <a:ext cx="2999232" cy="1463040"/>
          </a:xfrm>
          <a:prstGeom prst="rect">
            <a:avLst/>
          </a:prstGeom>
          <a:noFill/>
        </p:spPr>
        <p:txBody>
          <a:bodyPr wrap="square" anchor="t" lIns="0" rIns="0" tIns="0" bIns="0">
            <a:spAutoFit/>
          </a:bodyPr>
          <a:lstStyle/>
          <a:p>
            <a:pPr algn="l">
              <a:lnSpc>
                <a:spcPct val="118000"/>
              </a:lnSpc>
              <a:spcBef>
                <a:spcPts val="0"/>
              </a:spcBef>
              <a:spcAft>
                <a:spcPts val="400"/>
              </a:spcAft>
            </a:pPr>
            <a:r>
              <a:rPr sz="1300" b="0" i="0">
                <a:solidFill>
                  <a:srgbClr val="1B2A38"/>
                </a:solidFill>
                <a:latin typeface="Calibri"/>
              </a:rPr>
              <a:t>smallest residual net (BUSI is tiny) · fresh 3-way head · SGD fine-tune</a:t>
            </a:r>
          </a:p>
        </p:txBody>
      </p:sp>
      <p:sp>
        <p:nvSpPr>
          <p:cNvPr id="16" name="Rounded Rectangle 15"/>
          <p:cNvSpPr/>
          <p:nvPr/>
        </p:nvSpPr>
        <p:spPr>
          <a:xfrm>
            <a:off x="4398264" y="1737360"/>
            <a:ext cx="3401568" cy="26517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8264" y="1737360"/>
            <a:ext cx="3401568" cy="54864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05740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1810512"/>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50" b="1" i="0">
                <a:solidFill>
                  <a:srgbClr val="FFFFFF"/>
                </a:solidFill>
                <a:latin typeface="Calibri"/>
              </a:rPr>
              <a:t>DenseNet-121 [5]</a:t>
            </a:r>
          </a:p>
        </p:txBody>
      </p:sp>
      <p:sp>
        <p:nvSpPr>
          <p:cNvPr id="20" name="TextBox 19"/>
          <p:cNvSpPr txBox="1"/>
          <p:nvPr/>
        </p:nvSpPr>
        <p:spPr>
          <a:xfrm>
            <a:off x="4599431" y="2395728"/>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Huang 2017</a:t>
            </a:r>
          </a:p>
        </p:txBody>
      </p:sp>
      <p:sp>
        <p:nvSpPr>
          <p:cNvPr id="21" name="TextBox 20"/>
          <p:cNvSpPr txBox="1"/>
          <p:nvPr/>
        </p:nvSpPr>
        <p:spPr>
          <a:xfrm>
            <a:off x="4599431" y="2788920"/>
            <a:ext cx="2999232" cy="1463040"/>
          </a:xfrm>
          <a:prstGeom prst="rect">
            <a:avLst/>
          </a:prstGeom>
          <a:noFill/>
        </p:spPr>
        <p:txBody>
          <a:bodyPr wrap="square" anchor="t" lIns="0" rIns="0" tIns="0" bIns="0">
            <a:spAutoFit/>
          </a:bodyPr>
          <a:lstStyle/>
          <a:p>
            <a:pPr algn="l">
              <a:lnSpc>
                <a:spcPct val="118000"/>
              </a:lnSpc>
              <a:spcBef>
                <a:spcPts val="0"/>
              </a:spcBef>
              <a:spcAft>
                <a:spcPts val="400"/>
              </a:spcAft>
            </a:pPr>
            <a:r>
              <a:rPr sz="1300" b="0" i="0">
                <a:solidFill>
                  <a:srgbClr val="1B2A38"/>
                </a:solidFill>
                <a:latin typeface="Calibri"/>
              </a:rPr>
              <a:t>dense feature reuse · dropout + 3-way head · AdamW + early stop</a:t>
            </a:r>
          </a:p>
        </p:txBody>
      </p:sp>
      <p:sp>
        <p:nvSpPr>
          <p:cNvPr id="22" name="Rounded Rectangle 21"/>
          <p:cNvSpPr/>
          <p:nvPr/>
        </p:nvSpPr>
        <p:spPr>
          <a:xfrm>
            <a:off x="8019288" y="1737360"/>
            <a:ext cx="3401568" cy="26517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9288" y="1737360"/>
            <a:ext cx="3401568" cy="5486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205740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1810512"/>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50" b="1" i="0">
                <a:solidFill>
                  <a:srgbClr val="FFFFFF"/>
                </a:solidFill>
                <a:latin typeface="Calibri"/>
              </a:rPr>
              <a:t>EfficientNet-B0 [6]</a:t>
            </a:r>
          </a:p>
        </p:txBody>
      </p:sp>
      <p:sp>
        <p:nvSpPr>
          <p:cNvPr id="26" name="TextBox 25"/>
          <p:cNvSpPr txBox="1"/>
          <p:nvPr/>
        </p:nvSpPr>
        <p:spPr>
          <a:xfrm>
            <a:off x="8220456" y="2395728"/>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Tan &amp; Le 2019</a:t>
            </a:r>
          </a:p>
        </p:txBody>
      </p:sp>
      <p:sp>
        <p:nvSpPr>
          <p:cNvPr id="27" name="TextBox 26"/>
          <p:cNvSpPr txBox="1"/>
          <p:nvPr/>
        </p:nvSpPr>
        <p:spPr>
          <a:xfrm>
            <a:off x="8220456" y="2788920"/>
            <a:ext cx="2999232" cy="1463040"/>
          </a:xfrm>
          <a:prstGeom prst="rect">
            <a:avLst/>
          </a:prstGeom>
          <a:noFill/>
        </p:spPr>
        <p:txBody>
          <a:bodyPr wrap="square" anchor="t" lIns="0" rIns="0" tIns="0" bIns="0">
            <a:spAutoFit/>
          </a:bodyPr>
          <a:lstStyle/>
          <a:p>
            <a:pPr algn="l">
              <a:lnSpc>
                <a:spcPct val="118000"/>
              </a:lnSpc>
              <a:spcBef>
                <a:spcPts val="0"/>
              </a:spcBef>
              <a:spcAft>
                <a:spcPts val="400"/>
              </a:spcAft>
            </a:pPr>
            <a:r>
              <a:rPr sz="1300" b="0" i="0">
                <a:solidFill>
                  <a:srgbClr val="1B2A38"/>
                </a:solidFill>
                <a:latin typeface="Calibri"/>
              </a:rPr>
              <a:t>smallest compound-scaled variant · dropout + 3-way head · Adam</a:t>
            </a:r>
          </a:p>
        </p:txBody>
      </p:sp>
      <p:sp>
        <p:nvSpPr>
          <p:cNvPr id="28" name="Rounded Rectangle 27"/>
          <p:cNvSpPr/>
          <p:nvPr/>
        </p:nvSpPr>
        <p:spPr>
          <a:xfrm>
            <a:off x="777240" y="4709160"/>
            <a:ext cx="10634472" cy="1234440"/>
          </a:xfrm>
          <a:prstGeom prst="roundRect">
            <a:avLst/>
          </a:prstGeom>
          <a:solidFill>
            <a:srgbClr val="E6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864608"/>
            <a:ext cx="10149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Shared recipe</a:t>
            </a:r>
          </a:p>
        </p:txBody>
      </p:sp>
      <p:sp>
        <p:nvSpPr>
          <p:cNvPr id="30" name="TextBox 29"/>
          <p:cNvSpPr txBox="1"/>
          <p:nvPr/>
        </p:nvSpPr>
        <p:spPr>
          <a:xfrm>
            <a:off x="1005840" y="5230368"/>
            <a:ext cx="10149840" cy="64008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1B2A38"/>
                </a:solidFill>
                <a:latin typeface="Calibri"/>
              </a:rPr>
              <a:t>3-channel ImageNet-normalised 256×256 (grayscale→pseudo-RGB) · final layer replaced by a fresh 3-way head · </a:t>
            </a:r>
            <a:r>
              <a:rPr sz="1250" b="1" i="0">
                <a:solidFill>
                  <a:srgbClr val="E1595B"/>
                </a:solidFill>
                <a:latin typeface="Calibri"/>
              </a:rPr>
              <a:t>inverse-frequency weighted cross-entropy</a:t>
            </a:r>
            <a:r>
              <a:rPr sz="1250" b="0" i="0">
                <a:solidFill>
                  <a:srgbClr val="1B2A38"/>
                </a:solidFill>
                <a:latin typeface="Calibri"/>
              </a:rPr>
              <a:t> to counter class imbalance.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COMBINED</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Baseline combined models we reproduced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16</a:t>
            </a:r>
          </a:p>
        </p:txBody>
      </p:sp>
      <p:sp>
        <p:nvSpPr>
          <p:cNvPr id="10" name="TextBox 9"/>
          <p:cNvSpPr txBox="1"/>
          <p:nvPr/>
        </p:nvSpPr>
        <p:spPr>
          <a:xfrm>
            <a:off x="777240" y="150876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E4D64"/>
                </a:solidFill>
                <a:latin typeface="Calibri"/>
              </a:rPr>
              <a:t>Dual-stage [17] — segmentation-guided classification (sequential)</a:t>
            </a:r>
          </a:p>
        </p:txBody>
      </p:sp>
      <p:sp>
        <p:nvSpPr>
          <p:cNvPr id="11" name="Rounded Rectangle 10"/>
          <p:cNvSpPr/>
          <p:nvPr/>
        </p:nvSpPr>
        <p:spPr>
          <a:xfrm>
            <a:off x="822960" y="1965960"/>
            <a:ext cx="1783080" cy="1005840"/>
          </a:xfrm>
          <a:prstGeom prst="round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Input</a:t>
            </a:r>
          </a:p>
          <a:p>
            <a:pPr algn="ctr">
              <a:lnSpc>
                <a:spcPct val="100000"/>
              </a:lnSpc>
              <a:spcBef>
                <a:spcPts val="0"/>
              </a:spcBef>
              <a:spcAft>
                <a:spcPts val="400"/>
              </a:spcAft>
            </a:pPr>
            <a:r>
              <a:rPr sz="1100" b="0" i="0">
                <a:solidFill>
                  <a:srgbClr val="E8F1F4"/>
                </a:solidFill>
                <a:latin typeface="Calibri"/>
              </a:rPr>
              <a:t>image</a:t>
            </a:r>
          </a:p>
        </p:txBody>
      </p:sp>
      <p:sp>
        <p:nvSpPr>
          <p:cNvPr id="13" name="Right Arrow 12"/>
          <p:cNvSpPr/>
          <p:nvPr/>
        </p:nvSpPr>
        <p:spPr>
          <a:xfrm>
            <a:off x="2633472"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63240" y="1965960"/>
            <a:ext cx="1783080" cy="10058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DeepLabV3+</a:t>
            </a:r>
          </a:p>
          <a:p>
            <a:pPr algn="ctr">
              <a:lnSpc>
                <a:spcPct val="100000"/>
              </a:lnSpc>
              <a:spcBef>
                <a:spcPts val="0"/>
              </a:spcBef>
              <a:spcAft>
                <a:spcPts val="400"/>
              </a:spcAft>
            </a:pPr>
            <a:r>
              <a:rPr sz="1100" b="0" i="0">
                <a:solidFill>
                  <a:srgbClr val="E8F1F4"/>
                </a:solidFill>
                <a:latin typeface="Calibri"/>
              </a:rPr>
              <a:t>(segment)</a:t>
            </a:r>
          </a:p>
        </p:txBody>
      </p:sp>
      <p:sp>
        <p:nvSpPr>
          <p:cNvPr id="16" name="Right Arrow 15"/>
          <p:cNvSpPr/>
          <p:nvPr/>
        </p:nvSpPr>
        <p:spPr>
          <a:xfrm>
            <a:off x="4873752"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03520" y="1965960"/>
            <a:ext cx="1783080" cy="100584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ROI crop</a:t>
            </a:r>
          </a:p>
          <a:p>
            <a:pPr algn="ctr">
              <a:lnSpc>
                <a:spcPct val="100000"/>
              </a:lnSpc>
              <a:spcBef>
                <a:spcPts val="0"/>
              </a:spcBef>
              <a:spcAft>
                <a:spcPts val="400"/>
              </a:spcAft>
            </a:pPr>
            <a:r>
              <a:rPr sz="1100" b="0" i="0">
                <a:solidFill>
                  <a:srgbClr val="E8F1F4"/>
                </a:solidFill>
                <a:latin typeface="Calibri"/>
              </a:rPr>
              <a:t>(mask→bbox)</a:t>
            </a:r>
          </a:p>
        </p:txBody>
      </p:sp>
      <p:sp>
        <p:nvSpPr>
          <p:cNvPr id="19" name="Right Arrow 18"/>
          <p:cNvSpPr/>
          <p:nvPr/>
        </p:nvSpPr>
        <p:spPr>
          <a:xfrm>
            <a:off x="7114032"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43800" y="1965960"/>
            <a:ext cx="1783080" cy="100584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EfficientNet-B0</a:t>
            </a:r>
          </a:p>
          <a:p>
            <a:pPr algn="ctr">
              <a:lnSpc>
                <a:spcPct val="100000"/>
              </a:lnSpc>
              <a:spcBef>
                <a:spcPts val="0"/>
              </a:spcBef>
              <a:spcAft>
                <a:spcPts val="400"/>
              </a:spcAft>
            </a:pPr>
            <a:r>
              <a:rPr sz="1100" b="0" i="0">
                <a:solidFill>
                  <a:srgbClr val="E8F1F4"/>
                </a:solidFill>
                <a:latin typeface="Calibri"/>
              </a:rPr>
              <a:t>(classify)</a:t>
            </a:r>
          </a:p>
        </p:txBody>
      </p:sp>
      <p:sp>
        <p:nvSpPr>
          <p:cNvPr id="22" name="Right Arrow 21"/>
          <p:cNvSpPr/>
          <p:nvPr/>
        </p:nvSpPr>
        <p:spPr>
          <a:xfrm>
            <a:off x="9354311"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784080" y="1965960"/>
            <a:ext cx="1783080" cy="100584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Benign /</a:t>
            </a:r>
          </a:p>
          <a:p>
            <a:pPr algn="ctr">
              <a:lnSpc>
                <a:spcPct val="100000"/>
              </a:lnSpc>
              <a:spcBef>
                <a:spcPts val="0"/>
              </a:spcBef>
              <a:spcAft>
                <a:spcPts val="400"/>
              </a:spcAft>
            </a:pPr>
            <a:r>
              <a:rPr sz="1100" b="0" i="0">
                <a:solidFill>
                  <a:srgbClr val="E8F1F4"/>
                </a:solidFill>
                <a:latin typeface="Calibri"/>
              </a:rPr>
              <a:t>Malignant</a:t>
            </a:r>
          </a:p>
        </p:txBody>
      </p:sp>
      <p:sp>
        <p:nvSpPr>
          <p:cNvPr id="25" name="TextBox 24"/>
          <p:cNvSpPr txBox="1"/>
          <p:nvPr/>
        </p:nvSpPr>
        <p:spPr>
          <a:xfrm>
            <a:off x="777240" y="342900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E1595B"/>
                </a:solidFill>
                <a:latin typeface="Calibri"/>
              </a:rPr>
              <a:t>MTL-OCA [24] — multi-task, one shared backbone (joint)</a:t>
            </a:r>
          </a:p>
        </p:txBody>
      </p:sp>
      <p:sp>
        <p:nvSpPr>
          <p:cNvPr id="26" name="Rounded Rectangle 25"/>
          <p:cNvSpPr/>
          <p:nvPr/>
        </p:nvSpPr>
        <p:spPr>
          <a:xfrm>
            <a:off x="822960" y="3886200"/>
            <a:ext cx="10561320" cy="1965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97280" y="4206240"/>
            <a:ext cx="2286000" cy="132588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206240"/>
            <a:ext cx="2286000" cy="132588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Shared
Res-UNet
encoder</a:t>
            </a:r>
          </a:p>
        </p:txBody>
      </p:sp>
      <p:sp>
        <p:nvSpPr>
          <p:cNvPr id="29" name="Right Arrow 28"/>
          <p:cNvSpPr/>
          <p:nvPr/>
        </p:nvSpPr>
        <p:spPr>
          <a:xfrm>
            <a:off x="3429000" y="4370832"/>
            <a:ext cx="457200" cy="219456"/>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3429000" y="5074920"/>
            <a:ext cx="457200" cy="219456"/>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977639" y="4160520"/>
            <a:ext cx="3108960" cy="64008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77639" y="4160520"/>
            <a:ext cx="310896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Segmentation head (OCA attention)</a:t>
            </a:r>
          </a:p>
        </p:txBody>
      </p:sp>
      <p:sp>
        <p:nvSpPr>
          <p:cNvPr id="33" name="Rounded Rectangle 32"/>
          <p:cNvSpPr/>
          <p:nvPr/>
        </p:nvSpPr>
        <p:spPr>
          <a:xfrm>
            <a:off x="3977639" y="4937760"/>
            <a:ext cx="3108960" cy="64008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77639" y="4937760"/>
            <a:ext cx="310896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Classification head (3-way)</a:t>
            </a:r>
          </a:p>
        </p:txBody>
      </p:sp>
      <p:sp>
        <p:nvSpPr>
          <p:cNvPr id="35" name="TextBox 34"/>
          <p:cNvSpPr txBox="1"/>
          <p:nvPr/>
        </p:nvSpPr>
        <p:spPr>
          <a:xfrm>
            <a:off x="7406640" y="4160520"/>
            <a:ext cx="3749039" cy="1463040"/>
          </a:xfrm>
          <a:prstGeom prst="rect">
            <a:avLst/>
          </a:prstGeom>
          <a:noFill/>
        </p:spPr>
        <p:txBody>
          <a:bodyPr wrap="square" anchor="ctr" lIns="0" rIns="0" tIns="0" bIns="0">
            <a:spAutoFit/>
          </a:bodyPr>
          <a:lstStyle/>
          <a:p>
            <a:pPr algn="l">
              <a:lnSpc>
                <a:spcPct val="115000"/>
              </a:lnSpc>
              <a:spcBef>
                <a:spcPts val="0"/>
              </a:spcBef>
              <a:spcAft>
                <a:spcPts val="400"/>
              </a:spcAft>
            </a:pPr>
            <a:r>
              <a:rPr sz="1200" b="0" i="0">
                <a:solidFill>
                  <a:srgbClr val="1B2A38"/>
                </a:solidFill>
                <a:latin typeface="Calibri"/>
              </a:rPr>
              <a:t>Loss = 0.4·CE(soft) + CE(final) + CE(cls).</a:t>
            </a:r>
          </a:p>
          <a:p>
            <a:pPr algn="l">
              <a:lnSpc>
                <a:spcPct val="115000"/>
              </a:lnSpc>
              <a:spcBef>
                <a:spcPts val="0"/>
              </a:spcBef>
              <a:spcAft>
                <a:spcPts val="400"/>
              </a:spcAft>
            </a:pPr>
            <a:r>
              <a:rPr sz="1200" b="0" i="1">
                <a:solidFill>
                  <a:srgbClr val="45596B"/>
                </a:solidFill>
                <a:latin typeface="Calibri"/>
              </a:rPr>
              <a:t>Solves both tasks at once, but shares capacity — we'll see it underperforms specialists.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IMPROVEMENT — DESIGN DECISION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Which combined model do we improve — and why?</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17</a:t>
            </a:r>
          </a:p>
        </p:txBody>
      </p:sp>
      <p:sp>
        <p:nvSpPr>
          <p:cNvPr id="10" name="TextBox 9"/>
          <p:cNvSpPr txBox="1"/>
          <p:nvPr/>
        </p:nvSpPr>
        <p:spPr>
          <a:xfrm>
            <a:off x="777240" y="1463040"/>
            <a:ext cx="10607040" cy="411480"/>
          </a:xfrm>
          <a:prstGeom prst="rect">
            <a:avLst/>
          </a:prstGeom>
          <a:noFill/>
        </p:spPr>
        <p:txBody>
          <a:bodyPr wrap="square" anchor="t" lIns="0" rIns="0" tIns="0" bIns="0">
            <a:spAutoFit/>
          </a:bodyPr>
          <a:lstStyle/>
          <a:p>
            <a:pPr algn="l">
              <a:lnSpc>
                <a:spcPct val="105000"/>
              </a:lnSpc>
              <a:spcBef>
                <a:spcPts val="0"/>
              </a:spcBef>
              <a:spcAft>
                <a:spcPts val="400"/>
              </a:spcAft>
            </a:pPr>
            <a:r>
              <a:rPr sz="1350" b="0" i="0">
                <a:solidFill>
                  <a:srgbClr val="1B2A38"/>
                </a:solidFill>
                <a:latin typeface="Calibri"/>
              </a:rPr>
              <a:t>We reproduced both combined approaches — </a:t>
            </a:r>
            <a:r>
              <a:rPr sz="1350" b="1" i="0">
                <a:solidFill>
                  <a:srgbClr val="3AA655"/>
                </a:solidFill>
                <a:latin typeface="Calibri"/>
              </a:rPr>
              <a:t>sequential dual-stage [17]</a:t>
            </a:r>
            <a:r>
              <a:rPr sz="1350" b="0" i="0">
                <a:solidFill>
                  <a:srgbClr val="1B2A38"/>
                </a:solidFill>
                <a:latin typeface="Calibri"/>
              </a:rPr>
              <a:t> and </a:t>
            </a:r>
            <a:r>
              <a:rPr sz="1350" b="1" i="0">
                <a:solidFill>
                  <a:srgbClr val="E1595B"/>
                </a:solidFill>
                <a:latin typeface="Calibri"/>
              </a:rPr>
              <a:t>joint multi-task MTL-OCA [25]</a:t>
            </a:r>
            <a:r>
              <a:rPr sz="1350" b="0" i="0">
                <a:solidFill>
                  <a:srgbClr val="1B2A38"/>
                </a:solidFill>
                <a:latin typeface="Calibri"/>
              </a:rPr>
              <a:t>. We chose to optimise the dual-stage line. Here's the reasoning:</a:t>
            </a:r>
          </a:p>
        </p:txBody>
      </p:sp>
      <p:sp>
        <p:nvSpPr>
          <p:cNvPr id="11" name="Rounded Rectangle 10"/>
          <p:cNvSpPr/>
          <p:nvPr/>
        </p:nvSpPr>
        <p:spPr>
          <a:xfrm>
            <a:off x="777240" y="2057400"/>
            <a:ext cx="4709160" cy="39319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212848"/>
            <a:ext cx="42976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HEAD-TO-HEAD (our reproductions)</a:t>
            </a:r>
          </a:p>
        </p:txBody>
      </p:sp>
      <p:sp>
        <p:nvSpPr>
          <p:cNvPr id="13" name="TextBox 12"/>
          <p:cNvSpPr txBox="1"/>
          <p:nvPr/>
        </p:nvSpPr>
        <p:spPr>
          <a:xfrm>
            <a:off x="987552" y="2743200"/>
            <a:ext cx="429768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B2A38"/>
                </a:solidFill>
                <a:latin typeface="Calibri"/>
              </a:rPr>
              <a:t>Segmentation Dice</a:t>
            </a:r>
          </a:p>
        </p:txBody>
      </p:sp>
      <p:sp>
        <p:nvSpPr>
          <p:cNvPr id="14" name="TextBox 13"/>
          <p:cNvSpPr txBox="1"/>
          <p:nvPr/>
        </p:nvSpPr>
        <p:spPr>
          <a:xfrm>
            <a:off x="987552" y="303580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MTL-OCA</a:t>
            </a:r>
          </a:p>
        </p:txBody>
      </p:sp>
      <p:sp>
        <p:nvSpPr>
          <p:cNvPr id="15" name="Rectangle 14"/>
          <p:cNvSpPr/>
          <p:nvPr/>
        </p:nvSpPr>
        <p:spPr>
          <a:xfrm>
            <a:off x="2286000" y="305409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3054096"/>
            <a:ext cx="1454993" cy="173736"/>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1728" y="302666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0.612</a:t>
            </a:r>
          </a:p>
        </p:txBody>
      </p:sp>
      <p:sp>
        <p:nvSpPr>
          <p:cNvPr id="18" name="TextBox 17"/>
          <p:cNvSpPr txBox="1"/>
          <p:nvPr/>
        </p:nvSpPr>
        <p:spPr>
          <a:xfrm>
            <a:off x="987552" y="331012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dual-stage seg</a:t>
            </a:r>
          </a:p>
        </p:txBody>
      </p:sp>
      <p:sp>
        <p:nvSpPr>
          <p:cNvPr id="19" name="Rectangle 18"/>
          <p:cNvSpPr/>
          <p:nvPr/>
        </p:nvSpPr>
        <p:spPr>
          <a:xfrm>
            <a:off x="2286000" y="332841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0" y="3328416"/>
            <a:ext cx="1806854" cy="173736"/>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1728" y="330098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0.760</a:t>
            </a:r>
          </a:p>
        </p:txBody>
      </p:sp>
      <p:sp>
        <p:nvSpPr>
          <p:cNvPr id="22" name="TextBox 21"/>
          <p:cNvSpPr txBox="1"/>
          <p:nvPr/>
        </p:nvSpPr>
        <p:spPr>
          <a:xfrm>
            <a:off x="987552" y="3794760"/>
            <a:ext cx="429768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B2A38"/>
                </a:solidFill>
                <a:latin typeface="Calibri"/>
              </a:rPr>
              <a:t>Classification macro-F1</a:t>
            </a:r>
          </a:p>
        </p:txBody>
      </p:sp>
      <p:sp>
        <p:nvSpPr>
          <p:cNvPr id="23" name="TextBox 22"/>
          <p:cNvSpPr txBox="1"/>
          <p:nvPr/>
        </p:nvSpPr>
        <p:spPr>
          <a:xfrm>
            <a:off x="987552" y="408736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MTL-OCA</a:t>
            </a:r>
          </a:p>
        </p:txBody>
      </p:sp>
      <p:sp>
        <p:nvSpPr>
          <p:cNvPr id="24" name="Rectangle 23"/>
          <p:cNvSpPr/>
          <p:nvPr/>
        </p:nvSpPr>
        <p:spPr>
          <a:xfrm>
            <a:off x="2286000" y="410565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0" y="4105656"/>
            <a:ext cx="1711756" cy="173736"/>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1728" y="407822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0.720</a:t>
            </a:r>
          </a:p>
        </p:txBody>
      </p:sp>
      <p:sp>
        <p:nvSpPr>
          <p:cNvPr id="27" name="TextBox 26"/>
          <p:cNvSpPr txBox="1"/>
          <p:nvPr/>
        </p:nvSpPr>
        <p:spPr>
          <a:xfrm>
            <a:off x="987552" y="436168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specialist cls</a:t>
            </a:r>
          </a:p>
        </p:txBody>
      </p:sp>
      <p:sp>
        <p:nvSpPr>
          <p:cNvPr id="28" name="Rectangle 27"/>
          <p:cNvSpPr/>
          <p:nvPr/>
        </p:nvSpPr>
        <p:spPr>
          <a:xfrm>
            <a:off x="2286000" y="437997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286000" y="4379976"/>
            <a:ext cx="1968520" cy="173736"/>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81728" y="435254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0.828</a:t>
            </a:r>
          </a:p>
        </p:txBody>
      </p:sp>
      <p:sp>
        <p:nvSpPr>
          <p:cNvPr id="31" name="Rounded Rectangle 30"/>
          <p:cNvSpPr/>
          <p:nvPr/>
        </p:nvSpPr>
        <p:spPr>
          <a:xfrm>
            <a:off x="987552" y="4937760"/>
            <a:ext cx="4297680" cy="914400"/>
          </a:xfrm>
          <a:prstGeom prst="roundRect">
            <a:avLst/>
          </a:prstGeom>
          <a:solidFill>
            <a:srgbClr val="F3ECEC"/>
          </a:solidFill>
          <a:ln w="12700">
            <a:solidFill>
              <a:srgbClr val="E159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5029200"/>
            <a:ext cx="4023360" cy="777240"/>
          </a:xfrm>
          <a:prstGeom prst="rect">
            <a:avLst/>
          </a:prstGeom>
          <a:noFill/>
        </p:spPr>
        <p:txBody>
          <a:bodyPr wrap="square" anchor="ctr" lIns="0" rIns="0" tIns="0" bIns="0">
            <a:spAutoFit/>
          </a:bodyPr>
          <a:lstStyle/>
          <a:p>
            <a:pPr algn="l">
              <a:lnSpc>
                <a:spcPct val="105000"/>
              </a:lnSpc>
              <a:spcBef>
                <a:spcPts val="0"/>
              </a:spcBef>
              <a:spcAft>
                <a:spcPts val="400"/>
              </a:spcAft>
            </a:pPr>
            <a:r>
              <a:rPr sz="1150" b="0" i="0">
                <a:solidFill>
                  <a:srgbClr val="1B2A38"/>
                </a:solidFill>
                <a:latin typeface="Calibri"/>
              </a:rPr>
              <a:t>One shared backbone makes MTL-OCA underperform on </a:t>
            </a:r>
            <a:r>
              <a:rPr sz="1150" b="1" i="0">
                <a:solidFill>
                  <a:srgbClr val="E1595B"/>
                </a:solidFill>
                <a:latin typeface="Calibri"/>
              </a:rPr>
              <a:t>both</a:t>
            </a:r>
            <a:r>
              <a:rPr sz="1150" b="0" i="0">
                <a:solidFill>
                  <a:srgbClr val="1B2A38"/>
                </a:solidFill>
                <a:latin typeface="Calibri"/>
              </a:rPr>
              <a:t> tasks. Dual-stage instead plugs in our </a:t>
            </a:r>
            <a:r>
              <a:rPr sz="1150" b="1" i="0">
                <a:solidFill>
                  <a:srgbClr val="3AA655"/>
                </a:solidFill>
                <a:latin typeface="Calibri"/>
              </a:rPr>
              <a:t>best specialists</a:t>
            </a:r>
            <a:r>
              <a:rPr sz="1150" b="0" i="0">
                <a:solidFill>
                  <a:srgbClr val="1B2A38"/>
                </a:solidFill>
                <a:latin typeface="Calibri"/>
              </a:rPr>
              <a:t>.</a:t>
            </a:r>
          </a:p>
        </p:txBody>
      </p:sp>
      <p:sp>
        <p:nvSpPr>
          <p:cNvPr id="33" name="Rounded Rectangle 32"/>
          <p:cNvSpPr/>
          <p:nvPr/>
        </p:nvSpPr>
        <p:spPr>
          <a:xfrm>
            <a:off x="5715000" y="20574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715000" y="2057400"/>
            <a:ext cx="2743200" cy="73152"/>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79592" y="22037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1F8AA6"/>
                </a:solidFill>
                <a:latin typeface="Calibri"/>
              </a:rPr>
              <a:t>① Modular &amp; swappable</a:t>
            </a:r>
          </a:p>
        </p:txBody>
      </p:sp>
      <p:sp>
        <p:nvSpPr>
          <p:cNvPr id="36" name="TextBox 35"/>
          <p:cNvSpPr txBox="1"/>
          <p:nvPr/>
        </p:nvSpPr>
        <p:spPr>
          <a:xfrm>
            <a:off x="5879592" y="25877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improve Stage 1 (segmenter) and Stage 2 (classifier) independently.</a:t>
            </a:r>
          </a:p>
        </p:txBody>
      </p:sp>
      <p:sp>
        <p:nvSpPr>
          <p:cNvPr id="37" name="Rounded Rectangle 36"/>
          <p:cNvSpPr/>
          <p:nvPr/>
        </p:nvSpPr>
        <p:spPr>
          <a:xfrm>
            <a:off x="8668512" y="20574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668512" y="2057400"/>
            <a:ext cx="2743200" cy="73152"/>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33104" y="22037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3AA655"/>
                </a:solidFill>
                <a:latin typeface="Calibri"/>
              </a:rPr>
              <a:t>② Controlled science</a:t>
            </a:r>
          </a:p>
        </p:txBody>
      </p:sp>
      <p:sp>
        <p:nvSpPr>
          <p:cNvPr id="40" name="TextBox 39"/>
          <p:cNvSpPr txBox="1"/>
          <p:nvPr/>
        </p:nvSpPr>
        <p:spPr>
          <a:xfrm>
            <a:off x="8833104" y="25877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fix Stage 2 byte-for-byte, swap Stage 1 → isolate the segmenter's effect (impossible in a joint net).</a:t>
            </a:r>
          </a:p>
        </p:txBody>
      </p:sp>
      <p:sp>
        <p:nvSpPr>
          <p:cNvPr id="41" name="Rounded Rectangle 40"/>
          <p:cNvSpPr/>
          <p:nvPr/>
        </p:nvSpPr>
        <p:spPr>
          <a:xfrm>
            <a:off x="5715000" y="36576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715000" y="3657600"/>
            <a:ext cx="2743200" cy="73152"/>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79592" y="38039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E4D64"/>
                </a:solidFill>
                <a:latin typeface="Calibri"/>
              </a:rPr>
              <a:t>③ Best-of-breed reuse</a:t>
            </a:r>
          </a:p>
        </p:txBody>
      </p:sp>
      <p:sp>
        <p:nvSpPr>
          <p:cNvPr id="44" name="TextBox 43"/>
          <p:cNvSpPr txBox="1"/>
          <p:nvPr/>
        </p:nvSpPr>
        <p:spPr>
          <a:xfrm>
            <a:off x="5879592" y="41879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plug in our strongest segmenter + strongest classifier; gains compound.</a:t>
            </a:r>
          </a:p>
        </p:txBody>
      </p:sp>
      <p:sp>
        <p:nvSpPr>
          <p:cNvPr id="45" name="Rounded Rectangle 44"/>
          <p:cNvSpPr/>
          <p:nvPr/>
        </p:nvSpPr>
        <p:spPr>
          <a:xfrm>
            <a:off x="8668512" y="36576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668512" y="3657600"/>
            <a:ext cx="2743200" cy="73152"/>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33104" y="38039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8A33D"/>
                </a:solidFill>
                <a:latin typeface="Calibri"/>
              </a:rPr>
              <a:t>④ Clinical interpretability</a:t>
            </a:r>
          </a:p>
        </p:txBody>
      </p:sp>
      <p:sp>
        <p:nvSpPr>
          <p:cNvPr id="48" name="TextBox 47"/>
          <p:cNvSpPr txBox="1"/>
          <p:nvPr/>
        </p:nvSpPr>
        <p:spPr>
          <a:xfrm>
            <a:off x="8833104" y="41879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explicit lesion mask + ROI shows the radiologist *where* — not just a label.</a:t>
            </a:r>
          </a:p>
        </p:txBody>
      </p:sp>
      <p:sp>
        <p:nvSpPr>
          <p:cNvPr id="49" name="Rounded Rectangle 48"/>
          <p:cNvSpPr/>
          <p:nvPr/>
        </p:nvSpPr>
        <p:spPr>
          <a:xfrm>
            <a:off x="5715000" y="4937760"/>
            <a:ext cx="5696712" cy="91440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0" y="4937760"/>
            <a:ext cx="5303520" cy="914400"/>
          </a:xfrm>
          <a:prstGeom prst="rect">
            <a:avLst/>
          </a:prstGeom>
          <a:noFill/>
        </p:spPr>
        <p:txBody>
          <a:bodyPr wrap="square" anchor="ctr" lIns="0" rIns="0" tIns="0" bIns="0">
            <a:spAutoFit/>
          </a:bodyPr>
          <a:lstStyle/>
          <a:p>
            <a:pPr algn="l">
              <a:lnSpc>
                <a:spcPct val="115000"/>
              </a:lnSpc>
              <a:spcBef>
                <a:spcPts val="0"/>
              </a:spcBef>
              <a:spcAft>
                <a:spcPts val="300"/>
              </a:spcAft>
            </a:pPr>
            <a:r>
              <a:rPr sz="1350" b="1" i="0">
                <a:solidFill>
                  <a:srgbClr val="E8A33D"/>
                </a:solidFill>
                <a:latin typeface="Calibri"/>
              </a:rPr>
              <a:t>Decision:</a:t>
            </a:r>
            <a:r>
              <a:rPr sz="1350" b="1" i="0">
                <a:solidFill>
                  <a:srgbClr val="FFFFFF"/>
                </a:solidFill>
                <a:latin typeface="Calibri"/>
              </a:rPr>
              <a:t> extend &amp; rigorously evaluate the dual-stage pipeline.</a:t>
            </a:r>
          </a:p>
          <a:p>
            <a:pPr algn="l">
              <a:lnSpc>
                <a:spcPct val="115000"/>
              </a:lnSpc>
              <a:spcBef>
                <a:spcPts val="0"/>
              </a:spcBef>
              <a:spcAft>
                <a:spcPts val="300"/>
              </a:spcAft>
            </a:pPr>
            <a:r>
              <a:rPr sz="1200" b="0" i="0">
                <a:solidFill>
                  <a:srgbClr val="CFE6EC"/>
                </a:solidFill>
                <a:latin typeface="Calibri"/>
              </a:rPr>
              <a:t>Stage 1 = our improved segmenter · Stage 2 = strengthened classifier.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IMPROVEMENT</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Improved segmenter: transfer learning first</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18</a:t>
            </a:r>
          </a:p>
        </p:txBody>
      </p:sp>
      <p:sp>
        <p:nvSpPr>
          <p:cNvPr id="10" name="TextBox 9"/>
          <p:cNvSpPr txBox="1"/>
          <p:nvPr/>
        </p:nvSpPr>
        <p:spPr>
          <a:xfrm>
            <a:off x="777240" y="1481328"/>
            <a:ext cx="10607040" cy="411480"/>
          </a:xfrm>
          <a:prstGeom prst="rect">
            <a:avLst/>
          </a:prstGeom>
          <a:noFill/>
        </p:spPr>
        <p:txBody>
          <a:bodyPr wrap="square" anchor="t" lIns="0" rIns="0" tIns="0" bIns="0">
            <a:spAutoFit/>
          </a:bodyPr>
          <a:lstStyle/>
          <a:p>
            <a:pPr algn="l">
              <a:lnSpc>
                <a:spcPct val="105000"/>
              </a:lnSpc>
              <a:spcBef>
                <a:spcPts val="0"/>
              </a:spcBef>
              <a:spcAft>
                <a:spcPts val="400"/>
              </a:spcAft>
            </a:pPr>
            <a:r>
              <a:rPr sz="1350" b="1" i="0">
                <a:solidFill>
                  <a:srgbClr val="E1595B"/>
                </a:solidFill>
                <a:latin typeface="Calibri"/>
              </a:rPr>
              <a:t>Insight from baselines: </a:t>
            </a:r>
            <a:r>
              <a:rPr sz="1350" b="0" i="0">
                <a:solidFill>
                  <a:srgbClr val="1B2A38"/>
                </a:solidFill>
                <a:latin typeface="Calibri"/>
              </a:rPr>
              <a:t>the only nets that used transfer learning (DeepLabV3+) beat the from-scratch ones. So we build a pretrained-encoder U-Net.</a:t>
            </a:r>
          </a:p>
        </p:txBody>
      </p:sp>
      <p:sp>
        <p:nvSpPr>
          <p:cNvPr id="11" name="Rounded Rectangle 10"/>
          <p:cNvSpPr/>
          <p:nvPr/>
        </p:nvSpPr>
        <p:spPr>
          <a:xfrm>
            <a:off x="777240" y="2103120"/>
            <a:ext cx="3401568" cy="22860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103120"/>
            <a:ext cx="3401568" cy="914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286000"/>
            <a:ext cx="3017520" cy="64008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① Pretrained EffB4 encoder</a:t>
            </a:r>
          </a:p>
        </p:txBody>
      </p:sp>
      <p:sp>
        <p:nvSpPr>
          <p:cNvPr id="14" name="TextBox 13"/>
          <p:cNvSpPr txBox="1"/>
          <p:nvPr/>
        </p:nvSpPr>
        <p:spPr>
          <a:xfrm>
            <a:off x="978408" y="2971800"/>
            <a:ext cx="3017520"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ImageNet EfficientNet-B4 encoder + U-Net decoder (via smp).</a:t>
            </a:r>
          </a:p>
        </p:txBody>
      </p:sp>
      <p:sp>
        <p:nvSpPr>
          <p:cNvPr id="15" name="Rounded Rectangle 14"/>
          <p:cNvSpPr/>
          <p:nvPr/>
        </p:nvSpPr>
        <p:spPr>
          <a:xfrm>
            <a:off x="978408" y="3977639"/>
            <a:ext cx="2999232" cy="310896"/>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977639"/>
            <a:ext cx="2999232"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the decisive ingredient</a:t>
            </a:r>
          </a:p>
        </p:txBody>
      </p:sp>
      <p:sp>
        <p:nvSpPr>
          <p:cNvPr id="17" name="Rounded Rectangle 16"/>
          <p:cNvSpPr/>
          <p:nvPr/>
        </p:nvSpPr>
        <p:spPr>
          <a:xfrm>
            <a:off x="4398264" y="2103120"/>
            <a:ext cx="3401568" cy="22860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98264" y="2103120"/>
            <a:ext cx="3401568" cy="9144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2286000"/>
            <a:ext cx="3017520" cy="64008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② Focal Tversky + BCE loss</a:t>
            </a:r>
          </a:p>
        </p:txBody>
      </p:sp>
      <p:sp>
        <p:nvSpPr>
          <p:cNvPr id="20" name="TextBox 19"/>
          <p:cNvSpPr txBox="1"/>
          <p:nvPr/>
        </p:nvSpPr>
        <p:spPr>
          <a:xfrm>
            <a:off x="4599431" y="2971800"/>
            <a:ext cx="3017520"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penalises false negatives to attack the missed-lesion tail.</a:t>
            </a:r>
          </a:p>
        </p:txBody>
      </p:sp>
      <p:sp>
        <p:nvSpPr>
          <p:cNvPr id="21" name="Rounded Rectangle 20"/>
          <p:cNvSpPr/>
          <p:nvPr/>
        </p:nvSpPr>
        <p:spPr>
          <a:xfrm>
            <a:off x="4599431" y="3977639"/>
            <a:ext cx="2999232" cy="310896"/>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1" y="3977639"/>
            <a:ext cx="2999232"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trades precision↔recall</a:t>
            </a:r>
          </a:p>
        </p:txBody>
      </p:sp>
      <p:sp>
        <p:nvSpPr>
          <p:cNvPr id="23" name="Rounded Rectangle 22"/>
          <p:cNvSpPr/>
          <p:nvPr/>
        </p:nvSpPr>
        <p:spPr>
          <a:xfrm>
            <a:off x="8019288" y="2103120"/>
            <a:ext cx="3401568" cy="22860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19288" y="2103120"/>
            <a:ext cx="3401568" cy="91440"/>
          </a:xfrm>
          <a:prstGeom prst="round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2286000"/>
            <a:ext cx="3017520" cy="64008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③ TTA + post-processing</a:t>
            </a:r>
          </a:p>
        </p:txBody>
      </p:sp>
      <p:sp>
        <p:nvSpPr>
          <p:cNvPr id="26" name="TextBox 25"/>
          <p:cNvSpPr txBox="1"/>
          <p:nvPr/>
        </p:nvSpPr>
        <p:spPr>
          <a:xfrm>
            <a:off x="8220456" y="2971800"/>
            <a:ext cx="3017520"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flip/multi-scale test-time aug + largest-connected-component.</a:t>
            </a:r>
          </a:p>
        </p:txBody>
      </p:sp>
      <p:sp>
        <p:nvSpPr>
          <p:cNvPr id="27" name="Rounded Rectangle 26"/>
          <p:cNvSpPr/>
          <p:nvPr/>
        </p:nvSpPr>
        <p:spPr>
          <a:xfrm>
            <a:off x="8220456" y="3977639"/>
            <a:ext cx="2999232" cy="310896"/>
          </a:xfrm>
          <a:prstGeom prst="round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0456" y="3977639"/>
            <a:ext cx="2999232"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no Dice gain here</a:t>
            </a:r>
          </a:p>
        </p:txBody>
      </p:sp>
      <p:pic>
        <p:nvPicPr>
          <p:cNvPr id="29" name="Picture 28" descr="Improved_PretrainedUNet_EffB4_examples.png"/>
          <p:cNvPicPr>
            <a:picLocks noChangeAspect="1"/>
          </p:cNvPicPr>
          <p:nvPr/>
        </p:nvPicPr>
        <p:blipFill>
          <a:blip r:embed="rId2"/>
          <a:stretch>
            <a:fillRect/>
          </a:stretch>
        </p:blipFill>
        <p:spPr>
          <a:xfrm>
            <a:off x="2400300" y="4572000"/>
            <a:ext cx="685800" cy="1371600"/>
          </a:xfrm>
          <a:prstGeom prst="rect">
            <a:avLst/>
          </a:prstGeom>
          <a:ln w="9525">
            <a:solidFill>
              <a:srgbClr val="CBD8DE"/>
            </a:solidFill>
          </a:ln>
        </p:spPr>
      </p:pic>
      <p:sp>
        <p:nvSpPr>
          <p:cNvPr id="30" name="Rounded Rectangle 29"/>
          <p:cNvSpPr/>
          <p:nvPr/>
        </p:nvSpPr>
        <p:spPr>
          <a:xfrm>
            <a:off x="4937760" y="4572000"/>
            <a:ext cx="6492240" cy="1371600"/>
          </a:xfrm>
          <a:prstGeom prst="roundRect">
            <a:avLst/>
          </a:prstGeom>
          <a:solidFill>
            <a:srgbClr val="E6EFF2"/>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4709160"/>
            <a:ext cx="60350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E4D64"/>
                </a:solidFill>
                <a:latin typeface="Calibri"/>
              </a:rPr>
              <a:t>Every idea is tested in a controlled ablation →</a:t>
            </a:r>
          </a:p>
        </p:txBody>
      </p:sp>
      <p:sp>
        <p:nvSpPr>
          <p:cNvPr id="32" name="TextBox 31"/>
          <p:cNvSpPr txBox="1"/>
          <p:nvPr/>
        </p:nvSpPr>
        <p:spPr>
          <a:xfrm>
            <a:off x="5166360" y="5074920"/>
            <a:ext cx="6035040" cy="822960"/>
          </a:xfrm>
          <a:prstGeom prst="rect">
            <a:avLst/>
          </a:prstGeom>
          <a:noFill/>
        </p:spPr>
        <p:txBody>
          <a:bodyPr wrap="square" anchor="t" lIns="0" rIns="0" tIns="0" bIns="0">
            <a:spAutoFit/>
          </a:bodyPr>
          <a:lstStyle/>
          <a:p>
            <a:pPr algn="l">
              <a:lnSpc>
                <a:spcPct val="112000"/>
              </a:lnSpc>
              <a:spcBef>
                <a:spcPts val="0"/>
              </a:spcBef>
              <a:spcAft>
                <a:spcPts val="400"/>
              </a:spcAft>
            </a:pPr>
            <a:r>
              <a:rPr sz="1250" b="0" i="0">
                <a:solidFill>
                  <a:srgbClr val="1B2A38"/>
                </a:solidFill>
                <a:latin typeface="Calibri"/>
              </a:rPr>
              <a:t>We add one component at a time and measure test Dice, so we can attribute the gain precisely — not just claim it. </a:t>
            </a:r>
            <a:r>
              <a:rPr sz="1250" b="1" i="0">
                <a:solidFill>
                  <a:srgbClr val="E1595B"/>
                </a:solidFill>
                <a:latin typeface="Calibri"/>
              </a:rPr>
              <a:t>(Result on next slide.)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ABLATION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What actually makes the segmenter work?</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19</a:t>
            </a:r>
          </a:p>
        </p:txBody>
      </p:sp>
      <p:graphicFrame>
        <p:nvGraphicFramePr>
          <p:cNvPr id="10" name="Table 9"/>
          <p:cNvGraphicFramePr>
            <a:graphicFrameLocks noGrp="1"/>
          </p:cNvGraphicFramePr>
          <p:nvPr/>
        </p:nvGraphicFramePr>
        <p:xfrm>
          <a:off x="777240" y="1783080"/>
          <a:ext cx="6766560" cy="2468880"/>
        </p:xfrm>
        <a:graphic>
          <a:graphicData uri="http://schemas.openxmlformats.org/drawingml/2006/table">
            <a:tbl>
              <a:tblPr>
                <a:tableStyleId>{5C22544A-7EE6-4342-B048-85BDC9FD1C3A}</a:tableStyleId>
              </a:tblPr>
              <a:tblGrid>
                <a:gridCol w="3200400"/>
                <a:gridCol w="1188720"/>
                <a:gridCol w="1188720"/>
                <a:gridCol w="1188720"/>
              </a:tblGrid>
              <a:tr h="457200">
                <a:tc>
                  <a:txBody>
                    <a:bodyPr wrap="square"/>
                    <a:lstStyle/>
                    <a:p>
                      <a:pPr algn="l"/>
                      <a:r>
                        <a:rPr sz="1250" b="1">
                          <a:solidFill>
                            <a:srgbClr val="FFFFFF"/>
                          </a:solidFill>
                          <a:latin typeface="Calibri"/>
                        </a:rPr>
                        <a:t>Configuration (add one component each row)</a:t>
                      </a:r>
                    </a:p>
                  </a:txBody>
                  <a:tcPr marL="64008" marR="45720" marT="18288" marB="18288" anchor="ctr">
                    <a:solidFill>
                      <a:srgbClr val="0E4D64"/>
                    </a:solidFill>
                  </a:tcPr>
                </a:tc>
                <a:tc>
                  <a:txBody>
                    <a:bodyPr wrap="square"/>
                    <a:lstStyle/>
                    <a:p>
                      <a:pPr algn="ctr"/>
                      <a:r>
                        <a:rPr sz="1250" b="1">
                          <a:solidFill>
                            <a:srgbClr val="FFFFFF"/>
                          </a:solidFill>
                          <a:latin typeface="Calibri"/>
                        </a:rPr>
                        <a:t>Dice</a:t>
                      </a:r>
                    </a:p>
                  </a:txBody>
                  <a:tcPr marL="64008" marR="45720" marT="18288" marB="18288" anchor="ctr">
                    <a:solidFill>
                      <a:srgbClr val="0E4D64"/>
                    </a:solidFill>
                  </a:tcPr>
                </a:tc>
                <a:tc>
                  <a:txBody>
                    <a:bodyPr wrap="square"/>
                    <a:lstStyle/>
                    <a:p>
                      <a:pPr algn="ctr"/>
                      <a:r>
                        <a:rPr sz="1250" b="1">
                          <a:solidFill>
                            <a:srgbClr val="FFFFFF"/>
                          </a:solidFill>
                          <a:latin typeface="Calibri"/>
                        </a:rPr>
                        <a:t>Dice std</a:t>
                      </a:r>
                    </a:p>
                  </a:txBody>
                  <a:tcPr marL="64008" marR="45720" marT="18288" marB="18288" anchor="ctr">
                    <a:solidFill>
                      <a:srgbClr val="0E4D64"/>
                    </a:solidFill>
                  </a:tcPr>
                </a:tc>
                <a:tc>
                  <a:txBody>
                    <a:bodyPr wrap="square"/>
                    <a:lstStyle/>
                    <a:p>
                      <a:pPr algn="ctr"/>
                      <a:r>
                        <a:rPr sz="1250" b="1">
                          <a:solidFill>
                            <a:srgbClr val="FFFFFF"/>
                          </a:solidFill>
                          <a:latin typeface="Calibri"/>
                        </a:rPr>
                        <a:t>pixel recall</a:t>
                      </a:r>
                    </a:p>
                  </a:txBody>
                  <a:tcPr marL="64008" marR="45720" marT="18288" marB="18288" anchor="ctr">
                    <a:solidFill>
                      <a:srgbClr val="0E4D64"/>
                    </a:solidFill>
                  </a:tcPr>
                </a:tc>
              </a:tr>
              <a:tr h="502920">
                <a:tc>
                  <a:txBody>
                    <a:bodyPr wrap="square"/>
                    <a:lstStyle/>
                    <a:p>
                      <a:pPr algn="l"/>
                      <a:r>
                        <a:rPr sz="1250" b="0">
                          <a:solidFill>
                            <a:srgbClr val="1B2A38"/>
                          </a:solidFill>
                          <a:latin typeface="Calibri"/>
                        </a:rPr>
                        <a:t>From-scratch U-Net (Dice+BCE)</a:t>
                      </a:r>
                    </a:p>
                  </a:txBody>
                  <a:tcPr marL="64008" marR="45720" marT="18288" marB="18288" anchor="ctr">
                    <a:solidFill>
                      <a:srgbClr val="FFFFFF"/>
                    </a:solidFill>
                  </a:tcPr>
                </a:tc>
                <a:tc>
                  <a:txBody>
                    <a:bodyPr wrap="square"/>
                    <a:lstStyle/>
                    <a:p>
                      <a:pPr algn="ctr"/>
                      <a:r>
                        <a:rPr sz="1250" b="0">
                          <a:solidFill>
                            <a:srgbClr val="1B2A38"/>
                          </a:solidFill>
                          <a:latin typeface="Calibri"/>
                        </a:rPr>
                        <a:t>0.648</a:t>
                      </a:r>
                    </a:p>
                  </a:txBody>
                  <a:tcPr marL="64008" marR="45720" marT="18288" marB="18288" anchor="ctr">
                    <a:solidFill>
                      <a:srgbClr val="FFFFFF"/>
                    </a:solidFill>
                  </a:tcPr>
                </a:tc>
                <a:tc>
                  <a:txBody>
                    <a:bodyPr wrap="square"/>
                    <a:lstStyle/>
                    <a:p>
                      <a:pPr algn="ctr"/>
                      <a:r>
                        <a:rPr sz="1250" b="0">
                          <a:solidFill>
                            <a:srgbClr val="1B2A38"/>
                          </a:solidFill>
                          <a:latin typeface="Calibri"/>
                        </a:rPr>
                        <a:t>0.362</a:t>
                      </a:r>
                    </a:p>
                  </a:txBody>
                  <a:tcPr marL="64008" marR="45720" marT="18288" marB="18288" anchor="ctr">
                    <a:solidFill>
                      <a:srgbClr val="FFFFFF"/>
                    </a:solidFill>
                  </a:tcPr>
                </a:tc>
                <a:tc>
                  <a:txBody>
                    <a:bodyPr wrap="square"/>
                    <a:lstStyle/>
                    <a:p>
                      <a:pPr algn="ctr"/>
                      <a:r>
                        <a:rPr sz="1250" b="0">
                          <a:solidFill>
                            <a:srgbClr val="1B2A38"/>
                          </a:solidFill>
                          <a:latin typeface="Calibri"/>
                        </a:rPr>
                        <a:t>0.637</a:t>
                      </a:r>
                    </a:p>
                  </a:txBody>
                  <a:tcPr marL="64008" marR="45720" marT="18288" marB="18288" anchor="ctr">
                    <a:solidFill>
                      <a:srgbClr val="FFFFFF"/>
                    </a:solidFill>
                  </a:tcPr>
                </a:tc>
              </a:tr>
              <a:tr h="502920">
                <a:tc>
                  <a:txBody>
                    <a:bodyPr wrap="square"/>
                    <a:lstStyle/>
                    <a:p>
                      <a:pPr algn="l"/>
                      <a:r>
                        <a:rPr sz="1250" b="1">
                          <a:solidFill>
                            <a:srgbClr val="1B2A38"/>
                          </a:solidFill>
                          <a:latin typeface="Calibri"/>
                        </a:rPr>
                        <a:t>+ ImageNet-pretrained EffB4 encoder</a:t>
                      </a:r>
                    </a:p>
                  </a:txBody>
                  <a:tcPr marL="64008" marR="45720" marT="18288" marB="18288" anchor="ctr">
                    <a:solidFill>
                      <a:srgbClr val="FFF3D6"/>
                    </a:solidFill>
                  </a:tcPr>
                </a:tc>
                <a:tc>
                  <a:txBody>
                    <a:bodyPr wrap="square"/>
                    <a:lstStyle/>
                    <a:p>
                      <a:pPr algn="ctr"/>
                      <a:r>
                        <a:rPr sz="1250" b="1">
                          <a:solidFill>
                            <a:srgbClr val="1B2A38"/>
                          </a:solidFill>
                          <a:latin typeface="Calibri"/>
                        </a:rPr>
                        <a:t>0.765</a:t>
                      </a:r>
                    </a:p>
                  </a:txBody>
                  <a:tcPr marL="64008" marR="45720" marT="18288" marB="18288" anchor="ctr">
                    <a:solidFill>
                      <a:srgbClr val="FFF3D6"/>
                    </a:solidFill>
                  </a:tcPr>
                </a:tc>
                <a:tc>
                  <a:txBody>
                    <a:bodyPr wrap="square"/>
                    <a:lstStyle/>
                    <a:p>
                      <a:pPr algn="ctr"/>
                      <a:r>
                        <a:rPr sz="1250" b="1">
                          <a:solidFill>
                            <a:srgbClr val="1B2A38"/>
                          </a:solidFill>
                          <a:latin typeface="Calibri"/>
                        </a:rPr>
                        <a:t>0.285</a:t>
                      </a:r>
                    </a:p>
                  </a:txBody>
                  <a:tcPr marL="64008" marR="45720" marT="18288" marB="18288" anchor="ctr">
                    <a:solidFill>
                      <a:srgbClr val="FFF3D6"/>
                    </a:solidFill>
                  </a:tcPr>
                </a:tc>
                <a:tc>
                  <a:txBody>
                    <a:bodyPr wrap="square"/>
                    <a:lstStyle/>
                    <a:p>
                      <a:pPr algn="ctr"/>
                      <a:r>
                        <a:rPr sz="1250" b="1">
                          <a:solidFill>
                            <a:srgbClr val="1B2A38"/>
                          </a:solidFill>
                          <a:latin typeface="Calibri"/>
                        </a:rPr>
                        <a:t>0.763</a:t>
                      </a:r>
                    </a:p>
                  </a:txBody>
                  <a:tcPr marL="64008" marR="45720" marT="18288" marB="18288" anchor="ctr">
                    <a:solidFill>
                      <a:srgbClr val="FFF3D6"/>
                    </a:solidFill>
                  </a:tcPr>
                </a:tc>
              </a:tr>
              <a:tr h="502920">
                <a:tc>
                  <a:txBody>
                    <a:bodyPr wrap="square"/>
                    <a:lstStyle/>
                    <a:p>
                      <a:pPr algn="l"/>
                      <a:r>
                        <a:rPr sz="1250" b="0">
                          <a:solidFill>
                            <a:srgbClr val="1B2A38"/>
                          </a:solidFill>
                          <a:latin typeface="Calibri"/>
                        </a:rPr>
                        <a:t>+ Focal Tversky loss</a:t>
                      </a:r>
                    </a:p>
                  </a:txBody>
                  <a:tcPr marL="64008" marR="45720" marT="18288" marB="18288" anchor="ctr">
                    <a:solidFill>
                      <a:srgbClr val="FFFFFF"/>
                    </a:solidFill>
                  </a:tcPr>
                </a:tc>
                <a:tc>
                  <a:txBody>
                    <a:bodyPr wrap="square"/>
                    <a:lstStyle/>
                    <a:p>
                      <a:pPr algn="ctr"/>
                      <a:r>
                        <a:rPr sz="1250" b="0">
                          <a:solidFill>
                            <a:srgbClr val="1B2A38"/>
                          </a:solidFill>
                          <a:latin typeface="Calibri"/>
                        </a:rPr>
                        <a:t>0.760</a:t>
                      </a:r>
                    </a:p>
                  </a:txBody>
                  <a:tcPr marL="64008" marR="45720" marT="18288" marB="18288" anchor="ctr">
                    <a:solidFill>
                      <a:srgbClr val="FFFFFF"/>
                    </a:solidFill>
                  </a:tcPr>
                </a:tc>
                <a:tc>
                  <a:txBody>
                    <a:bodyPr wrap="square"/>
                    <a:lstStyle/>
                    <a:p>
                      <a:pPr algn="ctr"/>
                      <a:r>
                        <a:rPr sz="1250" b="0">
                          <a:solidFill>
                            <a:srgbClr val="1B2A38"/>
                          </a:solidFill>
                          <a:latin typeface="Calibri"/>
                        </a:rPr>
                        <a:t>0.282</a:t>
                      </a:r>
                    </a:p>
                  </a:txBody>
                  <a:tcPr marL="64008" marR="45720" marT="18288" marB="18288" anchor="ctr">
                    <a:solidFill>
                      <a:srgbClr val="FFFFFF"/>
                    </a:solidFill>
                  </a:tcPr>
                </a:tc>
                <a:tc>
                  <a:txBody>
                    <a:bodyPr wrap="square"/>
                    <a:lstStyle/>
                    <a:p>
                      <a:pPr algn="ctr"/>
                      <a:r>
                        <a:rPr sz="1250" b="0">
                          <a:solidFill>
                            <a:srgbClr val="1B2A38"/>
                          </a:solidFill>
                          <a:latin typeface="Calibri"/>
                        </a:rPr>
                        <a:t>0.800</a:t>
                      </a:r>
                    </a:p>
                  </a:txBody>
                  <a:tcPr marL="64008" marR="45720" marT="18288" marB="18288" anchor="ctr">
                    <a:solidFill>
                      <a:srgbClr val="FFFFFF"/>
                    </a:solidFill>
                  </a:tcPr>
                </a:tc>
              </a:tr>
              <a:tr h="502920">
                <a:tc>
                  <a:txBody>
                    <a:bodyPr wrap="square"/>
                    <a:lstStyle/>
                    <a:p>
                      <a:pPr algn="l"/>
                      <a:r>
                        <a:rPr sz="1250" b="0">
                          <a:solidFill>
                            <a:srgbClr val="1B2A38"/>
                          </a:solidFill>
                          <a:latin typeface="Calibri"/>
                        </a:rPr>
                        <a:t>+ TTA + post-processing (full model)</a:t>
                      </a:r>
                    </a:p>
                  </a:txBody>
                  <a:tcPr marL="64008" marR="45720" marT="18288" marB="18288" anchor="ctr">
                    <a:solidFill>
                      <a:srgbClr val="EEF3F5"/>
                    </a:solidFill>
                  </a:tcPr>
                </a:tc>
                <a:tc>
                  <a:txBody>
                    <a:bodyPr wrap="square"/>
                    <a:lstStyle/>
                    <a:p>
                      <a:pPr algn="ctr"/>
                      <a:r>
                        <a:rPr sz="1250" b="0">
                          <a:solidFill>
                            <a:srgbClr val="1B2A38"/>
                          </a:solidFill>
                          <a:latin typeface="Calibri"/>
                        </a:rPr>
                        <a:t>0.760</a:t>
                      </a:r>
                    </a:p>
                  </a:txBody>
                  <a:tcPr marL="64008" marR="45720" marT="18288" marB="18288" anchor="ctr">
                    <a:solidFill>
                      <a:srgbClr val="EEF3F5"/>
                    </a:solidFill>
                  </a:tcPr>
                </a:tc>
                <a:tc>
                  <a:txBody>
                    <a:bodyPr wrap="square"/>
                    <a:lstStyle/>
                    <a:p>
                      <a:pPr algn="ctr"/>
                      <a:r>
                        <a:rPr sz="1250" b="0">
                          <a:solidFill>
                            <a:srgbClr val="1B2A38"/>
                          </a:solidFill>
                          <a:latin typeface="Calibri"/>
                        </a:rPr>
                        <a:t>0.307</a:t>
                      </a:r>
                    </a:p>
                  </a:txBody>
                  <a:tcPr marL="64008" marR="45720" marT="18288" marB="18288" anchor="ctr">
                    <a:solidFill>
                      <a:srgbClr val="EEF3F5"/>
                    </a:solidFill>
                  </a:tcPr>
                </a:tc>
                <a:tc>
                  <a:txBody>
                    <a:bodyPr wrap="square"/>
                    <a:lstStyle/>
                    <a:p>
                      <a:pPr algn="ctr"/>
                      <a:r>
                        <a:rPr sz="1250" b="0">
                          <a:solidFill>
                            <a:srgbClr val="1B2A38"/>
                          </a:solidFill>
                          <a:latin typeface="Calibri"/>
                        </a:rPr>
                        <a:t>0.790</a:t>
                      </a:r>
                    </a:p>
                  </a:txBody>
                  <a:tcPr marL="64008" marR="45720" marT="18288" marB="18288" anchor="ctr">
                    <a:solidFill>
                      <a:srgbClr val="EEF3F5"/>
                    </a:solidFill>
                  </a:tcPr>
                </a:tc>
              </a:tr>
            </a:tbl>
          </a:graphicData>
        </a:graphic>
      </p:graphicFrame>
      <p:sp>
        <p:nvSpPr>
          <p:cNvPr id="11" name="Rounded Rectangle 10"/>
          <p:cNvSpPr/>
          <p:nvPr/>
        </p:nvSpPr>
        <p:spPr>
          <a:xfrm>
            <a:off x="7772400" y="1783080"/>
            <a:ext cx="3657600" cy="4160520"/>
          </a:xfrm>
          <a:prstGeom prst="roundRect">
            <a:avLst/>
          </a:prstGeom>
          <a:solidFill>
            <a:srgbClr val="F7E9E9"/>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8" y="1938528"/>
            <a:ext cx="32918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E1595B"/>
                </a:solidFill>
                <a:latin typeface="Calibri"/>
              </a:rPr>
              <a:t>Verdict</a:t>
            </a:r>
          </a:p>
        </p:txBody>
      </p:sp>
      <p:sp>
        <p:nvSpPr>
          <p:cNvPr id="13" name="TextBox 12"/>
          <p:cNvSpPr txBox="1"/>
          <p:nvPr/>
        </p:nvSpPr>
        <p:spPr>
          <a:xfrm>
            <a:off x="7973568" y="2377440"/>
            <a:ext cx="3291840" cy="3474720"/>
          </a:xfrm>
          <a:prstGeom prst="rect">
            <a:avLst/>
          </a:prstGeom>
          <a:noFill/>
        </p:spPr>
        <p:txBody>
          <a:bodyPr wrap="square" lIns="0" rIns="0" tIns="0" bIns="0">
            <a:spAutoFit/>
          </a:bodyPr>
          <a:lstStyle/>
          <a:p>
            <a:pPr>
              <a:lnSpc>
                <a:spcPct val="102000"/>
              </a:lnSpc>
              <a:spcBef>
                <a:spcPts val="0"/>
              </a:spcBef>
              <a:spcAft>
                <a:spcPts val="1100"/>
              </a:spcAft>
            </a:pPr>
            <a:r>
              <a:rPr sz="1250" b="1">
                <a:solidFill>
                  <a:srgbClr val="E1595B"/>
                </a:solidFill>
                <a:latin typeface="Calibri"/>
              </a:rPr>
              <a:t>•  </a:t>
            </a:r>
            <a:r>
              <a:rPr sz="1250" b="1">
                <a:solidFill>
                  <a:srgbClr val="0E4D64"/>
                </a:solidFill>
                <a:latin typeface="Calibri"/>
              </a:rPr>
              <a:t>Pretrained encoder = </a:t>
            </a:r>
            <a:r>
              <a:rPr sz="1250" b="0">
                <a:solidFill>
                  <a:srgbClr val="1B2A38"/>
                </a:solidFill>
                <a:latin typeface="Calibri"/>
              </a:rPr>
              <a:t>+0.117 Dice, and far fewer completely-missed lesions (std 0.362→0.285).</a:t>
            </a:r>
          </a:p>
          <a:p>
            <a:pPr>
              <a:lnSpc>
                <a:spcPct val="102000"/>
              </a:lnSpc>
              <a:spcBef>
                <a:spcPts val="0"/>
              </a:spcBef>
              <a:spcAft>
                <a:spcPts val="1100"/>
              </a:spcAft>
            </a:pPr>
            <a:r>
              <a:rPr sz="1150">
                <a:solidFill>
                  <a:srgbClr val="45596B"/>
                </a:solidFill>
                <a:latin typeface="Calibri"/>
              </a:rPr>
              <a:t>      –  </a:t>
            </a:r>
            <a:r>
              <a:rPr sz="1150" b="0">
                <a:solidFill>
                  <a:srgbClr val="45596B"/>
                </a:solidFill>
                <a:latin typeface="Calibri"/>
              </a:rPr>
              <a:t>essentially the ENTIRE gain.</a:t>
            </a:r>
          </a:p>
          <a:p>
            <a:pPr>
              <a:lnSpc>
                <a:spcPct val="102000"/>
              </a:lnSpc>
              <a:spcBef>
                <a:spcPts val="0"/>
              </a:spcBef>
              <a:spcAft>
                <a:spcPts val="1100"/>
              </a:spcAft>
            </a:pPr>
            <a:r>
              <a:rPr sz="1250" b="1">
                <a:solidFill>
                  <a:srgbClr val="E1595B"/>
                </a:solidFill>
                <a:latin typeface="Calibri"/>
              </a:rPr>
              <a:t>•  </a:t>
            </a:r>
            <a:r>
              <a:rPr sz="1250" b="1">
                <a:solidFill>
                  <a:srgbClr val="0E4D64"/>
                </a:solidFill>
                <a:latin typeface="Calibri"/>
              </a:rPr>
              <a:t>Focal Tversky: </a:t>
            </a:r>
            <a:r>
              <a:rPr sz="1250" b="0">
                <a:solidFill>
                  <a:srgbClr val="1B2A38"/>
                </a:solidFill>
                <a:latin typeface="Calibri"/>
              </a:rPr>
              <a:t>no overall Dice gain, but raises recall 0.76→0.80 — a precision/recall knob.</a:t>
            </a:r>
          </a:p>
          <a:p>
            <a:pPr>
              <a:lnSpc>
                <a:spcPct val="102000"/>
              </a:lnSpc>
              <a:spcBef>
                <a:spcPts val="0"/>
              </a:spcBef>
              <a:spcAft>
                <a:spcPts val="1100"/>
              </a:spcAft>
            </a:pPr>
            <a:r>
              <a:rPr sz="1250" b="1">
                <a:solidFill>
                  <a:srgbClr val="E1595B"/>
                </a:solidFill>
                <a:latin typeface="Calibri"/>
              </a:rPr>
              <a:t>•  </a:t>
            </a:r>
            <a:r>
              <a:rPr sz="1250" b="1">
                <a:solidFill>
                  <a:srgbClr val="0E4D64"/>
                </a:solidFill>
                <a:latin typeface="Calibri"/>
              </a:rPr>
              <a:t>TTA + post-proc: </a:t>
            </a:r>
            <a:r>
              <a:rPr sz="1250" b="0">
                <a:solidFill>
                  <a:srgbClr val="1B2A38"/>
                </a:solidFill>
                <a:latin typeface="Calibri"/>
              </a:rPr>
              <a:t>no measurable Dice gain on this data.</a:t>
            </a:r>
          </a:p>
        </p:txBody>
      </p:sp>
      <p:sp>
        <p:nvSpPr>
          <p:cNvPr id="14" name="TextBox 13"/>
          <p:cNvSpPr txBox="1"/>
          <p:nvPr/>
        </p:nvSpPr>
        <p:spPr>
          <a:xfrm>
            <a:off x="777240" y="5806440"/>
            <a:ext cx="676656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1595B"/>
                </a:solidFill>
                <a:latin typeface="Calibri"/>
              </a:rPr>
              <a:t>Lesson: </a:t>
            </a:r>
            <a:r>
              <a:rPr sz="1300" b="1" i="0">
                <a:solidFill>
                  <a:srgbClr val="1B2A38"/>
                </a:solidFill>
                <a:latin typeface="Calibri"/>
              </a:rPr>
              <a:t>on small, noisy BUSI, transfer learning beats architectural/loss cleverness.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IMPROVEMENT</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Improved dual-stage pipeline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20</a:t>
            </a:r>
          </a:p>
        </p:txBody>
      </p:sp>
      <p:sp>
        <p:nvSpPr>
          <p:cNvPr id="10" name="Rounded Rectangle 9"/>
          <p:cNvSpPr/>
          <p:nvPr/>
        </p:nvSpPr>
        <p:spPr>
          <a:xfrm>
            <a:off x="658368" y="1783080"/>
            <a:ext cx="1965960" cy="1234440"/>
          </a:xfrm>
          <a:prstGeom prst="roundRect">
            <a:avLst/>
          </a:prstGeom>
          <a:solidFill>
            <a:srgbClr val="8A94A6"/>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Input US</a:t>
            </a:r>
          </a:p>
          <a:p>
            <a:pPr algn="ctr">
              <a:lnSpc>
                <a:spcPct val="100000"/>
              </a:lnSpc>
              <a:spcBef>
                <a:spcPts val="0"/>
              </a:spcBef>
              <a:spcAft>
                <a:spcPts val="400"/>
              </a:spcAft>
            </a:pPr>
            <a:r>
              <a:rPr sz="1300" b="1" i="0">
                <a:solidFill>
                  <a:srgbClr val="FFFFFF"/>
                </a:solidFill>
                <a:latin typeface="Calibri"/>
              </a:rPr>
              <a:t>image</a:t>
            </a:r>
          </a:p>
        </p:txBody>
      </p:sp>
      <p:sp>
        <p:nvSpPr>
          <p:cNvPr id="12" name="TextBox 11"/>
          <p:cNvSpPr txBox="1"/>
          <p:nvPr/>
        </p:nvSpPr>
        <p:spPr>
          <a:xfrm>
            <a:off x="731519"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256×256 grayscale</a:t>
            </a:r>
          </a:p>
        </p:txBody>
      </p:sp>
      <p:sp>
        <p:nvSpPr>
          <p:cNvPr id="13" name="Right Arrow 12"/>
          <p:cNvSpPr/>
          <p:nvPr/>
        </p:nvSpPr>
        <p:spPr>
          <a:xfrm>
            <a:off x="2628900"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16935" y="1783080"/>
            <a:ext cx="1965960" cy="1234440"/>
          </a:xfrm>
          <a:prstGeom prst="roundRect">
            <a:avLst/>
          </a:prstGeom>
          <a:solidFill>
            <a:srgbClr val="3AA655"/>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8375"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STAGE 1</a:t>
            </a:r>
          </a:p>
          <a:p>
            <a:pPr algn="ctr">
              <a:lnSpc>
                <a:spcPct val="100000"/>
              </a:lnSpc>
              <a:spcBef>
                <a:spcPts val="0"/>
              </a:spcBef>
              <a:spcAft>
                <a:spcPts val="400"/>
              </a:spcAft>
            </a:pPr>
            <a:r>
              <a:rPr sz="1300" b="1" i="0">
                <a:solidFill>
                  <a:srgbClr val="FFFFFF"/>
                </a:solidFill>
                <a:latin typeface="Calibri"/>
              </a:rPr>
              <a:t>Improved U-Net</a:t>
            </a:r>
          </a:p>
        </p:txBody>
      </p:sp>
      <p:sp>
        <p:nvSpPr>
          <p:cNvPr id="16" name="TextBox 15"/>
          <p:cNvSpPr txBox="1"/>
          <p:nvPr/>
        </p:nvSpPr>
        <p:spPr>
          <a:xfrm>
            <a:off x="2990087"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EffB4 encoder → mask</a:t>
            </a:r>
          </a:p>
        </p:txBody>
      </p:sp>
      <p:sp>
        <p:nvSpPr>
          <p:cNvPr id="17" name="Right Arrow 16"/>
          <p:cNvSpPr/>
          <p:nvPr/>
        </p:nvSpPr>
        <p:spPr>
          <a:xfrm>
            <a:off x="4887468"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75503" y="1783080"/>
            <a:ext cx="1965960" cy="1234440"/>
          </a:xfrm>
          <a:prstGeom prst="roundRect">
            <a:avLst/>
          </a:prstGeom>
          <a:solidFill>
            <a:srgbClr val="E8A33D"/>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66943"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ROI extract</a:t>
            </a:r>
          </a:p>
        </p:txBody>
      </p:sp>
      <p:sp>
        <p:nvSpPr>
          <p:cNvPr id="20" name="TextBox 19"/>
          <p:cNvSpPr txBox="1"/>
          <p:nvPr/>
        </p:nvSpPr>
        <p:spPr>
          <a:xfrm>
            <a:off x="5248655"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largest CC · bbox +15% crop</a:t>
            </a:r>
          </a:p>
        </p:txBody>
      </p:sp>
      <p:sp>
        <p:nvSpPr>
          <p:cNvPr id="21" name="Right Arrow 20"/>
          <p:cNvSpPr/>
          <p:nvPr/>
        </p:nvSpPr>
        <p:spPr>
          <a:xfrm>
            <a:off x="7146035"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34071" y="1783080"/>
            <a:ext cx="1965960" cy="1234440"/>
          </a:xfrm>
          <a:prstGeom prst="roundRect">
            <a:avLst/>
          </a:prstGeom>
          <a:solidFill>
            <a:srgbClr val="0E4D64"/>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25511"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STAGE 2</a:t>
            </a:r>
          </a:p>
          <a:p>
            <a:pPr algn="ctr">
              <a:lnSpc>
                <a:spcPct val="100000"/>
              </a:lnSpc>
              <a:spcBef>
                <a:spcPts val="0"/>
              </a:spcBef>
              <a:spcAft>
                <a:spcPts val="400"/>
              </a:spcAft>
            </a:pPr>
            <a:r>
              <a:rPr sz="1300" b="1" i="0">
                <a:solidFill>
                  <a:srgbClr val="FFFFFF"/>
                </a:solidFill>
                <a:latin typeface="Calibri"/>
              </a:rPr>
              <a:t>EfficientNet-B0</a:t>
            </a:r>
          </a:p>
        </p:txBody>
      </p:sp>
      <p:sp>
        <p:nvSpPr>
          <p:cNvPr id="24" name="TextBox 23"/>
          <p:cNvSpPr txBox="1"/>
          <p:nvPr/>
        </p:nvSpPr>
        <p:spPr>
          <a:xfrm>
            <a:off x="7507223"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classify the ROI crop</a:t>
            </a:r>
          </a:p>
        </p:txBody>
      </p:sp>
      <p:sp>
        <p:nvSpPr>
          <p:cNvPr id="25" name="Right Arrow 24"/>
          <p:cNvSpPr/>
          <p:nvPr/>
        </p:nvSpPr>
        <p:spPr>
          <a:xfrm>
            <a:off x="9404604"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92640" y="1783080"/>
            <a:ext cx="1965960" cy="1234440"/>
          </a:xfrm>
          <a:prstGeom prst="roundRect">
            <a:avLst/>
          </a:prstGeom>
          <a:solidFill>
            <a:srgbClr val="E1595B"/>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Benign /</a:t>
            </a:r>
          </a:p>
          <a:p>
            <a:pPr algn="ctr">
              <a:lnSpc>
                <a:spcPct val="100000"/>
              </a:lnSpc>
              <a:spcBef>
                <a:spcPts val="0"/>
              </a:spcBef>
              <a:spcAft>
                <a:spcPts val="400"/>
              </a:spcAft>
            </a:pPr>
            <a:r>
              <a:rPr sz="1300" b="1" i="0">
                <a:solidFill>
                  <a:srgbClr val="FFFFFF"/>
                </a:solidFill>
                <a:latin typeface="Calibri"/>
              </a:rPr>
              <a:t>Malignant</a:t>
            </a:r>
          </a:p>
        </p:txBody>
      </p:sp>
      <p:sp>
        <p:nvSpPr>
          <p:cNvPr id="28" name="TextBox 27"/>
          <p:cNvSpPr txBox="1"/>
          <p:nvPr/>
        </p:nvSpPr>
        <p:spPr>
          <a:xfrm>
            <a:off x="9765792"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 optional shape features</a:t>
            </a:r>
          </a:p>
        </p:txBody>
      </p:sp>
      <p:sp>
        <p:nvSpPr>
          <p:cNvPr id="29" name="TextBox 28"/>
          <p:cNvSpPr txBox="1"/>
          <p:nvPr/>
        </p:nvSpPr>
        <p:spPr>
          <a:xfrm>
            <a:off x="658368" y="3154680"/>
            <a:ext cx="106984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Controlled substitution: </a:t>
            </a:r>
            <a:r>
              <a:rPr sz="1250" b="0" i="0">
                <a:solidFill>
                  <a:srgbClr val="1B2A38"/>
                </a:solidFill>
                <a:latin typeface="Calibri"/>
              </a:rPr>
              <a:t>Stage-1 swapped for our stronger segmenter; Stage-2 kept byte-for-byte → any change is attributable to segmentation alone.</a:t>
            </a:r>
          </a:p>
        </p:txBody>
      </p:sp>
      <p:sp>
        <p:nvSpPr>
          <p:cNvPr id="30" name="Rounded Rectangle 29"/>
          <p:cNvSpPr/>
          <p:nvPr/>
        </p:nvSpPr>
        <p:spPr>
          <a:xfrm>
            <a:off x="658368" y="3703320"/>
            <a:ext cx="10744200" cy="21488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840480"/>
            <a:ext cx="1033272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E4D64"/>
                </a:solidFill>
                <a:latin typeface="Calibri"/>
              </a:rPr>
              <a:t>Rigorous evaluation — the part most papers skip</a:t>
            </a:r>
          </a:p>
        </p:txBody>
      </p:sp>
      <p:sp>
        <p:nvSpPr>
          <p:cNvPr id="32" name="Rounded Rectangle 31"/>
          <p:cNvSpPr/>
          <p:nvPr/>
        </p:nvSpPr>
        <p:spPr>
          <a:xfrm>
            <a:off x="868680" y="4251960"/>
            <a:ext cx="3291840" cy="1417320"/>
          </a:xfrm>
          <a:prstGeom prst="roundRect">
            <a:avLst/>
          </a:prstGeom>
          <a:solidFill>
            <a:srgbClr val="FFFFFF"/>
          </a:solidFill>
          <a:ln w="1524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68680" y="4251960"/>
            <a:ext cx="3291840" cy="73152"/>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1" y="4389120"/>
            <a:ext cx="2971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Out-of-fold masks</a:t>
            </a:r>
          </a:p>
        </p:txBody>
      </p:sp>
      <p:sp>
        <p:nvSpPr>
          <p:cNvPr id="35" name="TextBox 34"/>
          <p:cNvSpPr txBox="1"/>
          <p:nvPr/>
        </p:nvSpPr>
        <p:spPr>
          <a:xfrm>
            <a:off x="1033271" y="4773168"/>
            <a:ext cx="2971800" cy="868680"/>
          </a:xfrm>
          <a:prstGeom prst="rect">
            <a:avLst/>
          </a:prstGeom>
          <a:noFill/>
        </p:spPr>
        <p:txBody>
          <a:bodyPr wrap="square" anchor="t" lIns="0" rIns="0" tIns="0" bIns="0">
            <a:spAutoFit/>
          </a:bodyPr>
          <a:lstStyle/>
          <a:p>
            <a:pPr algn="l">
              <a:lnSpc>
                <a:spcPct val="108000"/>
              </a:lnSpc>
              <a:spcBef>
                <a:spcPts val="0"/>
              </a:spcBef>
              <a:spcAft>
                <a:spcPts val="400"/>
              </a:spcAft>
            </a:pPr>
            <a:r>
              <a:rPr sz="1100" b="0" i="0">
                <a:solidFill>
                  <a:srgbClr val="1B2A38"/>
                </a:solidFill>
                <a:latin typeface="Calibri"/>
              </a:rPr>
              <a:t>5-fold cross-fitting: each training image's mask comes from a segmenter that never saw it (no train/test mismatch).</a:t>
            </a:r>
          </a:p>
        </p:txBody>
      </p:sp>
      <p:sp>
        <p:nvSpPr>
          <p:cNvPr id="36" name="Rounded Rectangle 35"/>
          <p:cNvSpPr/>
          <p:nvPr/>
        </p:nvSpPr>
        <p:spPr>
          <a:xfrm>
            <a:off x="4389120" y="4251960"/>
            <a:ext cx="3291840" cy="1417320"/>
          </a:xfrm>
          <a:prstGeom prst="roundRect">
            <a:avLst/>
          </a:prstGeom>
          <a:solidFill>
            <a:srgbClr val="FFFFFF"/>
          </a:solidFill>
          <a:ln w="15240">
            <a:solidFill>
              <a:srgbClr val="3AA6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389120" y="4251960"/>
            <a:ext cx="3291840" cy="73152"/>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53712" y="4389120"/>
            <a:ext cx="2971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5-seed ensemble</a:t>
            </a:r>
          </a:p>
        </p:txBody>
      </p:sp>
      <p:sp>
        <p:nvSpPr>
          <p:cNvPr id="39" name="TextBox 38"/>
          <p:cNvSpPr txBox="1"/>
          <p:nvPr/>
        </p:nvSpPr>
        <p:spPr>
          <a:xfrm>
            <a:off x="4553712" y="4773168"/>
            <a:ext cx="2971800" cy="868680"/>
          </a:xfrm>
          <a:prstGeom prst="rect">
            <a:avLst/>
          </a:prstGeom>
          <a:noFill/>
        </p:spPr>
        <p:txBody>
          <a:bodyPr wrap="square" anchor="t" lIns="0" rIns="0" tIns="0" bIns="0">
            <a:spAutoFit/>
          </a:bodyPr>
          <a:lstStyle/>
          <a:p>
            <a:pPr algn="l">
              <a:lnSpc>
                <a:spcPct val="108000"/>
              </a:lnSpc>
              <a:spcBef>
                <a:spcPts val="0"/>
              </a:spcBef>
              <a:spcAft>
                <a:spcPts val="400"/>
              </a:spcAft>
            </a:pPr>
            <a:r>
              <a:rPr sz="1100" b="0" i="0">
                <a:solidFill>
                  <a:srgbClr val="1B2A38"/>
                </a:solidFill>
                <a:latin typeface="Calibri"/>
              </a:rPr>
              <a:t>every configuration run with 5 seeds and ensembled — kills single-run luck.</a:t>
            </a:r>
          </a:p>
        </p:txBody>
      </p:sp>
      <p:sp>
        <p:nvSpPr>
          <p:cNvPr id="40" name="Rounded Rectangle 39"/>
          <p:cNvSpPr/>
          <p:nvPr/>
        </p:nvSpPr>
        <p:spPr>
          <a:xfrm>
            <a:off x="7909560" y="4251960"/>
            <a:ext cx="3291840" cy="1417320"/>
          </a:xfrm>
          <a:prstGeom prst="roundRect">
            <a:avLst/>
          </a:prstGeom>
          <a:solidFill>
            <a:srgbClr val="FFFFFF"/>
          </a:solidFill>
          <a:ln w="15240">
            <a:solidFill>
              <a:srgbClr val="E159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09560" y="4251960"/>
            <a:ext cx="3291840" cy="73152"/>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74152" y="4389120"/>
            <a:ext cx="2971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Bootstrap 95% CI</a:t>
            </a:r>
          </a:p>
        </p:txBody>
      </p:sp>
      <p:sp>
        <p:nvSpPr>
          <p:cNvPr id="43" name="TextBox 42"/>
          <p:cNvSpPr txBox="1"/>
          <p:nvPr/>
        </p:nvSpPr>
        <p:spPr>
          <a:xfrm>
            <a:off x="8074152" y="4773168"/>
            <a:ext cx="2971800" cy="868680"/>
          </a:xfrm>
          <a:prstGeom prst="rect">
            <a:avLst/>
          </a:prstGeom>
          <a:noFill/>
        </p:spPr>
        <p:txBody>
          <a:bodyPr wrap="square" anchor="t" lIns="0" rIns="0" tIns="0" bIns="0">
            <a:spAutoFit/>
          </a:bodyPr>
          <a:lstStyle/>
          <a:p>
            <a:pPr algn="l">
              <a:lnSpc>
                <a:spcPct val="108000"/>
              </a:lnSpc>
              <a:spcBef>
                <a:spcPts val="0"/>
              </a:spcBef>
              <a:spcAft>
                <a:spcPts val="400"/>
              </a:spcAft>
            </a:pPr>
            <a:r>
              <a:rPr sz="1100" b="0" i="0">
                <a:solidFill>
                  <a:srgbClr val="1B2A38"/>
                </a:solidFill>
                <a:latin typeface="Calibri"/>
              </a:rPr>
              <a:t>confidence interval on the 98-image test set — is a difference real or just noise?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ABLATION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Dual-stage ablation: which ideas survive honest evaluation?</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21</a:t>
            </a:r>
          </a:p>
        </p:txBody>
      </p:sp>
      <p:sp>
        <p:nvSpPr>
          <p:cNvPr id="10" name="TextBox 9"/>
          <p:cNvSpPr txBox="1"/>
          <p:nvPr/>
        </p:nvSpPr>
        <p:spPr>
          <a:xfrm>
            <a:off x="777240" y="146304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0" i="0">
                <a:solidFill>
                  <a:srgbClr val="1B2A38"/>
                </a:solidFill>
                <a:latin typeface="Calibri"/>
              </a:rPr>
              <a:t>We test every pipeline idea the honest way — </a:t>
            </a:r>
            <a:r>
              <a:rPr sz="1300" b="1" i="0">
                <a:solidFill>
                  <a:srgbClr val="E1595B"/>
                </a:solidFill>
                <a:latin typeface="Calibri"/>
              </a:rPr>
              <a:t>out-of-fold masks · 5 seeds · bootstrap 95% CI</a:t>
            </a:r>
            <a:r>
              <a:rPr sz="1300" b="0" i="0">
                <a:solidFill>
                  <a:srgbClr val="1B2A38"/>
                </a:solidFill>
                <a:latin typeface="Calibri"/>
              </a:rPr>
              <a:t> — and ask which gains are actually real.</a:t>
            </a:r>
          </a:p>
        </p:txBody>
      </p:sp>
      <p:sp>
        <p:nvSpPr>
          <p:cNvPr id="11" name="Rounded Rectangle 10"/>
          <p:cNvSpPr/>
          <p:nvPr/>
        </p:nvSpPr>
        <p:spPr>
          <a:xfrm>
            <a:off x="777240" y="1965960"/>
            <a:ext cx="4480560" cy="3977639"/>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121408"/>
            <a:ext cx="4114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WHAT IS OUT-OF-FOLD (OOF)?</a:t>
            </a:r>
          </a:p>
        </p:txBody>
      </p:sp>
      <p:sp>
        <p:nvSpPr>
          <p:cNvPr id="13" name="Rectangle 12"/>
          <p:cNvSpPr/>
          <p:nvPr/>
        </p:nvSpPr>
        <p:spPr>
          <a:xfrm>
            <a:off x="1097280" y="2606040"/>
            <a:ext cx="292608" cy="15544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21892" y="2606040"/>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46504" y="2606040"/>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1115" y="2606040"/>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5728" y="2606040"/>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2793492"/>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21892" y="2793492"/>
            <a:ext cx="292608" cy="15544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746504" y="2793492"/>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71115" y="2793492"/>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395728" y="2793492"/>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97280" y="2980944"/>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21892" y="2980944"/>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746504" y="2980944"/>
            <a:ext cx="292608" cy="15544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1115" y="2980944"/>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395728" y="2980944"/>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7280" y="3168396"/>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21892" y="3168396"/>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746504" y="3168396"/>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071115" y="3168396"/>
            <a:ext cx="292608" cy="15544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95728" y="3168396"/>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7280" y="3355848"/>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421892" y="3355848"/>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46504" y="3355848"/>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71115" y="3355848"/>
            <a:ext cx="292608" cy="155448"/>
          </a:xfrm>
          <a:prstGeom prst="rect">
            <a:avLst/>
          </a:prstGeom>
          <a:solidFill>
            <a:srgbClr val="BF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395728" y="3355848"/>
            <a:ext cx="292608" cy="15544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7499" y="2587752"/>
            <a:ext cx="2560320" cy="1005840"/>
          </a:xfrm>
          <a:prstGeom prst="rect">
            <a:avLst/>
          </a:prstGeom>
          <a:noFill/>
        </p:spPr>
        <p:txBody>
          <a:bodyPr wrap="square" anchor="t" lIns="0" rIns="0" tIns="0" bIns="0">
            <a:spAutoFit/>
          </a:bodyPr>
          <a:lstStyle/>
          <a:p>
            <a:pPr algn="l">
              <a:lnSpc>
                <a:spcPct val="105000"/>
              </a:lnSpc>
              <a:spcBef>
                <a:spcPts val="0"/>
              </a:spcBef>
              <a:spcAft>
                <a:spcPts val="100"/>
              </a:spcAft>
            </a:pPr>
            <a:r>
              <a:rPr sz="1050" b="1" i="0">
                <a:solidFill>
                  <a:srgbClr val="1B2A38"/>
                </a:solidFill>
                <a:latin typeface="Calibri"/>
              </a:rPr>
              <a:t>each row = one fold</a:t>
            </a:r>
          </a:p>
          <a:p>
            <a:pPr algn="l">
              <a:lnSpc>
                <a:spcPct val="105000"/>
              </a:lnSpc>
              <a:spcBef>
                <a:spcPts val="0"/>
              </a:spcBef>
              <a:spcAft>
                <a:spcPts val="100"/>
              </a:spcAft>
            </a:pPr>
            <a:r>
              <a:rPr sz="1000" b="0" i="0">
                <a:solidFill>
                  <a:srgbClr val="45596B"/>
                </a:solidFill>
                <a:latin typeface="Calibri"/>
              </a:rPr>
              <a:t>its mask is predicted by</a:t>
            </a:r>
          </a:p>
          <a:p>
            <a:pPr algn="l">
              <a:lnSpc>
                <a:spcPct val="105000"/>
              </a:lnSpc>
              <a:spcBef>
                <a:spcPts val="0"/>
              </a:spcBef>
              <a:spcAft>
                <a:spcPts val="100"/>
              </a:spcAft>
            </a:pPr>
            <a:r>
              <a:rPr sz="1000" b="0" i="0">
                <a:solidFill>
                  <a:srgbClr val="45596B"/>
                </a:solidFill>
                <a:latin typeface="Calibri"/>
              </a:rPr>
              <a:t>a model trained on the</a:t>
            </a:r>
          </a:p>
          <a:p>
            <a:pPr algn="l">
              <a:lnSpc>
                <a:spcPct val="105000"/>
              </a:lnSpc>
              <a:spcBef>
                <a:spcPts val="0"/>
              </a:spcBef>
              <a:spcAft>
                <a:spcPts val="100"/>
              </a:spcAft>
            </a:pPr>
            <a:r>
              <a:rPr sz="1000" b="0" i="0">
                <a:solidFill>
                  <a:srgbClr val="45596B"/>
                </a:solidFill>
                <a:latin typeface="Calibri"/>
              </a:rPr>
              <a:t>other 4 folds only.</a:t>
            </a:r>
          </a:p>
        </p:txBody>
      </p:sp>
      <p:sp>
        <p:nvSpPr>
          <p:cNvPr id="39" name="Rectangle 38"/>
          <p:cNvSpPr/>
          <p:nvPr/>
        </p:nvSpPr>
        <p:spPr>
          <a:xfrm>
            <a:off x="1097280" y="3675887"/>
            <a:ext cx="219456" cy="137160"/>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71600" y="3639312"/>
            <a:ext cx="3749039" cy="274320"/>
          </a:xfrm>
          <a:prstGeom prst="rect">
            <a:avLst/>
          </a:prstGeom>
          <a:noFill/>
        </p:spPr>
        <p:txBody>
          <a:bodyPr wrap="square" anchor="t" lIns="0" rIns="0" tIns="0" bIns="0">
            <a:spAutoFit/>
          </a:bodyPr>
          <a:lstStyle/>
          <a:p>
            <a:pPr algn="l">
              <a:lnSpc>
                <a:spcPct val="100000"/>
              </a:lnSpc>
              <a:spcBef>
                <a:spcPts val="0"/>
              </a:spcBef>
              <a:spcAft>
                <a:spcPts val="400"/>
              </a:spcAft>
            </a:pPr>
            <a:r>
              <a:rPr sz="950" b="0" i="1">
                <a:solidFill>
                  <a:srgbClr val="45596B"/>
                </a:solidFill>
                <a:latin typeface="Calibri"/>
              </a:rPr>
              <a:t>held-out image (mask predicted, never self-seen)</a:t>
            </a:r>
          </a:p>
        </p:txBody>
      </p:sp>
      <p:sp>
        <p:nvSpPr>
          <p:cNvPr id="41" name="TextBox 40"/>
          <p:cNvSpPr txBox="1"/>
          <p:nvPr/>
        </p:nvSpPr>
        <p:spPr>
          <a:xfrm>
            <a:off x="987552" y="3977639"/>
            <a:ext cx="4114800" cy="1828800"/>
          </a:xfrm>
          <a:prstGeom prst="rect">
            <a:avLst/>
          </a:prstGeom>
          <a:noFill/>
        </p:spPr>
        <p:txBody>
          <a:bodyPr wrap="square" anchor="t" lIns="0" rIns="0" tIns="0" bIns="0">
            <a:spAutoFit/>
          </a:bodyPr>
          <a:lstStyle/>
          <a:p>
            <a:pPr algn="l">
              <a:lnSpc>
                <a:spcPct val="112000"/>
              </a:lnSpc>
              <a:spcBef>
                <a:spcPts val="0"/>
              </a:spcBef>
              <a:spcAft>
                <a:spcPts val="700"/>
              </a:spcAft>
            </a:pPr>
            <a:r>
              <a:rPr sz="1150" b="1" i="0">
                <a:solidFill>
                  <a:srgbClr val="E1595B"/>
                </a:solidFill>
                <a:latin typeface="Calibri"/>
              </a:rPr>
              <a:t>Why:</a:t>
            </a:r>
            <a:r>
              <a:rPr sz="1150" b="0" i="0">
                <a:solidFill>
                  <a:srgbClr val="1B2A38"/>
                </a:solidFill>
                <a:latin typeface="Calibri"/>
              </a:rPr>
              <a:t> Stage-2 must train on </a:t>
            </a:r>
            <a:r>
              <a:rPr sz="1150" b="1" i="0">
                <a:solidFill>
                  <a:srgbClr val="1B2A38"/>
                </a:solidFill>
                <a:latin typeface="Calibri"/>
              </a:rPr>
              <a:t>predicted</a:t>
            </a:r>
            <a:r>
              <a:rPr sz="1150" b="0" i="0">
                <a:solidFill>
                  <a:srgbClr val="1B2A38"/>
                </a:solidFill>
                <a:latin typeface="Calibri"/>
              </a:rPr>
              <a:t>-mask crops. OOF generates realistic (imperfect) masks for the training images without a segmenter ever seeing its own image.</a:t>
            </a:r>
          </a:p>
          <a:p>
            <a:pPr algn="l">
              <a:lnSpc>
                <a:spcPct val="112000"/>
              </a:lnSpc>
              <a:spcBef>
                <a:spcPts val="0"/>
              </a:spcBef>
              <a:spcAft>
                <a:spcPts val="700"/>
              </a:spcAft>
            </a:pPr>
            <a:r>
              <a:rPr sz="1100" b="0" i="0">
                <a:solidFill>
                  <a:srgbClr val="0E4D64"/>
                </a:solidFill>
                <a:latin typeface="Calibri"/>
              </a:rPr>
              <a:t>→ removes the train-on-clean / test-on-imperfect mismatch. A </a:t>
            </a:r>
            <a:r>
              <a:rPr sz="1100" b="1" i="0">
                <a:solidFill>
                  <a:srgbClr val="0E4D64"/>
                </a:solidFill>
                <a:latin typeface="Calibri"/>
              </a:rPr>
              <a:t>correctness fix</a:t>
            </a:r>
            <a:r>
              <a:rPr sz="1100" b="0" i="0">
                <a:solidFill>
                  <a:srgbClr val="0E4D64"/>
                </a:solidFill>
                <a:latin typeface="Calibri"/>
              </a:rPr>
              <a:t>, not a score trick.</a:t>
            </a:r>
          </a:p>
        </p:txBody>
      </p:sp>
      <p:graphicFrame>
        <p:nvGraphicFramePr>
          <p:cNvPr id="42" name="Table 41"/>
          <p:cNvGraphicFramePr>
            <a:graphicFrameLocks noGrp="1"/>
          </p:cNvGraphicFramePr>
          <p:nvPr/>
        </p:nvGraphicFramePr>
        <p:xfrm>
          <a:off x="5440680" y="1965960"/>
          <a:ext cx="5943600" cy="1847088"/>
        </p:xfrm>
        <a:graphic>
          <a:graphicData uri="http://schemas.openxmlformats.org/drawingml/2006/table">
            <a:tbl>
              <a:tblPr>
                <a:tableStyleId>{5C22544A-7EE6-4342-B048-85BDC9FD1C3A}</a:tableStyleId>
              </a:tblPr>
              <a:tblGrid>
                <a:gridCol w="2514600"/>
                <a:gridCol w="1234440"/>
                <a:gridCol w="1005840"/>
                <a:gridCol w="1188720"/>
              </a:tblGrid>
              <a:tr h="420624">
                <a:tc>
                  <a:txBody>
                    <a:bodyPr wrap="square"/>
                    <a:lstStyle/>
                    <a:p>
                      <a:pPr algn="l"/>
                      <a:r>
                        <a:rPr sz="1100" b="1">
                          <a:solidFill>
                            <a:srgbClr val="FFFFFF"/>
                          </a:solidFill>
                          <a:latin typeface="Calibri"/>
                        </a:rPr>
                        <a:t>Configuration (all OOF cross-fit)</a:t>
                      </a:r>
                    </a:p>
                  </a:txBody>
                  <a:tcPr marL="64008" marR="45720" marT="18288" marB="18288" anchor="ctr">
                    <a:solidFill>
                      <a:srgbClr val="E1595B"/>
                    </a:solidFill>
                  </a:tcPr>
                </a:tc>
                <a:tc>
                  <a:txBody>
                    <a:bodyPr wrap="square"/>
                    <a:lstStyle/>
                    <a:p>
                      <a:pPr algn="ctr"/>
                      <a:r>
                        <a:rPr sz="1100" b="1">
                          <a:solidFill>
                            <a:srgbClr val="FFFFFF"/>
                          </a:solidFill>
                          <a:latin typeface="Calibri"/>
                        </a:rPr>
                        <a:t>per-seed F1</a:t>
                      </a:r>
                    </a:p>
                  </a:txBody>
                  <a:tcPr marL="64008" marR="45720" marT="18288" marB="18288" anchor="ctr">
                    <a:solidFill>
                      <a:srgbClr val="E1595B"/>
                    </a:solidFill>
                  </a:tcPr>
                </a:tc>
                <a:tc>
                  <a:txBody>
                    <a:bodyPr wrap="square"/>
                    <a:lstStyle/>
                    <a:p>
                      <a:pPr algn="ctr"/>
                      <a:r>
                        <a:rPr sz="1100" b="1">
                          <a:solidFill>
                            <a:srgbClr val="FFFFFF"/>
                          </a:solidFill>
                          <a:latin typeface="Calibri"/>
                        </a:rPr>
                        <a:t>5-seed ens.</a:t>
                      </a:r>
                    </a:p>
                  </a:txBody>
                  <a:tcPr marL="64008" marR="45720" marT="18288" marB="18288" anchor="ctr">
                    <a:solidFill>
                      <a:srgbClr val="E1595B"/>
                    </a:solidFill>
                  </a:tcPr>
                </a:tc>
                <a:tc>
                  <a:txBody>
                    <a:bodyPr wrap="square"/>
                    <a:lstStyle/>
                    <a:p>
                      <a:pPr algn="ctr"/>
                      <a:r>
                        <a:rPr sz="1100" b="1">
                          <a:solidFill>
                            <a:srgbClr val="FFFFFF"/>
                          </a:solidFill>
                          <a:latin typeface="Calibri"/>
                        </a:rPr>
                        <a:t>95% CI</a:t>
                      </a:r>
                    </a:p>
                  </a:txBody>
                  <a:tcPr marL="64008" marR="45720" marT="18288" marB="18288" anchor="ctr">
                    <a:solidFill>
                      <a:srgbClr val="E1595B"/>
                    </a:solidFill>
                  </a:tcPr>
                </a:tc>
              </a:tr>
              <a:tr h="475488">
                <a:tc>
                  <a:txBody>
                    <a:bodyPr wrap="square"/>
                    <a:lstStyle/>
                    <a:p>
                      <a:pPr algn="l"/>
                      <a:r>
                        <a:rPr sz="1100" b="0">
                          <a:solidFill>
                            <a:srgbClr val="1B2A38"/>
                          </a:solidFill>
                          <a:latin typeface="Calibri"/>
                        </a:rPr>
                        <a:t>Strengthened Stage-2 (pure CNN)</a:t>
                      </a:r>
                    </a:p>
                  </a:txBody>
                  <a:tcPr marL="64008" marR="45720" marT="18288" marB="18288" anchor="ctr">
                    <a:solidFill>
                      <a:srgbClr val="FFFFFF"/>
                    </a:solidFill>
                  </a:tcPr>
                </a:tc>
                <a:tc>
                  <a:txBody>
                    <a:bodyPr wrap="square"/>
                    <a:lstStyle/>
                    <a:p>
                      <a:pPr algn="ctr"/>
                      <a:r>
                        <a:rPr sz="1100" b="0">
                          <a:solidFill>
                            <a:srgbClr val="1B2A38"/>
                          </a:solidFill>
                          <a:latin typeface="Calibri"/>
                        </a:rPr>
                        <a:t>0.847 ± 0.011</a:t>
                      </a:r>
                    </a:p>
                  </a:txBody>
                  <a:tcPr marL="64008" marR="45720" marT="18288" marB="18288" anchor="ctr">
                    <a:solidFill>
                      <a:srgbClr val="FFFFFF"/>
                    </a:solidFill>
                  </a:tcPr>
                </a:tc>
                <a:tc>
                  <a:txBody>
                    <a:bodyPr wrap="square"/>
                    <a:lstStyle/>
                    <a:p>
                      <a:pPr algn="ctr"/>
                      <a:r>
                        <a:rPr sz="1100" b="0">
                          <a:solidFill>
                            <a:srgbClr val="1B2A38"/>
                          </a:solidFill>
                          <a:latin typeface="Calibri"/>
                        </a:rPr>
                        <a:t>0.875</a:t>
                      </a:r>
                    </a:p>
                  </a:txBody>
                  <a:tcPr marL="64008" marR="45720" marT="18288" marB="18288" anchor="ctr">
                    <a:solidFill>
                      <a:srgbClr val="FFFFFF"/>
                    </a:solidFill>
                  </a:tcPr>
                </a:tc>
                <a:tc>
                  <a:txBody>
                    <a:bodyPr wrap="square"/>
                    <a:lstStyle/>
                    <a:p>
                      <a:pPr algn="ctr"/>
                      <a:r>
                        <a:rPr sz="1100" b="0">
                          <a:solidFill>
                            <a:srgbClr val="1B2A38"/>
                          </a:solidFill>
                          <a:latin typeface="Calibri"/>
                        </a:rPr>
                        <a:t>[0.80, 0.94]</a:t>
                      </a:r>
                    </a:p>
                  </a:txBody>
                  <a:tcPr marL="64008" marR="45720" marT="18288" marB="18288" anchor="ctr">
                    <a:solidFill>
                      <a:srgbClr val="FFFFFF"/>
                    </a:solidFill>
                  </a:tcPr>
                </a:tc>
              </a:tr>
              <a:tr h="475488">
                <a:tc>
                  <a:txBody>
                    <a:bodyPr wrap="square"/>
                    <a:lstStyle/>
                    <a:p>
                      <a:pPr algn="l"/>
                      <a:r>
                        <a:rPr sz="1100" b="0">
                          <a:solidFill>
                            <a:srgbClr val="1B2A38"/>
                          </a:solidFill>
                          <a:latin typeface="Calibri"/>
                        </a:rPr>
                        <a:t>+ shape features</a:t>
                      </a:r>
                    </a:p>
                  </a:txBody>
                  <a:tcPr marL="64008" marR="45720" marT="18288" marB="18288" anchor="ctr">
                    <a:solidFill>
                      <a:srgbClr val="EEF3F5"/>
                    </a:solidFill>
                  </a:tcPr>
                </a:tc>
                <a:tc>
                  <a:txBody>
                    <a:bodyPr wrap="square"/>
                    <a:lstStyle/>
                    <a:p>
                      <a:pPr algn="ctr"/>
                      <a:r>
                        <a:rPr sz="1100" b="0">
                          <a:solidFill>
                            <a:srgbClr val="1B2A38"/>
                          </a:solidFill>
                          <a:latin typeface="Calibri"/>
                        </a:rPr>
                        <a:t>0.861 ± 0.016</a:t>
                      </a:r>
                    </a:p>
                  </a:txBody>
                  <a:tcPr marL="64008" marR="45720" marT="18288" marB="18288" anchor="ctr">
                    <a:solidFill>
                      <a:srgbClr val="EEF3F5"/>
                    </a:solidFill>
                  </a:tcPr>
                </a:tc>
                <a:tc>
                  <a:txBody>
                    <a:bodyPr wrap="square"/>
                    <a:lstStyle/>
                    <a:p>
                      <a:pPr algn="ctr"/>
                      <a:r>
                        <a:rPr sz="1100" b="0">
                          <a:solidFill>
                            <a:srgbClr val="1B2A38"/>
                          </a:solidFill>
                          <a:latin typeface="Calibri"/>
                        </a:rPr>
                        <a:t>0.875</a:t>
                      </a:r>
                    </a:p>
                  </a:txBody>
                  <a:tcPr marL="64008" marR="45720" marT="18288" marB="18288" anchor="ctr">
                    <a:solidFill>
                      <a:srgbClr val="EEF3F5"/>
                    </a:solidFill>
                  </a:tcPr>
                </a:tc>
                <a:tc>
                  <a:txBody>
                    <a:bodyPr wrap="square"/>
                    <a:lstStyle/>
                    <a:p>
                      <a:pPr algn="ctr"/>
                      <a:r>
                        <a:rPr sz="1100" b="0">
                          <a:solidFill>
                            <a:srgbClr val="1B2A38"/>
                          </a:solidFill>
                          <a:latin typeface="Calibri"/>
                        </a:rPr>
                        <a:t>[0.80, 0.94]</a:t>
                      </a:r>
                    </a:p>
                  </a:txBody>
                  <a:tcPr marL="64008" marR="45720" marT="18288" marB="18288" anchor="ctr">
                    <a:solidFill>
                      <a:srgbClr val="EEF3F5"/>
                    </a:solidFill>
                  </a:tcPr>
                </a:tc>
              </a:tr>
              <a:tr h="475488">
                <a:tc>
                  <a:txBody>
                    <a:bodyPr wrap="square"/>
                    <a:lstStyle/>
                    <a:p>
                      <a:pPr algn="l"/>
                      <a:r>
                        <a:rPr sz="1100" b="0">
                          <a:solidFill>
                            <a:srgbClr val="1B2A38"/>
                          </a:solidFill>
                          <a:latin typeface="Calibri"/>
                        </a:rPr>
                        <a:t>+ radiomics (shape + texture)</a:t>
                      </a:r>
                    </a:p>
                  </a:txBody>
                  <a:tcPr marL="64008" marR="45720" marT="18288" marB="18288" anchor="ctr">
                    <a:solidFill>
                      <a:srgbClr val="FFFFFF"/>
                    </a:solidFill>
                  </a:tcPr>
                </a:tc>
                <a:tc>
                  <a:txBody>
                    <a:bodyPr wrap="square"/>
                    <a:lstStyle/>
                    <a:p>
                      <a:pPr algn="ctr"/>
                      <a:r>
                        <a:rPr sz="1100" b="0">
                          <a:solidFill>
                            <a:srgbClr val="1B2A38"/>
                          </a:solidFill>
                          <a:latin typeface="Calibri"/>
                        </a:rPr>
                        <a:t>0.862 ± 0.013</a:t>
                      </a:r>
                    </a:p>
                  </a:txBody>
                  <a:tcPr marL="64008" marR="45720" marT="18288" marB="18288" anchor="ctr">
                    <a:solidFill>
                      <a:srgbClr val="FFFFFF"/>
                    </a:solidFill>
                  </a:tcPr>
                </a:tc>
                <a:tc>
                  <a:txBody>
                    <a:bodyPr wrap="square"/>
                    <a:lstStyle/>
                    <a:p>
                      <a:pPr algn="ctr"/>
                      <a:r>
                        <a:rPr sz="1100" b="0">
                          <a:solidFill>
                            <a:srgbClr val="1B2A38"/>
                          </a:solidFill>
                          <a:latin typeface="Calibri"/>
                        </a:rPr>
                        <a:t>0.863</a:t>
                      </a:r>
                    </a:p>
                  </a:txBody>
                  <a:tcPr marL="64008" marR="45720" marT="18288" marB="18288" anchor="ctr">
                    <a:solidFill>
                      <a:srgbClr val="FFFFFF"/>
                    </a:solidFill>
                  </a:tcPr>
                </a:tc>
                <a:tc>
                  <a:txBody>
                    <a:bodyPr wrap="square"/>
                    <a:lstStyle/>
                    <a:p>
                      <a:pPr algn="ctr"/>
                      <a:r>
                        <a:rPr sz="1100" b="0">
                          <a:solidFill>
                            <a:srgbClr val="1B2A38"/>
                          </a:solidFill>
                          <a:latin typeface="Calibri"/>
                        </a:rPr>
                        <a:t>[0.79, 0.93]</a:t>
                      </a:r>
                    </a:p>
                  </a:txBody>
                  <a:tcPr marL="64008" marR="45720" marT="18288" marB="18288" anchor="ctr">
                    <a:solidFill>
                      <a:srgbClr val="FFFFFF"/>
                    </a:solidFill>
                  </a:tcPr>
                </a:tc>
              </a:tr>
            </a:tbl>
          </a:graphicData>
        </a:graphic>
      </p:graphicFrame>
      <p:sp>
        <p:nvSpPr>
          <p:cNvPr id="43" name="Rounded Rectangle 42"/>
          <p:cNvSpPr/>
          <p:nvPr/>
        </p:nvSpPr>
        <p:spPr>
          <a:xfrm>
            <a:off x="5440680" y="4114800"/>
            <a:ext cx="5943600" cy="1828800"/>
          </a:xfrm>
          <a:prstGeom prst="roundRect">
            <a:avLst/>
          </a:prstGeom>
          <a:solidFill>
            <a:srgbClr val="F7E9E9"/>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50992" y="4251960"/>
            <a:ext cx="548640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E1595B"/>
                </a:solidFill>
                <a:latin typeface="Calibri"/>
              </a:rPr>
              <a:t>Verdict</a:t>
            </a:r>
          </a:p>
        </p:txBody>
      </p:sp>
      <p:sp>
        <p:nvSpPr>
          <p:cNvPr id="45" name="TextBox 44"/>
          <p:cNvSpPr txBox="1"/>
          <p:nvPr/>
        </p:nvSpPr>
        <p:spPr>
          <a:xfrm>
            <a:off x="5650992" y="4681728"/>
            <a:ext cx="5532120" cy="1188720"/>
          </a:xfrm>
          <a:prstGeom prst="rect">
            <a:avLst/>
          </a:prstGeom>
          <a:noFill/>
        </p:spPr>
        <p:txBody>
          <a:bodyPr wrap="square" lIns="0" rIns="0" tIns="0" bIns="0">
            <a:spAutoFit/>
          </a:bodyPr>
          <a:lstStyle/>
          <a:p>
            <a:pPr>
              <a:lnSpc>
                <a:spcPct val="102000"/>
              </a:lnSpc>
              <a:spcBef>
                <a:spcPts val="0"/>
              </a:spcBef>
              <a:spcAft>
                <a:spcPts val="800"/>
              </a:spcAft>
            </a:pPr>
            <a:r>
              <a:rPr sz="1150" b="1">
                <a:solidFill>
                  <a:srgbClr val="E1595B"/>
                </a:solidFill>
                <a:latin typeface="Calibri"/>
              </a:rPr>
              <a:t>•  </a:t>
            </a:r>
            <a:r>
              <a:rPr sz="1150" b="1">
                <a:solidFill>
                  <a:srgbClr val="0E4D64"/>
                </a:solidFill>
                <a:latin typeface="Calibri"/>
              </a:rPr>
              <a:t>Hand features: </a:t>
            </a:r>
            <a:r>
              <a:rPr sz="1150" b="0">
                <a:solidFill>
                  <a:srgbClr val="1B2A38"/>
                </a:solidFill>
                <a:latin typeface="Calibri"/>
              </a:rPr>
              <a:t>shape / radiomics CIs fully overlap the pure-CNN baseline → NO reliable gain. Dropped.</a:t>
            </a:r>
          </a:p>
          <a:p>
            <a:pPr>
              <a:lnSpc>
                <a:spcPct val="102000"/>
              </a:lnSpc>
              <a:spcBef>
                <a:spcPts val="0"/>
              </a:spcBef>
              <a:spcAft>
                <a:spcPts val="800"/>
              </a:spcAft>
            </a:pPr>
            <a:r>
              <a:rPr sz="1150" b="1">
                <a:solidFill>
                  <a:srgbClr val="E1595B"/>
                </a:solidFill>
                <a:latin typeface="Calibri"/>
              </a:rPr>
              <a:t>•  </a:t>
            </a:r>
            <a:r>
              <a:rPr sz="1150" b="1">
                <a:solidFill>
                  <a:srgbClr val="0E4D64"/>
                </a:solidFill>
                <a:latin typeface="Calibri"/>
              </a:rPr>
              <a:t>5-seed ensembling: </a:t>
            </a:r>
            <a:r>
              <a:rPr sz="1150" b="0">
                <a:solidFill>
                  <a:srgbClr val="1B2A38"/>
                </a:solidFill>
                <a:latin typeface="Calibri"/>
              </a:rPr>
              <a:t>per-seed 0.847 → ensemble 0.875 — the ONLY component that robustly helps.</a:t>
            </a:r>
          </a:p>
          <a:p>
            <a:pPr>
              <a:lnSpc>
                <a:spcPct val="102000"/>
              </a:lnSpc>
              <a:spcBef>
                <a:spcPts val="0"/>
              </a:spcBef>
              <a:spcAft>
                <a:spcPts val="800"/>
              </a:spcAft>
            </a:pPr>
            <a:r>
              <a:rPr sz="1150" b="1">
                <a:solidFill>
                  <a:srgbClr val="E1595B"/>
                </a:solidFill>
                <a:latin typeface="Calibri"/>
              </a:rPr>
              <a:t>•  </a:t>
            </a:r>
            <a:r>
              <a:rPr sz="1150" b="1">
                <a:solidFill>
                  <a:srgbClr val="0E4D64"/>
                </a:solidFill>
                <a:latin typeface="Calibri"/>
              </a:rPr>
              <a:t>Lesson: </a:t>
            </a:r>
            <a:r>
              <a:rPr sz="1150" b="0">
                <a:solidFill>
                  <a:srgbClr val="1B2A38"/>
                </a:solidFill>
                <a:latin typeface="Calibri"/>
              </a:rPr>
              <a:t>on 98 test images, single-run gains up to ~±0.05 are noise → always report CIs.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RESULTS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Segmentation leaderboard (leakage-free, 98 imgs)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22</a:t>
            </a:r>
          </a:p>
        </p:txBody>
      </p:sp>
      <p:graphicFrame>
        <p:nvGraphicFramePr>
          <p:cNvPr id="10" name="Table 9"/>
          <p:cNvGraphicFramePr>
            <a:graphicFrameLocks noGrp="1"/>
          </p:cNvGraphicFramePr>
          <p:nvPr/>
        </p:nvGraphicFramePr>
        <p:xfrm>
          <a:off x="777240" y="1554480"/>
          <a:ext cx="6903720" cy="3451860"/>
        </p:xfrm>
        <a:graphic>
          <a:graphicData uri="http://schemas.openxmlformats.org/drawingml/2006/table">
            <a:tbl>
              <a:tblPr>
                <a:tableStyleId>{5C22544A-7EE6-4342-B048-85BDC9FD1C3A}</a:tableStyleId>
              </a:tblPr>
              <a:tblGrid>
                <a:gridCol w="2514600"/>
                <a:gridCol w="914400"/>
                <a:gridCol w="658368"/>
                <a:gridCol w="658368"/>
                <a:gridCol w="749808"/>
                <a:gridCol w="749808"/>
                <a:gridCol w="658368"/>
              </a:tblGrid>
              <a:tr h="365760">
                <a:tc>
                  <a:txBody>
                    <a:bodyPr wrap="square"/>
                    <a:lstStyle/>
                    <a:p>
                      <a:pPr algn="l"/>
                      <a:r>
                        <a:rPr sz="1050" b="1">
                          <a:solidFill>
                            <a:srgbClr val="FFFFFF"/>
                          </a:solidFill>
                          <a:latin typeface="Calibri"/>
                        </a:rPr>
                        <a:t>Model</a:t>
                      </a:r>
                    </a:p>
                  </a:txBody>
                  <a:tcPr marL="64008" marR="45720" marT="18288" marB="18288" anchor="ctr">
                    <a:solidFill>
                      <a:srgbClr val="0E4D64"/>
                    </a:solidFill>
                  </a:tcPr>
                </a:tc>
                <a:tc>
                  <a:txBody>
                    <a:bodyPr wrap="square"/>
                    <a:lstStyle/>
                    <a:p>
                      <a:pPr algn="ctr"/>
                      <a:r>
                        <a:rPr sz="1050" b="1">
                          <a:solidFill>
                            <a:srgbClr val="FFFFFF"/>
                          </a:solidFill>
                          <a:latin typeface="Calibri"/>
                        </a:rPr>
                        <a:t>Type</a:t>
                      </a:r>
                    </a:p>
                  </a:txBody>
                  <a:tcPr marL="64008" marR="45720" marT="18288" marB="18288" anchor="ctr">
                    <a:solidFill>
                      <a:srgbClr val="0E4D64"/>
                    </a:solidFill>
                  </a:tcPr>
                </a:tc>
                <a:tc>
                  <a:txBody>
                    <a:bodyPr wrap="square"/>
                    <a:lstStyle/>
                    <a:p>
                      <a:pPr algn="ctr"/>
                      <a:r>
                        <a:rPr sz="1050" b="1">
                          <a:solidFill>
                            <a:srgbClr val="FFFFFF"/>
                          </a:solidFill>
                          <a:latin typeface="Calibri"/>
                        </a:rPr>
                        <a:t>Dice</a:t>
                      </a:r>
                    </a:p>
                  </a:txBody>
                  <a:tcPr marL="64008" marR="45720" marT="18288" marB="18288" anchor="ctr">
                    <a:solidFill>
                      <a:srgbClr val="0E4D64"/>
                    </a:solidFill>
                  </a:tcPr>
                </a:tc>
                <a:tc>
                  <a:txBody>
                    <a:bodyPr wrap="square"/>
                    <a:lstStyle/>
                    <a:p>
                      <a:pPr algn="ctr"/>
                      <a:r>
                        <a:rPr sz="1050" b="1">
                          <a:solidFill>
                            <a:srgbClr val="FFFFFF"/>
                          </a:solidFill>
                          <a:latin typeface="Calibri"/>
                        </a:rPr>
                        <a:t>IoU</a:t>
                      </a:r>
                    </a:p>
                  </a:txBody>
                  <a:tcPr marL="64008" marR="45720" marT="18288" marB="18288" anchor="ctr">
                    <a:solidFill>
                      <a:srgbClr val="0E4D64"/>
                    </a:solidFill>
                  </a:tcPr>
                </a:tc>
                <a:tc>
                  <a:txBody>
                    <a:bodyPr wrap="square"/>
                    <a:lstStyle/>
                    <a:p>
                      <a:pPr algn="ctr"/>
                      <a:r>
                        <a:rPr sz="1050" b="1">
                          <a:solidFill>
                            <a:srgbClr val="FFFFFF"/>
                          </a:solidFill>
                          <a:latin typeface="Calibri"/>
                        </a:rPr>
                        <a:t>F-meas</a:t>
                      </a:r>
                    </a:p>
                  </a:txBody>
                  <a:tcPr marL="64008" marR="45720" marT="18288" marB="18288" anchor="ctr">
                    <a:solidFill>
                      <a:srgbClr val="0E4D64"/>
                    </a:solidFill>
                  </a:tcPr>
                </a:tc>
                <a:tc>
                  <a:txBody>
                    <a:bodyPr wrap="square"/>
                    <a:lstStyle/>
                    <a:p>
                      <a:pPr algn="ctr"/>
                      <a:r>
                        <a:rPr sz="1050" b="1">
                          <a:solidFill>
                            <a:srgbClr val="FFFFFF"/>
                          </a:solidFill>
                          <a:latin typeface="Calibri"/>
                        </a:rPr>
                        <a:t>Params</a:t>
                      </a:r>
                    </a:p>
                  </a:txBody>
                  <a:tcPr marL="64008" marR="45720" marT="18288" marB="18288" anchor="ctr">
                    <a:solidFill>
                      <a:srgbClr val="0E4D64"/>
                    </a:solidFill>
                  </a:tcPr>
                </a:tc>
                <a:tc>
                  <a:txBody>
                    <a:bodyPr wrap="square"/>
                    <a:lstStyle/>
                    <a:p>
                      <a:pPr algn="ctr"/>
                      <a:r>
                        <a:rPr sz="1050" b="1">
                          <a:solidFill>
                            <a:srgbClr val="FFFFFF"/>
                          </a:solidFill>
                          <a:latin typeface="Calibri"/>
                        </a:rPr>
                        <a:t>Paper</a:t>
                      </a:r>
                    </a:p>
                  </a:txBody>
                  <a:tcPr marL="64008" marR="45720" marT="18288" marB="18288" anchor="ctr">
                    <a:solidFill>
                      <a:srgbClr val="0E4D64"/>
                    </a:solidFill>
                  </a:tcPr>
                </a:tc>
              </a:tr>
              <a:tr h="342900">
                <a:tc>
                  <a:txBody>
                    <a:bodyPr wrap="square"/>
                    <a:lstStyle/>
                    <a:p>
                      <a:pPr algn="l"/>
                      <a:r>
                        <a:rPr sz="1050" b="1">
                          <a:solidFill>
                            <a:srgbClr val="1B2A38"/>
                          </a:solidFill>
                          <a:latin typeface="Calibri"/>
                        </a:rPr>
                        <a:t>Improved Pretrained-UNet (ours)</a:t>
                      </a:r>
                    </a:p>
                  </a:txBody>
                  <a:tcPr marL="64008" marR="45720" marT="18288" marB="18288" anchor="ctr">
                    <a:solidFill>
                      <a:srgbClr val="FFF3D6"/>
                    </a:solidFill>
                  </a:tcPr>
                </a:tc>
                <a:tc>
                  <a:txBody>
                    <a:bodyPr wrap="square"/>
                    <a:lstStyle/>
                    <a:p>
                      <a:pPr algn="ctr"/>
                      <a:r>
                        <a:rPr sz="1050" b="1">
                          <a:solidFill>
                            <a:srgbClr val="1B2A38"/>
                          </a:solidFill>
                          <a:latin typeface="Calibri"/>
                        </a:rPr>
                        <a:t>ours</a:t>
                      </a:r>
                    </a:p>
                  </a:txBody>
                  <a:tcPr marL="64008" marR="45720" marT="18288" marB="18288" anchor="ctr">
                    <a:solidFill>
                      <a:srgbClr val="FFF3D6"/>
                    </a:solidFill>
                  </a:tcPr>
                </a:tc>
                <a:tc>
                  <a:txBody>
                    <a:bodyPr wrap="square"/>
                    <a:lstStyle/>
                    <a:p>
                      <a:pPr algn="ctr"/>
                      <a:r>
                        <a:rPr sz="1050" b="1">
                          <a:solidFill>
                            <a:srgbClr val="1B2A38"/>
                          </a:solidFill>
                          <a:latin typeface="Calibri"/>
                        </a:rPr>
                        <a:t>0.760</a:t>
                      </a:r>
                    </a:p>
                  </a:txBody>
                  <a:tcPr marL="64008" marR="45720" marT="18288" marB="18288" anchor="ctr">
                    <a:solidFill>
                      <a:srgbClr val="FFF3D6"/>
                    </a:solidFill>
                  </a:tcPr>
                </a:tc>
                <a:tc>
                  <a:txBody>
                    <a:bodyPr wrap="square"/>
                    <a:lstStyle/>
                    <a:p>
                      <a:pPr algn="ctr"/>
                      <a:r>
                        <a:rPr sz="1050" b="1">
                          <a:solidFill>
                            <a:srgbClr val="1B2A38"/>
                          </a:solidFill>
                          <a:latin typeface="Calibri"/>
                        </a:rPr>
                        <a:t>0.688</a:t>
                      </a:r>
                    </a:p>
                  </a:txBody>
                  <a:tcPr marL="64008" marR="45720" marT="18288" marB="18288" anchor="ctr">
                    <a:solidFill>
                      <a:srgbClr val="FFF3D6"/>
                    </a:solidFill>
                  </a:tcPr>
                </a:tc>
                <a:tc>
                  <a:txBody>
                    <a:bodyPr wrap="square"/>
                    <a:lstStyle/>
                    <a:p>
                      <a:pPr algn="ctr"/>
                      <a:r>
                        <a:rPr sz="1050" b="1">
                          <a:solidFill>
                            <a:srgbClr val="1B2A38"/>
                          </a:solidFill>
                          <a:latin typeface="Calibri"/>
                        </a:rPr>
                        <a:t>0.854</a:t>
                      </a:r>
                    </a:p>
                  </a:txBody>
                  <a:tcPr marL="64008" marR="45720" marT="18288" marB="18288" anchor="ctr">
                    <a:solidFill>
                      <a:srgbClr val="FFF3D6"/>
                    </a:solidFill>
                  </a:tcPr>
                </a:tc>
                <a:tc>
                  <a:txBody>
                    <a:bodyPr wrap="square"/>
                    <a:lstStyle/>
                    <a:p>
                      <a:pPr algn="ctr"/>
                      <a:r>
                        <a:rPr sz="1050" b="1">
                          <a:solidFill>
                            <a:srgbClr val="1B2A38"/>
                          </a:solidFill>
                          <a:latin typeface="Calibri"/>
                        </a:rPr>
                        <a:t>20.2M</a:t>
                      </a:r>
                    </a:p>
                  </a:txBody>
                  <a:tcPr marL="64008" marR="45720" marT="18288" marB="18288" anchor="ctr">
                    <a:solidFill>
                      <a:srgbClr val="FFF3D6"/>
                    </a:solidFill>
                  </a:tcPr>
                </a:tc>
                <a:tc>
                  <a:txBody>
                    <a:bodyPr wrap="square"/>
                    <a:lstStyle/>
                    <a:p>
                      <a:pPr algn="ctr"/>
                      <a:r>
                        <a:rPr sz="1050" b="1">
                          <a:solidFill>
                            <a:srgbClr val="1B2A38"/>
                          </a:solidFill>
                          <a:latin typeface="Calibri"/>
                        </a:rPr>
                        <a:t>—</a:t>
                      </a:r>
                    </a:p>
                  </a:txBody>
                  <a:tcPr marL="64008" marR="45720" marT="18288" marB="18288" anchor="ctr">
                    <a:solidFill>
                      <a:srgbClr val="FFF3D6"/>
                    </a:solidFill>
                  </a:tcPr>
                </a:tc>
              </a:tr>
              <a:tr h="342900">
                <a:tc>
                  <a:txBody>
                    <a:bodyPr wrap="square"/>
                    <a:lstStyle/>
                    <a:p>
                      <a:pPr algn="l"/>
                      <a:r>
                        <a:rPr sz="1050" b="0">
                          <a:solidFill>
                            <a:srgbClr val="1B2A38"/>
                          </a:solidFill>
                          <a:latin typeface="Calibri"/>
                        </a:rPr>
                        <a:t>DeepLabV3+</a:t>
                      </a:r>
                    </a:p>
                  </a:txBody>
                  <a:tcPr marL="64008" marR="45720" marT="18288" marB="18288" anchor="ctr">
                    <a:solidFill>
                      <a:srgbClr val="EEF3F5"/>
                    </a:solidFill>
                  </a:tcPr>
                </a:tc>
                <a:tc>
                  <a:txBody>
                    <a:bodyPr wrap="square"/>
                    <a:lstStyle/>
                    <a:p>
                      <a:pPr algn="ctr"/>
                      <a:r>
                        <a:rPr sz="1050" b="0">
                          <a:solidFill>
                            <a:srgbClr val="1B2A38"/>
                          </a:solidFill>
                          <a:latin typeface="Calibri"/>
                        </a:rPr>
                        <a:t>transfer</a:t>
                      </a:r>
                    </a:p>
                  </a:txBody>
                  <a:tcPr marL="64008" marR="45720" marT="18288" marB="18288" anchor="ctr">
                    <a:solidFill>
                      <a:srgbClr val="EEF3F5"/>
                    </a:solidFill>
                  </a:tcPr>
                </a:tc>
                <a:tc>
                  <a:txBody>
                    <a:bodyPr wrap="square"/>
                    <a:lstStyle/>
                    <a:p>
                      <a:pPr algn="ctr"/>
                      <a:r>
                        <a:rPr sz="1050" b="0">
                          <a:solidFill>
                            <a:srgbClr val="1B2A38"/>
                          </a:solidFill>
                          <a:latin typeface="Calibri"/>
                        </a:rPr>
                        <a:t>0.739</a:t>
                      </a:r>
                    </a:p>
                  </a:txBody>
                  <a:tcPr marL="64008" marR="45720" marT="18288" marB="18288" anchor="ctr">
                    <a:solidFill>
                      <a:srgbClr val="EEF3F5"/>
                    </a:solidFill>
                  </a:tcPr>
                </a:tc>
                <a:tc>
                  <a:txBody>
                    <a:bodyPr wrap="square"/>
                    <a:lstStyle/>
                    <a:p>
                      <a:pPr algn="ctr"/>
                      <a:r>
                        <a:rPr sz="1050" b="0">
                          <a:solidFill>
                            <a:srgbClr val="1B2A38"/>
                          </a:solidFill>
                          <a:latin typeface="Calibri"/>
                        </a:rPr>
                        <a:t>0.652</a:t>
                      </a:r>
                    </a:p>
                  </a:txBody>
                  <a:tcPr marL="64008" marR="45720" marT="18288" marB="18288" anchor="ctr">
                    <a:solidFill>
                      <a:srgbClr val="EEF3F5"/>
                    </a:solidFill>
                  </a:tcPr>
                </a:tc>
                <a:tc>
                  <a:txBody>
                    <a:bodyPr wrap="square"/>
                    <a:lstStyle/>
                    <a:p>
                      <a:pPr algn="ctr"/>
                      <a:r>
                        <a:rPr sz="1050" b="0">
                          <a:solidFill>
                            <a:srgbClr val="1B2A38"/>
                          </a:solidFill>
                          <a:latin typeface="Calibri"/>
                        </a:rPr>
                        <a:t>0.810</a:t>
                      </a:r>
                    </a:p>
                  </a:txBody>
                  <a:tcPr marL="64008" marR="45720" marT="18288" marB="18288" anchor="ctr">
                    <a:solidFill>
                      <a:srgbClr val="EEF3F5"/>
                    </a:solidFill>
                  </a:tcPr>
                </a:tc>
                <a:tc>
                  <a:txBody>
                    <a:bodyPr wrap="square"/>
                    <a:lstStyle/>
                    <a:p>
                      <a:pPr algn="ctr"/>
                      <a:r>
                        <a:rPr sz="1050" b="0">
                          <a:solidFill>
                            <a:srgbClr val="1B2A38"/>
                          </a:solidFill>
                          <a:latin typeface="Calibri"/>
                        </a:rPr>
                        <a:t>26.7M</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AAU-Net</a:t>
                      </a:r>
                    </a:p>
                  </a:txBody>
                  <a:tcPr marL="64008" marR="45720" marT="18288" marB="18288" anchor="ctr">
                    <a:solidFill>
                      <a:srgbClr val="FFFFFF"/>
                    </a:solidFill>
                  </a:tcPr>
                </a:tc>
                <a:tc>
                  <a:txBody>
                    <a:bodyPr wrap="square"/>
                    <a:lstStyle/>
                    <a:p>
                      <a:pPr algn="ctr"/>
                      <a:r>
                        <a:rPr sz="1050" b="0">
                          <a:solidFill>
                            <a:srgbClr val="1B2A38"/>
                          </a:solidFill>
                          <a:latin typeface="Calibri"/>
                        </a:rPr>
                        <a:t>reprod.</a:t>
                      </a:r>
                    </a:p>
                  </a:txBody>
                  <a:tcPr marL="64008" marR="45720" marT="18288" marB="18288" anchor="ctr">
                    <a:solidFill>
                      <a:srgbClr val="FFFFFF"/>
                    </a:solidFill>
                  </a:tcPr>
                </a:tc>
                <a:tc>
                  <a:txBody>
                    <a:bodyPr wrap="square"/>
                    <a:lstStyle/>
                    <a:p>
                      <a:pPr algn="ctr"/>
                      <a:r>
                        <a:rPr sz="1050" b="0">
                          <a:solidFill>
                            <a:srgbClr val="1B2A38"/>
                          </a:solidFill>
                          <a:latin typeface="Calibri"/>
                        </a:rPr>
                        <a:t>0.730</a:t>
                      </a:r>
                    </a:p>
                  </a:txBody>
                  <a:tcPr marL="64008" marR="45720" marT="18288" marB="18288" anchor="ctr">
                    <a:solidFill>
                      <a:srgbClr val="FFFFFF"/>
                    </a:solidFill>
                  </a:tcPr>
                </a:tc>
                <a:tc>
                  <a:txBody>
                    <a:bodyPr wrap="square"/>
                    <a:lstStyle/>
                    <a:p>
                      <a:pPr algn="ctr"/>
                      <a:r>
                        <a:rPr sz="1050" b="0">
                          <a:solidFill>
                            <a:srgbClr val="1B2A38"/>
                          </a:solidFill>
                          <a:latin typeface="Calibri"/>
                        </a:rPr>
                        <a:t>0.638</a:t>
                      </a:r>
                    </a:p>
                  </a:txBody>
                  <a:tcPr marL="64008" marR="45720" marT="18288" marB="18288" anchor="ctr">
                    <a:solidFill>
                      <a:srgbClr val="FFFFFF"/>
                    </a:solidFill>
                  </a:tcPr>
                </a:tc>
                <a:tc>
                  <a:txBody>
                    <a:bodyPr wrap="square"/>
                    <a:lstStyle/>
                    <a:p>
                      <a:pPr algn="ctr"/>
                      <a:r>
                        <a:rPr sz="1050" b="0">
                          <a:solidFill>
                            <a:srgbClr val="1B2A38"/>
                          </a:solidFill>
                          <a:latin typeface="Calibri"/>
                        </a:rPr>
                        <a:t>0.723</a:t>
                      </a:r>
                    </a:p>
                  </a:txBody>
                  <a:tcPr marL="64008" marR="45720" marT="18288" marB="18288" anchor="ctr">
                    <a:solidFill>
                      <a:srgbClr val="FFFFFF"/>
                    </a:solidFill>
                  </a:tcPr>
                </a:tc>
                <a:tc>
                  <a:txBody>
                    <a:bodyPr wrap="square"/>
                    <a:lstStyle/>
                    <a:p>
                      <a:pPr algn="ctr"/>
                      <a:r>
                        <a:rPr sz="1050" b="0">
                          <a:solidFill>
                            <a:srgbClr val="1B2A38"/>
                          </a:solidFill>
                          <a:latin typeface="Calibri"/>
                        </a:rPr>
                        <a:t>42.7M</a:t>
                      </a:r>
                    </a:p>
                  </a:txBody>
                  <a:tcPr marL="64008" marR="45720" marT="18288" marB="18288" anchor="ctr">
                    <a:solidFill>
                      <a:srgbClr val="FFFFFF"/>
                    </a:solidFill>
                  </a:tcPr>
                </a:tc>
                <a:tc>
                  <a:txBody>
                    <a:bodyPr wrap="square"/>
                    <a:lstStyle/>
                    <a:p>
                      <a:pPr algn="ctr"/>
                      <a:r>
                        <a:rPr sz="1050" b="0">
                          <a:solidFill>
                            <a:srgbClr val="1B2A38"/>
                          </a:solidFill>
                          <a:latin typeface="Calibri"/>
                        </a:rPr>
                        <a:t>0.775</a:t>
                      </a:r>
                    </a:p>
                  </a:txBody>
                  <a:tcPr marL="64008" marR="45720" marT="18288" marB="18288" anchor="ctr">
                    <a:solidFill>
                      <a:srgbClr val="FFFFFF"/>
                    </a:solidFill>
                  </a:tcPr>
                </a:tc>
              </a:tr>
              <a:tr h="342900">
                <a:tc>
                  <a:txBody>
                    <a:bodyPr wrap="square"/>
                    <a:lstStyle/>
                    <a:p>
                      <a:pPr algn="l"/>
                      <a:r>
                        <a:rPr sz="1050" b="0">
                          <a:solidFill>
                            <a:srgbClr val="1B2A38"/>
                          </a:solidFill>
                          <a:latin typeface="Calibri"/>
                        </a:rPr>
                        <a:t>nnU-Net</a:t>
                      </a:r>
                    </a:p>
                  </a:txBody>
                  <a:tcPr marL="64008" marR="45720" marT="18288" marB="18288" anchor="ctr">
                    <a:solidFill>
                      <a:srgbClr val="EEF3F5"/>
                    </a:solidFill>
                  </a:tcPr>
                </a:tc>
                <a:tc>
                  <a:txBody>
                    <a:bodyPr wrap="square"/>
                    <a:lstStyle/>
                    <a:p>
                      <a:pPr algn="ctr"/>
                      <a:r>
                        <a:rPr sz="1050" b="0">
                          <a:solidFill>
                            <a:srgbClr val="1B2A38"/>
                          </a:solidFill>
                          <a:latin typeface="Calibri"/>
                        </a:rPr>
                        <a:t>reprod.</a:t>
                      </a:r>
                    </a:p>
                  </a:txBody>
                  <a:tcPr marL="64008" marR="45720" marT="18288" marB="18288" anchor="ctr">
                    <a:solidFill>
                      <a:srgbClr val="EEF3F5"/>
                    </a:solidFill>
                  </a:tcPr>
                </a:tc>
                <a:tc>
                  <a:txBody>
                    <a:bodyPr wrap="square"/>
                    <a:lstStyle/>
                    <a:p>
                      <a:pPr algn="ctr"/>
                      <a:r>
                        <a:rPr sz="1050" b="0">
                          <a:solidFill>
                            <a:srgbClr val="1B2A38"/>
                          </a:solidFill>
                          <a:latin typeface="Calibri"/>
                        </a:rPr>
                        <a:t>0.717</a:t>
                      </a:r>
                    </a:p>
                  </a:txBody>
                  <a:tcPr marL="64008" marR="45720" marT="18288" marB="18288" anchor="ctr">
                    <a:solidFill>
                      <a:srgbClr val="EEF3F5"/>
                    </a:solidFill>
                  </a:tcPr>
                </a:tc>
                <a:tc>
                  <a:txBody>
                    <a:bodyPr wrap="square"/>
                    <a:lstStyle/>
                    <a:p>
                      <a:pPr algn="ctr"/>
                      <a:r>
                        <a:rPr sz="1050" b="0">
                          <a:solidFill>
                            <a:srgbClr val="1B2A38"/>
                          </a:solidFill>
                          <a:latin typeface="Calibri"/>
                        </a:rPr>
                        <a:t>0.627</a:t>
                      </a:r>
                    </a:p>
                  </a:txBody>
                  <a:tcPr marL="64008" marR="45720" marT="18288" marB="18288" anchor="ctr">
                    <a:solidFill>
                      <a:srgbClr val="EEF3F5"/>
                    </a:solidFill>
                  </a:tcPr>
                </a:tc>
                <a:tc>
                  <a:txBody>
                    <a:bodyPr wrap="square"/>
                    <a:lstStyle/>
                    <a:p>
                      <a:pPr algn="ctr"/>
                      <a:r>
                        <a:rPr sz="1050" b="0">
                          <a:solidFill>
                            <a:srgbClr val="1B2A38"/>
                          </a:solidFill>
                          <a:latin typeface="Calibri"/>
                        </a:rPr>
                        <a:t>0.781</a:t>
                      </a:r>
                    </a:p>
                  </a:txBody>
                  <a:tcPr marL="64008" marR="45720" marT="18288" marB="18288" anchor="ctr">
                    <a:solidFill>
                      <a:srgbClr val="EEF3F5"/>
                    </a:solidFill>
                  </a:tcPr>
                </a:tc>
                <a:tc>
                  <a:txBody>
                    <a:bodyPr wrap="square"/>
                    <a:lstStyle/>
                    <a:p>
                      <a:pPr algn="ctr"/>
                      <a:r>
                        <a:rPr sz="1050" b="0">
                          <a:solidFill>
                            <a:srgbClr val="1B2A38"/>
                          </a:solidFill>
                          <a:latin typeface="Calibri"/>
                        </a:rPr>
                        <a:t>8.5M</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CResU-Net</a:t>
                      </a:r>
                    </a:p>
                  </a:txBody>
                  <a:tcPr marL="64008" marR="45720" marT="18288" marB="18288" anchor="ctr">
                    <a:solidFill>
                      <a:srgbClr val="FFFFFF"/>
                    </a:solidFill>
                  </a:tcPr>
                </a:tc>
                <a:tc>
                  <a:txBody>
                    <a:bodyPr wrap="square"/>
                    <a:lstStyle/>
                    <a:p>
                      <a:pPr algn="ctr"/>
                      <a:r>
                        <a:rPr sz="1050" b="0">
                          <a:solidFill>
                            <a:srgbClr val="1B2A38"/>
                          </a:solidFill>
                          <a:latin typeface="Calibri"/>
                        </a:rPr>
                        <a:t>reprod.</a:t>
                      </a:r>
                    </a:p>
                  </a:txBody>
                  <a:tcPr marL="64008" marR="45720" marT="18288" marB="18288" anchor="ctr">
                    <a:solidFill>
                      <a:srgbClr val="FFFFFF"/>
                    </a:solidFill>
                  </a:tcPr>
                </a:tc>
                <a:tc>
                  <a:txBody>
                    <a:bodyPr wrap="square"/>
                    <a:lstStyle/>
                    <a:p>
                      <a:pPr algn="ctr"/>
                      <a:r>
                        <a:rPr sz="1050" b="0">
                          <a:solidFill>
                            <a:srgbClr val="1B2A38"/>
                          </a:solidFill>
                          <a:latin typeface="Calibri"/>
                        </a:rPr>
                        <a:t>0.693</a:t>
                      </a:r>
                    </a:p>
                  </a:txBody>
                  <a:tcPr marL="64008" marR="45720" marT="18288" marB="18288" anchor="ctr">
                    <a:solidFill>
                      <a:srgbClr val="FFFFFF"/>
                    </a:solidFill>
                  </a:tcPr>
                </a:tc>
                <a:tc>
                  <a:txBody>
                    <a:bodyPr wrap="square"/>
                    <a:lstStyle/>
                    <a:p>
                      <a:pPr algn="ctr"/>
                      <a:r>
                        <a:rPr sz="1050" b="0">
                          <a:solidFill>
                            <a:srgbClr val="1B2A38"/>
                          </a:solidFill>
                          <a:latin typeface="Calibri"/>
                        </a:rPr>
                        <a:t>0.600</a:t>
                      </a:r>
                    </a:p>
                  </a:txBody>
                  <a:tcPr marL="64008" marR="45720" marT="18288" marB="18288" anchor="ctr">
                    <a:solidFill>
                      <a:srgbClr val="FFFFFF"/>
                    </a:solidFill>
                  </a:tcPr>
                </a:tc>
                <a:tc>
                  <a:txBody>
                    <a:bodyPr wrap="square"/>
                    <a:lstStyle/>
                    <a:p>
                      <a:pPr algn="ctr"/>
                      <a:r>
                        <a:rPr sz="1050" b="0">
                          <a:solidFill>
                            <a:srgbClr val="1B2A38"/>
                          </a:solidFill>
                          <a:latin typeface="Calibri"/>
                        </a:rPr>
                        <a:t>0.772</a:t>
                      </a:r>
                    </a:p>
                  </a:txBody>
                  <a:tcPr marL="64008" marR="45720" marT="18288" marB="18288" anchor="ctr">
                    <a:solidFill>
                      <a:srgbClr val="FFFFFF"/>
                    </a:solidFill>
                  </a:tcPr>
                </a:tc>
                <a:tc>
                  <a:txBody>
                    <a:bodyPr wrap="square"/>
                    <a:lstStyle/>
                    <a:p>
                      <a:pPr algn="ctr"/>
                      <a:r>
                        <a:rPr sz="1050" b="0">
                          <a:solidFill>
                            <a:srgbClr val="1B2A38"/>
                          </a:solidFill>
                          <a:latin typeface="Calibri"/>
                        </a:rPr>
                        <a:t>33.5M</a:t>
                      </a:r>
                    </a:p>
                  </a:txBody>
                  <a:tcPr marL="64008" marR="45720" marT="18288" marB="18288" anchor="ctr">
                    <a:solidFill>
                      <a:srgbClr val="FFFFFF"/>
                    </a:solidFill>
                  </a:tcPr>
                </a:tc>
                <a:tc>
                  <a:txBody>
                    <a:bodyPr wrap="square"/>
                    <a:lstStyle/>
                    <a:p>
                      <a:pPr algn="ctr"/>
                      <a:r>
                        <a:rPr sz="1050" b="0">
                          <a:solidFill>
                            <a:srgbClr val="1B2A38"/>
                          </a:solidFill>
                          <a:latin typeface="Calibri"/>
                        </a:rPr>
                        <a:t>0.829</a:t>
                      </a:r>
                    </a:p>
                  </a:txBody>
                  <a:tcPr marL="64008" marR="45720" marT="18288" marB="18288" anchor="ctr">
                    <a:solidFill>
                      <a:srgbClr val="FFFFFF"/>
                    </a:solidFill>
                  </a:tcPr>
                </a:tc>
              </a:tr>
              <a:tr h="342900">
                <a:tc>
                  <a:txBody>
                    <a:bodyPr wrap="square"/>
                    <a:lstStyle/>
                    <a:p>
                      <a:pPr algn="l"/>
                      <a:r>
                        <a:rPr sz="1050" b="0">
                          <a:solidFill>
                            <a:srgbClr val="1B2A38"/>
                          </a:solidFill>
                          <a:latin typeface="Calibri"/>
                        </a:rPr>
                        <a:t>U-Net</a:t>
                      </a:r>
                    </a:p>
                  </a:txBody>
                  <a:tcPr marL="64008" marR="45720" marT="18288" marB="18288" anchor="ctr">
                    <a:solidFill>
                      <a:srgbClr val="EEF3F5"/>
                    </a:solidFill>
                  </a:tcPr>
                </a:tc>
                <a:tc>
                  <a:txBody>
                    <a:bodyPr wrap="square"/>
                    <a:lstStyle/>
                    <a:p>
                      <a:pPr algn="ctr"/>
                      <a:r>
                        <a:rPr sz="1050" b="0">
                          <a:solidFill>
                            <a:srgbClr val="1B2A38"/>
                          </a:solidFill>
                          <a:latin typeface="Calibri"/>
                        </a:rPr>
                        <a:t>scratch</a:t>
                      </a:r>
                    </a:p>
                  </a:txBody>
                  <a:tcPr marL="64008" marR="45720" marT="18288" marB="18288" anchor="ctr">
                    <a:solidFill>
                      <a:srgbClr val="EEF3F5"/>
                    </a:solidFill>
                  </a:tcPr>
                </a:tc>
                <a:tc>
                  <a:txBody>
                    <a:bodyPr wrap="square"/>
                    <a:lstStyle/>
                    <a:p>
                      <a:pPr algn="ctr"/>
                      <a:r>
                        <a:rPr sz="1050" b="0">
                          <a:solidFill>
                            <a:srgbClr val="1B2A38"/>
                          </a:solidFill>
                          <a:latin typeface="Calibri"/>
                        </a:rPr>
                        <a:t>0.648</a:t>
                      </a:r>
                    </a:p>
                  </a:txBody>
                  <a:tcPr marL="64008" marR="45720" marT="18288" marB="18288" anchor="ctr">
                    <a:solidFill>
                      <a:srgbClr val="EEF3F5"/>
                    </a:solidFill>
                  </a:tcPr>
                </a:tc>
                <a:tc>
                  <a:txBody>
                    <a:bodyPr wrap="square"/>
                    <a:lstStyle/>
                    <a:p>
                      <a:pPr algn="ctr"/>
                      <a:r>
                        <a:rPr sz="1050" b="0">
                          <a:solidFill>
                            <a:srgbClr val="1B2A38"/>
                          </a:solidFill>
                          <a:latin typeface="Calibri"/>
                        </a:rPr>
                        <a:t>0.570</a:t>
                      </a:r>
                    </a:p>
                  </a:txBody>
                  <a:tcPr marL="64008" marR="45720" marT="18288" marB="18288" anchor="ctr">
                    <a:solidFill>
                      <a:srgbClr val="EEF3F5"/>
                    </a:solidFill>
                  </a:tcPr>
                </a:tc>
                <a:tc>
                  <a:txBody>
                    <a:bodyPr wrap="square"/>
                    <a:lstStyle/>
                    <a:p>
                      <a:pPr algn="ctr"/>
                      <a:r>
                        <a:rPr sz="1050" b="0">
                          <a:solidFill>
                            <a:srgbClr val="1B2A38"/>
                          </a:solidFill>
                          <a:latin typeface="Calibri"/>
                        </a:rPr>
                        <a:t>0.779</a:t>
                      </a:r>
                    </a:p>
                  </a:txBody>
                  <a:tcPr marL="64008" marR="45720" marT="18288" marB="18288" anchor="ctr">
                    <a:solidFill>
                      <a:srgbClr val="EEF3F5"/>
                    </a:solidFill>
                  </a:tcPr>
                </a:tc>
                <a:tc>
                  <a:txBody>
                    <a:bodyPr wrap="square"/>
                    <a:lstStyle/>
                    <a:p>
                      <a:pPr algn="ctr"/>
                      <a:r>
                        <a:rPr sz="1050" b="0">
                          <a:solidFill>
                            <a:srgbClr val="1B2A38"/>
                          </a:solidFill>
                          <a:latin typeface="Calibri"/>
                        </a:rPr>
                        <a:t>31.0M</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Attention U-Net</a:t>
                      </a:r>
                    </a:p>
                  </a:txBody>
                  <a:tcPr marL="64008" marR="45720" marT="18288" marB="18288" anchor="ctr">
                    <a:solidFill>
                      <a:srgbClr val="FFFFFF"/>
                    </a:solidFill>
                  </a:tcPr>
                </a:tc>
                <a:tc>
                  <a:txBody>
                    <a:bodyPr wrap="square"/>
                    <a:lstStyle/>
                    <a:p>
                      <a:pPr algn="ctr"/>
                      <a:r>
                        <a:rPr sz="1050" b="0">
                          <a:solidFill>
                            <a:srgbClr val="1B2A38"/>
                          </a:solidFill>
                          <a:latin typeface="Calibri"/>
                        </a:rPr>
                        <a:t>scratch</a:t>
                      </a:r>
                    </a:p>
                  </a:txBody>
                  <a:tcPr marL="64008" marR="45720" marT="18288" marB="18288" anchor="ctr">
                    <a:solidFill>
                      <a:srgbClr val="FFFFFF"/>
                    </a:solidFill>
                  </a:tcPr>
                </a:tc>
                <a:tc>
                  <a:txBody>
                    <a:bodyPr wrap="square"/>
                    <a:lstStyle/>
                    <a:p>
                      <a:pPr algn="ctr"/>
                      <a:r>
                        <a:rPr sz="1050" b="0">
                          <a:solidFill>
                            <a:srgbClr val="1B2A38"/>
                          </a:solidFill>
                          <a:latin typeface="Calibri"/>
                        </a:rPr>
                        <a:t>0.629</a:t>
                      </a:r>
                    </a:p>
                  </a:txBody>
                  <a:tcPr marL="64008" marR="45720" marT="18288" marB="18288" anchor="ctr">
                    <a:solidFill>
                      <a:srgbClr val="FFFFFF"/>
                    </a:solidFill>
                  </a:tcPr>
                </a:tc>
                <a:tc>
                  <a:txBody>
                    <a:bodyPr wrap="square"/>
                    <a:lstStyle/>
                    <a:p>
                      <a:pPr algn="ctr"/>
                      <a:r>
                        <a:rPr sz="1050" b="0">
                          <a:solidFill>
                            <a:srgbClr val="1B2A38"/>
                          </a:solidFill>
                          <a:latin typeface="Calibri"/>
                        </a:rPr>
                        <a:t>0.540</a:t>
                      </a:r>
                    </a:p>
                  </a:txBody>
                  <a:tcPr marL="64008" marR="45720" marT="18288" marB="18288" anchor="ctr">
                    <a:solidFill>
                      <a:srgbClr val="FFFFFF"/>
                    </a:solidFill>
                  </a:tcPr>
                </a:tc>
                <a:tc>
                  <a:txBody>
                    <a:bodyPr wrap="square"/>
                    <a:lstStyle/>
                    <a:p>
                      <a:pPr algn="ctr"/>
                      <a:r>
                        <a:rPr sz="1050" b="0">
                          <a:solidFill>
                            <a:srgbClr val="1B2A38"/>
                          </a:solidFill>
                          <a:latin typeface="Calibri"/>
                        </a:rPr>
                        <a:t>0.631</a:t>
                      </a:r>
                    </a:p>
                  </a:txBody>
                  <a:tcPr marL="64008" marR="45720" marT="18288" marB="18288" anchor="ctr">
                    <a:solidFill>
                      <a:srgbClr val="FFFFFF"/>
                    </a:solidFill>
                  </a:tcPr>
                </a:tc>
                <a:tc>
                  <a:txBody>
                    <a:bodyPr wrap="square"/>
                    <a:lstStyle/>
                    <a:p>
                      <a:pPr algn="ctr"/>
                      <a:r>
                        <a:rPr sz="1050" b="0">
                          <a:solidFill>
                            <a:srgbClr val="1B2A38"/>
                          </a:solidFill>
                          <a:latin typeface="Calibri"/>
                        </a:rPr>
                        <a:t>31.4M</a:t>
                      </a:r>
                    </a:p>
                  </a:txBody>
                  <a:tcPr marL="64008" marR="45720" marT="18288" marB="18288" anchor="ctr">
                    <a:solidFill>
                      <a:srgbClr val="FFFFFF"/>
                    </a:solidFill>
                  </a:tcPr>
                </a:tc>
                <a:tc>
                  <a:txBody>
                    <a:bodyPr wrap="square"/>
                    <a:lstStyle/>
                    <a:p>
                      <a:pPr algn="ctr"/>
                      <a:r>
                        <a:rPr sz="1050" b="0">
                          <a:solidFill>
                            <a:srgbClr val="1B2A38"/>
                          </a:solidFill>
                          <a:latin typeface="Calibri"/>
                        </a:rPr>
                        <a:t>—</a:t>
                      </a:r>
                    </a:p>
                  </a:txBody>
                  <a:tcPr marL="64008" marR="45720" marT="18288" marB="18288" anchor="ctr">
                    <a:solidFill>
                      <a:srgbClr val="FFFFFF"/>
                    </a:solidFill>
                  </a:tcPr>
                </a:tc>
              </a:tr>
              <a:tr h="342900">
                <a:tc>
                  <a:txBody>
                    <a:bodyPr wrap="square"/>
                    <a:lstStyle/>
                    <a:p>
                      <a:pPr algn="l"/>
                      <a:r>
                        <a:rPr sz="1050" b="0">
                          <a:solidFill>
                            <a:srgbClr val="1B2A38"/>
                          </a:solidFill>
                          <a:latin typeface="Calibri"/>
                        </a:rPr>
                        <a:t>MTL-OCA (seg)</a:t>
                      </a:r>
                    </a:p>
                  </a:txBody>
                  <a:tcPr marL="64008" marR="45720" marT="18288" marB="18288" anchor="ctr">
                    <a:solidFill>
                      <a:srgbClr val="EEF3F5"/>
                    </a:solidFill>
                  </a:tcPr>
                </a:tc>
                <a:tc>
                  <a:txBody>
                    <a:bodyPr wrap="square"/>
                    <a:lstStyle/>
                    <a:p>
                      <a:pPr algn="ctr"/>
                      <a:r>
                        <a:rPr sz="1050" b="0">
                          <a:solidFill>
                            <a:srgbClr val="1B2A38"/>
                          </a:solidFill>
                          <a:latin typeface="Calibri"/>
                        </a:rPr>
                        <a:t>joint</a:t>
                      </a:r>
                    </a:p>
                  </a:txBody>
                  <a:tcPr marL="64008" marR="45720" marT="18288" marB="18288" anchor="ctr">
                    <a:solidFill>
                      <a:srgbClr val="EEF3F5"/>
                    </a:solidFill>
                  </a:tcPr>
                </a:tc>
                <a:tc>
                  <a:txBody>
                    <a:bodyPr wrap="square"/>
                    <a:lstStyle/>
                    <a:p>
                      <a:pPr algn="ctr"/>
                      <a:r>
                        <a:rPr sz="1050" b="0">
                          <a:solidFill>
                            <a:srgbClr val="1B2A38"/>
                          </a:solidFill>
                          <a:latin typeface="Calibri"/>
                        </a:rPr>
                        <a:t>0.612</a:t>
                      </a:r>
                    </a:p>
                  </a:txBody>
                  <a:tcPr marL="64008" marR="45720" marT="18288" marB="18288" anchor="ctr">
                    <a:solidFill>
                      <a:srgbClr val="EEF3F5"/>
                    </a:solidFill>
                  </a:tcPr>
                </a:tc>
                <a:tc>
                  <a:txBody>
                    <a:bodyPr wrap="square"/>
                    <a:lstStyle/>
                    <a:p>
                      <a:pPr algn="ctr"/>
                      <a:r>
                        <a:rPr sz="1050" b="0">
                          <a:solidFill>
                            <a:srgbClr val="1B2A38"/>
                          </a:solidFill>
                          <a:latin typeface="Calibri"/>
                        </a:rPr>
                        <a:t>0.515</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c>
                  <a:txBody>
                    <a:bodyPr wrap="square"/>
                    <a:lstStyle/>
                    <a:p>
                      <a:pPr algn="ctr"/>
                      <a:r>
                        <a:rPr sz="1050" b="0">
                          <a:solidFill>
                            <a:srgbClr val="1B2A38"/>
                          </a:solidFill>
                          <a:latin typeface="Calibri"/>
                        </a:rPr>
                        <a:t>8.2M</a:t>
                      </a:r>
                    </a:p>
                  </a:txBody>
                  <a:tcPr marL="64008" marR="45720" marT="18288" marB="18288" anchor="ctr">
                    <a:solidFill>
                      <a:srgbClr val="EEF3F5"/>
                    </a:solidFill>
                  </a:tcPr>
                </a:tc>
                <a:tc>
                  <a:txBody>
                    <a:bodyPr wrap="square"/>
                    <a:lstStyle/>
                    <a:p>
                      <a:pPr algn="ctr"/>
                      <a:r>
                        <a:rPr sz="1050" b="0">
                          <a:solidFill>
                            <a:srgbClr val="1B2A38"/>
                          </a:solidFill>
                          <a:latin typeface="Calibri"/>
                        </a:rPr>
                        <a:t>0.838</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FCN-AlexNet</a:t>
                      </a:r>
                    </a:p>
                  </a:txBody>
                  <a:tcPr marL="64008" marR="45720" marT="18288" marB="18288" anchor="ctr">
                    <a:solidFill>
                      <a:srgbClr val="FFFFFF"/>
                    </a:solidFill>
                  </a:tcPr>
                </a:tc>
                <a:tc>
                  <a:txBody>
                    <a:bodyPr wrap="square"/>
                    <a:lstStyle/>
                    <a:p>
                      <a:pPr algn="ctr"/>
                      <a:r>
                        <a:rPr sz="1050" b="0">
                          <a:solidFill>
                            <a:srgbClr val="1B2A38"/>
                          </a:solidFill>
                          <a:latin typeface="Calibri"/>
                        </a:rPr>
                        <a:t>transfer</a:t>
                      </a:r>
                    </a:p>
                  </a:txBody>
                  <a:tcPr marL="64008" marR="45720" marT="18288" marB="18288" anchor="ctr">
                    <a:solidFill>
                      <a:srgbClr val="FFFFFF"/>
                    </a:solidFill>
                  </a:tcPr>
                </a:tc>
                <a:tc>
                  <a:txBody>
                    <a:bodyPr wrap="square"/>
                    <a:lstStyle/>
                    <a:p>
                      <a:pPr algn="ctr"/>
                      <a:r>
                        <a:rPr sz="1050" b="0">
                          <a:solidFill>
                            <a:srgbClr val="1B2A38"/>
                          </a:solidFill>
                          <a:latin typeface="Calibri"/>
                        </a:rPr>
                        <a:t>0.582</a:t>
                      </a:r>
                    </a:p>
                  </a:txBody>
                  <a:tcPr marL="64008" marR="45720" marT="18288" marB="18288" anchor="ctr">
                    <a:solidFill>
                      <a:srgbClr val="FFFFFF"/>
                    </a:solidFill>
                  </a:tcPr>
                </a:tc>
                <a:tc>
                  <a:txBody>
                    <a:bodyPr wrap="square"/>
                    <a:lstStyle/>
                    <a:p>
                      <a:pPr algn="ctr"/>
                      <a:r>
                        <a:rPr sz="1050" b="0">
                          <a:solidFill>
                            <a:srgbClr val="1B2A38"/>
                          </a:solidFill>
                          <a:latin typeface="Calibri"/>
                        </a:rPr>
                        <a:t>0.471</a:t>
                      </a:r>
                    </a:p>
                  </a:txBody>
                  <a:tcPr marL="64008" marR="45720" marT="18288" marB="18288" anchor="ctr">
                    <a:solidFill>
                      <a:srgbClr val="FFFFFF"/>
                    </a:solidFill>
                  </a:tcPr>
                </a:tc>
                <a:tc>
                  <a:txBody>
                    <a:bodyPr wrap="square"/>
                    <a:lstStyle/>
                    <a:p>
                      <a:pPr algn="ctr"/>
                      <a:r>
                        <a:rPr sz="1050" b="0">
                          <a:solidFill>
                            <a:srgbClr val="1B2A38"/>
                          </a:solidFill>
                          <a:latin typeface="Calibri"/>
                        </a:rPr>
                        <a:t>0.804</a:t>
                      </a:r>
                    </a:p>
                  </a:txBody>
                  <a:tcPr marL="64008" marR="45720" marT="18288" marB="18288" anchor="ctr">
                    <a:solidFill>
                      <a:srgbClr val="FFFFFF"/>
                    </a:solidFill>
                  </a:tcPr>
                </a:tc>
                <a:tc>
                  <a:txBody>
                    <a:bodyPr wrap="square"/>
                    <a:lstStyle/>
                    <a:p>
                      <a:pPr algn="ctr"/>
                      <a:r>
                        <a:rPr sz="1050" b="0">
                          <a:solidFill>
                            <a:srgbClr val="1B2A38"/>
                          </a:solidFill>
                          <a:latin typeface="Calibri"/>
                        </a:rPr>
                        <a:t>28.7M</a:t>
                      </a:r>
                    </a:p>
                  </a:txBody>
                  <a:tcPr marL="64008" marR="45720" marT="18288" marB="18288" anchor="ctr">
                    <a:solidFill>
                      <a:srgbClr val="FFFFFF"/>
                    </a:solidFill>
                  </a:tcPr>
                </a:tc>
                <a:tc>
                  <a:txBody>
                    <a:bodyPr wrap="square"/>
                    <a:lstStyle/>
                    <a:p>
                      <a:pPr algn="ctr"/>
                      <a:r>
                        <a:rPr sz="1050" b="0">
                          <a:solidFill>
                            <a:srgbClr val="1B2A38"/>
                          </a:solidFill>
                          <a:latin typeface="Calibri"/>
                        </a:rPr>
                        <a:t>—</a:t>
                      </a:r>
                    </a:p>
                  </a:txBody>
                  <a:tcPr marL="64008" marR="45720" marT="18288" marB="18288" anchor="ctr">
                    <a:solidFill>
                      <a:srgbClr val="FFFFFF"/>
                    </a:solidFill>
                  </a:tcPr>
                </a:tc>
              </a:tr>
            </a:tbl>
          </a:graphicData>
        </a:graphic>
      </p:graphicFrame>
      <p:sp>
        <p:nvSpPr>
          <p:cNvPr id="11" name="Rounded Rectangle 10"/>
          <p:cNvSpPr/>
          <p:nvPr/>
        </p:nvSpPr>
        <p:spPr>
          <a:xfrm>
            <a:off x="7909560" y="1554480"/>
            <a:ext cx="3520440" cy="44348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0727" y="1700784"/>
            <a:ext cx="310896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Reading the board</a:t>
            </a:r>
          </a:p>
        </p:txBody>
      </p:sp>
      <p:sp>
        <p:nvSpPr>
          <p:cNvPr id="13" name="TextBox 12"/>
          <p:cNvSpPr txBox="1"/>
          <p:nvPr/>
        </p:nvSpPr>
        <p:spPr>
          <a:xfrm>
            <a:off x="8110727" y="2148840"/>
            <a:ext cx="3127248" cy="3749039"/>
          </a:xfrm>
          <a:prstGeom prst="rect">
            <a:avLst/>
          </a:prstGeom>
          <a:noFill/>
        </p:spPr>
        <p:txBody>
          <a:bodyPr wrap="square" lIns="0" rIns="0" tIns="0" bIns="0">
            <a:spAutoFit/>
          </a:bodyPr>
          <a:lstStyle/>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① </a:t>
            </a:r>
            <a:r>
              <a:rPr sz="1150" b="0">
                <a:solidFill>
                  <a:srgbClr val="1B2A38"/>
                </a:solidFill>
                <a:latin typeface="Calibri"/>
              </a:rPr>
              <a:t>our pretrained U-Net wins (Dice 0.760).</a:t>
            </a:r>
          </a:p>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② </a:t>
            </a:r>
            <a:r>
              <a:rPr sz="1150" b="0">
                <a:solidFill>
                  <a:srgbClr val="1B2A38"/>
                </a:solidFill>
                <a:latin typeface="Calibri"/>
              </a:rPr>
              <a:t>reproductions fall below paper numbers (CResU 0.829→0.693) — leakage removed = honest.</a:t>
            </a:r>
          </a:p>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③ </a:t>
            </a:r>
            <a:r>
              <a:rPr sz="1150" b="0">
                <a:solidFill>
                  <a:srgbClr val="1B2A38"/>
                </a:solidFill>
                <a:latin typeface="Calibri"/>
              </a:rPr>
              <a:t>nnU-Net (0.717) does NOT dominate — a good pretrained encoder beats a heavy framework.</a:t>
            </a:r>
          </a:p>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④ </a:t>
            </a:r>
            <a:r>
              <a:rPr sz="1150" b="0">
                <a:solidFill>
                  <a:srgbClr val="1B2A38"/>
                </a:solidFill>
                <a:latin typeface="Calibri"/>
              </a:rPr>
              <a:t>U-Net 0.648 vs Attn 0.629 (same recipe) → attention gate doesn't help 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RESULTS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Classification results (3-class, 118 imgs)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23</a:t>
            </a:r>
          </a:p>
        </p:txBody>
      </p:sp>
      <p:graphicFrame>
        <p:nvGraphicFramePr>
          <p:cNvPr id="10" name="Table 9"/>
          <p:cNvGraphicFramePr>
            <a:graphicFrameLocks noGrp="1"/>
          </p:cNvGraphicFramePr>
          <p:nvPr/>
        </p:nvGraphicFramePr>
        <p:xfrm>
          <a:off x="777240" y="1600200"/>
          <a:ext cx="6126480" cy="2240280"/>
        </p:xfrm>
        <a:graphic>
          <a:graphicData uri="http://schemas.openxmlformats.org/drawingml/2006/table">
            <a:tbl>
              <a:tblPr>
                <a:tableStyleId>{5C22544A-7EE6-4342-B048-85BDC9FD1C3A}</a:tableStyleId>
              </a:tblPr>
              <a:tblGrid>
                <a:gridCol w="2286000"/>
                <a:gridCol w="1051560"/>
                <a:gridCol w="1005840"/>
                <a:gridCol w="960120"/>
                <a:gridCol w="822960"/>
              </a:tblGrid>
              <a:tr h="411480">
                <a:tc>
                  <a:txBody>
                    <a:bodyPr wrap="square"/>
                    <a:lstStyle/>
                    <a:p>
                      <a:pPr algn="l"/>
                      <a:r>
                        <a:rPr sz="1250" b="1">
                          <a:solidFill>
                            <a:srgbClr val="FFFFFF"/>
                          </a:solidFill>
                          <a:latin typeface="Calibri"/>
                        </a:rPr>
                        <a:t>Model</a:t>
                      </a:r>
                    </a:p>
                  </a:txBody>
                  <a:tcPr marL="64008" marR="45720" marT="18288" marB="18288" anchor="ctr">
                    <a:solidFill>
                      <a:srgbClr val="0E4D64"/>
                    </a:solidFill>
                  </a:tcPr>
                </a:tc>
                <a:tc>
                  <a:txBody>
                    <a:bodyPr wrap="square"/>
                    <a:lstStyle/>
                    <a:p>
                      <a:pPr algn="ctr"/>
                      <a:r>
                        <a:rPr sz="1250" b="1">
                          <a:solidFill>
                            <a:srgbClr val="FFFFFF"/>
                          </a:solidFill>
                          <a:latin typeface="Calibri"/>
                        </a:rPr>
                        <a:t>Type</a:t>
                      </a:r>
                    </a:p>
                  </a:txBody>
                  <a:tcPr marL="64008" marR="45720" marT="18288" marB="18288" anchor="ctr">
                    <a:solidFill>
                      <a:srgbClr val="0E4D64"/>
                    </a:solidFill>
                  </a:tcPr>
                </a:tc>
                <a:tc>
                  <a:txBody>
                    <a:bodyPr wrap="square"/>
                    <a:lstStyle/>
                    <a:p>
                      <a:pPr algn="ctr"/>
                      <a:r>
                        <a:rPr sz="1250" b="1">
                          <a:solidFill>
                            <a:srgbClr val="FFFFFF"/>
                          </a:solidFill>
                          <a:latin typeface="Calibri"/>
                        </a:rPr>
                        <a:t>macro-F1</a:t>
                      </a:r>
                    </a:p>
                  </a:txBody>
                  <a:tcPr marL="64008" marR="45720" marT="18288" marB="18288" anchor="ctr">
                    <a:solidFill>
                      <a:srgbClr val="0E4D64"/>
                    </a:solidFill>
                  </a:tcPr>
                </a:tc>
                <a:tc>
                  <a:txBody>
                    <a:bodyPr wrap="square"/>
                    <a:lstStyle/>
                    <a:p>
                      <a:pPr algn="ctr"/>
                      <a:r>
                        <a:rPr sz="1250" b="1">
                          <a:solidFill>
                            <a:srgbClr val="FFFFFF"/>
                          </a:solidFill>
                          <a:latin typeface="Calibri"/>
                        </a:rPr>
                        <a:t>Accuracy</a:t>
                      </a:r>
                    </a:p>
                  </a:txBody>
                  <a:tcPr marL="64008" marR="45720" marT="18288" marB="18288" anchor="ctr">
                    <a:solidFill>
                      <a:srgbClr val="0E4D64"/>
                    </a:solidFill>
                  </a:tcPr>
                </a:tc>
                <a:tc>
                  <a:txBody>
                    <a:bodyPr wrap="square"/>
                    <a:lstStyle/>
                    <a:p>
                      <a:pPr algn="ctr"/>
                      <a:r>
                        <a:rPr sz="1250" b="1">
                          <a:solidFill>
                            <a:srgbClr val="FFFFFF"/>
                          </a:solidFill>
                          <a:latin typeface="Calibri"/>
                        </a:rPr>
                        <a:t>AUC</a:t>
                      </a:r>
                    </a:p>
                  </a:txBody>
                  <a:tcPr marL="64008" marR="45720" marT="18288" marB="18288" anchor="ctr">
                    <a:solidFill>
                      <a:srgbClr val="0E4D64"/>
                    </a:solidFill>
                  </a:tcPr>
                </a:tc>
              </a:tr>
              <a:tr h="457200">
                <a:tc>
                  <a:txBody>
                    <a:bodyPr wrap="square"/>
                    <a:lstStyle/>
                    <a:p>
                      <a:pPr algn="l"/>
                      <a:r>
                        <a:rPr sz="1250" b="1">
                          <a:solidFill>
                            <a:srgbClr val="1B2A38"/>
                          </a:solidFill>
                          <a:latin typeface="Calibri"/>
                        </a:rPr>
                        <a:t>EfficientNet-B0</a:t>
                      </a:r>
                    </a:p>
                  </a:txBody>
                  <a:tcPr marL="64008" marR="45720" marT="18288" marB="18288" anchor="ctr">
                    <a:solidFill>
                      <a:srgbClr val="FFF3D6"/>
                    </a:solidFill>
                  </a:tcPr>
                </a:tc>
                <a:tc>
                  <a:txBody>
                    <a:bodyPr wrap="square"/>
                    <a:lstStyle/>
                    <a:p>
                      <a:pPr algn="ctr"/>
                      <a:r>
                        <a:rPr sz="1250" b="1">
                          <a:solidFill>
                            <a:srgbClr val="1B2A38"/>
                          </a:solidFill>
                          <a:latin typeface="Calibri"/>
                        </a:rPr>
                        <a:t>transfer</a:t>
                      </a:r>
                    </a:p>
                  </a:txBody>
                  <a:tcPr marL="64008" marR="45720" marT="18288" marB="18288" anchor="ctr">
                    <a:solidFill>
                      <a:srgbClr val="FFF3D6"/>
                    </a:solidFill>
                  </a:tcPr>
                </a:tc>
                <a:tc>
                  <a:txBody>
                    <a:bodyPr wrap="square"/>
                    <a:lstStyle/>
                    <a:p>
                      <a:pPr algn="ctr"/>
                      <a:r>
                        <a:rPr sz="1250" b="1">
                          <a:solidFill>
                            <a:srgbClr val="1B2A38"/>
                          </a:solidFill>
                          <a:latin typeface="Calibri"/>
                        </a:rPr>
                        <a:t>0.828</a:t>
                      </a:r>
                    </a:p>
                  </a:txBody>
                  <a:tcPr marL="64008" marR="45720" marT="18288" marB="18288" anchor="ctr">
                    <a:solidFill>
                      <a:srgbClr val="FFF3D6"/>
                    </a:solidFill>
                  </a:tcPr>
                </a:tc>
                <a:tc>
                  <a:txBody>
                    <a:bodyPr wrap="square"/>
                    <a:lstStyle/>
                    <a:p>
                      <a:pPr algn="ctr"/>
                      <a:r>
                        <a:rPr sz="1250" b="1">
                          <a:solidFill>
                            <a:srgbClr val="1B2A38"/>
                          </a:solidFill>
                          <a:latin typeface="Calibri"/>
                        </a:rPr>
                        <a:t>0.848</a:t>
                      </a:r>
                    </a:p>
                  </a:txBody>
                  <a:tcPr marL="64008" marR="45720" marT="18288" marB="18288" anchor="ctr">
                    <a:solidFill>
                      <a:srgbClr val="FFF3D6"/>
                    </a:solidFill>
                  </a:tcPr>
                </a:tc>
                <a:tc>
                  <a:txBody>
                    <a:bodyPr wrap="square"/>
                    <a:lstStyle/>
                    <a:p>
                      <a:pPr algn="ctr"/>
                      <a:r>
                        <a:rPr sz="1250" b="1">
                          <a:solidFill>
                            <a:srgbClr val="1B2A38"/>
                          </a:solidFill>
                          <a:latin typeface="Calibri"/>
                        </a:rPr>
                        <a:t>0.969</a:t>
                      </a:r>
                    </a:p>
                  </a:txBody>
                  <a:tcPr marL="64008" marR="45720" marT="18288" marB="18288" anchor="ctr">
                    <a:solidFill>
                      <a:srgbClr val="FFF3D6"/>
                    </a:solidFill>
                  </a:tcPr>
                </a:tc>
              </a:tr>
              <a:tr h="457200">
                <a:tc>
                  <a:txBody>
                    <a:bodyPr wrap="square"/>
                    <a:lstStyle/>
                    <a:p>
                      <a:pPr algn="l"/>
                      <a:r>
                        <a:rPr sz="1250" b="0">
                          <a:solidFill>
                            <a:srgbClr val="1B2A38"/>
                          </a:solidFill>
                          <a:latin typeface="Calibri"/>
                        </a:rPr>
                        <a:t>ResNet-18</a:t>
                      </a:r>
                    </a:p>
                  </a:txBody>
                  <a:tcPr marL="64008" marR="45720" marT="18288" marB="18288" anchor="ctr">
                    <a:solidFill>
                      <a:srgbClr val="EEF3F5"/>
                    </a:solidFill>
                  </a:tcPr>
                </a:tc>
                <a:tc>
                  <a:txBody>
                    <a:bodyPr wrap="square"/>
                    <a:lstStyle/>
                    <a:p>
                      <a:pPr algn="ctr"/>
                      <a:r>
                        <a:rPr sz="1250" b="0">
                          <a:solidFill>
                            <a:srgbClr val="1B2A38"/>
                          </a:solidFill>
                          <a:latin typeface="Calibri"/>
                        </a:rPr>
                        <a:t>transfer</a:t>
                      </a:r>
                    </a:p>
                  </a:txBody>
                  <a:tcPr marL="64008" marR="45720" marT="18288" marB="18288" anchor="ctr">
                    <a:solidFill>
                      <a:srgbClr val="EEF3F5"/>
                    </a:solidFill>
                  </a:tcPr>
                </a:tc>
                <a:tc>
                  <a:txBody>
                    <a:bodyPr wrap="square"/>
                    <a:lstStyle/>
                    <a:p>
                      <a:pPr algn="ctr"/>
                      <a:r>
                        <a:rPr sz="1250" b="0">
                          <a:solidFill>
                            <a:srgbClr val="1B2A38"/>
                          </a:solidFill>
                          <a:latin typeface="Calibri"/>
                        </a:rPr>
                        <a:t>0.810</a:t>
                      </a:r>
                    </a:p>
                  </a:txBody>
                  <a:tcPr marL="64008" marR="45720" marT="18288" marB="18288" anchor="ctr">
                    <a:solidFill>
                      <a:srgbClr val="EEF3F5"/>
                    </a:solidFill>
                  </a:tcPr>
                </a:tc>
                <a:tc>
                  <a:txBody>
                    <a:bodyPr wrap="square"/>
                    <a:lstStyle/>
                    <a:p>
                      <a:pPr algn="ctr"/>
                      <a:r>
                        <a:rPr sz="1250" b="0">
                          <a:solidFill>
                            <a:srgbClr val="1B2A38"/>
                          </a:solidFill>
                          <a:latin typeface="Calibri"/>
                        </a:rPr>
                        <a:t>0.822</a:t>
                      </a:r>
                    </a:p>
                  </a:txBody>
                  <a:tcPr marL="64008" marR="45720" marT="18288" marB="18288" anchor="ctr">
                    <a:solidFill>
                      <a:srgbClr val="EEF3F5"/>
                    </a:solidFill>
                  </a:tcPr>
                </a:tc>
                <a:tc>
                  <a:txBody>
                    <a:bodyPr wrap="square"/>
                    <a:lstStyle/>
                    <a:p>
                      <a:pPr algn="ctr"/>
                      <a:r>
                        <a:rPr sz="1250" b="0">
                          <a:solidFill>
                            <a:srgbClr val="1B2A38"/>
                          </a:solidFill>
                          <a:latin typeface="Calibri"/>
                        </a:rPr>
                        <a:t>0.966</a:t>
                      </a:r>
                    </a:p>
                  </a:txBody>
                  <a:tcPr marL="64008" marR="45720" marT="18288" marB="18288" anchor="ctr">
                    <a:solidFill>
                      <a:srgbClr val="EEF3F5"/>
                    </a:solidFill>
                  </a:tcPr>
                </a:tc>
              </a:tr>
              <a:tr h="457200">
                <a:tc>
                  <a:txBody>
                    <a:bodyPr wrap="square"/>
                    <a:lstStyle/>
                    <a:p>
                      <a:pPr algn="l"/>
                      <a:r>
                        <a:rPr sz="1250" b="0">
                          <a:solidFill>
                            <a:srgbClr val="1B2A38"/>
                          </a:solidFill>
                          <a:latin typeface="Calibri"/>
                        </a:rPr>
                        <a:t>DenseNet-121</a:t>
                      </a:r>
                    </a:p>
                  </a:txBody>
                  <a:tcPr marL="64008" marR="45720" marT="18288" marB="18288" anchor="ctr">
                    <a:solidFill>
                      <a:srgbClr val="FFFFFF"/>
                    </a:solidFill>
                  </a:tcPr>
                </a:tc>
                <a:tc>
                  <a:txBody>
                    <a:bodyPr wrap="square"/>
                    <a:lstStyle/>
                    <a:p>
                      <a:pPr algn="ctr"/>
                      <a:r>
                        <a:rPr sz="1250" b="0">
                          <a:solidFill>
                            <a:srgbClr val="1B2A38"/>
                          </a:solidFill>
                          <a:latin typeface="Calibri"/>
                        </a:rPr>
                        <a:t>transfer</a:t>
                      </a:r>
                    </a:p>
                  </a:txBody>
                  <a:tcPr marL="64008" marR="45720" marT="18288" marB="18288" anchor="ctr">
                    <a:solidFill>
                      <a:srgbClr val="FFFFFF"/>
                    </a:solidFill>
                  </a:tcPr>
                </a:tc>
                <a:tc>
                  <a:txBody>
                    <a:bodyPr wrap="square"/>
                    <a:lstStyle/>
                    <a:p>
                      <a:pPr algn="ctr"/>
                      <a:r>
                        <a:rPr sz="1250" b="0">
                          <a:solidFill>
                            <a:srgbClr val="1B2A38"/>
                          </a:solidFill>
                          <a:latin typeface="Calibri"/>
                        </a:rPr>
                        <a:t>0.793</a:t>
                      </a:r>
                    </a:p>
                  </a:txBody>
                  <a:tcPr marL="64008" marR="45720" marT="18288" marB="18288" anchor="ctr">
                    <a:solidFill>
                      <a:srgbClr val="FFFFFF"/>
                    </a:solidFill>
                  </a:tcPr>
                </a:tc>
                <a:tc>
                  <a:txBody>
                    <a:bodyPr wrap="square"/>
                    <a:lstStyle/>
                    <a:p>
                      <a:pPr algn="ctr"/>
                      <a:r>
                        <a:rPr sz="1250" b="0">
                          <a:solidFill>
                            <a:srgbClr val="1B2A38"/>
                          </a:solidFill>
                          <a:latin typeface="Calibri"/>
                        </a:rPr>
                        <a:t>0.805</a:t>
                      </a:r>
                    </a:p>
                  </a:txBody>
                  <a:tcPr marL="64008" marR="45720" marT="18288" marB="18288" anchor="ctr">
                    <a:solidFill>
                      <a:srgbClr val="FFFFFF"/>
                    </a:solidFill>
                  </a:tcPr>
                </a:tc>
                <a:tc>
                  <a:txBody>
                    <a:bodyPr wrap="square"/>
                    <a:lstStyle/>
                    <a:p>
                      <a:pPr algn="ctr"/>
                      <a:r>
                        <a:rPr sz="1250" b="0">
                          <a:solidFill>
                            <a:srgbClr val="1B2A38"/>
                          </a:solidFill>
                          <a:latin typeface="Calibri"/>
                        </a:rPr>
                        <a:t>0.947</a:t>
                      </a:r>
                    </a:p>
                  </a:txBody>
                  <a:tcPr marL="64008" marR="45720" marT="18288" marB="18288" anchor="ctr">
                    <a:solidFill>
                      <a:srgbClr val="FFFFFF"/>
                    </a:solidFill>
                  </a:tcPr>
                </a:tc>
              </a:tr>
              <a:tr h="457200">
                <a:tc>
                  <a:txBody>
                    <a:bodyPr wrap="square"/>
                    <a:lstStyle/>
                    <a:p>
                      <a:pPr algn="l"/>
                      <a:r>
                        <a:rPr sz="1250" b="0">
                          <a:solidFill>
                            <a:srgbClr val="1B2A38"/>
                          </a:solidFill>
                          <a:latin typeface="Calibri"/>
                        </a:rPr>
                        <a:t>MTL-OCA (cls)</a:t>
                      </a:r>
                    </a:p>
                  </a:txBody>
                  <a:tcPr marL="64008" marR="45720" marT="18288" marB="18288" anchor="ctr">
                    <a:solidFill>
                      <a:srgbClr val="EEF3F5"/>
                    </a:solidFill>
                  </a:tcPr>
                </a:tc>
                <a:tc>
                  <a:txBody>
                    <a:bodyPr wrap="square"/>
                    <a:lstStyle/>
                    <a:p>
                      <a:pPr algn="ctr"/>
                      <a:r>
                        <a:rPr sz="1250" b="0">
                          <a:solidFill>
                            <a:srgbClr val="1B2A38"/>
                          </a:solidFill>
                          <a:latin typeface="Calibri"/>
                        </a:rPr>
                        <a:t>joint</a:t>
                      </a:r>
                    </a:p>
                  </a:txBody>
                  <a:tcPr marL="64008" marR="45720" marT="18288" marB="18288" anchor="ctr">
                    <a:solidFill>
                      <a:srgbClr val="EEF3F5"/>
                    </a:solidFill>
                  </a:tcPr>
                </a:tc>
                <a:tc>
                  <a:txBody>
                    <a:bodyPr wrap="square"/>
                    <a:lstStyle/>
                    <a:p>
                      <a:pPr algn="ctr"/>
                      <a:r>
                        <a:rPr sz="1250" b="0">
                          <a:solidFill>
                            <a:srgbClr val="1B2A38"/>
                          </a:solidFill>
                          <a:latin typeface="Calibri"/>
                        </a:rPr>
                        <a:t>0.720</a:t>
                      </a:r>
                    </a:p>
                  </a:txBody>
                  <a:tcPr marL="64008" marR="45720" marT="18288" marB="18288" anchor="ctr">
                    <a:solidFill>
                      <a:srgbClr val="EEF3F5"/>
                    </a:solidFill>
                  </a:tcPr>
                </a:tc>
                <a:tc>
                  <a:txBody>
                    <a:bodyPr wrap="square"/>
                    <a:lstStyle/>
                    <a:p>
                      <a:pPr algn="ctr"/>
                      <a:r>
                        <a:rPr sz="1250" b="0">
                          <a:solidFill>
                            <a:srgbClr val="1B2A38"/>
                          </a:solidFill>
                          <a:latin typeface="Calibri"/>
                        </a:rPr>
                        <a:t>0.746</a:t>
                      </a:r>
                    </a:p>
                  </a:txBody>
                  <a:tcPr marL="64008" marR="45720" marT="18288" marB="18288" anchor="ctr">
                    <a:solidFill>
                      <a:srgbClr val="EEF3F5"/>
                    </a:solidFill>
                  </a:tcPr>
                </a:tc>
                <a:tc>
                  <a:txBody>
                    <a:bodyPr wrap="square"/>
                    <a:lstStyle/>
                    <a:p>
                      <a:pPr algn="ctr"/>
                      <a:r>
                        <a:rPr sz="1250" b="0">
                          <a:solidFill>
                            <a:srgbClr val="1B2A38"/>
                          </a:solidFill>
                          <a:latin typeface="Calibri"/>
                        </a:rPr>
                        <a:t>0.900</a:t>
                      </a:r>
                    </a:p>
                  </a:txBody>
                  <a:tcPr marL="64008" marR="45720" marT="18288" marB="18288" anchor="ctr">
                    <a:solidFill>
                      <a:srgbClr val="EEF3F5"/>
                    </a:solidFill>
                  </a:tcPr>
                </a:tc>
              </a:tr>
            </a:tbl>
          </a:graphicData>
        </a:graphic>
      </p:graphicFrame>
      <p:pic>
        <p:nvPicPr>
          <p:cNvPr id="11" name="Picture 10" descr="EfficientNet_TanLe2019_confusion.png"/>
          <p:cNvPicPr>
            <a:picLocks noChangeAspect="1"/>
          </p:cNvPicPr>
          <p:nvPr/>
        </p:nvPicPr>
        <p:blipFill>
          <a:blip r:embed="rId2"/>
          <a:stretch>
            <a:fillRect/>
          </a:stretch>
        </p:blipFill>
        <p:spPr>
          <a:xfrm>
            <a:off x="1168146" y="3977639"/>
            <a:ext cx="2418587" cy="2103120"/>
          </a:xfrm>
          <a:prstGeom prst="rect">
            <a:avLst/>
          </a:prstGeom>
          <a:ln w="9525">
            <a:solidFill>
              <a:srgbClr val="CBD8DE"/>
            </a:solidFill>
          </a:ln>
        </p:spPr>
      </p:pic>
      <p:sp>
        <p:nvSpPr>
          <p:cNvPr id="12" name="TextBox 11"/>
          <p:cNvSpPr txBox="1"/>
          <p:nvPr/>
        </p:nvSpPr>
        <p:spPr>
          <a:xfrm>
            <a:off x="777240" y="3703320"/>
            <a:ext cx="3200400" cy="274320"/>
          </a:xfrm>
          <a:prstGeom prst="rect">
            <a:avLst/>
          </a:prstGeom>
          <a:noFill/>
        </p:spPr>
        <p:txBody>
          <a:bodyPr wrap="square" anchor="t" lIns="0" rIns="0" tIns="0" bIns="0">
            <a:spAutoFit/>
          </a:bodyPr>
          <a:lstStyle/>
          <a:p>
            <a:pPr algn="ctr">
              <a:lnSpc>
                <a:spcPct val="100000"/>
              </a:lnSpc>
              <a:spcBef>
                <a:spcPts val="0"/>
              </a:spcBef>
              <a:spcAft>
                <a:spcPts val="400"/>
              </a:spcAft>
            </a:pPr>
            <a:r>
              <a:rPr sz="1100" b="1" i="1">
                <a:solidFill>
                  <a:srgbClr val="45596B"/>
                </a:solidFill>
                <a:latin typeface="Calibri"/>
              </a:rPr>
              <a:t>Best model confusion matrix</a:t>
            </a:r>
          </a:p>
        </p:txBody>
      </p:sp>
      <p:sp>
        <p:nvSpPr>
          <p:cNvPr id="13" name="Rounded Rectangle 12"/>
          <p:cNvSpPr/>
          <p:nvPr/>
        </p:nvSpPr>
        <p:spPr>
          <a:xfrm>
            <a:off x="7086600" y="1600200"/>
            <a:ext cx="4343400" cy="44348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7768" y="1755648"/>
            <a:ext cx="393192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Analysis</a:t>
            </a:r>
          </a:p>
        </p:txBody>
      </p:sp>
      <p:sp>
        <p:nvSpPr>
          <p:cNvPr id="15" name="TextBox 14"/>
          <p:cNvSpPr txBox="1"/>
          <p:nvPr/>
        </p:nvSpPr>
        <p:spPr>
          <a:xfrm>
            <a:off x="7287768" y="2212848"/>
            <a:ext cx="3950208" cy="3657600"/>
          </a:xfrm>
          <a:prstGeom prst="rect">
            <a:avLst/>
          </a:prstGeom>
          <a:noFill/>
        </p:spPr>
        <p:txBody>
          <a:bodyPr wrap="square" lIns="0" rIns="0" tIns="0" bIns="0">
            <a:spAutoFit/>
          </a:bodyPr>
          <a:lstStyle/>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Winner: </a:t>
            </a:r>
            <a:r>
              <a:rPr sz="1250" b="0">
                <a:solidFill>
                  <a:srgbClr val="1B2A38"/>
                </a:solidFill>
                <a:latin typeface="Calibri"/>
              </a:rPr>
              <a:t>EfficientNet-B0 leads (macro-F1 0.828, AUC 0.969).</a:t>
            </a:r>
          </a:p>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Specialists win: </a:t>
            </a:r>
            <a:r>
              <a:rPr sz="1250" b="0">
                <a:solidFill>
                  <a:srgbClr val="1B2A38"/>
                </a:solidFill>
                <a:latin typeface="Calibri"/>
              </a:rPr>
              <a:t>all 3 pretrained backbones beat the joint MTL-OCA (0.720).</a:t>
            </a:r>
          </a:p>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Why: </a:t>
            </a:r>
            <a:r>
              <a:rPr sz="1250" b="0">
                <a:solidFill>
                  <a:srgbClr val="1B2A38"/>
                </a:solidFill>
                <a:latin typeface="Calibri"/>
              </a:rPr>
              <a:t>MTL underperforms on BOTH tasks — sharing one backbone is a compromise too costly on small data.</a:t>
            </a:r>
          </a:p>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Error analysis: </a:t>
            </a:r>
            <a:r>
              <a:rPr sz="1250" b="0">
                <a:solidFill>
                  <a:srgbClr val="1B2A38"/>
                </a:solidFill>
                <a:latin typeface="Calibri"/>
              </a:rPr>
              <a:t>malignant (minority class) is the hardest and the main error source for every model.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RESULTS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Dual-stage: the bottleneck is the classifier</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24</a:t>
            </a:r>
          </a:p>
        </p:txBody>
      </p:sp>
      <p:sp>
        <p:nvSpPr>
          <p:cNvPr id="10" name="TextBox 9"/>
          <p:cNvSpPr txBox="1"/>
          <p:nvPr/>
        </p:nvSpPr>
        <p:spPr>
          <a:xfrm>
            <a:off x="777240" y="1481328"/>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0" i="0">
                <a:solidFill>
                  <a:srgbClr val="1B2A38"/>
                </a:solidFill>
                <a:latin typeface="Calibri"/>
              </a:rPr>
              <a:t>Swapping in a much stronger Stage-1 segmenter </a:t>
            </a:r>
            <a:r>
              <a:rPr sz="1300" b="1" i="0">
                <a:solidFill>
                  <a:srgbClr val="E1595B"/>
                </a:solidFill>
                <a:latin typeface="Calibri"/>
              </a:rPr>
              <a:t>barely moves the end-to-end score</a:t>
            </a:r>
            <a:r>
              <a:rPr sz="1300" b="0" i="0">
                <a:solidFill>
                  <a:srgbClr val="1B2A38"/>
                </a:solidFill>
                <a:latin typeface="Calibri"/>
              </a:rPr>
              <a:t> (everything after Stage-1 is fixed):</a:t>
            </a:r>
          </a:p>
        </p:txBody>
      </p:sp>
      <p:sp>
        <p:nvSpPr>
          <p:cNvPr id="11" name="Rounded Rectangle 10"/>
          <p:cNvSpPr/>
          <p:nvPr/>
        </p:nvSpPr>
        <p:spPr>
          <a:xfrm>
            <a:off x="777240" y="1993392"/>
            <a:ext cx="3246120" cy="292608"/>
          </a:xfrm>
          <a:prstGeom prst="round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93392"/>
            <a:ext cx="3246120" cy="292608"/>
          </a:xfrm>
          <a:prstGeom prst="rect">
            <a:avLst/>
          </a:prstGeom>
          <a:noFill/>
        </p:spPr>
        <p:txBody>
          <a:bodyPr wrap="square" anchor="ctr" lIns="0" rIns="0" tIns="0" bIns="0">
            <a:spAutoFit/>
          </a:bodyPr>
          <a:lstStyle/>
          <a:p>
            <a:pPr algn="ctr">
              <a:lnSpc>
                <a:spcPct val="100000"/>
              </a:lnSpc>
              <a:spcBef>
                <a:spcPts val="0"/>
              </a:spcBef>
              <a:spcAft>
                <a:spcPts val="400"/>
              </a:spcAft>
            </a:pPr>
            <a:r>
              <a:rPr sz="1000" b="1" i="0">
                <a:solidFill>
                  <a:srgbClr val="FFFFFF"/>
                </a:solidFill>
                <a:latin typeface="Calibri"/>
              </a:rPr>
              <a:t>single-run · indicative only</a:t>
            </a:r>
          </a:p>
        </p:txBody>
      </p:sp>
      <p:graphicFrame>
        <p:nvGraphicFramePr>
          <p:cNvPr id="13" name="Table 12"/>
          <p:cNvGraphicFramePr>
            <a:graphicFrameLocks noGrp="1"/>
          </p:cNvGraphicFramePr>
          <p:nvPr/>
        </p:nvGraphicFramePr>
        <p:xfrm>
          <a:off x="777240" y="2395728"/>
          <a:ext cx="5989320" cy="2157984"/>
        </p:xfrm>
        <a:graphic>
          <a:graphicData uri="http://schemas.openxmlformats.org/drawingml/2006/table">
            <a:tbl>
              <a:tblPr>
                <a:tableStyleId>{5C22544A-7EE6-4342-B048-85BDC9FD1C3A}</a:tableStyleId>
              </a:tblPr>
              <a:tblGrid>
                <a:gridCol w="2468880"/>
                <a:gridCol w="960120"/>
                <a:gridCol w="960120"/>
                <a:gridCol w="822960"/>
                <a:gridCol w="777240"/>
              </a:tblGrid>
              <a:tr h="402336">
                <a:tc>
                  <a:txBody>
                    <a:bodyPr wrap="square"/>
                    <a:lstStyle/>
                    <a:p>
                      <a:pPr algn="l"/>
                      <a:r>
                        <a:rPr sz="1100" b="1">
                          <a:solidFill>
                            <a:srgbClr val="FFFFFF"/>
                          </a:solidFill>
                          <a:latin typeface="Calibri"/>
                        </a:rPr>
                        <a:t>Pipeline</a:t>
                      </a:r>
                    </a:p>
                  </a:txBody>
                  <a:tcPr marL="64008" marR="45720" marT="18288" marB="18288" anchor="ctr">
                    <a:solidFill>
                      <a:srgbClr val="1F8AA6"/>
                    </a:solidFill>
                  </a:tcPr>
                </a:tc>
                <a:tc>
                  <a:txBody>
                    <a:bodyPr wrap="square"/>
                    <a:lstStyle/>
                    <a:p>
                      <a:pPr algn="ctr"/>
                      <a:r>
                        <a:rPr sz="1100" b="1">
                          <a:solidFill>
                            <a:srgbClr val="FFFFFF"/>
                          </a:solidFill>
                          <a:latin typeface="Calibri"/>
                        </a:rPr>
                        <a:t>Stage-1 Dice</a:t>
                      </a:r>
                    </a:p>
                  </a:txBody>
                  <a:tcPr marL="64008" marR="45720" marT="18288" marB="18288" anchor="ctr">
                    <a:solidFill>
                      <a:srgbClr val="1F8AA6"/>
                    </a:solidFill>
                  </a:tcPr>
                </a:tc>
                <a:tc>
                  <a:txBody>
                    <a:bodyPr wrap="square"/>
                    <a:lstStyle/>
                    <a:p>
                      <a:pPr algn="ctr"/>
                      <a:r>
                        <a:rPr sz="1100" b="1">
                          <a:solidFill>
                            <a:srgbClr val="FFFFFF"/>
                          </a:solidFill>
                          <a:latin typeface="Calibri"/>
                        </a:rPr>
                        <a:t>Pipeline F1</a:t>
                      </a:r>
                    </a:p>
                  </a:txBody>
                  <a:tcPr marL="64008" marR="45720" marT="18288" marB="18288" anchor="ctr">
                    <a:solidFill>
                      <a:srgbClr val="1F8AA6"/>
                    </a:solidFill>
                  </a:tcPr>
                </a:tc>
                <a:tc>
                  <a:txBody>
                    <a:bodyPr wrap="square"/>
                    <a:lstStyle/>
                    <a:p>
                      <a:pPr algn="ctr"/>
                      <a:r>
                        <a:rPr sz="1100" b="1">
                          <a:solidFill>
                            <a:srgbClr val="FFFFFF"/>
                          </a:solidFill>
                          <a:latin typeface="Calibri"/>
                        </a:rPr>
                        <a:t>Accuracy</a:t>
                      </a:r>
                    </a:p>
                  </a:txBody>
                  <a:tcPr marL="64008" marR="45720" marT="18288" marB="18288" anchor="ctr">
                    <a:solidFill>
                      <a:srgbClr val="1F8AA6"/>
                    </a:solidFill>
                  </a:tcPr>
                </a:tc>
                <a:tc>
                  <a:txBody>
                    <a:bodyPr wrap="square"/>
                    <a:lstStyle/>
                    <a:p>
                      <a:pPr algn="ctr"/>
                      <a:r>
                        <a:rPr sz="1100" b="1">
                          <a:solidFill>
                            <a:srgbClr val="FFFFFF"/>
                          </a:solidFill>
                          <a:latin typeface="Calibri"/>
                        </a:rPr>
                        <a:t>GT-ROI F1</a:t>
                      </a:r>
                    </a:p>
                  </a:txBody>
                  <a:tcPr marL="64008" marR="45720" marT="18288" marB="18288" anchor="ctr">
                    <a:solidFill>
                      <a:srgbClr val="1F8AA6"/>
                    </a:solidFill>
                  </a:tcPr>
                </a:tc>
              </a:tr>
              <a:tr h="438912">
                <a:tc>
                  <a:txBody>
                    <a:bodyPr wrap="square"/>
                    <a:lstStyle/>
                    <a:p>
                      <a:pPr algn="l"/>
                      <a:r>
                        <a:rPr sz="1100" b="0">
                          <a:solidFill>
                            <a:srgbClr val="1B2A38"/>
                          </a:solidFill>
                          <a:latin typeface="Calibri"/>
                        </a:rPr>
                        <a:t>Bruno (DeepLabV3+ → EffB0)</a:t>
                      </a:r>
                    </a:p>
                  </a:txBody>
                  <a:tcPr marL="64008" marR="45720" marT="18288" marB="18288" anchor="ctr">
                    <a:solidFill>
                      <a:srgbClr val="FFFFFF"/>
                    </a:solidFill>
                  </a:tcPr>
                </a:tc>
                <a:tc>
                  <a:txBody>
                    <a:bodyPr wrap="square"/>
                    <a:lstStyle/>
                    <a:p>
                      <a:pPr algn="ctr"/>
                      <a:r>
                        <a:rPr sz="1100" b="0">
                          <a:solidFill>
                            <a:srgbClr val="1B2A38"/>
                          </a:solidFill>
                          <a:latin typeface="Calibri"/>
                        </a:rPr>
                        <a:t>0.739</a:t>
                      </a:r>
                    </a:p>
                  </a:txBody>
                  <a:tcPr marL="64008" marR="45720" marT="18288" marB="18288" anchor="ctr">
                    <a:solidFill>
                      <a:srgbClr val="FFFFFF"/>
                    </a:solidFill>
                  </a:tcPr>
                </a:tc>
                <a:tc>
                  <a:txBody>
                    <a:bodyPr wrap="square"/>
                    <a:lstStyle/>
                    <a:p>
                      <a:pPr algn="ctr"/>
                      <a:r>
                        <a:rPr sz="1100" b="0">
                          <a:solidFill>
                            <a:srgbClr val="1B2A38"/>
                          </a:solidFill>
                          <a:latin typeface="Calibri"/>
                        </a:rPr>
                        <a:t>0.804</a:t>
                      </a:r>
                    </a:p>
                  </a:txBody>
                  <a:tcPr marL="64008" marR="45720" marT="18288" marB="18288" anchor="ctr">
                    <a:solidFill>
                      <a:srgbClr val="FFFFFF"/>
                    </a:solidFill>
                  </a:tcPr>
                </a:tc>
                <a:tc>
                  <a:txBody>
                    <a:bodyPr wrap="square"/>
                    <a:lstStyle/>
                    <a:p>
                      <a:pPr algn="ctr"/>
                      <a:r>
                        <a:rPr sz="1100" b="0">
                          <a:solidFill>
                            <a:srgbClr val="1B2A38"/>
                          </a:solidFill>
                          <a:latin typeface="Calibri"/>
                        </a:rPr>
                        <a:t>0.827</a:t>
                      </a:r>
                    </a:p>
                  </a:txBody>
                  <a:tcPr marL="64008" marR="45720" marT="18288" marB="18288" anchor="ctr">
                    <a:solidFill>
                      <a:srgbClr val="FFFFFF"/>
                    </a:solidFill>
                  </a:tcPr>
                </a:tc>
                <a:tc>
                  <a:txBody>
                    <a:bodyPr wrap="square"/>
                    <a:lstStyle/>
                    <a:p>
                      <a:pPr algn="ctr"/>
                      <a:r>
                        <a:rPr sz="1100" b="0">
                          <a:solidFill>
                            <a:srgbClr val="1B2A38"/>
                          </a:solidFill>
                          <a:latin typeface="Calibri"/>
                        </a:rPr>
                        <a:t>0.865</a:t>
                      </a:r>
                    </a:p>
                  </a:txBody>
                  <a:tcPr marL="64008" marR="45720" marT="18288" marB="18288" anchor="ctr">
                    <a:solidFill>
                      <a:srgbClr val="FFFFFF"/>
                    </a:solidFill>
                  </a:tcPr>
                </a:tc>
              </a:tr>
              <a:tr h="438912">
                <a:tc>
                  <a:txBody>
                    <a:bodyPr wrap="square"/>
                    <a:lstStyle/>
                    <a:p>
                      <a:pPr algn="l"/>
                      <a:r>
                        <a:rPr sz="1100" b="0">
                          <a:solidFill>
                            <a:srgbClr val="1B2A38"/>
                          </a:solidFill>
                          <a:latin typeface="Calibri"/>
                        </a:rPr>
                        <a:t>Ours: Improved-UNet Stage 1</a:t>
                      </a:r>
                    </a:p>
                  </a:txBody>
                  <a:tcPr marL="64008" marR="45720" marT="18288" marB="18288" anchor="ctr">
                    <a:solidFill>
                      <a:srgbClr val="EEF3F5"/>
                    </a:solidFill>
                  </a:tcPr>
                </a:tc>
                <a:tc>
                  <a:txBody>
                    <a:bodyPr wrap="square"/>
                    <a:lstStyle/>
                    <a:p>
                      <a:pPr algn="ctr"/>
                      <a:r>
                        <a:rPr sz="1100" b="0">
                          <a:solidFill>
                            <a:srgbClr val="1B2A38"/>
                          </a:solidFill>
                          <a:latin typeface="Calibri"/>
                        </a:rPr>
                        <a:t>0.760</a:t>
                      </a:r>
                    </a:p>
                  </a:txBody>
                  <a:tcPr marL="64008" marR="45720" marT="18288" marB="18288" anchor="ctr">
                    <a:solidFill>
                      <a:srgbClr val="EEF3F5"/>
                    </a:solidFill>
                  </a:tcPr>
                </a:tc>
                <a:tc>
                  <a:txBody>
                    <a:bodyPr wrap="square"/>
                    <a:lstStyle/>
                    <a:p>
                      <a:pPr algn="ctr"/>
                      <a:r>
                        <a:rPr sz="1100" b="0">
                          <a:solidFill>
                            <a:srgbClr val="1B2A38"/>
                          </a:solidFill>
                          <a:latin typeface="Calibri"/>
                        </a:rPr>
                        <a:t>0.807</a:t>
                      </a:r>
                    </a:p>
                  </a:txBody>
                  <a:tcPr marL="64008" marR="45720" marT="18288" marB="18288" anchor="ctr">
                    <a:solidFill>
                      <a:srgbClr val="EEF3F5"/>
                    </a:solidFill>
                  </a:tcPr>
                </a:tc>
                <a:tc>
                  <a:txBody>
                    <a:bodyPr wrap="square"/>
                    <a:lstStyle/>
                    <a:p>
                      <a:pPr algn="ctr"/>
                      <a:r>
                        <a:rPr sz="1100" b="0">
                          <a:solidFill>
                            <a:srgbClr val="1B2A38"/>
                          </a:solidFill>
                          <a:latin typeface="Calibri"/>
                        </a:rPr>
                        <a:t>0.827</a:t>
                      </a:r>
                    </a:p>
                  </a:txBody>
                  <a:tcPr marL="64008" marR="45720" marT="18288" marB="18288" anchor="ctr">
                    <a:solidFill>
                      <a:srgbClr val="EEF3F5"/>
                    </a:solidFill>
                  </a:tcPr>
                </a:tc>
                <a:tc>
                  <a:txBody>
                    <a:bodyPr wrap="square"/>
                    <a:lstStyle/>
                    <a:p>
                      <a:pPr algn="ctr"/>
                      <a:r>
                        <a:rPr sz="1100" b="0">
                          <a:solidFill>
                            <a:srgbClr val="1B2A38"/>
                          </a:solidFill>
                          <a:latin typeface="Calibri"/>
                        </a:rPr>
                        <a:t>0.884</a:t>
                      </a:r>
                    </a:p>
                  </a:txBody>
                  <a:tcPr marL="64008" marR="45720" marT="18288" marB="18288" anchor="ctr">
                    <a:solidFill>
                      <a:srgbClr val="EEF3F5"/>
                    </a:solidFill>
                  </a:tcPr>
                </a:tc>
              </a:tr>
              <a:tr h="438912">
                <a:tc>
                  <a:txBody>
                    <a:bodyPr wrap="square"/>
                    <a:lstStyle/>
                    <a:p>
                      <a:pPr algn="l"/>
                      <a:r>
                        <a:rPr sz="1100" b="0">
                          <a:solidFill>
                            <a:srgbClr val="1B2A38"/>
                          </a:solidFill>
                          <a:latin typeface="Calibri"/>
                        </a:rPr>
                        <a:t>Ours: + strengthened Stage 2</a:t>
                      </a:r>
                    </a:p>
                  </a:txBody>
                  <a:tcPr marL="64008" marR="45720" marT="18288" marB="18288" anchor="ctr">
                    <a:solidFill>
                      <a:srgbClr val="FFFFFF"/>
                    </a:solidFill>
                  </a:tcPr>
                </a:tc>
                <a:tc>
                  <a:txBody>
                    <a:bodyPr wrap="square"/>
                    <a:lstStyle/>
                    <a:p>
                      <a:pPr algn="ctr"/>
                      <a:r>
                        <a:rPr sz="1100" b="0">
                          <a:solidFill>
                            <a:srgbClr val="1B2A38"/>
                          </a:solidFill>
                          <a:latin typeface="Calibri"/>
                        </a:rPr>
                        <a:t>0.760</a:t>
                      </a:r>
                    </a:p>
                  </a:txBody>
                  <a:tcPr marL="64008" marR="45720" marT="18288" marB="18288" anchor="ctr">
                    <a:solidFill>
                      <a:srgbClr val="FFFFFF"/>
                    </a:solidFill>
                  </a:tcPr>
                </a:tc>
                <a:tc>
                  <a:txBody>
                    <a:bodyPr wrap="square"/>
                    <a:lstStyle/>
                    <a:p>
                      <a:pPr algn="ctr"/>
                      <a:r>
                        <a:rPr sz="1100" b="0">
                          <a:solidFill>
                            <a:srgbClr val="1B2A38"/>
                          </a:solidFill>
                          <a:latin typeface="Calibri"/>
                        </a:rPr>
                        <a:t>0.817</a:t>
                      </a:r>
                    </a:p>
                  </a:txBody>
                  <a:tcPr marL="64008" marR="45720" marT="18288" marB="18288" anchor="ctr">
                    <a:solidFill>
                      <a:srgbClr val="FFFFFF"/>
                    </a:solidFill>
                  </a:tcPr>
                </a:tc>
                <a:tc>
                  <a:txBody>
                    <a:bodyPr wrap="square"/>
                    <a:lstStyle/>
                    <a:p>
                      <a:pPr algn="ctr"/>
                      <a:r>
                        <a:rPr sz="1100" b="0">
                          <a:solidFill>
                            <a:srgbClr val="1B2A38"/>
                          </a:solidFill>
                          <a:latin typeface="Calibri"/>
                        </a:rPr>
                        <a:t>0.837</a:t>
                      </a:r>
                    </a:p>
                  </a:txBody>
                  <a:tcPr marL="64008" marR="45720" marT="18288" marB="18288" anchor="ctr">
                    <a:solidFill>
                      <a:srgbClr val="FFFFFF"/>
                    </a:solidFill>
                  </a:tcPr>
                </a:tc>
                <a:tc>
                  <a:txBody>
                    <a:bodyPr wrap="square"/>
                    <a:lstStyle/>
                    <a:p>
                      <a:pPr algn="ctr"/>
                      <a:r>
                        <a:rPr sz="1100" b="0">
                          <a:solidFill>
                            <a:srgbClr val="1B2A38"/>
                          </a:solidFill>
                          <a:latin typeface="Calibri"/>
                        </a:rPr>
                        <a:t>0.882</a:t>
                      </a:r>
                    </a:p>
                  </a:txBody>
                  <a:tcPr marL="64008" marR="45720" marT="18288" marB="18288" anchor="ctr">
                    <a:solidFill>
                      <a:srgbClr val="FFFFFF"/>
                    </a:solidFill>
                  </a:tcPr>
                </a:tc>
              </a:tr>
              <a:tr h="438912">
                <a:tc>
                  <a:txBody>
                    <a:bodyPr wrap="square"/>
                    <a:lstStyle/>
                    <a:p>
                      <a:pPr algn="l"/>
                      <a:r>
                        <a:rPr sz="1100" b="0">
                          <a:solidFill>
                            <a:srgbClr val="1B2A38"/>
                          </a:solidFill>
                          <a:latin typeface="Calibri"/>
                        </a:rPr>
                        <a:t>Ours: + shape features</a:t>
                      </a:r>
                    </a:p>
                  </a:txBody>
                  <a:tcPr marL="64008" marR="45720" marT="18288" marB="18288" anchor="ctr">
                    <a:solidFill>
                      <a:srgbClr val="EEF3F5"/>
                    </a:solidFill>
                  </a:tcPr>
                </a:tc>
                <a:tc>
                  <a:txBody>
                    <a:bodyPr wrap="square"/>
                    <a:lstStyle/>
                    <a:p>
                      <a:pPr algn="ctr"/>
                      <a:r>
                        <a:rPr sz="1100" b="0">
                          <a:solidFill>
                            <a:srgbClr val="1B2A38"/>
                          </a:solidFill>
                          <a:latin typeface="Calibri"/>
                        </a:rPr>
                        <a:t>0.761</a:t>
                      </a:r>
                    </a:p>
                  </a:txBody>
                  <a:tcPr marL="64008" marR="45720" marT="18288" marB="18288" anchor="ctr">
                    <a:solidFill>
                      <a:srgbClr val="EEF3F5"/>
                    </a:solidFill>
                  </a:tcPr>
                </a:tc>
                <a:tc>
                  <a:txBody>
                    <a:bodyPr wrap="square"/>
                    <a:lstStyle/>
                    <a:p>
                      <a:pPr algn="ctr"/>
                      <a:r>
                        <a:rPr sz="1100" b="0">
                          <a:solidFill>
                            <a:srgbClr val="1B2A38"/>
                          </a:solidFill>
                          <a:latin typeface="Calibri"/>
                        </a:rPr>
                        <a:t>0.840</a:t>
                      </a:r>
                    </a:p>
                  </a:txBody>
                  <a:tcPr marL="64008" marR="45720" marT="18288" marB="18288" anchor="ctr">
                    <a:solidFill>
                      <a:srgbClr val="EEF3F5"/>
                    </a:solidFill>
                  </a:tcPr>
                </a:tc>
                <a:tc>
                  <a:txBody>
                    <a:bodyPr wrap="square"/>
                    <a:lstStyle/>
                    <a:p>
                      <a:pPr algn="ctr"/>
                      <a:r>
                        <a:rPr sz="1100" b="0">
                          <a:solidFill>
                            <a:srgbClr val="1B2A38"/>
                          </a:solidFill>
                          <a:latin typeface="Calibri"/>
                        </a:rPr>
                        <a:t>0.857</a:t>
                      </a:r>
                    </a:p>
                  </a:txBody>
                  <a:tcPr marL="64008" marR="45720" marT="18288" marB="18288" anchor="ctr">
                    <a:solidFill>
                      <a:srgbClr val="EEF3F5"/>
                    </a:solidFill>
                  </a:tcPr>
                </a:tc>
                <a:tc>
                  <a:txBody>
                    <a:bodyPr wrap="square"/>
                    <a:lstStyle/>
                    <a:p>
                      <a:pPr algn="ctr"/>
                      <a:r>
                        <a:rPr sz="1100" b="0">
                          <a:solidFill>
                            <a:srgbClr val="1B2A38"/>
                          </a:solidFill>
                          <a:latin typeface="Calibri"/>
                        </a:rPr>
                        <a:t>0.850</a:t>
                      </a:r>
                    </a:p>
                  </a:txBody>
                  <a:tcPr marL="64008" marR="45720" marT="18288" marB="18288" anchor="ctr">
                    <a:solidFill>
                      <a:srgbClr val="EEF3F5"/>
                    </a:solidFill>
                  </a:tcPr>
                </a:tc>
              </a:tr>
            </a:tbl>
          </a:graphicData>
        </a:graphic>
      </p:graphicFrame>
      <p:sp>
        <p:nvSpPr>
          <p:cNvPr id="14" name="TextBox 13"/>
          <p:cNvSpPr txBox="1"/>
          <p:nvPr/>
        </p:nvSpPr>
        <p:spPr>
          <a:xfrm>
            <a:off x="777240" y="4983480"/>
            <a:ext cx="5989320" cy="548640"/>
          </a:xfrm>
          <a:prstGeom prst="rect">
            <a:avLst/>
          </a:prstGeom>
          <a:noFill/>
        </p:spPr>
        <p:txBody>
          <a:bodyPr wrap="square" anchor="t" lIns="0" rIns="0" tIns="0" bIns="0">
            <a:spAutoFit/>
          </a:bodyPr>
          <a:lstStyle/>
          <a:p>
            <a:pPr algn="l">
              <a:lnSpc>
                <a:spcPct val="105000"/>
              </a:lnSpc>
              <a:spcBef>
                <a:spcPts val="0"/>
              </a:spcBef>
              <a:spcAft>
                <a:spcPts val="400"/>
              </a:spcAft>
            </a:pPr>
            <a:r>
              <a:rPr sz="1050" b="0" i="1">
                <a:solidFill>
                  <a:srgbClr val="45596B"/>
                </a:solidFill>
                <a:latin typeface="Calibri"/>
              </a:rPr>
              <a:t>“GT-ROI F1” = classifier fed ground-truth-mask crops = the perfect-segmentation upper bound (~0.87).</a:t>
            </a:r>
          </a:p>
        </p:txBody>
      </p:sp>
      <p:sp>
        <p:nvSpPr>
          <p:cNvPr id="15" name="Rounded Rectangle 14"/>
          <p:cNvSpPr/>
          <p:nvPr/>
        </p:nvSpPr>
        <p:spPr>
          <a:xfrm>
            <a:off x="6949440" y="2011680"/>
            <a:ext cx="4480560" cy="3931920"/>
          </a:xfrm>
          <a:prstGeom prst="roundRect">
            <a:avLst/>
          </a:prstGeom>
          <a:solidFill>
            <a:srgbClr val="F7E9E9"/>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608" y="2176272"/>
            <a:ext cx="4114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E1595B"/>
                </a:solidFill>
                <a:latin typeface="Calibri"/>
              </a:rPr>
              <a:t>Where the error really is</a:t>
            </a:r>
          </a:p>
        </p:txBody>
      </p:sp>
      <p:sp>
        <p:nvSpPr>
          <p:cNvPr id="17" name="TextBox 16"/>
          <p:cNvSpPr txBox="1"/>
          <p:nvPr/>
        </p:nvSpPr>
        <p:spPr>
          <a:xfrm>
            <a:off x="7150608" y="2651760"/>
            <a:ext cx="4114800" cy="2926080"/>
          </a:xfrm>
          <a:prstGeom prst="rect">
            <a:avLst/>
          </a:prstGeom>
          <a:noFill/>
        </p:spPr>
        <p:txBody>
          <a:bodyPr wrap="square" lIns="0" rIns="0" tIns="0" bIns="0">
            <a:spAutoFit/>
          </a:bodyPr>
          <a:lstStyle/>
          <a:p>
            <a:pPr>
              <a:lnSpc>
                <a:spcPct val="102000"/>
              </a:lnSpc>
              <a:spcBef>
                <a:spcPts val="0"/>
              </a:spcBef>
              <a:spcAft>
                <a:spcPts val="1100"/>
              </a:spcAft>
            </a:pPr>
            <a:r>
              <a:rPr sz="1150" b="1">
                <a:solidFill>
                  <a:srgbClr val="E1595B"/>
                </a:solidFill>
                <a:latin typeface="Calibri"/>
              </a:rPr>
              <a:t>•  </a:t>
            </a:r>
            <a:r>
              <a:rPr sz="1150" b="1">
                <a:solidFill>
                  <a:srgbClr val="0E4D64"/>
                </a:solidFill>
                <a:latin typeface="Calibri"/>
              </a:rPr>
              <a:t>Stronger mask ≠ better pipeline: </a:t>
            </a:r>
            <a:r>
              <a:rPr sz="1150" b="0">
                <a:solidFill>
                  <a:srgbClr val="1B2A38"/>
                </a:solidFill>
                <a:latin typeface="Calibri"/>
              </a:rPr>
              <a:t>Stage-1 Dice 0.739→0.760, yet pipeline F1 only 0.804→0.807.</a:t>
            </a:r>
          </a:p>
          <a:p>
            <a:pPr>
              <a:lnSpc>
                <a:spcPct val="102000"/>
              </a:lnSpc>
              <a:spcBef>
                <a:spcPts val="0"/>
              </a:spcBef>
              <a:spcAft>
                <a:spcPts val="1100"/>
              </a:spcAft>
            </a:pPr>
            <a:r>
              <a:rPr sz="1150" b="1">
                <a:solidFill>
                  <a:srgbClr val="E1595B"/>
                </a:solidFill>
                <a:latin typeface="Calibri"/>
              </a:rPr>
              <a:t>•  </a:t>
            </a:r>
            <a:r>
              <a:rPr sz="1150" b="1">
                <a:solidFill>
                  <a:srgbClr val="0E4D64"/>
                </a:solidFill>
                <a:latin typeface="Calibri"/>
              </a:rPr>
              <a:t>Upper bound: </a:t>
            </a:r>
            <a:r>
              <a:rPr sz="1150" b="0">
                <a:solidFill>
                  <a:srgbClr val="1B2A38"/>
                </a:solidFill>
                <a:latin typeface="Calibri"/>
              </a:rPr>
              <a:t>even a perfect mask tops out at ~0.87 — far above what we reach — so the gap is the classifier's own error, not bad ROIs.</a:t>
            </a:r>
          </a:p>
          <a:p>
            <a:pPr>
              <a:lnSpc>
                <a:spcPct val="102000"/>
              </a:lnSpc>
              <a:spcBef>
                <a:spcPts val="0"/>
              </a:spcBef>
              <a:spcAft>
                <a:spcPts val="1100"/>
              </a:spcAft>
            </a:pPr>
            <a:r>
              <a:rPr sz="1150" b="1">
                <a:solidFill>
                  <a:srgbClr val="E1595B"/>
                </a:solidFill>
                <a:latin typeface="Calibri"/>
              </a:rPr>
              <a:t>•  </a:t>
            </a:r>
            <a:r>
              <a:rPr sz="1150" b="1">
                <a:solidFill>
                  <a:srgbClr val="0E4D64"/>
                </a:solidFill>
                <a:latin typeface="Calibri"/>
              </a:rPr>
              <a:t>Implication: </a:t>
            </a:r>
            <a:r>
              <a:rPr sz="1150" b="0">
                <a:solidFill>
                  <a:srgbClr val="1B2A38"/>
                </a:solidFill>
                <a:latin typeface="Calibri"/>
              </a:rPr>
              <a:t>the mask is already good enough to crop the ROI → spend capacity on the classifier.</a:t>
            </a:r>
          </a:p>
        </p:txBody>
      </p:sp>
      <p:sp>
        <p:nvSpPr>
          <p:cNvPr id="18" name="Rounded Rectangle 17"/>
          <p:cNvSpPr/>
          <p:nvPr/>
        </p:nvSpPr>
        <p:spPr>
          <a:xfrm>
            <a:off x="7150608" y="5285232"/>
            <a:ext cx="4069080" cy="566928"/>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96912" y="5285232"/>
            <a:ext cx="3794760" cy="566928"/>
          </a:xfrm>
          <a:prstGeom prst="rect">
            <a:avLst/>
          </a:prstGeom>
          <a:noFill/>
        </p:spPr>
        <p:txBody>
          <a:bodyPr wrap="square" anchor="ctr" lIns="0" rIns="0" tIns="0" bIns="0">
            <a:spAutoFit/>
          </a:bodyPr>
          <a:lstStyle/>
          <a:p>
            <a:pPr algn="l">
              <a:lnSpc>
                <a:spcPct val="100000"/>
              </a:lnSpc>
              <a:spcBef>
                <a:spcPts val="0"/>
              </a:spcBef>
              <a:spcAft>
                <a:spcPts val="400"/>
              </a:spcAft>
            </a:pPr>
            <a:r>
              <a:rPr sz="1050" b="0" i="0">
                <a:solidFill>
                  <a:srgbClr val="FFFFFF"/>
                </a:solidFill>
                <a:latin typeface="Calibri"/>
              </a:rPr>
              <a:t>Which classifier tweaks are real? → </a:t>
            </a:r>
            <a:r>
              <a:rPr sz="1050" b="1" i="0">
                <a:solidFill>
                  <a:srgbClr val="E8A33D"/>
                </a:solidFill>
                <a:latin typeface="Calibri"/>
              </a:rPr>
              <a:t>only ensembling (0.875)</a:t>
            </a:r>
            <a:r>
              <a:rPr sz="1050" b="0" i="0">
                <a:solidFill>
                  <a:srgbClr val="FFFFFF"/>
                </a:solidFill>
                <a:latin typeface="Calibri"/>
              </a:rPr>
              <a:t> — see ablation.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COMPARISON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Two comparisons: across models &amp; vs. reported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25</a:t>
            </a:r>
          </a:p>
        </p:txBody>
      </p:sp>
      <p:sp>
        <p:nvSpPr>
          <p:cNvPr id="10" name="Rounded Rectangle 9"/>
          <p:cNvSpPr/>
          <p:nvPr/>
        </p:nvSpPr>
        <p:spPr>
          <a:xfrm>
            <a:off x="777240" y="1645920"/>
            <a:ext cx="5212080" cy="429768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10512"/>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HORIZONTAL — best per task (ours vs baseline)</a:t>
            </a:r>
          </a:p>
        </p:txBody>
      </p:sp>
      <p:sp>
        <p:nvSpPr>
          <p:cNvPr id="12" name="TextBox 11"/>
          <p:cNvSpPr txBox="1"/>
          <p:nvPr/>
        </p:nvSpPr>
        <p:spPr>
          <a:xfrm>
            <a:off x="1005840" y="2286000"/>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Seg · Improved U-Net</a:t>
            </a:r>
          </a:p>
        </p:txBody>
      </p:sp>
      <p:sp>
        <p:nvSpPr>
          <p:cNvPr id="13" name="Rectangle 12"/>
          <p:cNvSpPr/>
          <p:nvPr/>
        </p:nvSpPr>
        <p:spPr>
          <a:xfrm>
            <a:off x="1005840" y="2560320"/>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 y="2560320"/>
            <a:ext cx="3405225" cy="146304"/>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2432304"/>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3AA655"/>
                </a:solidFill>
                <a:latin typeface="Calibri"/>
              </a:rPr>
              <a:t>0.760</a:t>
            </a:r>
          </a:p>
        </p:txBody>
      </p:sp>
      <p:sp>
        <p:nvSpPr>
          <p:cNvPr id="16" name="TextBox 15"/>
          <p:cNvSpPr txBox="1"/>
          <p:nvPr/>
        </p:nvSpPr>
        <p:spPr>
          <a:xfrm>
            <a:off x="1005840" y="2852928"/>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Seg · DeepLabV3+ (base)</a:t>
            </a:r>
          </a:p>
        </p:txBody>
      </p:sp>
      <p:sp>
        <p:nvSpPr>
          <p:cNvPr id="17" name="Rectangle 16"/>
          <p:cNvSpPr/>
          <p:nvPr/>
        </p:nvSpPr>
        <p:spPr>
          <a:xfrm>
            <a:off x="1005840" y="3127248"/>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05840" y="3127248"/>
            <a:ext cx="3311133" cy="146304"/>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04688" y="2999232"/>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1F8AA6"/>
                </a:solidFill>
                <a:latin typeface="Calibri"/>
              </a:rPr>
              <a:t>0.739</a:t>
            </a:r>
          </a:p>
        </p:txBody>
      </p:sp>
      <p:sp>
        <p:nvSpPr>
          <p:cNvPr id="20" name="TextBox 19"/>
          <p:cNvSpPr txBox="1"/>
          <p:nvPr/>
        </p:nvSpPr>
        <p:spPr>
          <a:xfrm>
            <a:off x="1005840" y="3419856"/>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Cls · EfficientNet-B0</a:t>
            </a:r>
          </a:p>
        </p:txBody>
      </p:sp>
      <p:sp>
        <p:nvSpPr>
          <p:cNvPr id="21" name="Rectangle 20"/>
          <p:cNvSpPr/>
          <p:nvPr/>
        </p:nvSpPr>
        <p:spPr>
          <a:xfrm>
            <a:off x="1005840" y="3694176"/>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05840" y="3694176"/>
            <a:ext cx="3709903" cy="146304"/>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04688" y="3566160"/>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3AA655"/>
                </a:solidFill>
                <a:latin typeface="Calibri"/>
              </a:rPr>
              <a:t>0.828</a:t>
            </a:r>
          </a:p>
        </p:txBody>
      </p:sp>
      <p:sp>
        <p:nvSpPr>
          <p:cNvPr id="24" name="TextBox 23"/>
          <p:cNvSpPr txBox="1"/>
          <p:nvPr/>
        </p:nvSpPr>
        <p:spPr>
          <a:xfrm>
            <a:off x="1005840" y="3986784"/>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Cls · MTL-OCA (base)</a:t>
            </a:r>
          </a:p>
        </p:txBody>
      </p:sp>
      <p:sp>
        <p:nvSpPr>
          <p:cNvPr id="25" name="Rectangle 24"/>
          <p:cNvSpPr/>
          <p:nvPr/>
        </p:nvSpPr>
        <p:spPr>
          <a:xfrm>
            <a:off x="1005840" y="4261104"/>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05840" y="4261104"/>
            <a:ext cx="3226003" cy="146304"/>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04688" y="4133088"/>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8A94A6"/>
                </a:solidFill>
                <a:latin typeface="Calibri"/>
              </a:rPr>
              <a:t>0.720</a:t>
            </a:r>
          </a:p>
        </p:txBody>
      </p:sp>
      <p:sp>
        <p:nvSpPr>
          <p:cNvPr id="28" name="TextBox 27"/>
          <p:cNvSpPr txBox="1"/>
          <p:nvPr/>
        </p:nvSpPr>
        <p:spPr>
          <a:xfrm>
            <a:off x="1005840" y="4553712"/>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Dual · OOF+ensemble (ours)</a:t>
            </a:r>
          </a:p>
        </p:txBody>
      </p:sp>
      <p:sp>
        <p:nvSpPr>
          <p:cNvPr id="29" name="Rectangle 28"/>
          <p:cNvSpPr/>
          <p:nvPr/>
        </p:nvSpPr>
        <p:spPr>
          <a:xfrm>
            <a:off x="1005840" y="4828032"/>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5840" y="4828032"/>
            <a:ext cx="3920490" cy="146304"/>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04688" y="4700016"/>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E1595B"/>
                </a:solidFill>
                <a:latin typeface="Calibri"/>
              </a:rPr>
              <a:t>0.875</a:t>
            </a:r>
          </a:p>
        </p:txBody>
      </p:sp>
      <p:sp>
        <p:nvSpPr>
          <p:cNvPr id="32" name="TextBox 31"/>
          <p:cNvSpPr txBox="1"/>
          <p:nvPr/>
        </p:nvSpPr>
        <p:spPr>
          <a:xfrm>
            <a:off x="1005840" y="5120640"/>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Dual · Bruno (base)</a:t>
            </a:r>
          </a:p>
        </p:txBody>
      </p:sp>
      <p:sp>
        <p:nvSpPr>
          <p:cNvPr id="33" name="Rectangle 32"/>
          <p:cNvSpPr/>
          <p:nvPr/>
        </p:nvSpPr>
        <p:spPr>
          <a:xfrm>
            <a:off x="1005840" y="5394960"/>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05840" y="5394960"/>
            <a:ext cx="3602370" cy="146304"/>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04688" y="5266944"/>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8A94A6"/>
                </a:solidFill>
                <a:latin typeface="Calibri"/>
              </a:rPr>
              <a:t>0.804</a:t>
            </a:r>
          </a:p>
        </p:txBody>
      </p:sp>
      <p:sp>
        <p:nvSpPr>
          <p:cNvPr id="36" name="Rounded Rectangle 35"/>
          <p:cNvSpPr/>
          <p:nvPr/>
        </p:nvSpPr>
        <p:spPr>
          <a:xfrm>
            <a:off x="6172200" y="1645920"/>
            <a:ext cx="5257800" cy="429768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1810512"/>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VERTICAL — our leakage-free vs. paper-reported Dice</a:t>
            </a:r>
          </a:p>
        </p:txBody>
      </p:sp>
      <p:sp>
        <p:nvSpPr>
          <p:cNvPr id="38" name="TextBox 37"/>
          <p:cNvSpPr txBox="1"/>
          <p:nvPr/>
        </p:nvSpPr>
        <p:spPr>
          <a:xfrm>
            <a:off x="6400800" y="2331720"/>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1B2A38"/>
                </a:solidFill>
                <a:latin typeface="Calibri"/>
              </a:rPr>
              <a:t>CResU-Net</a:t>
            </a:r>
          </a:p>
        </p:txBody>
      </p:sp>
      <p:sp>
        <p:nvSpPr>
          <p:cNvPr id="39" name="Rectangle 38"/>
          <p:cNvSpPr/>
          <p:nvPr/>
        </p:nvSpPr>
        <p:spPr>
          <a:xfrm>
            <a:off x="6400800" y="2624327"/>
            <a:ext cx="3941795" cy="182880"/>
          </a:xfrm>
          <a:prstGeom prst="rect">
            <a:avLst/>
          </a:prstGeom>
          <a:solidFill>
            <a:srgbClr val="C7D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88315" y="2606039"/>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45596B"/>
                </a:solidFill>
                <a:latin typeface="Calibri"/>
              </a:rPr>
              <a:t>paper 0.829</a:t>
            </a:r>
          </a:p>
        </p:txBody>
      </p:sp>
      <p:sp>
        <p:nvSpPr>
          <p:cNvPr id="41" name="Rectangle 40"/>
          <p:cNvSpPr/>
          <p:nvPr/>
        </p:nvSpPr>
        <p:spPr>
          <a:xfrm>
            <a:off x="6400800" y="2862072"/>
            <a:ext cx="3295131" cy="182880"/>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41651" y="2843784"/>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ours 0.693</a:t>
            </a:r>
          </a:p>
        </p:txBody>
      </p:sp>
      <p:sp>
        <p:nvSpPr>
          <p:cNvPr id="43" name="TextBox 42"/>
          <p:cNvSpPr txBox="1"/>
          <p:nvPr/>
        </p:nvSpPr>
        <p:spPr>
          <a:xfrm>
            <a:off x="6400800" y="3291839"/>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1B2A38"/>
                </a:solidFill>
                <a:latin typeface="Calibri"/>
              </a:rPr>
              <a:t>AAU-Net</a:t>
            </a:r>
          </a:p>
        </p:txBody>
      </p:sp>
      <p:sp>
        <p:nvSpPr>
          <p:cNvPr id="44" name="Rectangle 43"/>
          <p:cNvSpPr/>
          <p:nvPr/>
        </p:nvSpPr>
        <p:spPr>
          <a:xfrm>
            <a:off x="6400800" y="3584447"/>
            <a:ext cx="3685032" cy="182880"/>
          </a:xfrm>
          <a:prstGeom prst="rect">
            <a:avLst/>
          </a:prstGeom>
          <a:solidFill>
            <a:srgbClr val="C7D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31552" y="3566159"/>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45596B"/>
                </a:solidFill>
                <a:latin typeface="Calibri"/>
              </a:rPr>
              <a:t>paper 0.775</a:t>
            </a:r>
          </a:p>
        </p:txBody>
      </p:sp>
      <p:sp>
        <p:nvSpPr>
          <p:cNvPr id="46" name="Rectangle 45"/>
          <p:cNvSpPr/>
          <p:nvPr/>
        </p:nvSpPr>
        <p:spPr>
          <a:xfrm>
            <a:off x="6400800" y="3822191"/>
            <a:ext cx="3471062" cy="182880"/>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17582" y="3803904"/>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ours 0.730</a:t>
            </a:r>
          </a:p>
        </p:txBody>
      </p:sp>
      <p:sp>
        <p:nvSpPr>
          <p:cNvPr id="48" name="TextBox 47"/>
          <p:cNvSpPr txBox="1"/>
          <p:nvPr/>
        </p:nvSpPr>
        <p:spPr>
          <a:xfrm>
            <a:off x="6400800" y="4251959"/>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1B2A38"/>
                </a:solidFill>
                <a:latin typeface="Calibri"/>
              </a:rPr>
              <a:t>MTL-OCA</a:t>
            </a:r>
          </a:p>
        </p:txBody>
      </p:sp>
      <p:sp>
        <p:nvSpPr>
          <p:cNvPr id="49" name="Rectangle 48"/>
          <p:cNvSpPr/>
          <p:nvPr/>
        </p:nvSpPr>
        <p:spPr>
          <a:xfrm>
            <a:off x="6400800" y="4544568"/>
            <a:ext cx="3984589" cy="182880"/>
          </a:xfrm>
          <a:prstGeom prst="rect">
            <a:avLst/>
          </a:prstGeom>
          <a:solidFill>
            <a:srgbClr val="C7D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1109" y="4526279"/>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45596B"/>
                </a:solidFill>
                <a:latin typeface="Calibri"/>
              </a:rPr>
              <a:t>paper 0.838</a:t>
            </a:r>
          </a:p>
        </p:txBody>
      </p:sp>
      <p:sp>
        <p:nvSpPr>
          <p:cNvPr id="51" name="Rectangle 50"/>
          <p:cNvSpPr/>
          <p:nvPr/>
        </p:nvSpPr>
        <p:spPr>
          <a:xfrm>
            <a:off x="6400800" y="4782312"/>
            <a:ext cx="2909986" cy="182880"/>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56506" y="4764023"/>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ours 0.612</a:t>
            </a:r>
          </a:p>
        </p:txBody>
      </p:sp>
      <p:sp>
        <p:nvSpPr>
          <p:cNvPr id="53" name="TextBox 52"/>
          <p:cNvSpPr txBox="1"/>
          <p:nvPr/>
        </p:nvSpPr>
        <p:spPr>
          <a:xfrm>
            <a:off x="6400800" y="5440680"/>
            <a:ext cx="4846320" cy="457200"/>
          </a:xfrm>
          <a:prstGeom prst="rect">
            <a:avLst/>
          </a:prstGeom>
          <a:noFill/>
        </p:spPr>
        <p:txBody>
          <a:bodyPr wrap="square" anchor="t" lIns="0" rIns="0" tIns="0" bIns="0">
            <a:spAutoFit/>
          </a:bodyPr>
          <a:lstStyle/>
          <a:p>
            <a:pPr algn="l">
              <a:lnSpc>
                <a:spcPct val="105000"/>
              </a:lnSpc>
              <a:spcBef>
                <a:spcPts val="0"/>
              </a:spcBef>
              <a:spcAft>
                <a:spcPts val="400"/>
              </a:spcAft>
            </a:pPr>
            <a:r>
              <a:rPr sz="1100" b="1" i="0">
                <a:solidFill>
                  <a:srgbClr val="1B2A38"/>
                </a:solidFill>
                <a:latin typeface="Calibri"/>
              </a:rPr>
              <a:t>The drop = removed near-duplicate leakage. </a:t>
            </a:r>
            <a:r>
              <a:rPr sz="1100" b="1" i="0">
                <a:solidFill>
                  <a:srgbClr val="E1595B"/>
                </a:solidFill>
                <a:latin typeface="Calibri"/>
              </a:rPr>
              <a:t>Our numbers are lower but trustworthy.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45596B"/>
                </a:solidFill>
                <a:latin typeface="Calibri"/>
              </a:rPr>
              <a:t>6 · DISCUSSION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Three findings that generalise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26</a:t>
            </a:r>
          </a:p>
        </p:txBody>
      </p:sp>
      <p:sp>
        <p:nvSpPr>
          <p:cNvPr id="10" name="Rounded Rectangle 9"/>
          <p:cNvSpPr/>
          <p:nvPr/>
        </p:nvSpPr>
        <p:spPr>
          <a:xfrm>
            <a:off x="777240" y="1691640"/>
            <a:ext cx="10634472" cy="12801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822960" cy="128016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91640"/>
            <a:ext cx="822960" cy="128016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FFFFFF"/>
                </a:solidFill>
                <a:latin typeface="Calibri"/>
              </a:rPr>
              <a:t>1</a:t>
            </a:r>
          </a:p>
        </p:txBody>
      </p:sp>
      <p:sp>
        <p:nvSpPr>
          <p:cNvPr id="13" name="TextBox 12"/>
          <p:cNvSpPr txBox="1"/>
          <p:nvPr/>
        </p:nvSpPr>
        <p:spPr>
          <a:xfrm>
            <a:off x="1828800" y="1874520"/>
            <a:ext cx="9418320" cy="4114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B2A38"/>
                </a:solidFill>
                <a:latin typeface="Calibri"/>
              </a:rPr>
              <a:t>Evaluation hygiene matters most</a:t>
            </a:r>
          </a:p>
        </p:txBody>
      </p:sp>
      <p:sp>
        <p:nvSpPr>
          <p:cNvPr id="14" name="TextBox 13"/>
          <p:cNvSpPr txBox="1"/>
          <p:nvPr/>
        </p:nvSpPr>
        <p:spPr>
          <a:xfrm>
            <a:off x="1828800" y="2313432"/>
            <a:ext cx="9418320" cy="59436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45596B"/>
                </a:solidFill>
                <a:latin typeface="Calibri"/>
              </a:rPr>
              <a:t>Removing near-duplicate leakage drops published BUSI scores substantially (CResU 0.829→0.693). Much 'SOTA' rests on how you split.</a:t>
            </a:r>
          </a:p>
        </p:txBody>
      </p:sp>
      <p:sp>
        <p:nvSpPr>
          <p:cNvPr id="15" name="Rounded Rectangle 14"/>
          <p:cNvSpPr/>
          <p:nvPr/>
        </p:nvSpPr>
        <p:spPr>
          <a:xfrm>
            <a:off x="777240" y="3108960"/>
            <a:ext cx="10634472" cy="12801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3108960"/>
            <a:ext cx="822960" cy="128016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08960"/>
            <a:ext cx="822960" cy="128016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FFFFFF"/>
                </a:solidFill>
                <a:latin typeface="Calibri"/>
              </a:rPr>
              <a:t>2</a:t>
            </a:r>
          </a:p>
        </p:txBody>
      </p:sp>
      <p:sp>
        <p:nvSpPr>
          <p:cNvPr id="18" name="TextBox 17"/>
          <p:cNvSpPr txBox="1"/>
          <p:nvPr/>
        </p:nvSpPr>
        <p:spPr>
          <a:xfrm>
            <a:off x="1828800" y="3291840"/>
            <a:ext cx="9418320" cy="4114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B2A38"/>
                </a:solidFill>
                <a:latin typeface="Calibri"/>
              </a:rPr>
              <a:t>Transfer learning is decisive</a:t>
            </a:r>
          </a:p>
        </p:txBody>
      </p:sp>
      <p:sp>
        <p:nvSpPr>
          <p:cNvPr id="19" name="TextBox 18"/>
          <p:cNvSpPr txBox="1"/>
          <p:nvPr/>
        </p:nvSpPr>
        <p:spPr>
          <a:xfrm>
            <a:off x="1828800" y="3730752"/>
            <a:ext cx="9418320" cy="59436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45596B"/>
                </a:solidFill>
                <a:latin typeface="Calibri"/>
              </a:rPr>
              <a:t>An ImageNet encoder alone lifts Dice 0.648→0.765 and slashes missed lesions — beating attention gates, custom losses &amp; nnU-Net.</a:t>
            </a:r>
          </a:p>
        </p:txBody>
      </p:sp>
      <p:sp>
        <p:nvSpPr>
          <p:cNvPr id="20" name="Rounded Rectangle 19"/>
          <p:cNvSpPr/>
          <p:nvPr/>
        </p:nvSpPr>
        <p:spPr>
          <a:xfrm>
            <a:off x="777240" y="4526280"/>
            <a:ext cx="10634472" cy="12801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4526280"/>
            <a:ext cx="822960" cy="128016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26280"/>
            <a:ext cx="822960" cy="128016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FFFFFF"/>
                </a:solidFill>
                <a:latin typeface="Calibri"/>
              </a:rPr>
              <a:t>3</a:t>
            </a:r>
          </a:p>
        </p:txBody>
      </p:sp>
      <p:sp>
        <p:nvSpPr>
          <p:cNvPr id="23" name="TextBox 22"/>
          <p:cNvSpPr txBox="1"/>
          <p:nvPr/>
        </p:nvSpPr>
        <p:spPr>
          <a:xfrm>
            <a:off x="1828800" y="4709160"/>
            <a:ext cx="9418320" cy="4114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B2A38"/>
                </a:solidFill>
                <a:latin typeface="Calibri"/>
              </a:rPr>
              <a:t>Fix the real bottleneck</a:t>
            </a:r>
          </a:p>
        </p:txBody>
      </p:sp>
      <p:sp>
        <p:nvSpPr>
          <p:cNvPr id="24" name="TextBox 23"/>
          <p:cNvSpPr txBox="1"/>
          <p:nvPr/>
        </p:nvSpPr>
        <p:spPr>
          <a:xfrm>
            <a:off x="1828800" y="5148072"/>
            <a:ext cx="9418320" cy="59436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45596B"/>
                </a:solidFill>
                <a:latin typeface="Calibri"/>
              </a:rPr>
              <a:t>The dual-stage pipeline is limited by its classifier, not its segmenter. Invest capacity where the measured gap is — and report CIs.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45596B"/>
                </a:solidFill>
                <a:latin typeface="Calibri"/>
              </a:rPr>
              <a:t>6 · DISCUSSION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Strengths, limitations &amp; future work</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27</a:t>
            </a:r>
          </a:p>
        </p:txBody>
      </p:sp>
      <p:sp>
        <p:nvSpPr>
          <p:cNvPr id="10" name="Rounded Rectangle 9"/>
          <p:cNvSpPr/>
          <p:nvPr/>
        </p:nvSpPr>
        <p:spPr>
          <a:xfrm>
            <a:off x="777240" y="1691640"/>
            <a:ext cx="3401568" cy="4251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3401568" cy="50292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96596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737360"/>
            <a:ext cx="340156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STRENGTHS</a:t>
            </a:r>
          </a:p>
        </p:txBody>
      </p:sp>
      <p:sp>
        <p:nvSpPr>
          <p:cNvPr id="14" name="TextBox 13"/>
          <p:cNvSpPr txBox="1"/>
          <p:nvPr/>
        </p:nvSpPr>
        <p:spPr>
          <a:xfrm>
            <a:off x="978408" y="2377440"/>
            <a:ext cx="3017520" cy="3383280"/>
          </a:xfrm>
          <a:prstGeom prst="rect">
            <a:avLst/>
          </a:prstGeom>
          <a:noFill/>
        </p:spPr>
        <p:txBody>
          <a:bodyPr wrap="square" lIns="0" rIns="0" tIns="0" bIns="0">
            <a:spAutoFit/>
          </a:bodyPr>
          <a:lstStyle/>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one leakage-free split for all 15 models → truly fair</a:t>
            </a:r>
          </a:p>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controlled ablations &amp; substitutions attribute gains</a:t>
            </a:r>
          </a:p>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multi-seed + bootstrap CIs → statistically honest</a:t>
            </a:r>
          </a:p>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best-in-class segmenter (0.760) &amp; pipeline (0.875)</a:t>
            </a:r>
          </a:p>
        </p:txBody>
      </p:sp>
      <p:sp>
        <p:nvSpPr>
          <p:cNvPr id="15" name="Rounded Rectangle 14"/>
          <p:cNvSpPr/>
          <p:nvPr/>
        </p:nvSpPr>
        <p:spPr>
          <a:xfrm>
            <a:off x="4398264" y="1691640"/>
            <a:ext cx="3401568" cy="4251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8264" y="1691640"/>
            <a:ext cx="3401568" cy="50292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96596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98264" y="1737360"/>
            <a:ext cx="340156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LIMITATIONS</a:t>
            </a:r>
          </a:p>
        </p:txBody>
      </p:sp>
      <p:sp>
        <p:nvSpPr>
          <p:cNvPr id="19" name="TextBox 18"/>
          <p:cNvSpPr txBox="1"/>
          <p:nvPr/>
        </p:nvSpPr>
        <p:spPr>
          <a:xfrm>
            <a:off x="4599431" y="2377440"/>
            <a:ext cx="3017520" cy="3383280"/>
          </a:xfrm>
          <a:prstGeom prst="rect">
            <a:avLst/>
          </a:prstGeom>
          <a:noFill/>
        </p:spPr>
        <p:txBody>
          <a:bodyPr wrap="square" lIns="0" rIns="0" tIns="0" bIns="0">
            <a:spAutoFit/>
          </a:bodyPr>
          <a:lstStyle/>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single small dataset (98-image test) → wide CIs</a:t>
            </a:r>
          </a:p>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no full nested cross-validation (compute)</a:t>
            </a:r>
          </a:p>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2D only; no external / multi-centre validation</a:t>
            </a:r>
          </a:p>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hand-crafted radiomics gave no reliable lift</a:t>
            </a:r>
          </a:p>
        </p:txBody>
      </p:sp>
      <p:sp>
        <p:nvSpPr>
          <p:cNvPr id="20" name="Rounded Rectangle 19"/>
          <p:cNvSpPr/>
          <p:nvPr/>
        </p:nvSpPr>
        <p:spPr>
          <a:xfrm>
            <a:off x="8019288" y="1691640"/>
            <a:ext cx="3401568" cy="4251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19288" y="1691640"/>
            <a:ext cx="3401568" cy="50292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196596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9288" y="1737360"/>
            <a:ext cx="340156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FUTURE WORK</a:t>
            </a:r>
          </a:p>
        </p:txBody>
      </p:sp>
      <p:sp>
        <p:nvSpPr>
          <p:cNvPr id="24" name="TextBox 23"/>
          <p:cNvSpPr txBox="1"/>
          <p:nvPr/>
        </p:nvSpPr>
        <p:spPr>
          <a:xfrm>
            <a:off x="8220456" y="2377440"/>
            <a:ext cx="3017520" cy="3383280"/>
          </a:xfrm>
          <a:prstGeom prst="rect">
            <a:avLst/>
          </a:prstGeom>
          <a:noFill/>
        </p:spPr>
        <p:txBody>
          <a:bodyPr wrap="square" lIns="0" rIns="0" tIns="0" bIns="0">
            <a:spAutoFit/>
          </a:bodyPr>
          <a:lstStyle/>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foundation-model segmenters (MedSAM)</a:t>
            </a:r>
          </a:p>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stronger / ensembled ROI classifiers</a:t>
            </a:r>
          </a:p>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nested CV under the same leakage-free protocol</a:t>
            </a:r>
          </a:p>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multi-centre external validation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486400"/>
            <a:ext cx="12191695" cy="1371600"/>
          </a:xfrm>
          <a:prstGeom prst="rect">
            <a:avLst/>
          </a:prstGeom>
          <a:solidFill>
            <a:srgbClr val="0A3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51560"/>
            <a:ext cx="10515600" cy="45720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9FD0DE"/>
                </a:solidFill>
                <a:latin typeface="Calibri"/>
              </a:rPr>
              <a:t>IN ONE SENTENCE</a:t>
            </a:r>
          </a:p>
        </p:txBody>
      </p:sp>
      <p:sp>
        <p:nvSpPr>
          <p:cNvPr id="6" name="TextBox 5"/>
          <p:cNvSpPr txBox="1"/>
          <p:nvPr/>
        </p:nvSpPr>
        <p:spPr>
          <a:xfrm>
            <a:off x="804672" y="1554480"/>
            <a:ext cx="10607040" cy="20116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Calibri"/>
              </a:rPr>
              <a:t>On small, noisy ultrasound data,</a:t>
            </a:r>
          </a:p>
          <a:p>
            <a:pPr algn="l">
              <a:lnSpc>
                <a:spcPct val="106000"/>
              </a:lnSpc>
              <a:spcBef>
                <a:spcPts val="0"/>
              </a:spcBef>
              <a:spcAft>
                <a:spcPts val="400"/>
              </a:spcAft>
            </a:pPr>
            <a:r>
              <a:rPr sz="3000" b="1" i="0">
                <a:solidFill>
                  <a:srgbClr val="FFFFFF"/>
                </a:solidFill>
                <a:latin typeface="Calibri"/>
              </a:rPr>
              <a:t>clean evaluation + transfer learning beat</a:t>
            </a:r>
          </a:p>
          <a:p>
            <a:pPr algn="l">
              <a:lnSpc>
                <a:spcPct val="106000"/>
              </a:lnSpc>
              <a:spcBef>
                <a:spcPts val="0"/>
              </a:spcBef>
              <a:spcAft>
                <a:spcPts val="400"/>
              </a:spcAft>
            </a:pPr>
            <a:r>
              <a:rPr sz="3000" b="1" i="0">
                <a:solidFill>
                  <a:srgbClr val="FFFFFF"/>
                </a:solidFill>
                <a:latin typeface="Calibri"/>
              </a:rPr>
              <a:t>architectural complexity — every time.</a:t>
            </a:r>
          </a:p>
        </p:txBody>
      </p:sp>
      <p:sp>
        <p:nvSpPr>
          <p:cNvPr id="7" name="Rounded Rectangle 6"/>
          <p:cNvSpPr/>
          <p:nvPr/>
        </p:nvSpPr>
        <p:spPr>
          <a:xfrm>
            <a:off x="822960" y="3675887"/>
            <a:ext cx="3383280" cy="1188720"/>
          </a:xfrm>
          <a:prstGeom prst="roundRect">
            <a:avLst/>
          </a:prstGeom>
          <a:solidFill>
            <a:srgbClr val="0A3646"/>
          </a:solidFill>
          <a:ln w="1270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803904"/>
            <a:ext cx="3383280" cy="548640"/>
          </a:xfrm>
          <a:prstGeom prst="rect">
            <a:avLst/>
          </a:prstGeom>
          <a:noFill/>
        </p:spPr>
        <p:txBody>
          <a:bodyPr wrap="square" anchor="t" lIns="0" rIns="0" tIns="0" bIns="0">
            <a:spAutoFit/>
          </a:bodyPr>
          <a:lstStyle/>
          <a:p>
            <a:pPr algn="ctr">
              <a:lnSpc>
                <a:spcPct val="100000"/>
              </a:lnSpc>
              <a:spcBef>
                <a:spcPts val="0"/>
              </a:spcBef>
              <a:spcAft>
                <a:spcPts val="400"/>
              </a:spcAft>
            </a:pPr>
            <a:r>
              <a:rPr sz="2700" b="1" i="0">
                <a:solidFill>
                  <a:srgbClr val="E8A33D"/>
                </a:solidFill>
                <a:latin typeface="Calibri"/>
              </a:rPr>
              <a:t>0.760</a:t>
            </a:r>
          </a:p>
        </p:txBody>
      </p:sp>
      <p:sp>
        <p:nvSpPr>
          <p:cNvPr id="9" name="TextBox 8"/>
          <p:cNvSpPr txBox="1"/>
          <p:nvPr/>
        </p:nvSpPr>
        <p:spPr>
          <a:xfrm>
            <a:off x="822960" y="4370832"/>
            <a:ext cx="338328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1" i="0">
                <a:solidFill>
                  <a:srgbClr val="CFE6EC"/>
                </a:solidFill>
                <a:latin typeface="Calibri"/>
              </a:rPr>
              <a:t>Dice · segmentation · 98 imgs</a:t>
            </a:r>
          </a:p>
        </p:txBody>
      </p:sp>
      <p:sp>
        <p:nvSpPr>
          <p:cNvPr id="10" name="Rounded Rectangle 9"/>
          <p:cNvSpPr/>
          <p:nvPr/>
        </p:nvSpPr>
        <p:spPr>
          <a:xfrm>
            <a:off x="4480560" y="3675887"/>
            <a:ext cx="3383280" cy="1188720"/>
          </a:xfrm>
          <a:prstGeom prst="roundRect">
            <a:avLst/>
          </a:prstGeom>
          <a:solidFill>
            <a:srgbClr val="0A3646"/>
          </a:solidFill>
          <a:ln w="1270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3803904"/>
            <a:ext cx="3383280" cy="548640"/>
          </a:xfrm>
          <a:prstGeom prst="rect">
            <a:avLst/>
          </a:prstGeom>
          <a:noFill/>
        </p:spPr>
        <p:txBody>
          <a:bodyPr wrap="square" anchor="t" lIns="0" rIns="0" tIns="0" bIns="0">
            <a:spAutoFit/>
          </a:bodyPr>
          <a:lstStyle/>
          <a:p>
            <a:pPr algn="ctr">
              <a:lnSpc>
                <a:spcPct val="100000"/>
              </a:lnSpc>
              <a:spcBef>
                <a:spcPts val="0"/>
              </a:spcBef>
              <a:spcAft>
                <a:spcPts val="400"/>
              </a:spcAft>
            </a:pPr>
            <a:r>
              <a:rPr sz="2700" b="1" i="0">
                <a:solidFill>
                  <a:srgbClr val="E8A33D"/>
                </a:solidFill>
                <a:latin typeface="Calibri"/>
              </a:rPr>
              <a:t>0.828</a:t>
            </a:r>
          </a:p>
        </p:txBody>
      </p:sp>
      <p:sp>
        <p:nvSpPr>
          <p:cNvPr id="12" name="TextBox 11"/>
          <p:cNvSpPr txBox="1"/>
          <p:nvPr/>
        </p:nvSpPr>
        <p:spPr>
          <a:xfrm>
            <a:off x="4480560" y="4370832"/>
            <a:ext cx="338328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1" i="0">
                <a:solidFill>
                  <a:srgbClr val="CFE6EC"/>
                </a:solidFill>
                <a:latin typeface="Calibri"/>
              </a:rPr>
              <a:t>macro-F1 · 3-class cls · 118 imgs</a:t>
            </a:r>
          </a:p>
        </p:txBody>
      </p:sp>
      <p:sp>
        <p:nvSpPr>
          <p:cNvPr id="13" name="Rounded Rectangle 12"/>
          <p:cNvSpPr/>
          <p:nvPr/>
        </p:nvSpPr>
        <p:spPr>
          <a:xfrm>
            <a:off x="8138160" y="3675887"/>
            <a:ext cx="3383280" cy="1188720"/>
          </a:xfrm>
          <a:prstGeom prst="roundRect">
            <a:avLst/>
          </a:prstGeom>
          <a:solidFill>
            <a:srgbClr val="0A3646"/>
          </a:solidFill>
          <a:ln w="1270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3803904"/>
            <a:ext cx="3383280" cy="548640"/>
          </a:xfrm>
          <a:prstGeom prst="rect">
            <a:avLst/>
          </a:prstGeom>
          <a:noFill/>
        </p:spPr>
        <p:txBody>
          <a:bodyPr wrap="square" anchor="t" lIns="0" rIns="0" tIns="0" bIns="0">
            <a:spAutoFit/>
          </a:bodyPr>
          <a:lstStyle/>
          <a:p>
            <a:pPr algn="ctr">
              <a:lnSpc>
                <a:spcPct val="100000"/>
              </a:lnSpc>
              <a:spcBef>
                <a:spcPts val="0"/>
              </a:spcBef>
              <a:spcAft>
                <a:spcPts val="400"/>
              </a:spcAft>
            </a:pPr>
            <a:r>
              <a:rPr sz="2700" b="1" i="0">
                <a:solidFill>
                  <a:srgbClr val="E8A33D"/>
                </a:solidFill>
                <a:latin typeface="Calibri"/>
              </a:rPr>
              <a:t>0.875</a:t>
            </a:r>
          </a:p>
        </p:txBody>
      </p:sp>
      <p:sp>
        <p:nvSpPr>
          <p:cNvPr id="15" name="TextBox 14"/>
          <p:cNvSpPr txBox="1"/>
          <p:nvPr/>
        </p:nvSpPr>
        <p:spPr>
          <a:xfrm>
            <a:off x="8138160" y="4370832"/>
            <a:ext cx="3383280" cy="457200"/>
          </a:xfrm>
          <a:prstGeom prst="rect">
            <a:avLst/>
          </a:prstGeom>
          <a:noFill/>
        </p:spPr>
        <p:txBody>
          <a:bodyPr wrap="square" anchor="t" lIns="0" rIns="0" tIns="0" bIns="0">
            <a:spAutoFit/>
          </a:bodyPr>
          <a:lstStyle/>
          <a:p>
            <a:pPr algn="ctr">
              <a:lnSpc>
                <a:spcPct val="100000"/>
              </a:lnSpc>
              <a:spcBef>
                <a:spcPts val="0"/>
              </a:spcBef>
              <a:spcAft>
                <a:spcPts val="400"/>
              </a:spcAft>
            </a:pPr>
            <a:r>
              <a:rPr sz="1050" b="1" i="0">
                <a:solidFill>
                  <a:srgbClr val="CFE6EC"/>
                </a:solidFill>
                <a:latin typeface="Calibri"/>
              </a:rPr>
              <a:t>macro-F1 · 2-class pipeline · 98 imgs</a:t>
            </a:r>
          </a:p>
        </p:txBody>
      </p:sp>
      <p:sp>
        <p:nvSpPr>
          <p:cNvPr id="16" name="TextBox 15"/>
          <p:cNvSpPr txBox="1"/>
          <p:nvPr/>
        </p:nvSpPr>
        <p:spPr>
          <a:xfrm>
            <a:off x="822960" y="4956048"/>
            <a:ext cx="10515600"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0" i="1">
                <a:solidFill>
                  <a:srgbClr val="9FD0DE"/>
                </a:solidFill>
                <a:latin typeface="Calibri"/>
              </a:rPr>
              <a:t>Three different tasks &amp; metrics on different test sets — not a single like-for-like ranking.</a:t>
            </a:r>
          </a:p>
        </p:txBody>
      </p:sp>
      <p:sp>
        <p:nvSpPr>
          <p:cNvPr id="17" name="TextBox 16"/>
          <p:cNvSpPr txBox="1"/>
          <p:nvPr/>
        </p:nvSpPr>
        <p:spPr>
          <a:xfrm>
            <a:off x="822960" y="5806440"/>
            <a:ext cx="73152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FFFFFF"/>
                </a:solidFill>
                <a:latin typeface="Calibri"/>
              </a:rPr>
              <a:t>COMP9444 · Group Project 047</a:t>
            </a:r>
          </a:p>
          <a:p>
            <a:pPr algn="l">
              <a:lnSpc>
                <a:spcPct val="100000"/>
              </a:lnSpc>
              <a:spcBef>
                <a:spcPts val="0"/>
              </a:spcBef>
              <a:spcAft>
                <a:spcPts val="400"/>
              </a:spcAft>
            </a:pPr>
            <a:r>
              <a:rPr sz="1200" b="0" i="0">
                <a:solidFill>
                  <a:srgbClr val="9FD0DE"/>
                </a:solidFill>
                <a:latin typeface="Calibri"/>
              </a:rPr>
              <a:t>Breast Cancer Classification &amp; Segmentation · BUSI</a:t>
            </a:r>
          </a:p>
        </p:txBody>
      </p:sp>
      <p:sp>
        <p:nvSpPr>
          <p:cNvPr id="18" name="TextBox 17"/>
          <p:cNvSpPr txBox="1"/>
          <p:nvPr/>
        </p:nvSpPr>
        <p:spPr>
          <a:xfrm>
            <a:off x="8686800" y="5943600"/>
            <a:ext cx="2743200" cy="548640"/>
          </a:xfrm>
          <a:prstGeom prst="rect">
            <a:avLst/>
          </a:prstGeom>
          <a:noFill/>
        </p:spPr>
        <p:txBody>
          <a:bodyPr wrap="square" anchor="t" lIns="0" rIns="0" tIns="0" bIns="0">
            <a:spAutoFit/>
          </a:bodyPr>
          <a:lstStyle/>
          <a:p>
            <a:pPr algn="r">
              <a:lnSpc>
                <a:spcPct val="100000"/>
              </a:lnSpc>
              <a:spcBef>
                <a:spcPts val="0"/>
              </a:spcBef>
              <a:spcAft>
                <a:spcPts val="400"/>
              </a:spcAft>
            </a:pPr>
            <a:r>
              <a:rPr sz="1600" b="1" i="0">
                <a:solidFill>
                  <a:srgbClr val="FFFFFF"/>
                </a:solidFill>
                <a:latin typeface="Calibri"/>
              </a:rPr>
              <a:t>Thank you — questions?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3891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APPENDIX</a:t>
            </a:r>
          </a:p>
        </p:txBody>
      </p:sp>
      <p:sp>
        <p:nvSpPr>
          <p:cNvPr id="6" name="TextBox 5"/>
          <p:cNvSpPr txBox="1"/>
          <p:nvPr/>
        </p:nvSpPr>
        <p:spPr>
          <a:xfrm>
            <a:off x="777240" y="694944"/>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Paper index — 25 references</a:t>
            </a:r>
          </a:p>
        </p:txBody>
      </p:sp>
      <p:sp>
        <p:nvSpPr>
          <p:cNvPr id="7" name="Rectangle 6"/>
          <p:cNvSpPr/>
          <p:nvPr/>
        </p:nvSpPr>
        <p:spPr>
          <a:xfrm>
            <a:off x="777240" y="1298448"/>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66928" y="1481328"/>
          <a:ext cx="5029200" cy="4476892"/>
        </p:xfrm>
        <a:graphic>
          <a:graphicData uri="http://schemas.openxmlformats.org/drawingml/2006/table">
            <a:tbl>
              <a:tblPr>
                <a:tableStyleId>{5C22544A-7EE6-4342-B048-85BDC9FD1C3A}</a:tableStyleId>
              </a:tblPr>
              <a:tblGrid>
                <a:gridCol w="365760"/>
                <a:gridCol w="3639312"/>
                <a:gridCol w="1024128"/>
              </a:tblGrid>
              <a:tr h="292608">
                <a:tc>
                  <a:txBody>
                    <a:bodyPr/>
                    <a:lstStyle/>
                    <a:p>
                      <a:pPr algn="ctr"/>
                      <a:r>
                        <a:rPr sz="950" b="1">
                          <a:solidFill>
                            <a:srgbClr val="FFFFFF"/>
                          </a:solidFill>
                          <a:latin typeface="Calibri"/>
                        </a:rPr>
                        <a:t>#</a:t>
                      </a:r>
                    </a:p>
                  </a:txBody>
                  <a:tcPr anchor="ctr" marL="54864" marT="9144" marB="9144">
                    <a:solidFill>
                      <a:srgbClr val="0A3646"/>
                    </a:solidFill>
                  </a:tcPr>
                </a:tc>
                <a:tc>
                  <a:txBody>
                    <a:bodyPr/>
                    <a:lstStyle/>
                    <a:p>
                      <a:pPr algn="l"/>
                      <a:r>
                        <a:rPr sz="950" b="1">
                          <a:solidFill>
                            <a:srgbClr val="FFFFFF"/>
                          </a:solidFill>
                          <a:latin typeface="Calibri"/>
                        </a:rPr>
                        <a:t>Reference</a:t>
                      </a:r>
                    </a:p>
                  </a:txBody>
                  <a:tcPr anchor="ctr" marL="54864" marT="9144" marB="9144">
                    <a:solidFill>
                      <a:srgbClr val="0A3646"/>
                    </a:solidFill>
                  </a:tcPr>
                </a:tc>
                <a:tc>
                  <a:txBody>
                    <a:bodyPr/>
                    <a:lstStyle/>
                    <a:p>
                      <a:pPr algn="ctr"/>
                      <a:r>
                        <a:rPr sz="950" b="1">
                          <a:solidFill>
                            <a:srgbClr val="FFFFFF"/>
                          </a:solidFill>
                          <a:latin typeface="Calibri"/>
                        </a:rPr>
                        <a:t>Task</a:t>
                      </a:r>
                    </a:p>
                  </a:txBody>
                  <a:tcPr anchor="ctr" marL="54864" marT="9144" marB="9144">
                    <a:solidFill>
                      <a:srgbClr val="0A3646"/>
                    </a:solidFill>
                  </a:tcPr>
                </a:tc>
              </a:tr>
              <a:tr h="321868">
                <a:tc>
                  <a:txBody>
                    <a:bodyPr/>
                    <a:lstStyle/>
                    <a:p>
                      <a:pPr algn="ctr"/>
                      <a:r>
                        <a:rPr sz="900" b="1">
                          <a:solidFill>
                            <a:srgbClr val="FFFFFF"/>
                          </a:solidFill>
                          <a:latin typeface="Calibri"/>
                        </a:rPr>
                        <a:t>1</a:t>
                      </a:r>
                    </a:p>
                  </a:txBody>
                  <a:tcPr anchor="ctr" marL="54864" marR="27432" marT="0" marB="0">
                    <a:solidFill>
                      <a:srgbClr val="3AA655"/>
                    </a:solidFill>
                  </a:tcPr>
                </a:tc>
                <a:tc>
                  <a:txBody>
                    <a:bodyPr/>
                    <a:lstStyle/>
                    <a:p>
                      <a:pPr algn="l"/>
                      <a:r>
                        <a:rPr sz="869">
                          <a:solidFill>
                            <a:srgbClr val="1B2A38"/>
                          </a:solidFill>
                          <a:latin typeface="Calibri"/>
                        </a:rPr>
                        <a:t>Al-Dhabyani et al. (2020). Dataset of breast ultrasound images</a:t>
                      </a:r>
                    </a:p>
                  </a:txBody>
                  <a:tcPr anchor="ctr" marL="54864" marR="27432" marT="0" marB="0">
                    <a:solidFill>
                      <a:srgbClr val="FFFFFF"/>
                    </a:solidFill>
                  </a:tcPr>
                </a:tc>
                <a:tc>
                  <a:txBody>
                    <a:bodyPr/>
                    <a:lstStyle/>
                    <a:p>
                      <a:pPr algn="ctr"/>
                      <a:r>
                        <a:rPr sz="830" b="1">
                          <a:solidFill>
                            <a:srgbClr val="3AA655"/>
                          </a:solidFill>
                          <a:latin typeface="Calibri"/>
                        </a:rPr>
                        <a:t>Dataset</a:t>
                      </a:r>
                    </a:p>
                  </a:txBody>
                  <a:tcPr anchor="ctr" marL="54864" marR="27432" marT="0" marB="0">
                    <a:solidFill>
                      <a:srgbClr val="FFFFFF"/>
                    </a:solidFill>
                  </a:tcPr>
                </a:tc>
              </a:tr>
              <a:tr h="321868">
                <a:tc>
                  <a:txBody>
                    <a:bodyPr/>
                    <a:lstStyle/>
                    <a:p>
                      <a:pPr algn="ctr"/>
                      <a:r>
                        <a:rPr sz="900" b="1">
                          <a:solidFill>
                            <a:srgbClr val="FFFFFF"/>
                          </a:solidFill>
                          <a:latin typeface="Calibri"/>
                        </a:rPr>
                        <a:t>2</a:t>
                      </a:r>
                    </a:p>
                  </a:txBody>
                  <a:tcPr anchor="ctr" marL="54864" marR="27432" marT="0" marB="0">
                    <a:solidFill>
                      <a:srgbClr val="3AA655"/>
                    </a:solidFill>
                  </a:tcPr>
                </a:tc>
                <a:tc>
                  <a:txBody>
                    <a:bodyPr/>
                    <a:lstStyle/>
                    <a:p>
                      <a:pPr algn="l"/>
                      <a:r>
                        <a:rPr sz="869">
                          <a:solidFill>
                            <a:srgbClr val="1B2A38"/>
                          </a:solidFill>
                          <a:latin typeface="Calibri"/>
                        </a:rPr>
                        <a:t>Yap et al. (2018). Automated BUS lesion detection using CNNs</a:t>
                      </a:r>
                    </a:p>
                  </a:txBody>
                  <a:tcPr anchor="ctr" marL="54864" marR="27432" marT="0" marB="0">
                    <a:solidFill>
                      <a:srgbClr val="EEF3F5"/>
                    </a:solidFill>
                  </a:tcPr>
                </a:tc>
                <a:tc>
                  <a:txBody>
                    <a:bodyPr/>
                    <a:lstStyle/>
                    <a:p>
                      <a:pPr algn="ctr"/>
                      <a:r>
                        <a:rPr sz="830" b="1">
                          <a:solidFill>
                            <a:srgbClr val="1F8AA6"/>
                          </a:solidFill>
                          <a:latin typeface="Calibri"/>
                        </a:rPr>
                        <a:t>Seg/Detect</a:t>
                      </a:r>
                    </a:p>
                  </a:txBody>
                  <a:tcPr anchor="ctr" marL="54864" marR="27432" marT="0" marB="0">
                    <a:solidFill>
                      <a:srgbClr val="EEF3F5"/>
                    </a:solidFill>
                  </a:tcPr>
                </a:tc>
              </a:tr>
              <a:tr h="321868">
                <a:tc>
                  <a:txBody>
                    <a:bodyPr/>
                    <a:lstStyle/>
                    <a:p>
                      <a:pPr algn="ctr"/>
                      <a:r>
                        <a:rPr sz="900" b="1">
                          <a:solidFill>
                            <a:srgbClr val="FFFFFF"/>
                          </a:solidFill>
                          <a:latin typeface="Calibri"/>
                        </a:rPr>
                        <a:t>3</a:t>
                      </a:r>
                    </a:p>
                  </a:txBody>
                  <a:tcPr anchor="ctr" marL="54864" marR="27432" marT="0" marB="0">
                    <a:solidFill>
                      <a:srgbClr val="3AA655"/>
                    </a:solidFill>
                  </a:tcPr>
                </a:tc>
                <a:tc>
                  <a:txBody>
                    <a:bodyPr/>
                    <a:lstStyle/>
                    <a:p>
                      <a:pPr algn="l"/>
                      <a:r>
                        <a:rPr sz="869">
                          <a:solidFill>
                            <a:srgbClr val="1B2A38"/>
                          </a:solidFill>
                          <a:latin typeface="Calibri"/>
                        </a:rPr>
                        <a:t>Ronneberger et al. (2015). U-Net: CNNs for biomedical segmentation</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4</a:t>
                      </a:r>
                    </a:p>
                  </a:txBody>
                  <a:tcPr anchor="ctr" marL="54864" marR="27432" marT="0" marB="0">
                    <a:solidFill>
                      <a:srgbClr val="3AA655"/>
                    </a:solidFill>
                  </a:tcPr>
                </a:tc>
                <a:tc>
                  <a:txBody>
                    <a:bodyPr/>
                    <a:lstStyle/>
                    <a:p>
                      <a:pPr algn="l"/>
                      <a:r>
                        <a:rPr sz="869">
                          <a:solidFill>
                            <a:srgbClr val="1B2A38"/>
                          </a:solidFill>
                          <a:latin typeface="Calibri"/>
                        </a:rPr>
                        <a:t>He et al. (2016). Deep residual learning (ResNet)</a:t>
                      </a:r>
                    </a:p>
                  </a:txBody>
                  <a:tcPr anchor="ctr" marL="54864" marR="27432" marT="0" marB="0">
                    <a:solidFill>
                      <a:srgbClr val="EEF3F5"/>
                    </a:solidFill>
                  </a:tcPr>
                </a:tc>
                <a:tc>
                  <a:txBody>
                    <a:bodyPr/>
                    <a:lstStyle/>
                    <a:p>
                      <a:pPr algn="ctr"/>
                      <a:r>
                        <a:rPr sz="830" b="1">
                          <a:solidFill>
                            <a:srgbClr val="0E4D64"/>
                          </a:solidFill>
                          <a:latin typeface="Calibri"/>
                        </a:rPr>
                        <a:t>Cls</a:t>
                      </a:r>
                    </a:p>
                  </a:txBody>
                  <a:tcPr anchor="ctr" marL="54864" marR="27432" marT="0" marB="0">
                    <a:solidFill>
                      <a:srgbClr val="EEF3F5"/>
                    </a:solidFill>
                  </a:tcPr>
                </a:tc>
              </a:tr>
              <a:tr h="321868">
                <a:tc>
                  <a:txBody>
                    <a:bodyPr/>
                    <a:lstStyle/>
                    <a:p>
                      <a:pPr algn="ctr"/>
                      <a:r>
                        <a:rPr sz="900" b="1">
                          <a:solidFill>
                            <a:srgbClr val="FFFFFF"/>
                          </a:solidFill>
                          <a:latin typeface="Calibri"/>
                        </a:rPr>
                        <a:t>5</a:t>
                      </a:r>
                    </a:p>
                  </a:txBody>
                  <a:tcPr anchor="ctr" marL="54864" marR="27432" marT="0" marB="0">
                    <a:solidFill>
                      <a:srgbClr val="3AA655"/>
                    </a:solidFill>
                  </a:tcPr>
                </a:tc>
                <a:tc>
                  <a:txBody>
                    <a:bodyPr/>
                    <a:lstStyle/>
                    <a:p>
                      <a:pPr algn="l"/>
                      <a:r>
                        <a:rPr sz="869">
                          <a:solidFill>
                            <a:srgbClr val="1B2A38"/>
                          </a:solidFill>
                          <a:latin typeface="Calibri"/>
                        </a:rPr>
                        <a:t>Huang et al. (2017). Densely connected CNNs (DenseNet)</a:t>
                      </a:r>
                    </a:p>
                  </a:txBody>
                  <a:tcPr anchor="ctr" marL="54864" marR="27432" marT="0" marB="0">
                    <a:solidFill>
                      <a:srgbClr val="FFFFFF"/>
                    </a:solidFill>
                  </a:tcPr>
                </a:tc>
                <a:tc>
                  <a:txBody>
                    <a:bodyPr/>
                    <a:lstStyle/>
                    <a:p>
                      <a:pPr algn="ctr"/>
                      <a:r>
                        <a:rPr sz="830" b="1">
                          <a:solidFill>
                            <a:srgbClr val="0E4D64"/>
                          </a:solidFill>
                          <a:latin typeface="Calibri"/>
                        </a:rPr>
                        <a:t>Cls</a:t>
                      </a:r>
                    </a:p>
                  </a:txBody>
                  <a:tcPr anchor="ctr" marL="54864" marR="27432" marT="0" marB="0">
                    <a:solidFill>
                      <a:srgbClr val="FFFFFF"/>
                    </a:solidFill>
                  </a:tcPr>
                </a:tc>
              </a:tr>
              <a:tr h="321868">
                <a:tc>
                  <a:txBody>
                    <a:bodyPr/>
                    <a:lstStyle/>
                    <a:p>
                      <a:pPr algn="ctr"/>
                      <a:r>
                        <a:rPr sz="900" b="1">
                          <a:solidFill>
                            <a:srgbClr val="FFFFFF"/>
                          </a:solidFill>
                          <a:latin typeface="Calibri"/>
                        </a:rPr>
                        <a:t>6</a:t>
                      </a:r>
                    </a:p>
                  </a:txBody>
                  <a:tcPr anchor="ctr" marL="54864" marR="27432" marT="0" marB="0">
                    <a:solidFill>
                      <a:srgbClr val="3AA655"/>
                    </a:solidFill>
                  </a:tcPr>
                </a:tc>
                <a:tc>
                  <a:txBody>
                    <a:bodyPr/>
                    <a:lstStyle/>
                    <a:p>
                      <a:pPr algn="l"/>
                      <a:r>
                        <a:rPr sz="869">
                          <a:solidFill>
                            <a:srgbClr val="1B2A38"/>
                          </a:solidFill>
                          <a:latin typeface="Calibri"/>
                        </a:rPr>
                        <a:t>Tan &amp; Le (2019). EfficientNet: rethinking model scaling</a:t>
                      </a:r>
                    </a:p>
                  </a:txBody>
                  <a:tcPr anchor="ctr" marL="54864" marR="27432" marT="0" marB="0">
                    <a:solidFill>
                      <a:srgbClr val="EEF3F5"/>
                    </a:solidFill>
                  </a:tcPr>
                </a:tc>
                <a:tc>
                  <a:txBody>
                    <a:bodyPr/>
                    <a:lstStyle/>
                    <a:p>
                      <a:pPr algn="ctr"/>
                      <a:r>
                        <a:rPr sz="830" b="1">
                          <a:solidFill>
                            <a:srgbClr val="0E4D64"/>
                          </a:solidFill>
                          <a:latin typeface="Calibri"/>
                        </a:rPr>
                        <a:t>Cls</a:t>
                      </a:r>
                    </a:p>
                  </a:txBody>
                  <a:tcPr anchor="ctr" marL="54864" marR="27432" marT="0" marB="0">
                    <a:solidFill>
                      <a:srgbClr val="EEF3F5"/>
                    </a:solidFill>
                  </a:tcPr>
                </a:tc>
              </a:tr>
              <a:tr h="321868">
                <a:tc>
                  <a:txBody>
                    <a:bodyPr/>
                    <a:lstStyle/>
                    <a:p>
                      <a:pPr algn="ctr"/>
                      <a:r>
                        <a:rPr sz="900" b="1">
                          <a:solidFill>
                            <a:srgbClr val="FFFFFF"/>
                          </a:solidFill>
                          <a:latin typeface="Calibri"/>
                        </a:rPr>
                        <a:t>7</a:t>
                      </a:r>
                    </a:p>
                  </a:txBody>
                  <a:tcPr anchor="ctr" marL="54864" marR="27432" marT="0" marB="0">
                    <a:solidFill>
                      <a:srgbClr val="3AA655"/>
                    </a:solidFill>
                  </a:tcPr>
                </a:tc>
                <a:tc>
                  <a:txBody>
                    <a:bodyPr/>
                    <a:lstStyle/>
                    <a:p>
                      <a:pPr algn="l"/>
                      <a:r>
                        <a:rPr sz="869">
                          <a:solidFill>
                            <a:srgbClr val="1B2A38"/>
                          </a:solidFill>
                          <a:latin typeface="Calibri"/>
                        </a:rPr>
                        <a:t>Chen et al. (2018). DeepLabV3+: atrous separable convolution</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8</a:t>
                      </a:r>
                    </a:p>
                  </a:txBody>
                  <a:tcPr anchor="ctr" marL="54864" marR="27432" marT="0" marB="0">
                    <a:solidFill>
                      <a:srgbClr val="8A94A6"/>
                    </a:solidFill>
                  </a:tcPr>
                </a:tc>
                <a:tc>
                  <a:txBody>
                    <a:bodyPr/>
                    <a:lstStyle/>
                    <a:p>
                      <a:pPr algn="l"/>
                      <a:r>
                        <a:rPr sz="869">
                          <a:solidFill>
                            <a:srgbClr val="1B2A38"/>
                          </a:solidFill>
                          <a:latin typeface="Calibri"/>
                        </a:rPr>
                        <a:t>Zhou et al. (2018). UNet++: nested U-Net</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9</a:t>
                      </a:r>
                    </a:p>
                  </a:txBody>
                  <a:tcPr anchor="ctr" marL="54864" marR="27432" marT="0" marB="0">
                    <a:solidFill>
                      <a:srgbClr val="3AA655"/>
                    </a:solidFill>
                  </a:tcPr>
                </a:tc>
                <a:tc>
                  <a:txBody>
                    <a:bodyPr/>
                    <a:lstStyle/>
                    <a:p>
                      <a:pPr algn="l"/>
                      <a:r>
                        <a:rPr sz="869">
                          <a:solidFill>
                            <a:srgbClr val="1B2A38"/>
                          </a:solidFill>
                          <a:latin typeface="Calibri"/>
                        </a:rPr>
                        <a:t>Oktay et al. (2018). Attention U-Net</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10</a:t>
                      </a:r>
                    </a:p>
                  </a:txBody>
                  <a:tcPr anchor="ctr" marL="54864" marR="27432" marT="0" marB="0">
                    <a:solidFill>
                      <a:srgbClr val="8A94A6"/>
                    </a:solidFill>
                  </a:tcPr>
                </a:tc>
                <a:tc>
                  <a:txBody>
                    <a:bodyPr/>
                    <a:lstStyle/>
                    <a:p>
                      <a:pPr algn="l"/>
                      <a:r>
                        <a:rPr sz="869">
                          <a:solidFill>
                            <a:srgbClr val="1B2A38"/>
                          </a:solidFill>
                          <a:latin typeface="Calibri"/>
                        </a:rPr>
                        <a:t>Huang et al. (2020). UNet 3+: full-scale connected UNet</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11</a:t>
                      </a:r>
                    </a:p>
                  </a:txBody>
                  <a:tcPr anchor="ctr" marL="54864" marR="27432" marT="0" marB="0">
                    <a:solidFill>
                      <a:srgbClr val="8A94A6"/>
                    </a:solidFill>
                  </a:tcPr>
                </a:tc>
                <a:tc>
                  <a:txBody>
                    <a:bodyPr/>
                    <a:lstStyle/>
                    <a:p>
                      <a:pPr algn="l"/>
                      <a:r>
                        <a:rPr sz="869">
                          <a:solidFill>
                            <a:srgbClr val="1B2A38"/>
                          </a:solidFill>
                          <a:latin typeface="Calibri"/>
                        </a:rPr>
                        <a:t>Chen et al. (2021). TransUNet: transformers for medical seg</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12</a:t>
                      </a:r>
                    </a:p>
                  </a:txBody>
                  <a:tcPr anchor="ctr" marL="54864" marR="27432" marT="0" marB="0">
                    <a:solidFill>
                      <a:srgbClr val="3AA655"/>
                    </a:solidFill>
                  </a:tcPr>
                </a:tc>
                <a:tc>
                  <a:txBody>
                    <a:bodyPr/>
                    <a:lstStyle/>
                    <a:p>
                      <a:pPr algn="l"/>
                      <a:r>
                        <a:rPr sz="869">
                          <a:solidFill>
                            <a:srgbClr val="1B2A38"/>
                          </a:solidFill>
                          <a:latin typeface="Calibri"/>
                        </a:rPr>
                        <a:t>Chen et al. (2023). AAU-Net: adaptive attention U-Net (BUS)</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13</a:t>
                      </a:r>
                    </a:p>
                  </a:txBody>
                  <a:tcPr anchor="ctr" marL="54864" marR="27432" marT="0" marB="0">
                    <a:solidFill>
                      <a:srgbClr val="3AA655"/>
                    </a:solidFill>
                  </a:tcPr>
                </a:tc>
                <a:tc>
                  <a:txBody>
                    <a:bodyPr/>
                    <a:lstStyle/>
                    <a:p>
                      <a:pPr algn="l"/>
                      <a:r>
                        <a:rPr sz="869">
                          <a:solidFill>
                            <a:srgbClr val="1B2A38"/>
                          </a:solidFill>
                          <a:latin typeface="Calibri"/>
                        </a:rPr>
                        <a:t>Derakhshandeh &amp; Mahloojifar (2024). CResU-Net (BUSI)</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bl>
          </a:graphicData>
        </a:graphic>
      </p:graphicFrame>
      <p:graphicFrame>
        <p:nvGraphicFramePr>
          <p:cNvPr id="9" name="Table 8"/>
          <p:cNvGraphicFramePr>
            <a:graphicFrameLocks noGrp="1"/>
          </p:cNvGraphicFramePr>
          <p:nvPr/>
        </p:nvGraphicFramePr>
        <p:xfrm>
          <a:off x="6263640" y="1481328"/>
          <a:ext cx="5029200" cy="4155024"/>
        </p:xfrm>
        <a:graphic>
          <a:graphicData uri="http://schemas.openxmlformats.org/drawingml/2006/table">
            <a:tbl>
              <a:tblPr>
                <a:tableStyleId>{5C22544A-7EE6-4342-B048-85BDC9FD1C3A}</a:tableStyleId>
              </a:tblPr>
              <a:tblGrid>
                <a:gridCol w="365760"/>
                <a:gridCol w="3639312"/>
                <a:gridCol w="1024128"/>
              </a:tblGrid>
              <a:tr h="292608">
                <a:tc>
                  <a:txBody>
                    <a:bodyPr/>
                    <a:lstStyle/>
                    <a:p>
                      <a:pPr algn="ctr"/>
                      <a:r>
                        <a:rPr sz="950" b="1">
                          <a:solidFill>
                            <a:srgbClr val="FFFFFF"/>
                          </a:solidFill>
                          <a:latin typeface="Calibri"/>
                        </a:rPr>
                        <a:t>#</a:t>
                      </a:r>
                    </a:p>
                  </a:txBody>
                  <a:tcPr anchor="ctr" marL="54864" marT="9144" marB="9144">
                    <a:solidFill>
                      <a:srgbClr val="0A3646"/>
                    </a:solidFill>
                  </a:tcPr>
                </a:tc>
                <a:tc>
                  <a:txBody>
                    <a:bodyPr/>
                    <a:lstStyle/>
                    <a:p>
                      <a:pPr algn="l"/>
                      <a:r>
                        <a:rPr sz="950" b="1">
                          <a:solidFill>
                            <a:srgbClr val="FFFFFF"/>
                          </a:solidFill>
                          <a:latin typeface="Calibri"/>
                        </a:rPr>
                        <a:t>Reference</a:t>
                      </a:r>
                    </a:p>
                  </a:txBody>
                  <a:tcPr anchor="ctr" marL="54864" marT="9144" marB="9144">
                    <a:solidFill>
                      <a:srgbClr val="0A3646"/>
                    </a:solidFill>
                  </a:tcPr>
                </a:tc>
                <a:tc>
                  <a:txBody>
                    <a:bodyPr/>
                    <a:lstStyle/>
                    <a:p>
                      <a:pPr algn="ctr"/>
                      <a:r>
                        <a:rPr sz="950" b="1">
                          <a:solidFill>
                            <a:srgbClr val="FFFFFF"/>
                          </a:solidFill>
                          <a:latin typeface="Calibri"/>
                        </a:rPr>
                        <a:t>Task</a:t>
                      </a:r>
                    </a:p>
                  </a:txBody>
                  <a:tcPr anchor="ctr" marL="54864" marT="9144" marB="9144">
                    <a:solidFill>
                      <a:srgbClr val="0A3646"/>
                    </a:solidFill>
                  </a:tcPr>
                </a:tc>
              </a:tr>
              <a:tr h="321868">
                <a:tc>
                  <a:txBody>
                    <a:bodyPr/>
                    <a:lstStyle/>
                    <a:p>
                      <a:pPr algn="ctr"/>
                      <a:r>
                        <a:rPr sz="900" b="1">
                          <a:solidFill>
                            <a:srgbClr val="FFFFFF"/>
                          </a:solidFill>
                          <a:latin typeface="Calibri"/>
                        </a:rPr>
                        <a:t>14</a:t>
                      </a:r>
                    </a:p>
                  </a:txBody>
                  <a:tcPr anchor="ctr" marL="54864" marR="27432" marT="0" marB="0">
                    <a:solidFill>
                      <a:srgbClr val="8A94A6"/>
                    </a:solidFill>
                  </a:tcPr>
                </a:tc>
                <a:tc>
                  <a:txBody>
                    <a:bodyPr/>
                    <a:lstStyle/>
                    <a:p>
                      <a:pPr algn="l"/>
                      <a:r>
                        <a:rPr sz="869">
                          <a:solidFill>
                            <a:srgbClr val="1B2A38"/>
                          </a:solidFill>
                          <a:latin typeface="Calibri"/>
                        </a:rPr>
                        <a:t>Latha et al. (2024). EfficientNet-B7 + explainable AI (BUSI)</a:t>
                      </a:r>
                    </a:p>
                  </a:txBody>
                  <a:tcPr anchor="ctr" marL="54864" marR="27432" marT="0" marB="0">
                    <a:solidFill>
                      <a:srgbClr val="FFFFFF"/>
                    </a:solidFill>
                  </a:tcPr>
                </a:tc>
                <a:tc>
                  <a:txBody>
                    <a:bodyPr/>
                    <a:lstStyle/>
                    <a:p>
                      <a:pPr algn="ctr"/>
                      <a:r>
                        <a:rPr sz="830" b="1">
                          <a:solidFill>
                            <a:srgbClr val="0E4D64"/>
                          </a:solidFill>
                          <a:latin typeface="Calibri"/>
                        </a:rPr>
                        <a:t>Cls</a:t>
                      </a:r>
                    </a:p>
                  </a:txBody>
                  <a:tcPr anchor="ctr" marL="54864" marR="27432" marT="0" marB="0">
                    <a:solidFill>
                      <a:srgbClr val="FFFFFF"/>
                    </a:solidFill>
                  </a:tcPr>
                </a:tc>
              </a:tr>
              <a:tr h="321868">
                <a:tc>
                  <a:txBody>
                    <a:bodyPr/>
                    <a:lstStyle/>
                    <a:p>
                      <a:pPr algn="ctr"/>
                      <a:r>
                        <a:rPr sz="900" b="1">
                          <a:solidFill>
                            <a:srgbClr val="FFFFFF"/>
                          </a:solidFill>
                          <a:latin typeface="Calibri"/>
                        </a:rPr>
                        <a:t>15</a:t>
                      </a:r>
                    </a:p>
                  </a:txBody>
                  <a:tcPr anchor="ctr" marL="54864" marR="27432" marT="0" marB="0">
                    <a:solidFill>
                      <a:srgbClr val="8A94A6"/>
                    </a:solidFill>
                  </a:tcPr>
                </a:tc>
                <a:tc>
                  <a:txBody>
                    <a:bodyPr/>
                    <a:lstStyle/>
                    <a:p>
                      <a:pPr algn="l"/>
                      <a:r>
                        <a:rPr sz="869">
                          <a:solidFill>
                            <a:srgbClr val="1B2A38"/>
                          </a:solidFill>
                          <a:latin typeface="Calibri"/>
                        </a:rPr>
                        <a:t>Sulaiman et al. (2024). Attention U-Net on BUSI</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16</a:t>
                      </a:r>
                    </a:p>
                  </a:txBody>
                  <a:tcPr anchor="ctr" marL="54864" marR="27432" marT="0" marB="0">
                    <a:solidFill>
                      <a:srgbClr val="8A94A6"/>
                    </a:solidFill>
                  </a:tcPr>
                </a:tc>
                <a:tc>
                  <a:txBody>
                    <a:bodyPr/>
                    <a:lstStyle/>
                    <a:p>
                      <a:pPr algn="l"/>
                      <a:r>
                        <a:rPr sz="869">
                          <a:solidFill>
                            <a:srgbClr val="1B2A38"/>
                          </a:solidFill>
                          <a:latin typeface="Calibri"/>
                        </a:rPr>
                        <a:t>Anari et al. (2025). Explainable attention tumor seg (UNet+enc.)</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17</a:t>
                      </a:r>
                    </a:p>
                  </a:txBody>
                  <a:tcPr anchor="ctr" marL="54864" marR="27432" marT="0" marB="0">
                    <a:solidFill>
                      <a:srgbClr val="3AA655"/>
                    </a:solidFill>
                  </a:tcPr>
                </a:tc>
                <a:tc>
                  <a:txBody>
                    <a:bodyPr/>
                    <a:lstStyle/>
                    <a:p>
                      <a:pPr algn="l"/>
                      <a:r>
                        <a:rPr sz="869">
                          <a:solidFill>
                            <a:srgbClr val="1B2A38"/>
                          </a:solidFill>
                          <a:latin typeface="Calibri"/>
                        </a:rPr>
                        <a:t>Bruno et al. (2025). Dual-stage seg + classification framework</a:t>
                      </a:r>
                    </a:p>
                  </a:txBody>
                  <a:tcPr anchor="ctr" marL="54864" marR="27432" marT="0" marB="0">
                    <a:solidFill>
                      <a:srgbClr val="EEF3F5"/>
                    </a:solidFill>
                  </a:tcPr>
                </a:tc>
                <a:tc>
                  <a:txBody>
                    <a:bodyPr/>
                    <a:lstStyle/>
                    <a:p>
                      <a:pPr algn="ctr"/>
                      <a:r>
                        <a:rPr sz="830" b="1">
                          <a:solidFill>
                            <a:srgbClr val="E1595B"/>
                          </a:solidFill>
                          <a:latin typeface="Calibri"/>
                        </a:rPr>
                        <a:t>Both</a:t>
                      </a:r>
                    </a:p>
                  </a:txBody>
                  <a:tcPr anchor="ctr" marL="54864" marR="27432" marT="0" marB="0">
                    <a:solidFill>
                      <a:srgbClr val="EEF3F5"/>
                    </a:solidFill>
                  </a:tcPr>
                </a:tc>
              </a:tr>
              <a:tr h="321868">
                <a:tc>
                  <a:txBody>
                    <a:bodyPr/>
                    <a:lstStyle/>
                    <a:p>
                      <a:pPr algn="ctr"/>
                      <a:r>
                        <a:rPr sz="900" b="1">
                          <a:solidFill>
                            <a:srgbClr val="FFFFFF"/>
                          </a:solidFill>
                          <a:latin typeface="Calibri"/>
                        </a:rPr>
                        <a:t>18</a:t>
                      </a:r>
                    </a:p>
                  </a:txBody>
                  <a:tcPr anchor="ctr" marL="54864" marR="27432" marT="0" marB="0">
                    <a:solidFill>
                      <a:srgbClr val="8A94A6"/>
                    </a:solidFill>
                  </a:tcPr>
                </a:tc>
                <a:tc>
                  <a:txBody>
                    <a:bodyPr/>
                    <a:lstStyle/>
                    <a:p>
                      <a:pPr algn="l"/>
                      <a:r>
                        <a:rPr sz="869">
                          <a:solidFill>
                            <a:srgbClr val="1B2A38"/>
                          </a:solidFill>
                          <a:latin typeface="Calibri"/>
                        </a:rPr>
                        <a:t>Xian et al. (2018). BUS image segmentation: a survey</a:t>
                      </a:r>
                    </a:p>
                  </a:txBody>
                  <a:tcPr anchor="ctr" marL="54864" marR="27432" marT="0" marB="0">
                    <a:solidFill>
                      <a:srgbClr val="FFFFFF"/>
                    </a:solidFill>
                  </a:tcPr>
                </a:tc>
                <a:tc>
                  <a:txBody>
                    <a:bodyPr/>
                    <a:lstStyle/>
                    <a:p>
                      <a:pPr algn="ctr"/>
                      <a:r>
                        <a:rPr sz="830" b="1">
                          <a:solidFill>
                            <a:srgbClr val="8A94A6"/>
                          </a:solidFill>
                          <a:latin typeface="Calibri"/>
                        </a:rPr>
                        <a:t>Survey</a:t>
                      </a:r>
                    </a:p>
                  </a:txBody>
                  <a:tcPr anchor="ctr" marL="54864" marR="27432" marT="0" marB="0">
                    <a:solidFill>
                      <a:srgbClr val="FFFFFF"/>
                    </a:solidFill>
                  </a:tcPr>
                </a:tc>
              </a:tr>
              <a:tr h="321868">
                <a:tc>
                  <a:txBody>
                    <a:bodyPr/>
                    <a:lstStyle/>
                    <a:p>
                      <a:pPr algn="ctr"/>
                      <a:r>
                        <a:rPr sz="900" b="1">
                          <a:solidFill>
                            <a:srgbClr val="FFFFFF"/>
                          </a:solidFill>
                          <a:latin typeface="Calibri"/>
                        </a:rPr>
                        <a:t>19</a:t>
                      </a:r>
                    </a:p>
                  </a:txBody>
                  <a:tcPr anchor="ctr" marL="54864" marR="27432" marT="0" marB="0">
                    <a:solidFill>
                      <a:srgbClr val="8A94A6"/>
                    </a:solidFill>
                  </a:tcPr>
                </a:tc>
                <a:tc>
                  <a:txBody>
                    <a:bodyPr/>
                    <a:lstStyle/>
                    <a:p>
                      <a:pPr algn="l"/>
                      <a:r>
                        <a:rPr sz="869">
                          <a:solidFill>
                            <a:srgbClr val="1B2A38"/>
                          </a:solidFill>
                          <a:latin typeface="Calibri"/>
                        </a:rPr>
                        <a:t>Cheng et al. (2010). BUS detection &amp; classification: a survey</a:t>
                      </a:r>
                    </a:p>
                  </a:txBody>
                  <a:tcPr anchor="ctr" marL="54864" marR="27432" marT="0" marB="0">
                    <a:solidFill>
                      <a:srgbClr val="EEF3F5"/>
                    </a:solidFill>
                  </a:tcPr>
                </a:tc>
                <a:tc>
                  <a:txBody>
                    <a:bodyPr/>
                    <a:lstStyle/>
                    <a:p>
                      <a:pPr algn="ctr"/>
                      <a:r>
                        <a:rPr sz="830" b="1">
                          <a:solidFill>
                            <a:srgbClr val="8A94A6"/>
                          </a:solidFill>
                          <a:latin typeface="Calibri"/>
                        </a:rPr>
                        <a:t>Survey</a:t>
                      </a:r>
                    </a:p>
                  </a:txBody>
                  <a:tcPr anchor="ctr" marL="54864" marR="27432" marT="0" marB="0">
                    <a:solidFill>
                      <a:srgbClr val="EEF3F5"/>
                    </a:solidFill>
                  </a:tcPr>
                </a:tc>
              </a:tr>
              <a:tr h="321868">
                <a:tc>
                  <a:txBody>
                    <a:bodyPr/>
                    <a:lstStyle/>
                    <a:p>
                      <a:pPr algn="ctr"/>
                      <a:r>
                        <a:rPr sz="900" b="1">
                          <a:solidFill>
                            <a:srgbClr val="FFFFFF"/>
                          </a:solidFill>
                          <a:latin typeface="Calibri"/>
                        </a:rPr>
                        <a:t>20</a:t>
                      </a:r>
                    </a:p>
                  </a:txBody>
                  <a:tcPr anchor="ctr" marL="54864" marR="27432" marT="0" marB="0">
                    <a:solidFill>
                      <a:srgbClr val="3AA655"/>
                    </a:solidFill>
                  </a:tcPr>
                </a:tc>
                <a:tc>
                  <a:txBody>
                    <a:bodyPr/>
                    <a:lstStyle/>
                    <a:p>
                      <a:pPr algn="l"/>
                      <a:r>
                        <a:rPr sz="869">
                          <a:solidFill>
                            <a:srgbClr val="1B2A38"/>
                          </a:solidFill>
                          <a:latin typeface="Calibri"/>
                        </a:rPr>
                        <a:t>Isensee et al. (2021). nnU-Net: self-configuring segmentation</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21</a:t>
                      </a:r>
                    </a:p>
                  </a:txBody>
                  <a:tcPr anchor="ctr" marL="54864" marR="27432" marT="0" marB="0">
                    <a:solidFill>
                      <a:srgbClr val="8A94A6"/>
                    </a:solidFill>
                  </a:tcPr>
                </a:tc>
                <a:tc>
                  <a:txBody>
                    <a:bodyPr/>
                    <a:lstStyle/>
                    <a:p>
                      <a:pPr algn="l"/>
                      <a:r>
                        <a:rPr sz="869">
                          <a:solidFill>
                            <a:srgbClr val="1B2A38"/>
                          </a:solidFill>
                          <a:latin typeface="Calibri"/>
                        </a:rPr>
                        <a:t>Kirillov et al. (2023). Segment Anything (SAM)</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22</a:t>
                      </a:r>
                    </a:p>
                  </a:txBody>
                  <a:tcPr anchor="ctr" marL="54864" marR="27432" marT="0" marB="0">
                    <a:solidFill>
                      <a:srgbClr val="8A94A6"/>
                    </a:solidFill>
                  </a:tcPr>
                </a:tc>
                <a:tc>
                  <a:txBody>
                    <a:bodyPr/>
                    <a:lstStyle/>
                    <a:p>
                      <a:pPr algn="l"/>
                      <a:r>
                        <a:rPr sz="869">
                          <a:solidFill>
                            <a:srgbClr val="1B2A38"/>
                          </a:solidFill>
                          <a:latin typeface="Calibri"/>
                        </a:rPr>
                        <a:t>Ma et al. (2024). MedSAM: segment anything in medical images</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23</a:t>
                      </a:r>
                    </a:p>
                  </a:txBody>
                  <a:tcPr anchor="ctr" marL="54864" marR="27432" marT="0" marB="0">
                    <a:solidFill>
                      <a:srgbClr val="8A94A6"/>
                    </a:solidFill>
                  </a:tcPr>
                </a:tc>
                <a:tc>
                  <a:txBody>
                    <a:bodyPr/>
                    <a:lstStyle/>
                    <a:p>
                      <a:pPr algn="l"/>
                      <a:r>
                        <a:rPr sz="869">
                          <a:solidFill>
                            <a:srgbClr val="1B2A38"/>
                          </a:solidFill>
                          <a:latin typeface="Calibri"/>
                        </a:rPr>
                        <a:t>Selvaraju et al. (2017). Grad-CAM: gradient-based localization</a:t>
                      </a:r>
                    </a:p>
                  </a:txBody>
                  <a:tcPr anchor="ctr" marL="54864" marR="27432" marT="0" marB="0">
                    <a:solidFill>
                      <a:srgbClr val="EEF3F5"/>
                    </a:solidFill>
                  </a:tcPr>
                </a:tc>
                <a:tc>
                  <a:txBody>
                    <a:bodyPr/>
                    <a:lstStyle/>
                    <a:p>
                      <a:pPr algn="ctr"/>
                      <a:r>
                        <a:rPr sz="830" b="1">
                          <a:solidFill>
                            <a:srgbClr val="E8A33D"/>
                          </a:solidFill>
                          <a:latin typeface="Calibri"/>
                        </a:rPr>
                        <a:t>XAI</a:t>
                      </a:r>
                    </a:p>
                  </a:txBody>
                  <a:tcPr anchor="ctr" marL="54864" marR="27432" marT="0" marB="0">
                    <a:solidFill>
                      <a:srgbClr val="EEF3F5"/>
                    </a:solidFill>
                  </a:tcPr>
                </a:tc>
              </a:tr>
              <a:tr h="321868">
                <a:tc>
                  <a:txBody>
                    <a:bodyPr/>
                    <a:lstStyle/>
                    <a:p>
                      <a:pPr algn="ctr"/>
                      <a:r>
                        <a:rPr sz="900" b="1">
                          <a:solidFill>
                            <a:srgbClr val="FFFFFF"/>
                          </a:solidFill>
                          <a:latin typeface="Calibri"/>
                        </a:rPr>
                        <a:t>24</a:t>
                      </a:r>
                    </a:p>
                  </a:txBody>
                  <a:tcPr anchor="ctr" marL="54864" marR="27432" marT="0" marB="0">
                    <a:solidFill>
                      <a:srgbClr val="8A94A6"/>
                    </a:solidFill>
                  </a:tcPr>
                </a:tc>
                <a:tc>
                  <a:txBody>
                    <a:bodyPr/>
                    <a:lstStyle/>
                    <a:p>
                      <a:pPr algn="l"/>
                      <a:r>
                        <a:rPr sz="869">
                          <a:solidFill>
                            <a:srgbClr val="1B2A38"/>
                          </a:solidFill>
                          <a:latin typeface="Calibri"/>
                        </a:rPr>
                        <a:t>Al-Dhabyani et al. (2019). DL augmentation &amp; classification (BUS)</a:t>
                      </a:r>
                    </a:p>
                  </a:txBody>
                  <a:tcPr anchor="ctr" marL="54864" marR="27432" marT="0" marB="0">
                    <a:solidFill>
                      <a:srgbClr val="FFFFFF"/>
                    </a:solidFill>
                  </a:tcPr>
                </a:tc>
                <a:tc>
                  <a:txBody>
                    <a:bodyPr/>
                    <a:lstStyle/>
                    <a:p>
                      <a:pPr algn="ctr"/>
                      <a:r>
                        <a:rPr sz="830" b="1">
                          <a:solidFill>
                            <a:srgbClr val="0E4D64"/>
                          </a:solidFill>
                          <a:latin typeface="Calibri"/>
                        </a:rPr>
                        <a:t>Cls</a:t>
                      </a:r>
                    </a:p>
                  </a:txBody>
                  <a:tcPr anchor="ctr" marL="54864" marR="27432" marT="0" marB="0">
                    <a:solidFill>
                      <a:srgbClr val="FFFFFF"/>
                    </a:solidFill>
                  </a:tcPr>
                </a:tc>
              </a:tr>
              <a:tr h="321868">
                <a:tc>
                  <a:txBody>
                    <a:bodyPr/>
                    <a:lstStyle/>
                    <a:p>
                      <a:pPr algn="ctr"/>
                      <a:r>
                        <a:rPr sz="900" b="1">
                          <a:solidFill>
                            <a:srgbClr val="FFFFFF"/>
                          </a:solidFill>
                          <a:latin typeface="Calibri"/>
                        </a:rPr>
                        <a:t>25</a:t>
                      </a:r>
                    </a:p>
                  </a:txBody>
                  <a:tcPr anchor="ctr" marL="54864" marR="27432" marT="0" marB="0">
                    <a:solidFill>
                      <a:srgbClr val="3AA655"/>
                    </a:solidFill>
                  </a:tcPr>
                </a:tc>
                <a:tc>
                  <a:txBody>
                    <a:bodyPr/>
                    <a:lstStyle/>
                    <a:p>
                      <a:pPr algn="l"/>
                      <a:r>
                        <a:rPr sz="869">
                          <a:solidFill>
                            <a:srgbClr val="1B2A38"/>
                          </a:solidFill>
                          <a:latin typeface="Calibri"/>
                        </a:rPr>
                        <a:t>Lu et al. (2025). Multi-task joint seg + classification (OCA)</a:t>
                      </a:r>
                    </a:p>
                  </a:txBody>
                  <a:tcPr anchor="ctr" marL="54864" marR="27432" marT="0" marB="0">
                    <a:solidFill>
                      <a:srgbClr val="EEF3F5"/>
                    </a:solidFill>
                  </a:tcPr>
                </a:tc>
                <a:tc>
                  <a:txBody>
                    <a:bodyPr/>
                    <a:lstStyle/>
                    <a:p>
                      <a:pPr algn="ctr"/>
                      <a:r>
                        <a:rPr sz="830" b="1">
                          <a:solidFill>
                            <a:srgbClr val="E1595B"/>
                          </a:solidFill>
                          <a:latin typeface="Calibri"/>
                        </a:rPr>
                        <a:t>Both</a:t>
                      </a:r>
                    </a:p>
                  </a:txBody>
                  <a:tcPr anchor="ctr" marL="54864" marR="27432" marT="0" marB="0">
                    <a:solidFill>
                      <a:srgbClr val="EEF3F5"/>
                    </a:solidFill>
                  </a:tcPr>
                </a:tc>
              </a:tr>
            </a:tbl>
          </a:graphicData>
        </a:graphic>
      </p:graphicFrame>
      <p:sp>
        <p:nvSpPr>
          <p:cNvPr id="10" name="Oval 9"/>
          <p:cNvSpPr/>
          <p:nvPr/>
        </p:nvSpPr>
        <p:spPr>
          <a:xfrm>
            <a:off x="777240" y="5989320"/>
            <a:ext cx="201168" cy="201168"/>
          </a:xfrm>
          <a:prstGeom prst="ellipse">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5" y="5971032"/>
            <a:ext cx="292608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1B2A38"/>
                </a:solidFill>
                <a:latin typeface="Calibri"/>
              </a:rPr>
              <a:t>reproduced / used in our benchmark</a:t>
            </a:r>
          </a:p>
        </p:txBody>
      </p:sp>
      <p:sp>
        <p:nvSpPr>
          <p:cNvPr id="12" name="Oval 11"/>
          <p:cNvSpPr/>
          <p:nvPr/>
        </p:nvSpPr>
        <p:spPr>
          <a:xfrm>
            <a:off x="4343400" y="5989320"/>
            <a:ext cx="201168" cy="201168"/>
          </a:xfrm>
          <a:prstGeom prst="ellipse">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5971032"/>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1B2A38"/>
                </a:solidFill>
                <a:latin typeface="Calibri"/>
              </a:rPr>
              <a:t>cited as context / background</a:t>
            </a:r>
          </a:p>
        </p:txBody>
      </p:sp>
      <p:sp>
        <p:nvSpPr>
          <p:cNvPr id="14" name="TextBox 13"/>
          <p:cNvSpPr txBox="1"/>
          <p:nvPr/>
        </p:nvSpPr>
        <p:spPr>
          <a:xfrm>
            <a:off x="7680960" y="5971032"/>
            <a:ext cx="3749039" cy="274320"/>
          </a:xfrm>
          <a:prstGeom prst="rect">
            <a:avLst/>
          </a:prstGeom>
          <a:noFill/>
        </p:spPr>
        <p:txBody>
          <a:bodyPr wrap="square" anchor="t" lIns="0" rIns="0" tIns="0" bIns="0">
            <a:spAutoFit/>
          </a:bodyPr>
          <a:lstStyle/>
          <a:p>
            <a:pPr algn="r">
              <a:lnSpc>
                <a:spcPct val="100000"/>
              </a:lnSpc>
              <a:spcBef>
                <a:spcPts val="0"/>
              </a:spcBef>
              <a:spcAft>
                <a:spcPts val="400"/>
              </a:spcAft>
            </a:pPr>
            <a:r>
              <a:rPr sz="1000" b="1" i="1">
                <a:solidFill>
                  <a:srgbClr val="45596B"/>
                </a:solidFill>
                <a:latin typeface="Calibri"/>
              </a:rPr>
              <a:t>Task colour: Seg · Cls · Both · Survey</a:t>
            </a:r>
          </a:p>
        </p:txBody>
      </p:sp>
      <p:sp>
        <p:nvSpPr>
          <p:cNvPr id="15" name="TextBox 14"/>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16" name="TextBox 15"/>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A1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