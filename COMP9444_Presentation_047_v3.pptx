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Our project (047) tackles two clinical tasks on breast ultrasound — telling normal/benign/malignant apart (classification) and outlining the tumour (segmentation). Our headline contribution is a *fair* benchmark: we reproduced 13 published models and built 2 of our own, all under one carefully cleaned, leakage-free data split, so the comparison is honest.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parts: the clinical problem and prior work; the data and what our exploration revealed; the 13 models we reproduced; our own two improved models with an ablation; results with two kinds of comparison; and finally what we learned.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the clinical problem first. Ultrasound is the workhorse for breast screening because it's safe and cheap, but it is genuinely hard to read. That's the motivation for computer-aided diagnosis. We attack two complementary tasks — classify the image, and outline the mass — and note up front that missing a malignant case is the costliest error.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real BUSI images with the radiologist's ground-truth contour. Notice benign (green) and malignant (red) masses can look similar; boundaries blur into surrounding tissue; there's speckle, shadowing and even caliper/text annotations burnt into the frame. Normal images have no lesion. This is why hand-crafted features struggle and why we need learned representations.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brief points us at three papers: the BUSI dataset itself, Yap's early CNN detection study, and the original U-Net. These are our mandatory reproductions and the backbone of the literature. Everything else we added builds outward from here.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classification we lean on the three canonical CNN backbones — ResNet, DenseNet, EfficientNet — all ImageNet-pretrained. For segmentation we cover the U-Net family plus attention variants, DeepLab's atrous convolutions, two BUS-specific nets (AAU-Net, CResU-Net), and nnU-Net as a strong self-configuring baseline. A recurring theme in the literature is inflated BUSI scores from data leakage — which we deliberately fix.</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most relevant prior work combines both tasks two ways. Bruno's dual-stage pipeline is sequential: segment, crop, classify. Lu's MTL-OCA is joint: one backbone, two heads. We reproduce both, and then extend the dual-stage line into our own improved pipeline. This slide sets up the design space for our combined experiments.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BUSI: 780 images from 600 patients, three classes, with ground-truth masks. We didn't just look — we ran ten analyses. Four of them changed what we did next: the class imbalance drove loss weighting; the tiny benign lesions explain why segmentation is hard; overlapping intensities mean we can't threshold, we need learned features; and — crucially — a third of the data are near-duplicates, which forces a special data split.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findings. Top: the classes are imbalanced — benign dominates, normal is rare — so we weight the loss by inverse frequency and report macro-F1, which treats every class equally. Bottom: malignant lesions are large but benign lesions are tiny, a median of under 4% of the image. Small targets are exactly where Dice punishes you, so we average Dice per image rather than pooling all pixels.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Top: lesions concentrate near the image centre — an acquisition bias worth knowing when we crop ROIs. Bottom-left: the brightness and contrast distributions of the three classes overlap almost completely. So a simple intensity threshold can't separate classes — we genuinely need learned features, and we normalise inputs so brightness differences don't dominate training.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our most important methodological finding. Using perceptual hashing we discovered that a THIRD of BUSI images are near-duplicates — repeated frames of the same scan — and a few duplicates even carry conflicting benign/malignant labels. If you split randomly, the same lesion lands in both train and test, and your scores are inflated. Our fix is a cluster-level split: near-duplicates stay together on one side. This single decision is why our numbers are lower — but honest — than many published papers.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model runs through the same four-stage pipeline. We clean conflicting labels and merge masks; we de-leak with cluster-level splitting; we letterbox to 256×256 preserving aspect ratio, go grayscale, and normalise; and we augment the training split only. Because the split is identical for all models, differences in the results come from the architecture, not from data handling. Metrics: macro-F1 for classification, per-image Dice/IoU for segmentation, and confidence intervals for our final pipeline.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full menu. Eight segmentation models — including the three mandatory reproductions marked with a star — three classification backbones, and two combined models. Then our two contributions in amber: an improved segmenter and an improved dual-stage pipeline. For each reproduction we reused only the pretrained backbone where relevant; the heads, losses and training loops are our own implementation, which matters for the marking rubric.</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three mandatory reproductions. We wrote the U-Net from scratch. We reproduced Yap's patch-based LeNet detector — including the tricky balanced hard-negative sampling and sliding-window inference — and Yap's best model, the transfer-learned FCN-AlexNet. We're careful to state exactly what is our own code versus a reused pretrained backbone, which the rubric explicitly rewards.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Beyond the required nets we reproduced five stronger segmenters. Attention U-Net is a controlled comparison — same recipe as our U-Net — so any change is due purely to the attention gate. DeepLabV3+ with a pretrained ResNet-50 is our best baseline. nnU-Net is the famous self-configuring net, here as its blueprint. AAU-Net and CResU-Net are BUS-specific designs with reported state-of-the-art numbers we test honestly under our split.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classification we fine-tune the three canonical pretrained backbones. We deliberately pick the smallest variant of each — ResNet-18, DenseNet-121, EfficientNet-B0 — because BUSI is small and larger nets overfit. All share the same recipe: pseudo-RGB inputs, a fresh three-way head, and class-weighted cross-entropy so the rare malignant class isn't ignored.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combined baselines. The dual-stage pipeline is a clean sequence: DeepLabV3+ segments, we crop the lesion ROI, and EfficientNet classifies that crop — so the classifier only sees the tumour, not the clutter. MTL-OCA is the joint alternative: one Res-UNet backbone with two heads and a weighted three-term loss. We reproduce both, and we'll show the joint model pays a price for sharing capacity.</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improving, we had to pick which combined design to build on. Head-to-head, the joint MTL-OCA model loses on both tasks because it forces one backbone to serve segmentation and classification at once — a compromise that's too costly on small data. The dual-stage pipeline instead lets us plug in our best specialist for each stage. Four reasons sealed it: it's modular, so we can improve each stage on its own; it enables a controlled experiment — fix the classifier, swap the segmenter, and measure the segmenter's true contribution; it reuses our strongest models; and it produces an explicit mask and ROI, which is far more interpretable for a clinician. So we extend the dual-stage line.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improved segmenter is motivated directly by the baselines: transfer learning helped, so we make it central. We take a U-Net decoder but swap in an ImageNet-pretrained EfficientNet-B4 encoder. On top we add a Focal Tversky loss to chase missed lesions, and test-time augmentation with post-processing. Crucially, we don't just stack tricks — we ablate each one to see what actually helps.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payoff of ablating. Read down the table: the from-scratch U-Net scores 0.648. Adding the pretrained encoder jumps it to 0.765 — that one change is essentially the entire improvement, and it also halves the number of completely-missed lesions. The fancy Focal Tversky loss doesn't raise Dice; it just trades precision for recall. TTA does nothing measurable. The lesson is blunt: transfer learning matters more than architectural cleverness on a dataset this small.</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improved pipeline. Same skeleton as Bruno, but Stage 1 is now our pretrained segmenter, and — importantly — Stage 2 is kept identical, so any change in the end-to-end score is due to segmentation alone. The real contribution is the evaluation rigour along the bottom: masks generated out-of-fold so the classifier never trains on its own test-time inputs, five-seed ensembling to remove luck, and a bootstrap confidence interval to tell a real gain from noise. This is what most BUSI papers skip.</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Segmentation results, ranked by Dice. Four things to notice. First, our improved segmenter is top. Second, our reproductions of published models score below their reported numbers — that's the leakage removal, and it's the honest number. Third, the heavyweight nnU-Net does not win; a good pretrained encoder beats it. Fourth, the controlled U-Net versus Attention U-Net pair shows the attention gate actually hurts slightly here. Bigger and fancier is not better on small ultrasound data.</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Classification. EfficientNet-B0 wins with macro-F1 0.828 and an excellent AUC. All three specialist backbones clearly beat the joint multi-task model, which underperforms on both tasks — confirming that on small data a shared backbone is a false economy. The confusion matrix shows the expected clinical pattern: the minority malignant class is hardest, and it's where every model makes most of its mistakes — exactly the errors that matter most.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dual-stage story has two punchlines. First, the bottleneck: a much stronger segmenter barely changes the end-to-end F1, and the perfect-segmentation upper bound sits far above what we reach — so the limiting factor is the classifier, not the mask. Second, rigour: table (a) looks like every trick helps, a neat climb from 0.804 to 0.840. But once we add confidence intervals in table (b), those gains overlap and vanish. Hand-crafted features do nothing reliable; the only thing that survives is ensembling. On a 98-image test set, single-run differences are mostly noise — a central lesson of the project.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ways to compare. On the left, horizontal: for each task our model versus the strongest baseline — we win on all three. On the right, vertical: our leakage-free Dice against the numbers those same papers reported. The consistent drop is not our models being weak — it's the near-duplicate leakage we removed. Same models, honest split, lower-but-trustworthy numbers. This contrast is, in a sense, our main scientific point.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Zooming out, three findings that go beyond BUSI. One: evaluation hygiene dominates — how you split the data changes the headline more than the architecture does. Two: transfer learning is the decisive lever on small medical datasets, beating clever losses and self-configuring frameworks. Three: always find and fix the real bottleneck — here it was the classifier, not the segmenter — and report confidence intervals so you don't chase noise.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Strengths: one fair split, controlled experiments, honest statistics, and best-in-class results on both our segmenter and our pipeline. Limitations: it's a single small dataset with a 98-image test set, so confidence intervals are wide; we couldn't afford full nested cross-validation; we're 2D and single-centre; and our radiomics features didn't help. Future work: try foundation models like MedSAM, strengthen and ensemble the ROI classifier, run nested cross-validation, and validate on external multi-centre data.</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close: the whole project distils to one line — on small, noisy ultrasound data, clean evaluation and transfer learning beat architectural complexity every time. Our headline numbers: 0.760 Dice for the segmenter, 0.828 macro-F1 for the classifier, and 0.875 for the dual-stage pipeline with a reported confidence interval. Thank you — we're happy to take questions.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reference index. All 25 papers we engaged with, numbered as cited throughout the deck. Green numbers are the models we actually reproduced or the data we used in our leakage-free benchmark; grey numbers are cited for context — surveys, foundation models, and closely related work. The task tag shows whether each paper targets segmentation, classification, both, or is a survey.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36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5394960"/>
            <a:ext cx="12191695" cy="1463040"/>
          </a:xfrm>
          <a:prstGeom prst="rect">
            <a:avLst/>
          </a:prstGeom>
          <a:solidFill>
            <a:srgbClr val="0A36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201168"/>
          </a:xfrm>
          <a:prstGeom prst="rect">
            <a:avLst/>
          </a:prstGeom>
          <a:solidFill>
            <a:srgbClr val="1F8A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22960" y="1051560"/>
            <a:ext cx="310896" cy="310896"/>
          </a:xfrm>
          <a:prstGeom prst="ellipse">
            <a:avLst/>
          </a:prstGeom>
          <a:solidFill>
            <a:srgbClr val="3AA6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325880" y="1051560"/>
            <a:ext cx="310896" cy="310896"/>
          </a:xfrm>
          <a:prstGeom prst="ellipse">
            <a:avLst/>
          </a:prstGeom>
          <a:solidFill>
            <a:srgbClr val="E159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828800" y="1051560"/>
            <a:ext cx="310896" cy="310896"/>
          </a:xfrm>
          <a:prstGeom prst="ellipse">
            <a:avLst/>
          </a:prstGeom>
          <a:solidFill>
            <a:srgbClr val="8A94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1554480"/>
            <a:ext cx="10515600" cy="365760"/>
          </a:xfrm>
          <a:prstGeom prst="rect">
            <a:avLst/>
          </a:prstGeom>
          <a:noFill/>
        </p:spPr>
        <p:txBody>
          <a:bodyPr wrap="square" anchor="t" lIns="0" rIns="0" tIns="0" bIns="0">
            <a:spAutoFit/>
          </a:bodyPr>
          <a:lstStyle/>
          <a:p>
            <a:pPr algn="l">
              <a:lnSpc>
                <a:spcPct val="100000"/>
              </a:lnSpc>
              <a:spcBef>
                <a:spcPts val="0"/>
              </a:spcBef>
              <a:spcAft>
                <a:spcPts val="400"/>
              </a:spcAft>
            </a:pPr>
            <a:r>
              <a:rPr sz="1400" b="1" i="0">
                <a:solidFill>
                  <a:srgbClr val="BFE0EA"/>
                </a:solidFill>
                <a:latin typeface="Calibri"/>
              </a:rPr>
              <a:t>COMP9444 · Neural Networks &amp; Deep Learning · Term 2, 2026</a:t>
            </a:r>
          </a:p>
        </p:txBody>
      </p:sp>
      <p:sp>
        <p:nvSpPr>
          <p:cNvPr id="10" name="TextBox 9"/>
          <p:cNvSpPr txBox="1"/>
          <p:nvPr/>
        </p:nvSpPr>
        <p:spPr>
          <a:xfrm>
            <a:off x="804672" y="2057400"/>
            <a:ext cx="10698480" cy="1737360"/>
          </a:xfrm>
          <a:prstGeom prst="rect">
            <a:avLst/>
          </a:prstGeom>
          <a:noFill/>
        </p:spPr>
        <p:txBody>
          <a:bodyPr wrap="square" anchor="t" lIns="0" rIns="0" tIns="0" bIns="0">
            <a:spAutoFit/>
          </a:bodyPr>
          <a:lstStyle/>
          <a:p>
            <a:pPr algn="l">
              <a:lnSpc>
                <a:spcPct val="102000"/>
              </a:lnSpc>
              <a:spcBef>
                <a:spcPts val="0"/>
              </a:spcBef>
              <a:spcAft>
                <a:spcPts val="400"/>
              </a:spcAft>
            </a:pPr>
            <a:r>
              <a:rPr sz="4000" b="1" i="0">
                <a:solidFill>
                  <a:srgbClr val="FFFFFF"/>
                </a:solidFill>
                <a:latin typeface="Calibri"/>
              </a:rPr>
              <a:t>Breast Cancer Classification &amp;</a:t>
            </a:r>
          </a:p>
          <a:p>
            <a:pPr algn="l">
              <a:lnSpc>
                <a:spcPct val="102000"/>
              </a:lnSpc>
              <a:spcBef>
                <a:spcPts val="0"/>
              </a:spcBef>
              <a:spcAft>
                <a:spcPts val="400"/>
              </a:spcAft>
            </a:pPr>
            <a:r>
              <a:rPr sz="4000" b="1" i="0">
                <a:solidFill>
                  <a:srgbClr val="FFFFFF"/>
                </a:solidFill>
                <a:latin typeface="Calibri"/>
              </a:rPr>
              <a:t>Segmentation on Ultrasound Images</a:t>
            </a:r>
          </a:p>
        </p:txBody>
      </p:sp>
      <p:sp>
        <p:nvSpPr>
          <p:cNvPr id="11" name="TextBox 10"/>
          <p:cNvSpPr txBox="1"/>
          <p:nvPr/>
        </p:nvSpPr>
        <p:spPr>
          <a:xfrm>
            <a:off x="822960" y="3977639"/>
            <a:ext cx="10515600" cy="457200"/>
          </a:xfrm>
          <a:prstGeom prst="rect">
            <a:avLst/>
          </a:prstGeom>
          <a:noFill/>
        </p:spPr>
        <p:txBody>
          <a:bodyPr wrap="square" anchor="t" lIns="0" rIns="0" tIns="0" bIns="0">
            <a:spAutoFit/>
          </a:bodyPr>
          <a:lstStyle/>
          <a:p>
            <a:pPr algn="l">
              <a:lnSpc>
                <a:spcPct val="100000"/>
              </a:lnSpc>
              <a:spcBef>
                <a:spcPts val="0"/>
              </a:spcBef>
              <a:spcAft>
                <a:spcPts val="400"/>
              </a:spcAft>
            </a:pPr>
            <a:r>
              <a:rPr sz="1700" b="0" i="0">
                <a:solidFill>
                  <a:srgbClr val="D6EAF0"/>
                </a:solidFill>
                <a:latin typeface="Calibri"/>
              </a:rPr>
              <a:t>A leakage-free benchmark of </a:t>
            </a:r>
            <a:r>
              <a:rPr sz="1700" b="1" i="0">
                <a:solidFill>
                  <a:srgbClr val="FFFFFF"/>
                </a:solidFill>
                <a:latin typeface="Calibri"/>
              </a:rPr>
              <a:t>15 deep-learning models</a:t>
            </a:r>
            <a:r>
              <a:rPr sz="1700" b="0" i="0">
                <a:solidFill>
                  <a:srgbClr val="D6EAF0"/>
                </a:solidFill>
                <a:latin typeface="Calibri"/>
              </a:rPr>
              <a:t> on the BUSI dataset</a:t>
            </a:r>
          </a:p>
        </p:txBody>
      </p:sp>
      <p:sp>
        <p:nvSpPr>
          <p:cNvPr id="12" name="TextBox 11"/>
          <p:cNvSpPr txBox="1"/>
          <p:nvPr/>
        </p:nvSpPr>
        <p:spPr>
          <a:xfrm>
            <a:off x="822960" y="5623560"/>
            <a:ext cx="7315200" cy="457200"/>
          </a:xfrm>
          <a:prstGeom prst="rect">
            <a:avLst/>
          </a:prstGeom>
          <a:noFill/>
        </p:spPr>
        <p:txBody>
          <a:bodyPr wrap="square" anchor="t" lIns="0" rIns="0" tIns="0" bIns="0">
            <a:spAutoFit/>
          </a:bodyPr>
          <a:lstStyle/>
          <a:p>
            <a:pPr algn="l">
              <a:lnSpc>
                <a:spcPct val="100000"/>
              </a:lnSpc>
              <a:spcBef>
                <a:spcPts val="0"/>
              </a:spcBef>
              <a:spcAft>
                <a:spcPts val="400"/>
              </a:spcAft>
            </a:pPr>
            <a:r>
              <a:rPr sz="1600" b="1" i="0">
                <a:solidFill>
                  <a:srgbClr val="FFFFFF"/>
                </a:solidFill>
                <a:latin typeface="Calibri"/>
              </a:rPr>
              <a:t>Group Project 047</a:t>
            </a:r>
          </a:p>
          <a:p>
            <a:pPr algn="l">
              <a:lnSpc>
                <a:spcPct val="100000"/>
              </a:lnSpc>
              <a:spcBef>
                <a:spcPts val="0"/>
              </a:spcBef>
              <a:spcAft>
                <a:spcPts val="400"/>
              </a:spcAft>
            </a:pPr>
            <a:r>
              <a:rPr sz="1250" b="0" i="0">
                <a:solidFill>
                  <a:srgbClr val="BFE0EA"/>
                </a:solidFill>
                <a:latin typeface="Calibri"/>
              </a:rPr>
              <a:t>Classification  ·  Segmentation  ·  Dual-stage pipeline</a:t>
            </a:r>
          </a:p>
        </p:txBody>
      </p:sp>
      <p:sp>
        <p:nvSpPr>
          <p:cNvPr id="13" name="Rounded Rectangle 12"/>
          <p:cNvSpPr/>
          <p:nvPr/>
        </p:nvSpPr>
        <p:spPr>
          <a:xfrm>
            <a:off x="9144000" y="5669280"/>
            <a:ext cx="2194560" cy="566928"/>
          </a:xfrm>
          <a:prstGeom prst="roundRect">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0" y="5669280"/>
            <a:ext cx="2194560" cy="566928"/>
          </a:xfrm>
          <a:prstGeom prst="rect">
            <a:avLst/>
          </a:prstGeom>
          <a:noFill/>
        </p:spPr>
        <p:txBody>
          <a:bodyPr wrap="square" anchor="ctr" lIns="0" rIns="0" tIns="0" bIns="0">
            <a:spAutoFit/>
          </a:bodyPr>
          <a:lstStyle/>
          <a:p>
            <a:pPr algn="ctr">
              <a:lnSpc>
                <a:spcPct val="100000"/>
              </a:lnSpc>
              <a:spcBef>
                <a:spcPts val="0"/>
              </a:spcBef>
              <a:spcAft>
                <a:spcPts val="400"/>
              </a:spcAft>
            </a:pPr>
            <a:r>
              <a:rPr sz="1200" b="1" i="0">
                <a:solidFill>
                  <a:srgbClr val="1B2A38"/>
                </a:solidFill>
                <a:latin typeface="Calibri"/>
              </a:rPr>
              <a:t>13 reproduced + 2 improved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 y="475488"/>
            <a:ext cx="118872" cy="658368"/>
          </a:xfrm>
          <a:prstGeom prst="rect">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457200"/>
            <a:ext cx="10789920" cy="320040"/>
          </a:xfrm>
          <a:prstGeom prst="rect">
            <a:avLst/>
          </a:prstGeom>
          <a:noFill/>
        </p:spPr>
        <p:txBody>
          <a:bodyPr wrap="square" anchor="t" lIns="0" rIns="0" tIns="0" bIns="0">
            <a:spAutoFit/>
          </a:bodyPr>
          <a:lstStyle/>
          <a:p>
            <a:pPr algn="l">
              <a:lnSpc>
                <a:spcPct val="100000"/>
              </a:lnSpc>
              <a:spcBef>
                <a:spcPts val="0"/>
              </a:spcBef>
              <a:spcAft>
                <a:spcPts val="400"/>
              </a:spcAft>
            </a:pPr>
            <a:r>
              <a:rPr sz="1250" b="1" i="0">
                <a:solidFill>
                  <a:srgbClr val="E8A33D"/>
                </a:solidFill>
                <a:latin typeface="Calibri"/>
              </a:rPr>
              <a:t>AGENDA</a:t>
            </a:r>
          </a:p>
        </p:txBody>
      </p:sp>
      <p:sp>
        <p:nvSpPr>
          <p:cNvPr id="6" name="TextBox 5"/>
          <p:cNvSpPr txBox="1"/>
          <p:nvPr/>
        </p:nvSpPr>
        <p:spPr>
          <a:xfrm>
            <a:off x="777240" y="713232"/>
            <a:ext cx="10881360" cy="566928"/>
          </a:xfrm>
          <a:prstGeom prst="rect">
            <a:avLst/>
          </a:prstGeom>
          <a:noFill/>
        </p:spPr>
        <p:txBody>
          <a:bodyPr wrap="square" anchor="t" lIns="0" rIns="0" tIns="0" bIns="0">
            <a:spAutoFit/>
          </a:bodyPr>
          <a:lstStyle/>
          <a:p>
            <a:pPr algn="l">
              <a:lnSpc>
                <a:spcPct val="100000"/>
              </a:lnSpc>
              <a:spcBef>
                <a:spcPts val="0"/>
              </a:spcBef>
              <a:spcAft>
                <a:spcPts val="400"/>
              </a:spcAft>
            </a:pPr>
            <a:r>
              <a:rPr sz="2500" b="1" i="0">
                <a:solidFill>
                  <a:srgbClr val="1B2A38"/>
                </a:solidFill>
                <a:latin typeface="Calibri"/>
              </a:rPr>
              <a:t>What we'll walk through</a:t>
            </a:r>
          </a:p>
        </p:txBody>
      </p:sp>
      <p:sp>
        <p:nvSpPr>
          <p:cNvPr id="7" name="Rectangle 6"/>
          <p:cNvSpPr/>
          <p:nvPr/>
        </p:nvSpPr>
        <p:spPr>
          <a:xfrm>
            <a:off x="777240" y="1316736"/>
            <a:ext cx="10634472" cy="18288"/>
          </a:xfrm>
          <a:prstGeom prst="rect">
            <a:avLst/>
          </a:prstGeom>
          <a:solidFill>
            <a:srgbClr val="CBD8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73952"/>
            <a:ext cx="7315200" cy="274320"/>
          </a:xfrm>
          <a:prstGeom prst="rect">
            <a:avLst/>
          </a:prstGeom>
          <a:noFill/>
        </p:spPr>
        <p:txBody>
          <a:bodyPr wrap="square" anchor="t" lIns="0" rIns="0" tIns="0" bIns="0">
            <a:spAutoFit/>
          </a:bodyPr>
          <a:lstStyle/>
          <a:p>
            <a:pPr algn="l">
              <a:lnSpc>
                <a:spcPct val="100000"/>
              </a:lnSpc>
              <a:spcBef>
                <a:spcPts val="0"/>
              </a:spcBef>
              <a:spcAft>
                <a:spcPts val="400"/>
              </a:spcAft>
            </a:pPr>
            <a:r>
              <a:rPr sz="900" b="0" i="0">
                <a:solidFill>
                  <a:srgbClr val="8A94A6"/>
                </a:solidFill>
                <a:latin typeface="Calibri"/>
              </a:rPr>
              <a:t>COMP9444 · Group Project 047 · Breast Ultrasound (BUSI)</a:t>
            </a:r>
          </a:p>
        </p:txBody>
      </p:sp>
      <p:sp>
        <p:nvSpPr>
          <p:cNvPr id="9" name="TextBox 8"/>
          <p:cNvSpPr txBox="1"/>
          <p:nvPr/>
        </p:nvSpPr>
        <p:spPr>
          <a:xfrm>
            <a:off x="11064240" y="6473952"/>
            <a:ext cx="685800" cy="274320"/>
          </a:xfrm>
          <a:prstGeom prst="rect">
            <a:avLst/>
          </a:prstGeom>
          <a:noFill/>
        </p:spPr>
        <p:txBody>
          <a:bodyPr wrap="square" anchor="t" lIns="0" rIns="0" tIns="0" bIns="0">
            <a:spAutoFit/>
          </a:bodyPr>
          <a:lstStyle/>
          <a:p>
            <a:pPr algn="r">
              <a:lnSpc>
                <a:spcPct val="100000"/>
              </a:lnSpc>
              <a:spcBef>
                <a:spcPts val="0"/>
              </a:spcBef>
              <a:spcAft>
                <a:spcPts val="400"/>
              </a:spcAft>
            </a:pPr>
            <a:r>
              <a:rPr sz="900" b="1" i="0">
                <a:solidFill>
                  <a:srgbClr val="8A94A6"/>
                </a:solidFill>
                <a:latin typeface="Calibri"/>
              </a:rPr>
              <a:t>1</a:t>
            </a:r>
          </a:p>
        </p:txBody>
      </p:sp>
      <p:sp>
        <p:nvSpPr>
          <p:cNvPr id="10" name="Rounded Rectangle 9"/>
          <p:cNvSpPr/>
          <p:nvPr/>
        </p:nvSpPr>
        <p:spPr>
          <a:xfrm>
            <a:off x="777240" y="1691640"/>
            <a:ext cx="3383280" cy="2057400"/>
          </a:xfrm>
          <a:prstGeom prst="roundRect">
            <a:avLst/>
          </a:prstGeom>
          <a:solidFill>
            <a:srgbClr val="F1F6F8"/>
          </a:solidFill>
          <a:ln w="9525">
            <a:solidFill>
              <a:srgbClr val="CBD8DE"/>
            </a:solidFill>
          </a:ln>
          <a:effectLst/>
          <a:effectLst>
            <a:outerShdw blurRad="90000" dist="38100" dir="5400000" rotWithShape="0">
              <a:srgbClr val="1B2A38">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77240" y="1691640"/>
            <a:ext cx="118872" cy="2057400"/>
          </a:xfrm>
          <a:prstGeom prst="roundRect">
            <a:avLst/>
          </a:prstGeom>
          <a:solidFill>
            <a:srgbClr val="1F8A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1" y="1947672"/>
            <a:ext cx="786384" cy="786384"/>
          </a:xfrm>
          <a:prstGeom prst="ellipse">
            <a:avLst/>
          </a:prstGeom>
          <a:solidFill>
            <a:srgbClr val="1F8A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1" y="1947672"/>
            <a:ext cx="786384" cy="786384"/>
          </a:xfrm>
          <a:prstGeom prst="rect">
            <a:avLst/>
          </a:prstGeom>
          <a:noFill/>
        </p:spPr>
        <p:txBody>
          <a:bodyPr wrap="square" anchor="ctr" lIns="0" rIns="0" tIns="0" bIns="0">
            <a:spAutoFit/>
          </a:bodyPr>
          <a:lstStyle/>
          <a:p>
            <a:pPr algn="ctr">
              <a:lnSpc>
                <a:spcPct val="100000"/>
              </a:lnSpc>
              <a:spcBef>
                <a:spcPts val="0"/>
              </a:spcBef>
              <a:spcAft>
                <a:spcPts val="400"/>
              </a:spcAft>
            </a:pPr>
            <a:r>
              <a:rPr sz="2600" b="1" i="0">
                <a:solidFill>
                  <a:srgbClr val="FFFFFF"/>
                </a:solidFill>
                <a:latin typeface="Calibri"/>
              </a:rPr>
              <a:t>1</a:t>
            </a:r>
          </a:p>
        </p:txBody>
      </p:sp>
      <p:sp>
        <p:nvSpPr>
          <p:cNvPr id="14" name="TextBox 13"/>
          <p:cNvSpPr txBox="1"/>
          <p:nvPr/>
        </p:nvSpPr>
        <p:spPr>
          <a:xfrm>
            <a:off x="1965960" y="2002536"/>
            <a:ext cx="2057400" cy="457200"/>
          </a:xfrm>
          <a:prstGeom prst="rect">
            <a:avLst/>
          </a:prstGeom>
          <a:noFill/>
        </p:spPr>
        <p:txBody>
          <a:bodyPr wrap="square" anchor="t" lIns="0" rIns="0" tIns="0" bIns="0">
            <a:spAutoFit/>
          </a:bodyPr>
          <a:lstStyle/>
          <a:p>
            <a:pPr algn="l">
              <a:lnSpc>
                <a:spcPct val="100000"/>
              </a:lnSpc>
              <a:spcBef>
                <a:spcPts val="0"/>
              </a:spcBef>
              <a:spcAft>
                <a:spcPts val="400"/>
              </a:spcAft>
            </a:pPr>
            <a:r>
              <a:rPr sz="1700" b="1" i="0">
                <a:solidFill>
                  <a:srgbClr val="1B2A38"/>
                </a:solidFill>
                <a:latin typeface="Calibri"/>
              </a:rPr>
              <a:t>Introduction</a:t>
            </a:r>
          </a:p>
        </p:txBody>
      </p:sp>
      <p:sp>
        <p:nvSpPr>
          <p:cNvPr id="15" name="TextBox 14"/>
          <p:cNvSpPr txBox="1"/>
          <p:nvPr/>
        </p:nvSpPr>
        <p:spPr>
          <a:xfrm>
            <a:off x="1965960" y="2478024"/>
            <a:ext cx="2057400" cy="1005840"/>
          </a:xfrm>
          <a:prstGeom prst="rect">
            <a:avLst/>
          </a:prstGeom>
          <a:noFill/>
        </p:spPr>
        <p:txBody>
          <a:bodyPr wrap="square" anchor="t" lIns="0" rIns="0" tIns="0" bIns="0">
            <a:spAutoFit/>
          </a:bodyPr>
          <a:lstStyle/>
          <a:p>
            <a:pPr algn="l">
              <a:lnSpc>
                <a:spcPct val="105000"/>
              </a:lnSpc>
              <a:spcBef>
                <a:spcPts val="0"/>
              </a:spcBef>
              <a:spcAft>
                <a:spcPts val="400"/>
              </a:spcAft>
            </a:pPr>
            <a:r>
              <a:rPr sz="1250" b="0" i="0">
                <a:solidFill>
                  <a:srgbClr val="45596B"/>
                </a:solidFill>
                <a:latin typeface="Calibri"/>
              </a:rPr>
              <a:t>Problem statement &amp; literature review</a:t>
            </a:r>
          </a:p>
        </p:txBody>
      </p:sp>
      <p:sp>
        <p:nvSpPr>
          <p:cNvPr id="16" name="Rounded Rectangle 15"/>
          <p:cNvSpPr/>
          <p:nvPr/>
        </p:nvSpPr>
        <p:spPr>
          <a:xfrm>
            <a:off x="4416552" y="1691640"/>
            <a:ext cx="3383280" cy="2057400"/>
          </a:xfrm>
          <a:prstGeom prst="roundRect">
            <a:avLst/>
          </a:prstGeom>
          <a:solidFill>
            <a:srgbClr val="F1F6F8"/>
          </a:solidFill>
          <a:ln w="9525">
            <a:solidFill>
              <a:srgbClr val="CBD8DE"/>
            </a:solidFill>
          </a:ln>
          <a:effectLst/>
          <a:effectLst>
            <a:outerShdw blurRad="90000" dist="38100" dir="5400000" rotWithShape="0">
              <a:srgbClr val="1B2A38">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4416552" y="1691640"/>
            <a:ext cx="118872" cy="2057400"/>
          </a:xfrm>
          <a:prstGeom prst="roundRect">
            <a:avLst/>
          </a:prstGeom>
          <a:solidFill>
            <a:srgbClr val="3AA6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4672584" y="1947672"/>
            <a:ext cx="786384" cy="786384"/>
          </a:xfrm>
          <a:prstGeom prst="ellipse">
            <a:avLst/>
          </a:prstGeom>
          <a:solidFill>
            <a:srgbClr val="3AA6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72584" y="1947672"/>
            <a:ext cx="786384" cy="786384"/>
          </a:xfrm>
          <a:prstGeom prst="rect">
            <a:avLst/>
          </a:prstGeom>
          <a:noFill/>
        </p:spPr>
        <p:txBody>
          <a:bodyPr wrap="square" anchor="ctr" lIns="0" rIns="0" tIns="0" bIns="0">
            <a:spAutoFit/>
          </a:bodyPr>
          <a:lstStyle/>
          <a:p>
            <a:pPr algn="ctr">
              <a:lnSpc>
                <a:spcPct val="100000"/>
              </a:lnSpc>
              <a:spcBef>
                <a:spcPts val="0"/>
              </a:spcBef>
              <a:spcAft>
                <a:spcPts val="400"/>
              </a:spcAft>
            </a:pPr>
            <a:r>
              <a:rPr sz="2600" b="1" i="0">
                <a:solidFill>
                  <a:srgbClr val="FFFFFF"/>
                </a:solidFill>
                <a:latin typeface="Calibri"/>
              </a:rPr>
              <a:t>2</a:t>
            </a:r>
          </a:p>
        </p:txBody>
      </p:sp>
      <p:sp>
        <p:nvSpPr>
          <p:cNvPr id="20" name="TextBox 19"/>
          <p:cNvSpPr txBox="1"/>
          <p:nvPr/>
        </p:nvSpPr>
        <p:spPr>
          <a:xfrm>
            <a:off x="5605272" y="2002536"/>
            <a:ext cx="2057400" cy="457200"/>
          </a:xfrm>
          <a:prstGeom prst="rect">
            <a:avLst/>
          </a:prstGeom>
          <a:noFill/>
        </p:spPr>
        <p:txBody>
          <a:bodyPr wrap="square" anchor="t" lIns="0" rIns="0" tIns="0" bIns="0">
            <a:spAutoFit/>
          </a:bodyPr>
          <a:lstStyle/>
          <a:p>
            <a:pPr algn="l">
              <a:lnSpc>
                <a:spcPct val="100000"/>
              </a:lnSpc>
              <a:spcBef>
                <a:spcPts val="0"/>
              </a:spcBef>
              <a:spcAft>
                <a:spcPts val="400"/>
              </a:spcAft>
            </a:pPr>
            <a:r>
              <a:rPr sz="1700" b="1" i="0">
                <a:solidFill>
                  <a:srgbClr val="1B2A38"/>
                </a:solidFill>
                <a:latin typeface="Calibri"/>
              </a:rPr>
              <a:t>Data &amp; EDA</a:t>
            </a:r>
          </a:p>
        </p:txBody>
      </p:sp>
      <p:sp>
        <p:nvSpPr>
          <p:cNvPr id="21" name="TextBox 20"/>
          <p:cNvSpPr txBox="1"/>
          <p:nvPr/>
        </p:nvSpPr>
        <p:spPr>
          <a:xfrm>
            <a:off x="5605272" y="2478024"/>
            <a:ext cx="2057400" cy="1005840"/>
          </a:xfrm>
          <a:prstGeom prst="rect">
            <a:avLst/>
          </a:prstGeom>
          <a:noFill/>
        </p:spPr>
        <p:txBody>
          <a:bodyPr wrap="square" anchor="t" lIns="0" rIns="0" tIns="0" bIns="0">
            <a:spAutoFit/>
          </a:bodyPr>
          <a:lstStyle/>
          <a:p>
            <a:pPr algn="l">
              <a:lnSpc>
                <a:spcPct val="105000"/>
              </a:lnSpc>
              <a:spcBef>
                <a:spcPts val="0"/>
              </a:spcBef>
              <a:spcAft>
                <a:spcPts val="400"/>
              </a:spcAft>
            </a:pPr>
            <a:r>
              <a:rPr sz="1250" b="0" i="0">
                <a:solidFill>
                  <a:srgbClr val="45596B"/>
                </a:solidFill>
                <a:latin typeface="Calibri"/>
              </a:rPr>
              <a:t>Dataset, 10 analyses, pre-processing</a:t>
            </a:r>
          </a:p>
        </p:txBody>
      </p:sp>
      <p:sp>
        <p:nvSpPr>
          <p:cNvPr id="22" name="Rounded Rectangle 21"/>
          <p:cNvSpPr/>
          <p:nvPr/>
        </p:nvSpPr>
        <p:spPr>
          <a:xfrm>
            <a:off x="8055864" y="1691640"/>
            <a:ext cx="3383280" cy="2057400"/>
          </a:xfrm>
          <a:prstGeom prst="roundRect">
            <a:avLst/>
          </a:prstGeom>
          <a:solidFill>
            <a:srgbClr val="F1F6F8"/>
          </a:solidFill>
          <a:ln w="9525">
            <a:solidFill>
              <a:srgbClr val="CBD8DE"/>
            </a:solidFill>
          </a:ln>
          <a:effectLst/>
          <a:effectLst>
            <a:outerShdw blurRad="90000" dist="38100" dir="5400000" rotWithShape="0">
              <a:srgbClr val="1B2A38">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055864" y="1691640"/>
            <a:ext cx="118872" cy="2057400"/>
          </a:xfrm>
          <a:prstGeom prst="round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8311896" y="1947672"/>
            <a:ext cx="786384" cy="786384"/>
          </a:xfrm>
          <a:prstGeom prst="ellipse">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311896" y="1947672"/>
            <a:ext cx="786384" cy="786384"/>
          </a:xfrm>
          <a:prstGeom prst="rect">
            <a:avLst/>
          </a:prstGeom>
          <a:noFill/>
        </p:spPr>
        <p:txBody>
          <a:bodyPr wrap="square" anchor="ctr" lIns="0" rIns="0" tIns="0" bIns="0">
            <a:spAutoFit/>
          </a:bodyPr>
          <a:lstStyle/>
          <a:p>
            <a:pPr algn="ctr">
              <a:lnSpc>
                <a:spcPct val="100000"/>
              </a:lnSpc>
              <a:spcBef>
                <a:spcPts val="0"/>
              </a:spcBef>
              <a:spcAft>
                <a:spcPts val="400"/>
              </a:spcAft>
            </a:pPr>
            <a:r>
              <a:rPr sz="2600" b="1" i="0">
                <a:solidFill>
                  <a:srgbClr val="FFFFFF"/>
                </a:solidFill>
                <a:latin typeface="Calibri"/>
              </a:rPr>
              <a:t>3</a:t>
            </a:r>
          </a:p>
        </p:txBody>
      </p:sp>
      <p:sp>
        <p:nvSpPr>
          <p:cNvPr id="26" name="TextBox 25"/>
          <p:cNvSpPr txBox="1"/>
          <p:nvPr/>
        </p:nvSpPr>
        <p:spPr>
          <a:xfrm>
            <a:off x="9244584" y="2002536"/>
            <a:ext cx="2057400" cy="457200"/>
          </a:xfrm>
          <a:prstGeom prst="rect">
            <a:avLst/>
          </a:prstGeom>
          <a:noFill/>
        </p:spPr>
        <p:txBody>
          <a:bodyPr wrap="square" anchor="t" lIns="0" rIns="0" tIns="0" bIns="0">
            <a:spAutoFit/>
          </a:bodyPr>
          <a:lstStyle/>
          <a:p>
            <a:pPr algn="l">
              <a:lnSpc>
                <a:spcPct val="100000"/>
              </a:lnSpc>
              <a:spcBef>
                <a:spcPts val="0"/>
              </a:spcBef>
              <a:spcAft>
                <a:spcPts val="400"/>
              </a:spcAft>
            </a:pPr>
            <a:r>
              <a:rPr sz="1700" b="1" i="0">
                <a:solidFill>
                  <a:srgbClr val="1B2A38"/>
                </a:solidFill>
                <a:latin typeface="Calibri"/>
              </a:rPr>
              <a:t>Models</a:t>
            </a:r>
          </a:p>
        </p:txBody>
      </p:sp>
      <p:sp>
        <p:nvSpPr>
          <p:cNvPr id="27" name="TextBox 26"/>
          <p:cNvSpPr txBox="1"/>
          <p:nvPr/>
        </p:nvSpPr>
        <p:spPr>
          <a:xfrm>
            <a:off x="9244584" y="2478024"/>
            <a:ext cx="2057400" cy="1005840"/>
          </a:xfrm>
          <a:prstGeom prst="rect">
            <a:avLst/>
          </a:prstGeom>
          <a:noFill/>
        </p:spPr>
        <p:txBody>
          <a:bodyPr wrap="square" anchor="t" lIns="0" rIns="0" tIns="0" bIns="0">
            <a:spAutoFit/>
          </a:bodyPr>
          <a:lstStyle/>
          <a:p>
            <a:pPr algn="l">
              <a:lnSpc>
                <a:spcPct val="105000"/>
              </a:lnSpc>
              <a:spcBef>
                <a:spcPts val="0"/>
              </a:spcBef>
              <a:spcAft>
                <a:spcPts val="400"/>
              </a:spcAft>
            </a:pPr>
            <a:r>
              <a:rPr sz="1250" b="0" i="0">
                <a:solidFill>
                  <a:srgbClr val="45596B"/>
                </a:solidFill>
                <a:latin typeface="Calibri"/>
              </a:rPr>
              <a:t>13 reproduced: seg · cls · combined</a:t>
            </a:r>
          </a:p>
        </p:txBody>
      </p:sp>
      <p:sp>
        <p:nvSpPr>
          <p:cNvPr id="28" name="Rounded Rectangle 27"/>
          <p:cNvSpPr/>
          <p:nvPr/>
        </p:nvSpPr>
        <p:spPr>
          <a:xfrm>
            <a:off x="777240" y="4069080"/>
            <a:ext cx="3383280" cy="2057400"/>
          </a:xfrm>
          <a:prstGeom prst="roundRect">
            <a:avLst/>
          </a:prstGeom>
          <a:solidFill>
            <a:srgbClr val="F1F6F8"/>
          </a:solidFill>
          <a:ln w="9525">
            <a:solidFill>
              <a:srgbClr val="CBD8DE"/>
            </a:solidFill>
          </a:ln>
          <a:effectLst/>
          <a:effectLst>
            <a:outerShdw blurRad="90000" dist="38100" dir="5400000" rotWithShape="0">
              <a:srgbClr val="1B2A38">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777240" y="4069080"/>
            <a:ext cx="118872" cy="2057400"/>
          </a:xfrm>
          <a:prstGeom prst="roundRect">
            <a:avLst/>
          </a:prstGeom>
          <a:solidFill>
            <a:srgbClr val="E159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033271" y="4325112"/>
            <a:ext cx="786384" cy="786384"/>
          </a:xfrm>
          <a:prstGeom prst="ellipse">
            <a:avLst/>
          </a:prstGeom>
          <a:solidFill>
            <a:srgbClr val="E159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33271" y="4325112"/>
            <a:ext cx="786384" cy="786384"/>
          </a:xfrm>
          <a:prstGeom prst="rect">
            <a:avLst/>
          </a:prstGeom>
          <a:noFill/>
        </p:spPr>
        <p:txBody>
          <a:bodyPr wrap="square" anchor="ctr" lIns="0" rIns="0" tIns="0" bIns="0">
            <a:spAutoFit/>
          </a:bodyPr>
          <a:lstStyle/>
          <a:p>
            <a:pPr algn="ctr">
              <a:lnSpc>
                <a:spcPct val="100000"/>
              </a:lnSpc>
              <a:spcBef>
                <a:spcPts val="0"/>
              </a:spcBef>
              <a:spcAft>
                <a:spcPts val="400"/>
              </a:spcAft>
            </a:pPr>
            <a:r>
              <a:rPr sz="2600" b="1" i="0">
                <a:solidFill>
                  <a:srgbClr val="FFFFFF"/>
                </a:solidFill>
                <a:latin typeface="Calibri"/>
              </a:rPr>
              <a:t>4</a:t>
            </a:r>
          </a:p>
        </p:txBody>
      </p:sp>
      <p:sp>
        <p:nvSpPr>
          <p:cNvPr id="32" name="TextBox 31"/>
          <p:cNvSpPr txBox="1"/>
          <p:nvPr/>
        </p:nvSpPr>
        <p:spPr>
          <a:xfrm>
            <a:off x="1965960" y="4379976"/>
            <a:ext cx="2057400" cy="457200"/>
          </a:xfrm>
          <a:prstGeom prst="rect">
            <a:avLst/>
          </a:prstGeom>
          <a:noFill/>
        </p:spPr>
        <p:txBody>
          <a:bodyPr wrap="square" anchor="t" lIns="0" rIns="0" tIns="0" bIns="0">
            <a:spAutoFit/>
          </a:bodyPr>
          <a:lstStyle/>
          <a:p>
            <a:pPr algn="l">
              <a:lnSpc>
                <a:spcPct val="100000"/>
              </a:lnSpc>
              <a:spcBef>
                <a:spcPts val="0"/>
              </a:spcBef>
              <a:spcAft>
                <a:spcPts val="400"/>
              </a:spcAft>
            </a:pPr>
            <a:r>
              <a:rPr sz="1700" b="1" i="0">
                <a:solidFill>
                  <a:srgbClr val="1B2A38"/>
                </a:solidFill>
                <a:latin typeface="Calibri"/>
              </a:rPr>
              <a:t>Improvements</a:t>
            </a:r>
          </a:p>
        </p:txBody>
      </p:sp>
      <p:sp>
        <p:nvSpPr>
          <p:cNvPr id="33" name="TextBox 32"/>
          <p:cNvSpPr txBox="1"/>
          <p:nvPr/>
        </p:nvSpPr>
        <p:spPr>
          <a:xfrm>
            <a:off x="1965960" y="4855464"/>
            <a:ext cx="2057400" cy="1005840"/>
          </a:xfrm>
          <a:prstGeom prst="rect">
            <a:avLst/>
          </a:prstGeom>
          <a:noFill/>
        </p:spPr>
        <p:txBody>
          <a:bodyPr wrap="square" anchor="t" lIns="0" rIns="0" tIns="0" bIns="0">
            <a:spAutoFit/>
          </a:bodyPr>
          <a:lstStyle/>
          <a:p>
            <a:pPr algn="l">
              <a:lnSpc>
                <a:spcPct val="105000"/>
              </a:lnSpc>
              <a:spcBef>
                <a:spcPts val="0"/>
              </a:spcBef>
              <a:spcAft>
                <a:spcPts val="400"/>
              </a:spcAft>
            </a:pPr>
            <a:r>
              <a:rPr sz="1250" b="0" i="0">
                <a:solidFill>
                  <a:srgbClr val="45596B"/>
                </a:solidFill>
                <a:latin typeface="Calibri"/>
              </a:rPr>
              <a:t>2 segmenters + 1 dual-stage + ablation</a:t>
            </a:r>
          </a:p>
        </p:txBody>
      </p:sp>
      <p:sp>
        <p:nvSpPr>
          <p:cNvPr id="34" name="Rounded Rectangle 33"/>
          <p:cNvSpPr/>
          <p:nvPr/>
        </p:nvSpPr>
        <p:spPr>
          <a:xfrm>
            <a:off x="4416552" y="4069080"/>
            <a:ext cx="3383280" cy="2057400"/>
          </a:xfrm>
          <a:prstGeom prst="roundRect">
            <a:avLst/>
          </a:prstGeom>
          <a:solidFill>
            <a:srgbClr val="F1F6F8"/>
          </a:solidFill>
          <a:ln w="9525">
            <a:solidFill>
              <a:srgbClr val="CBD8DE"/>
            </a:solidFill>
          </a:ln>
          <a:effectLst/>
          <a:effectLst>
            <a:outerShdw blurRad="90000" dist="38100" dir="5400000" rotWithShape="0">
              <a:srgbClr val="1B2A38">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4416552" y="4069080"/>
            <a:ext cx="118872" cy="2057400"/>
          </a:xfrm>
          <a:prstGeom prst="roundRect">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4672584" y="4325112"/>
            <a:ext cx="786384" cy="786384"/>
          </a:xfrm>
          <a:prstGeom prst="ellipse">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672584" y="4325112"/>
            <a:ext cx="786384" cy="786384"/>
          </a:xfrm>
          <a:prstGeom prst="rect">
            <a:avLst/>
          </a:prstGeom>
          <a:noFill/>
        </p:spPr>
        <p:txBody>
          <a:bodyPr wrap="square" anchor="ctr" lIns="0" rIns="0" tIns="0" bIns="0">
            <a:spAutoFit/>
          </a:bodyPr>
          <a:lstStyle/>
          <a:p>
            <a:pPr algn="ctr">
              <a:lnSpc>
                <a:spcPct val="100000"/>
              </a:lnSpc>
              <a:spcBef>
                <a:spcPts val="0"/>
              </a:spcBef>
              <a:spcAft>
                <a:spcPts val="400"/>
              </a:spcAft>
            </a:pPr>
            <a:r>
              <a:rPr sz="2600" b="1" i="0">
                <a:solidFill>
                  <a:srgbClr val="FFFFFF"/>
                </a:solidFill>
                <a:latin typeface="Calibri"/>
              </a:rPr>
              <a:t>5</a:t>
            </a:r>
          </a:p>
        </p:txBody>
      </p:sp>
      <p:sp>
        <p:nvSpPr>
          <p:cNvPr id="38" name="TextBox 37"/>
          <p:cNvSpPr txBox="1"/>
          <p:nvPr/>
        </p:nvSpPr>
        <p:spPr>
          <a:xfrm>
            <a:off x="5605272" y="4379976"/>
            <a:ext cx="2057400" cy="457200"/>
          </a:xfrm>
          <a:prstGeom prst="rect">
            <a:avLst/>
          </a:prstGeom>
          <a:noFill/>
        </p:spPr>
        <p:txBody>
          <a:bodyPr wrap="square" anchor="t" lIns="0" rIns="0" tIns="0" bIns="0">
            <a:spAutoFit/>
          </a:bodyPr>
          <a:lstStyle/>
          <a:p>
            <a:pPr algn="l">
              <a:lnSpc>
                <a:spcPct val="100000"/>
              </a:lnSpc>
              <a:spcBef>
                <a:spcPts val="0"/>
              </a:spcBef>
              <a:spcAft>
                <a:spcPts val="400"/>
              </a:spcAft>
            </a:pPr>
            <a:r>
              <a:rPr sz="1700" b="1" i="0">
                <a:solidFill>
                  <a:srgbClr val="1B2A38"/>
                </a:solidFill>
                <a:latin typeface="Calibri"/>
              </a:rPr>
              <a:t>Results</a:t>
            </a:r>
          </a:p>
        </p:txBody>
      </p:sp>
      <p:sp>
        <p:nvSpPr>
          <p:cNvPr id="39" name="TextBox 38"/>
          <p:cNvSpPr txBox="1"/>
          <p:nvPr/>
        </p:nvSpPr>
        <p:spPr>
          <a:xfrm>
            <a:off x="5605272" y="4855464"/>
            <a:ext cx="2057400" cy="1005840"/>
          </a:xfrm>
          <a:prstGeom prst="rect">
            <a:avLst/>
          </a:prstGeom>
          <a:noFill/>
        </p:spPr>
        <p:txBody>
          <a:bodyPr wrap="square" anchor="t" lIns="0" rIns="0" tIns="0" bIns="0">
            <a:spAutoFit/>
          </a:bodyPr>
          <a:lstStyle/>
          <a:p>
            <a:pPr algn="l">
              <a:lnSpc>
                <a:spcPct val="105000"/>
              </a:lnSpc>
              <a:spcBef>
                <a:spcPts val="0"/>
              </a:spcBef>
              <a:spcAft>
                <a:spcPts val="400"/>
              </a:spcAft>
            </a:pPr>
            <a:r>
              <a:rPr sz="1250" b="0" i="0">
                <a:solidFill>
                  <a:srgbClr val="45596B"/>
                </a:solidFill>
                <a:latin typeface="Calibri"/>
              </a:rPr>
              <a:t>Horizontal &amp; vertical comparison</a:t>
            </a:r>
          </a:p>
        </p:txBody>
      </p:sp>
      <p:sp>
        <p:nvSpPr>
          <p:cNvPr id="40" name="Rounded Rectangle 39"/>
          <p:cNvSpPr/>
          <p:nvPr/>
        </p:nvSpPr>
        <p:spPr>
          <a:xfrm>
            <a:off x="8055864" y="4069080"/>
            <a:ext cx="3383280" cy="2057400"/>
          </a:xfrm>
          <a:prstGeom prst="roundRect">
            <a:avLst/>
          </a:prstGeom>
          <a:solidFill>
            <a:srgbClr val="F1F6F8"/>
          </a:solidFill>
          <a:ln w="9525">
            <a:solidFill>
              <a:srgbClr val="CBD8DE"/>
            </a:solidFill>
          </a:ln>
          <a:effectLst/>
          <a:effectLst>
            <a:outerShdw blurRad="90000" dist="38100" dir="5400000" rotWithShape="0">
              <a:srgbClr val="1B2A38">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8055864" y="4069080"/>
            <a:ext cx="118872" cy="2057400"/>
          </a:xfrm>
          <a:prstGeom prst="roundRect">
            <a:avLst/>
          </a:prstGeom>
          <a:solidFill>
            <a:srgbClr val="4559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8311896" y="4325112"/>
            <a:ext cx="786384" cy="786384"/>
          </a:xfrm>
          <a:prstGeom prst="ellipse">
            <a:avLst/>
          </a:prstGeom>
          <a:solidFill>
            <a:srgbClr val="4559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311896" y="4325112"/>
            <a:ext cx="786384" cy="786384"/>
          </a:xfrm>
          <a:prstGeom prst="rect">
            <a:avLst/>
          </a:prstGeom>
          <a:noFill/>
        </p:spPr>
        <p:txBody>
          <a:bodyPr wrap="square" anchor="ctr" lIns="0" rIns="0" tIns="0" bIns="0">
            <a:spAutoFit/>
          </a:bodyPr>
          <a:lstStyle/>
          <a:p>
            <a:pPr algn="ctr">
              <a:lnSpc>
                <a:spcPct val="100000"/>
              </a:lnSpc>
              <a:spcBef>
                <a:spcPts val="0"/>
              </a:spcBef>
              <a:spcAft>
                <a:spcPts val="400"/>
              </a:spcAft>
            </a:pPr>
            <a:r>
              <a:rPr sz="2600" b="1" i="0">
                <a:solidFill>
                  <a:srgbClr val="FFFFFF"/>
                </a:solidFill>
                <a:latin typeface="Calibri"/>
              </a:rPr>
              <a:t>6</a:t>
            </a:r>
          </a:p>
        </p:txBody>
      </p:sp>
      <p:sp>
        <p:nvSpPr>
          <p:cNvPr id="44" name="TextBox 43"/>
          <p:cNvSpPr txBox="1"/>
          <p:nvPr/>
        </p:nvSpPr>
        <p:spPr>
          <a:xfrm>
            <a:off x="9244584" y="4379976"/>
            <a:ext cx="2057400" cy="457200"/>
          </a:xfrm>
          <a:prstGeom prst="rect">
            <a:avLst/>
          </a:prstGeom>
          <a:noFill/>
        </p:spPr>
        <p:txBody>
          <a:bodyPr wrap="square" anchor="t" lIns="0" rIns="0" tIns="0" bIns="0">
            <a:spAutoFit/>
          </a:bodyPr>
          <a:lstStyle/>
          <a:p>
            <a:pPr algn="l">
              <a:lnSpc>
                <a:spcPct val="100000"/>
              </a:lnSpc>
              <a:spcBef>
                <a:spcPts val="0"/>
              </a:spcBef>
              <a:spcAft>
                <a:spcPts val="400"/>
              </a:spcAft>
            </a:pPr>
            <a:r>
              <a:rPr sz="1700" b="1" i="0">
                <a:solidFill>
                  <a:srgbClr val="1B2A38"/>
                </a:solidFill>
                <a:latin typeface="Calibri"/>
              </a:rPr>
              <a:t>Discussion</a:t>
            </a:r>
          </a:p>
        </p:txBody>
      </p:sp>
      <p:sp>
        <p:nvSpPr>
          <p:cNvPr id="45" name="TextBox 44"/>
          <p:cNvSpPr txBox="1"/>
          <p:nvPr/>
        </p:nvSpPr>
        <p:spPr>
          <a:xfrm>
            <a:off x="9244584" y="4855464"/>
            <a:ext cx="2057400" cy="1005840"/>
          </a:xfrm>
          <a:prstGeom prst="rect">
            <a:avLst/>
          </a:prstGeom>
          <a:noFill/>
        </p:spPr>
        <p:txBody>
          <a:bodyPr wrap="square" anchor="t" lIns="0" rIns="0" tIns="0" bIns="0">
            <a:spAutoFit/>
          </a:bodyPr>
          <a:lstStyle/>
          <a:p>
            <a:pPr algn="l">
              <a:lnSpc>
                <a:spcPct val="105000"/>
              </a:lnSpc>
              <a:spcBef>
                <a:spcPts val="0"/>
              </a:spcBef>
              <a:spcAft>
                <a:spcPts val="400"/>
              </a:spcAft>
            </a:pPr>
            <a:r>
              <a:rPr sz="1250" b="0" i="0">
                <a:solidFill>
                  <a:srgbClr val="45596B"/>
                </a:solidFill>
                <a:latin typeface="Calibri"/>
              </a:rPr>
              <a:t>Findings, limits, future work</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 y="475488"/>
            <a:ext cx="118872" cy="658368"/>
          </a:xfrm>
          <a:prstGeom prst="rect">
            <a:avLst/>
          </a:prstGeom>
          <a:solidFill>
            <a:srgbClr val="1F8A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457200"/>
            <a:ext cx="10789920" cy="320040"/>
          </a:xfrm>
          <a:prstGeom prst="rect">
            <a:avLst/>
          </a:prstGeom>
          <a:noFill/>
        </p:spPr>
        <p:txBody>
          <a:bodyPr wrap="square" anchor="t" lIns="0" rIns="0" tIns="0" bIns="0">
            <a:spAutoFit/>
          </a:bodyPr>
          <a:lstStyle/>
          <a:p>
            <a:pPr algn="l">
              <a:lnSpc>
                <a:spcPct val="100000"/>
              </a:lnSpc>
              <a:spcBef>
                <a:spcPts val="0"/>
              </a:spcBef>
              <a:spcAft>
                <a:spcPts val="400"/>
              </a:spcAft>
            </a:pPr>
            <a:r>
              <a:rPr sz="1250" b="1" i="0">
                <a:solidFill>
                  <a:srgbClr val="1F8AA6"/>
                </a:solidFill>
                <a:latin typeface="Calibri"/>
              </a:rPr>
              <a:t>1 · INTRODUCTION</a:t>
            </a:r>
          </a:p>
        </p:txBody>
      </p:sp>
      <p:sp>
        <p:nvSpPr>
          <p:cNvPr id="6" name="TextBox 5"/>
          <p:cNvSpPr txBox="1"/>
          <p:nvPr/>
        </p:nvSpPr>
        <p:spPr>
          <a:xfrm>
            <a:off x="777240" y="713232"/>
            <a:ext cx="10881360" cy="566928"/>
          </a:xfrm>
          <a:prstGeom prst="rect">
            <a:avLst/>
          </a:prstGeom>
          <a:noFill/>
        </p:spPr>
        <p:txBody>
          <a:bodyPr wrap="square" anchor="t" lIns="0" rIns="0" tIns="0" bIns="0">
            <a:spAutoFit/>
          </a:bodyPr>
          <a:lstStyle/>
          <a:p>
            <a:pPr algn="l">
              <a:lnSpc>
                <a:spcPct val="100000"/>
              </a:lnSpc>
              <a:spcBef>
                <a:spcPts val="0"/>
              </a:spcBef>
              <a:spcAft>
                <a:spcPts val="400"/>
              </a:spcAft>
            </a:pPr>
            <a:r>
              <a:rPr sz="2500" b="1" i="0">
                <a:solidFill>
                  <a:srgbClr val="1B2A38"/>
                </a:solidFill>
                <a:latin typeface="Calibri"/>
              </a:rPr>
              <a:t>Problem statement: why breast-ultrasound CAD?</a:t>
            </a:r>
          </a:p>
        </p:txBody>
      </p:sp>
      <p:sp>
        <p:nvSpPr>
          <p:cNvPr id="7" name="Rectangle 6"/>
          <p:cNvSpPr/>
          <p:nvPr/>
        </p:nvSpPr>
        <p:spPr>
          <a:xfrm>
            <a:off x="777240" y="1316736"/>
            <a:ext cx="10634472" cy="18288"/>
          </a:xfrm>
          <a:prstGeom prst="rect">
            <a:avLst/>
          </a:prstGeom>
          <a:solidFill>
            <a:srgbClr val="CBD8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73952"/>
            <a:ext cx="7315200" cy="274320"/>
          </a:xfrm>
          <a:prstGeom prst="rect">
            <a:avLst/>
          </a:prstGeom>
          <a:noFill/>
        </p:spPr>
        <p:txBody>
          <a:bodyPr wrap="square" anchor="t" lIns="0" rIns="0" tIns="0" bIns="0">
            <a:spAutoFit/>
          </a:bodyPr>
          <a:lstStyle/>
          <a:p>
            <a:pPr algn="l">
              <a:lnSpc>
                <a:spcPct val="100000"/>
              </a:lnSpc>
              <a:spcBef>
                <a:spcPts val="0"/>
              </a:spcBef>
              <a:spcAft>
                <a:spcPts val="400"/>
              </a:spcAft>
            </a:pPr>
            <a:r>
              <a:rPr sz="900" b="0" i="0">
                <a:solidFill>
                  <a:srgbClr val="8A94A6"/>
                </a:solidFill>
                <a:latin typeface="Calibri"/>
              </a:rPr>
              <a:t>COMP9444 · Group Project 047 · Breast Ultrasound (BUSI)</a:t>
            </a:r>
          </a:p>
        </p:txBody>
      </p:sp>
      <p:sp>
        <p:nvSpPr>
          <p:cNvPr id="9" name="TextBox 8"/>
          <p:cNvSpPr txBox="1"/>
          <p:nvPr/>
        </p:nvSpPr>
        <p:spPr>
          <a:xfrm>
            <a:off x="11064240" y="6473952"/>
            <a:ext cx="685800" cy="274320"/>
          </a:xfrm>
          <a:prstGeom prst="rect">
            <a:avLst/>
          </a:prstGeom>
          <a:noFill/>
        </p:spPr>
        <p:txBody>
          <a:bodyPr wrap="square" anchor="t" lIns="0" rIns="0" tIns="0" bIns="0">
            <a:spAutoFit/>
          </a:bodyPr>
          <a:lstStyle/>
          <a:p>
            <a:pPr algn="r">
              <a:lnSpc>
                <a:spcPct val="100000"/>
              </a:lnSpc>
              <a:spcBef>
                <a:spcPts val="0"/>
              </a:spcBef>
              <a:spcAft>
                <a:spcPts val="400"/>
              </a:spcAft>
            </a:pPr>
            <a:r>
              <a:rPr sz="900" b="1" i="0">
                <a:solidFill>
                  <a:srgbClr val="8A94A6"/>
                </a:solidFill>
                <a:latin typeface="Calibri"/>
              </a:rPr>
              <a:t>2</a:t>
            </a:r>
          </a:p>
        </p:txBody>
      </p:sp>
      <p:sp>
        <p:nvSpPr>
          <p:cNvPr id="10" name="TextBox 9"/>
          <p:cNvSpPr txBox="1"/>
          <p:nvPr/>
        </p:nvSpPr>
        <p:spPr>
          <a:xfrm>
            <a:off x="777240" y="1600200"/>
            <a:ext cx="6035040" cy="4480560"/>
          </a:xfrm>
          <a:prstGeom prst="rect">
            <a:avLst/>
          </a:prstGeom>
          <a:noFill/>
        </p:spPr>
        <p:txBody>
          <a:bodyPr wrap="square" lIns="0" rIns="0" tIns="0" bIns="0">
            <a:spAutoFit/>
          </a:bodyPr>
          <a:lstStyle/>
          <a:p>
            <a:pPr>
              <a:lnSpc>
                <a:spcPct val="102000"/>
              </a:lnSpc>
              <a:spcBef>
                <a:spcPts val="0"/>
              </a:spcBef>
              <a:spcAft>
                <a:spcPts val="1100"/>
              </a:spcAft>
            </a:pPr>
            <a:r>
              <a:rPr sz="1450" b="1">
                <a:solidFill>
                  <a:srgbClr val="0E4D64"/>
                </a:solidFill>
                <a:latin typeface="Calibri"/>
              </a:rPr>
              <a:t>•  </a:t>
            </a:r>
            <a:r>
              <a:rPr sz="1450" b="1">
                <a:solidFill>
                  <a:srgbClr val="0E4D64"/>
                </a:solidFill>
                <a:latin typeface="Calibri"/>
              </a:rPr>
              <a:t>Clinical stakes: </a:t>
            </a:r>
            <a:r>
              <a:rPr sz="1450" b="0">
                <a:solidFill>
                  <a:srgbClr val="1B2A38"/>
                </a:solidFill>
                <a:latin typeface="Calibri"/>
              </a:rPr>
              <a:t>breast cancer is a leading cause of cancer death in women; early detection is the single biggest lever on survival.</a:t>
            </a:r>
          </a:p>
          <a:p>
            <a:pPr>
              <a:lnSpc>
                <a:spcPct val="102000"/>
              </a:lnSpc>
              <a:spcBef>
                <a:spcPts val="0"/>
              </a:spcBef>
              <a:spcAft>
                <a:spcPts val="1100"/>
              </a:spcAft>
            </a:pPr>
            <a:r>
              <a:rPr sz="1450" b="1">
                <a:solidFill>
                  <a:srgbClr val="0E4D64"/>
                </a:solidFill>
                <a:latin typeface="Calibri"/>
              </a:rPr>
              <a:t>•  </a:t>
            </a:r>
            <a:r>
              <a:rPr sz="1450" b="1">
                <a:solidFill>
                  <a:srgbClr val="0E4D64"/>
                </a:solidFill>
                <a:latin typeface="Calibri"/>
              </a:rPr>
              <a:t>Ultrasound (BUS): </a:t>
            </a:r>
            <a:r>
              <a:rPr sz="1450" b="0">
                <a:solidFill>
                  <a:srgbClr val="1B2A38"/>
                </a:solidFill>
                <a:latin typeface="Calibri"/>
              </a:rPr>
              <a:t>safe, cheap, radiation-free — ideal for screening, dense breasts and younger patients.</a:t>
            </a:r>
          </a:p>
          <a:p>
            <a:pPr>
              <a:lnSpc>
                <a:spcPct val="102000"/>
              </a:lnSpc>
              <a:spcBef>
                <a:spcPts val="0"/>
              </a:spcBef>
              <a:spcAft>
                <a:spcPts val="1100"/>
              </a:spcAft>
            </a:pPr>
            <a:r>
              <a:rPr sz="1450" b="1">
                <a:solidFill>
                  <a:srgbClr val="0E4D64"/>
                </a:solidFill>
                <a:latin typeface="Calibri"/>
              </a:rPr>
              <a:t>•  </a:t>
            </a:r>
            <a:r>
              <a:rPr sz="1450" b="1">
                <a:solidFill>
                  <a:srgbClr val="0E4D64"/>
                </a:solidFill>
                <a:latin typeface="Calibri"/>
              </a:rPr>
              <a:t>But it's hard: </a:t>
            </a:r>
            <a:r>
              <a:rPr sz="1450" b="0">
                <a:solidFill>
                  <a:srgbClr val="1B2A38"/>
                </a:solidFill>
                <a:latin typeface="Calibri"/>
              </a:rPr>
              <a:t>speckle noise, low contrast, acoustic shadows, blurred lesion boundaries — reading is slow and operator-dependent, even for experts.</a:t>
            </a:r>
          </a:p>
          <a:p>
            <a:pPr>
              <a:lnSpc>
                <a:spcPct val="102000"/>
              </a:lnSpc>
              <a:spcBef>
                <a:spcPts val="0"/>
              </a:spcBef>
              <a:spcAft>
                <a:spcPts val="1100"/>
              </a:spcAft>
            </a:pPr>
            <a:r>
              <a:rPr sz="1450" b="1">
                <a:solidFill>
                  <a:srgbClr val="0E4D64"/>
                </a:solidFill>
                <a:latin typeface="Calibri"/>
              </a:rPr>
              <a:t>•  </a:t>
            </a:r>
            <a:r>
              <a:rPr sz="1450" b="1">
                <a:solidFill>
                  <a:srgbClr val="0E4D64"/>
                </a:solidFill>
                <a:latin typeface="Calibri"/>
              </a:rPr>
              <a:t>Our goal: </a:t>
            </a:r>
            <a:r>
              <a:rPr sz="1450" b="0">
                <a:solidFill>
                  <a:srgbClr val="1B2A38"/>
                </a:solidFill>
                <a:latin typeface="Calibri"/>
              </a:rPr>
              <a:t>a deep-learning CAD system that supports radiologists on two tasks:</a:t>
            </a:r>
          </a:p>
          <a:p>
            <a:pPr>
              <a:lnSpc>
                <a:spcPct val="102000"/>
              </a:lnSpc>
              <a:spcBef>
                <a:spcPts val="0"/>
              </a:spcBef>
              <a:spcAft>
                <a:spcPts val="1100"/>
              </a:spcAft>
            </a:pPr>
            <a:r>
              <a:rPr sz="1350">
                <a:solidFill>
                  <a:srgbClr val="45596B"/>
                </a:solidFill>
                <a:latin typeface="Calibri"/>
              </a:rPr>
              <a:t>      –  </a:t>
            </a:r>
            <a:r>
              <a:rPr sz="1350" b="0">
                <a:solidFill>
                  <a:srgbClr val="45596B"/>
                </a:solidFill>
                <a:latin typeface="Calibri"/>
              </a:rPr>
              <a:t>Classification — normal / benign / malignant</a:t>
            </a:r>
          </a:p>
          <a:p>
            <a:pPr>
              <a:lnSpc>
                <a:spcPct val="102000"/>
              </a:lnSpc>
              <a:spcBef>
                <a:spcPts val="0"/>
              </a:spcBef>
              <a:spcAft>
                <a:spcPts val="1100"/>
              </a:spcAft>
            </a:pPr>
            <a:r>
              <a:rPr sz="1350">
                <a:solidFill>
                  <a:srgbClr val="45596B"/>
                </a:solidFill>
                <a:latin typeface="Calibri"/>
              </a:rPr>
              <a:t>      –  </a:t>
            </a:r>
            <a:r>
              <a:rPr sz="1350" b="0">
                <a:solidFill>
                  <a:srgbClr val="45596B"/>
                </a:solidFill>
                <a:latin typeface="Calibri"/>
              </a:rPr>
              <a:t>Segmentation — delineate the tumour boundary</a:t>
            </a:r>
          </a:p>
        </p:txBody>
      </p:sp>
      <p:sp>
        <p:nvSpPr>
          <p:cNvPr id="11" name="Rounded Rectangle 10"/>
          <p:cNvSpPr/>
          <p:nvPr/>
        </p:nvSpPr>
        <p:spPr>
          <a:xfrm>
            <a:off x="7086600" y="1691640"/>
            <a:ext cx="4343400" cy="2057400"/>
          </a:xfrm>
          <a:prstGeom prst="roundRect">
            <a:avLst/>
          </a:prstGeom>
          <a:solidFill>
            <a:srgbClr val="F1F6F8"/>
          </a:solidFill>
          <a:ln w="9525">
            <a:solidFill>
              <a:srgbClr val="CBD8DE"/>
            </a:solidFill>
          </a:ln>
          <a:effectLst/>
          <a:effectLst>
            <a:outerShdw blurRad="90000" dist="38100" dir="5400000" rotWithShape="0">
              <a:srgbClr val="1B2A38">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60920" y="1874519"/>
            <a:ext cx="3840480" cy="365760"/>
          </a:xfrm>
          <a:prstGeom prst="rect">
            <a:avLst/>
          </a:prstGeom>
          <a:noFill/>
        </p:spPr>
        <p:txBody>
          <a:bodyPr wrap="square" anchor="t" lIns="0" rIns="0" tIns="0" bIns="0">
            <a:spAutoFit/>
          </a:bodyPr>
          <a:lstStyle/>
          <a:p>
            <a:pPr algn="l">
              <a:lnSpc>
                <a:spcPct val="100000"/>
              </a:lnSpc>
              <a:spcBef>
                <a:spcPts val="0"/>
              </a:spcBef>
              <a:spcAft>
                <a:spcPts val="400"/>
              </a:spcAft>
            </a:pPr>
            <a:r>
              <a:rPr sz="1250" b="1" i="0">
                <a:solidFill>
                  <a:srgbClr val="0E4D64"/>
                </a:solidFill>
                <a:latin typeface="Calibri"/>
              </a:rPr>
              <a:t>TASK 1 · CLASSIFICATION</a:t>
            </a:r>
          </a:p>
        </p:txBody>
      </p:sp>
      <p:sp>
        <p:nvSpPr>
          <p:cNvPr id="13" name="TextBox 12"/>
          <p:cNvSpPr txBox="1"/>
          <p:nvPr/>
        </p:nvSpPr>
        <p:spPr>
          <a:xfrm>
            <a:off x="7360920" y="2286000"/>
            <a:ext cx="3840480" cy="1280160"/>
          </a:xfrm>
          <a:prstGeom prst="rect">
            <a:avLst/>
          </a:prstGeom>
          <a:noFill/>
        </p:spPr>
        <p:txBody>
          <a:bodyPr wrap="square" anchor="t" lIns="0" rIns="0" tIns="0" bIns="0">
            <a:spAutoFit/>
          </a:bodyPr>
          <a:lstStyle/>
          <a:p>
            <a:pPr algn="l">
              <a:lnSpc>
                <a:spcPct val="110000"/>
              </a:lnSpc>
              <a:spcBef>
                <a:spcPts val="0"/>
              </a:spcBef>
              <a:spcAft>
                <a:spcPts val="400"/>
              </a:spcAft>
            </a:pPr>
            <a:r>
              <a:rPr sz="1300" b="0" i="0">
                <a:solidFill>
                  <a:srgbClr val="1B2A38"/>
                </a:solidFill>
                <a:latin typeface="Calibri"/>
              </a:rPr>
              <a:t>Assign each image to </a:t>
            </a:r>
            <a:r>
              <a:rPr sz="1300" b="1" i="0">
                <a:solidFill>
                  <a:srgbClr val="8A94A6"/>
                </a:solidFill>
                <a:latin typeface="Calibri"/>
              </a:rPr>
              <a:t>normal</a:t>
            </a:r>
            <a:r>
              <a:rPr sz="1300" b="0" i="0">
                <a:solidFill>
                  <a:srgbClr val="1B2A38"/>
                </a:solidFill>
                <a:latin typeface="Calibri"/>
              </a:rPr>
              <a:t> / </a:t>
            </a:r>
            <a:r>
              <a:rPr sz="1300" b="1" i="0">
                <a:solidFill>
                  <a:srgbClr val="3AA655"/>
                </a:solidFill>
                <a:latin typeface="Calibri"/>
              </a:rPr>
              <a:t>benign</a:t>
            </a:r>
            <a:r>
              <a:rPr sz="1300" b="0" i="0">
                <a:solidFill>
                  <a:srgbClr val="1B2A38"/>
                </a:solidFill>
                <a:latin typeface="Calibri"/>
              </a:rPr>
              <a:t> / </a:t>
            </a:r>
            <a:r>
              <a:rPr sz="1300" b="1" i="0">
                <a:solidFill>
                  <a:srgbClr val="E1595B"/>
                </a:solidFill>
                <a:latin typeface="Calibri"/>
              </a:rPr>
              <a:t>malignant</a:t>
            </a:r>
            <a:r>
              <a:rPr sz="1300" b="0" i="0">
                <a:solidFill>
                  <a:srgbClr val="1B2A38"/>
                </a:solidFill>
                <a:latin typeface="Calibri"/>
              </a:rPr>
              <a:t>.</a:t>
            </a:r>
          </a:p>
          <a:p>
            <a:pPr algn="l">
              <a:lnSpc>
                <a:spcPct val="110000"/>
              </a:lnSpc>
              <a:spcBef>
                <a:spcPts val="0"/>
              </a:spcBef>
              <a:spcAft>
                <a:spcPts val="400"/>
              </a:spcAft>
            </a:pPr>
            <a:r>
              <a:rPr sz="1200" b="0" i="1">
                <a:solidFill>
                  <a:srgbClr val="45596B"/>
                </a:solidFill>
                <a:latin typeface="Calibri"/>
              </a:rPr>
              <a:t>3 classes · imbalanced · malignant recall matters most.</a:t>
            </a:r>
          </a:p>
        </p:txBody>
      </p:sp>
      <p:sp>
        <p:nvSpPr>
          <p:cNvPr id="14" name="Rounded Rectangle 13"/>
          <p:cNvSpPr/>
          <p:nvPr/>
        </p:nvSpPr>
        <p:spPr>
          <a:xfrm>
            <a:off x="7086600" y="3977639"/>
            <a:ext cx="4343400" cy="2057400"/>
          </a:xfrm>
          <a:prstGeom prst="roundRect">
            <a:avLst/>
          </a:prstGeom>
          <a:solidFill>
            <a:srgbClr val="F1F6F8"/>
          </a:solidFill>
          <a:ln w="9525">
            <a:solidFill>
              <a:srgbClr val="CBD8DE"/>
            </a:solidFill>
          </a:ln>
          <a:effectLst/>
          <a:effectLst>
            <a:outerShdw blurRad="90000" dist="38100" dir="5400000" rotWithShape="0">
              <a:srgbClr val="1B2A38">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0920" y="4160520"/>
            <a:ext cx="3840480" cy="365760"/>
          </a:xfrm>
          <a:prstGeom prst="rect">
            <a:avLst/>
          </a:prstGeom>
          <a:noFill/>
        </p:spPr>
        <p:txBody>
          <a:bodyPr wrap="square" anchor="t" lIns="0" rIns="0" tIns="0" bIns="0">
            <a:spAutoFit/>
          </a:bodyPr>
          <a:lstStyle/>
          <a:p>
            <a:pPr algn="l">
              <a:lnSpc>
                <a:spcPct val="100000"/>
              </a:lnSpc>
              <a:spcBef>
                <a:spcPts val="0"/>
              </a:spcBef>
              <a:spcAft>
                <a:spcPts val="400"/>
              </a:spcAft>
            </a:pPr>
            <a:r>
              <a:rPr sz="1250" b="1" i="0">
                <a:solidFill>
                  <a:srgbClr val="0E4D64"/>
                </a:solidFill>
                <a:latin typeface="Calibri"/>
              </a:rPr>
              <a:t>TASK 2 · SEGMENTATION</a:t>
            </a:r>
          </a:p>
        </p:txBody>
      </p:sp>
      <p:sp>
        <p:nvSpPr>
          <p:cNvPr id="16" name="TextBox 15"/>
          <p:cNvSpPr txBox="1"/>
          <p:nvPr/>
        </p:nvSpPr>
        <p:spPr>
          <a:xfrm>
            <a:off x="7360920" y="4572000"/>
            <a:ext cx="3840480" cy="1280160"/>
          </a:xfrm>
          <a:prstGeom prst="rect">
            <a:avLst/>
          </a:prstGeom>
          <a:noFill/>
        </p:spPr>
        <p:txBody>
          <a:bodyPr wrap="square" anchor="t" lIns="0" rIns="0" tIns="0" bIns="0">
            <a:spAutoFit/>
          </a:bodyPr>
          <a:lstStyle/>
          <a:p>
            <a:pPr algn="l">
              <a:lnSpc>
                <a:spcPct val="110000"/>
              </a:lnSpc>
              <a:spcBef>
                <a:spcPts val="0"/>
              </a:spcBef>
              <a:spcAft>
                <a:spcPts val="400"/>
              </a:spcAft>
            </a:pPr>
            <a:r>
              <a:rPr sz="1300" b="0" i="0">
                <a:solidFill>
                  <a:srgbClr val="1B2A38"/>
                </a:solidFill>
                <a:latin typeface="Calibri"/>
              </a:rPr>
              <a:t>Predict a pixel-level </a:t>
            </a:r>
            <a:r>
              <a:rPr sz="1300" b="1" i="0">
                <a:solidFill>
                  <a:srgbClr val="E1595B"/>
                </a:solidFill>
                <a:latin typeface="Calibri"/>
              </a:rPr>
              <a:t>lesion mask</a:t>
            </a:r>
            <a:r>
              <a:rPr sz="1300" b="0" i="0">
                <a:solidFill>
                  <a:srgbClr val="1B2A38"/>
                </a:solidFill>
                <a:latin typeface="Calibri"/>
              </a:rPr>
              <a:t> vs. background.</a:t>
            </a:r>
          </a:p>
          <a:p>
            <a:pPr algn="l">
              <a:lnSpc>
                <a:spcPct val="110000"/>
              </a:lnSpc>
              <a:spcBef>
                <a:spcPts val="0"/>
              </a:spcBef>
              <a:spcAft>
                <a:spcPts val="400"/>
              </a:spcAft>
            </a:pPr>
            <a:r>
              <a:rPr sz="1200" b="0" i="1">
                <a:solidFill>
                  <a:srgbClr val="45596B"/>
                </a:solidFill>
                <a:latin typeface="Calibri"/>
              </a:rPr>
              <a:t>Dice / IoU · tiny benign lesions are the challenge.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 y="475488"/>
            <a:ext cx="118872" cy="658368"/>
          </a:xfrm>
          <a:prstGeom prst="rect">
            <a:avLst/>
          </a:prstGeom>
          <a:solidFill>
            <a:srgbClr val="1F8A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457200"/>
            <a:ext cx="10789920" cy="320040"/>
          </a:xfrm>
          <a:prstGeom prst="rect">
            <a:avLst/>
          </a:prstGeom>
          <a:noFill/>
        </p:spPr>
        <p:txBody>
          <a:bodyPr wrap="square" anchor="t" lIns="0" rIns="0" tIns="0" bIns="0">
            <a:spAutoFit/>
          </a:bodyPr>
          <a:lstStyle/>
          <a:p>
            <a:pPr algn="l">
              <a:lnSpc>
                <a:spcPct val="100000"/>
              </a:lnSpc>
              <a:spcBef>
                <a:spcPts val="0"/>
              </a:spcBef>
              <a:spcAft>
                <a:spcPts val="400"/>
              </a:spcAft>
            </a:pPr>
            <a:r>
              <a:rPr sz="1250" b="1" i="0">
                <a:solidFill>
                  <a:srgbClr val="1F8AA6"/>
                </a:solidFill>
                <a:latin typeface="Calibri"/>
              </a:rPr>
              <a:t>1 · INTRODUCTION</a:t>
            </a:r>
          </a:p>
        </p:txBody>
      </p:sp>
      <p:sp>
        <p:nvSpPr>
          <p:cNvPr id="6" name="TextBox 5"/>
          <p:cNvSpPr txBox="1"/>
          <p:nvPr/>
        </p:nvSpPr>
        <p:spPr>
          <a:xfrm>
            <a:off x="777240" y="713232"/>
            <a:ext cx="10881360" cy="566928"/>
          </a:xfrm>
          <a:prstGeom prst="rect">
            <a:avLst/>
          </a:prstGeom>
          <a:noFill/>
        </p:spPr>
        <p:txBody>
          <a:bodyPr wrap="square" anchor="t" lIns="0" rIns="0" tIns="0" bIns="0">
            <a:spAutoFit/>
          </a:bodyPr>
          <a:lstStyle/>
          <a:p>
            <a:pPr algn="l">
              <a:lnSpc>
                <a:spcPct val="100000"/>
              </a:lnSpc>
              <a:spcBef>
                <a:spcPts val="0"/>
              </a:spcBef>
              <a:spcAft>
                <a:spcPts val="400"/>
              </a:spcAft>
            </a:pPr>
            <a:r>
              <a:rPr sz="2500" b="1" i="0">
                <a:solidFill>
                  <a:srgbClr val="1B2A38"/>
                </a:solidFill>
                <a:latin typeface="Calibri"/>
              </a:rPr>
              <a:t>Why ultrasound is hard to read</a:t>
            </a:r>
          </a:p>
        </p:txBody>
      </p:sp>
      <p:sp>
        <p:nvSpPr>
          <p:cNvPr id="7" name="Rectangle 6"/>
          <p:cNvSpPr/>
          <p:nvPr/>
        </p:nvSpPr>
        <p:spPr>
          <a:xfrm>
            <a:off x="777240" y="1316736"/>
            <a:ext cx="10634472" cy="18288"/>
          </a:xfrm>
          <a:prstGeom prst="rect">
            <a:avLst/>
          </a:prstGeom>
          <a:solidFill>
            <a:srgbClr val="CBD8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73952"/>
            <a:ext cx="7315200" cy="274320"/>
          </a:xfrm>
          <a:prstGeom prst="rect">
            <a:avLst/>
          </a:prstGeom>
          <a:noFill/>
        </p:spPr>
        <p:txBody>
          <a:bodyPr wrap="square" anchor="t" lIns="0" rIns="0" tIns="0" bIns="0">
            <a:spAutoFit/>
          </a:bodyPr>
          <a:lstStyle/>
          <a:p>
            <a:pPr algn="l">
              <a:lnSpc>
                <a:spcPct val="100000"/>
              </a:lnSpc>
              <a:spcBef>
                <a:spcPts val="0"/>
              </a:spcBef>
              <a:spcAft>
                <a:spcPts val="400"/>
              </a:spcAft>
            </a:pPr>
            <a:r>
              <a:rPr sz="900" b="0" i="0">
                <a:solidFill>
                  <a:srgbClr val="8A94A6"/>
                </a:solidFill>
                <a:latin typeface="Calibri"/>
              </a:rPr>
              <a:t>COMP9444 · Group Project 047 · Breast Ultrasound (BUSI)</a:t>
            </a:r>
          </a:p>
        </p:txBody>
      </p:sp>
      <p:sp>
        <p:nvSpPr>
          <p:cNvPr id="9" name="TextBox 8"/>
          <p:cNvSpPr txBox="1"/>
          <p:nvPr/>
        </p:nvSpPr>
        <p:spPr>
          <a:xfrm>
            <a:off x="11064240" y="6473952"/>
            <a:ext cx="685800" cy="274320"/>
          </a:xfrm>
          <a:prstGeom prst="rect">
            <a:avLst/>
          </a:prstGeom>
          <a:noFill/>
        </p:spPr>
        <p:txBody>
          <a:bodyPr wrap="square" anchor="t" lIns="0" rIns="0" tIns="0" bIns="0">
            <a:spAutoFit/>
          </a:bodyPr>
          <a:lstStyle/>
          <a:p>
            <a:pPr algn="r">
              <a:lnSpc>
                <a:spcPct val="100000"/>
              </a:lnSpc>
              <a:spcBef>
                <a:spcPts val="0"/>
              </a:spcBef>
              <a:spcAft>
                <a:spcPts val="400"/>
              </a:spcAft>
            </a:pPr>
            <a:r>
              <a:rPr sz="900" b="1" i="0">
                <a:solidFill>
                  <a:srgbClr val="8A94A6"/>
                </a:solidFill>
                <a:latin typeface="Calibri"/>
              </a:rPr>
              <a:t>3</a:t>
            </a:r>
          </a:p>
        </p:txBody>
      </p:sp>
      <p:pic>
        <p:nvPicPr>
          <p:cNvPr id="10" name="Picture 9" descr="fig03_samples.png"/>
          <p:cNvPicPr>
            <a:picLocks noChangeAspect="1"/>
          </p:cNvPicPr>
          <p:nvPr/>
        </p:nvPicPr>
        <p:blipFill>
          <a:blip r:embed="rId2"/>
          <a:stretch>
            <a:fillRect/>
          </a:stretch>
        </p:blipFill>
        <p:spPr>
          <a:xfrm>
            <a:off x="1334551" y="1554480"/>
            <a:ext cx="6566337" cy="4480560"/>
          </a:xfrm>
          <a:prstGeom prst="rect">
            <a:avLst/>
          </a:prstGeom>
          <a:ln w="9525">
            <a:solidFill>
              <a:srgbClr val="CBD8DE"/>
            </a:solidFill>
          </a:ln>
        </p:spPr>
      </p:pic>
      <p:sp>
        <p:nvSpPr>
          <p:cNvPr id="11" name="Rounded Rectangle 10"/>
          <p:cNvSpPr/>
          <p:nvPr/>
        </p:nvSpPr>
        <p:spPr>
          <a:xfrm>
            <a:off x="8686800" y="1691640"/>
            <a:ext cx="2743200" cy="4206240"/>
          </a:xfrm>
          <a:prstGeom prst="roundRect">
            <a:avLst/>
          </a:prstGeom>
          <a:solidFill>
            <a:srgbClr val="F1F6F8"/>
          </a:solidFill>
          <a:ln w="9525">
            <a:solidFill>
              <a:srgbClr val="CBD8DE"/>
            </a:solidFill>
          </a:ln>
          <a:effectLst/>
          <a:effectLst>
            <a:outerShdw blurRad="90000" dist="38100" dir="5400000" rotWithShape="0">
              <a:srgbClr val="1B2A38">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887968" y="1874519"/>
            <a:ext cx="2377440" cy="365760"/>
          </a:xfrm>
          <a:prstGeom prst="rect">
            <a:avLst/>
          </a:prstGeom>
          <a:noFill/>
        </p:spPr>
        <p:txBody>
          <a:bodyPr wrap="square" anchor="t" lIns="0" rIns="0" tIns="0" bIns="0">
            <a:spAutoFit/>
          </a:bodyPr>
          <a:lstStyle/>
          <a:p>
            <a:pPr algn="l">
              <a:lnSpc>
                <a:spcPct val="100000"/>
              </a:lnSpc>
              <a:spcBef>
                <a:spcPts val="0"/>
              </a:spcBef>
              <a:spcAft>
                <a:spcPts val="400"/>
              </a:spcAft>
            </a:pPr>
            <a:r>
              <a:rPr sz="1350" b="1" i="0">
                <a:solidFill>
                  <a:srgbClr val="0E4D64"/>
                </a:solidFill>
                <a:latin typeface="Calibri"/>
              </a:rPr>
              <a:t>What makes it hard</a:t>
            </a:r>
          </a:p>
        </p:txBody>
      </p:sp>
      <p:sp>
        <p:nvSpPr>
          <p:cNvPr id="13" name="TextBox 12"/>
          <p:cNvSpPr txBox="1"/>
          <p:nvPr/>
        </p:nvSpPr>
        <p:spPr>
          <a:xfrm>
            <a:off x="8887968" y="2331720"/>
            <a:ext cx="2377440" cy="3566160"/>
          </a:xfrm>
          <a:prstGeom prst="rect">
            <a:avLst/>
          </a:prstGeom>
          <a:noFill/>
        </p:spPr>
        <p:txBody>
          <a:bodyPr wrap="square" lIns="0" rIns="0" tIns="0" bIns="0">
            <a:spAutoFit/>
          </a:bodyPr>
          <a:lstStyle/>
          <a:p>
            <a:pPr>
              <a:lnSpc>
                <a:spcPct val="102000"/>
              </a:lnSpc>
              <a:spcBef>
                <a:spcPts val="0"/>
              </a:spcBef>
              <a:spcAft>
                <a:spcPts val="900"/>
              </a:spcAft>
            </a:pPr>
            <a:r>
              <a:rPr sz="1200" b="1">
                <a:solidFill>
                  <a:srgbClr val="0E4D64"/>
                </a:solidFill>
                <a:latin typeface="Calibri"/>
              </a:rPr>
              <a:t>›  </a:t>
            </a:r>
            <a:r>
              <a:rPr sz="1200" b="0">
                <a:solidFill>
                  <a:srgbClr val="1B2A38"/>
                </a:solidFill>
                <a:latin typeface="Calibri"/>
              </a:rPr>
              <a:t>benign &amp; malignant masses overlap in look</a:t>
            </a:r>
          </a:p>
          <a:p>
            <a:pPr>
              <a:lnSpc>
                <a:spcPct val="102000"/>
              </a:lnSpc>
              <a:spcBef>
                <a:spcPts val="0"/>
              </a:spcBef>
              <a:spcAft>
                <a:spcPts val="900"/>
              </a:spcAft>
            </a:pPr>
            <a:r>
              <a:rPr sz="1200" b="1">
                <a:solidFill>
                  <a:srgbClr val="0E4D64"/>
                </a:solidFill>
                <a:latin typeface="Calibri"/>
              </a:rPr>
              <a:t>›  </a:t>
            </a:r>
            <a:r>
              <a:rPr sz="1200" b="0">
                <a:solidFill>
                  <a:srgbClr val="1B2A38"/>
                </a:solidFill>
                <a:latin typeface="Calibri"/>
              </a:rPr>
              <a:t>boundaries are fuzzy / low-contrast</a:t>
            </a:r>
          </a:p>
          <a:p>
            <a:pPr>
              <a:lnSpc>
                <a:spcPct val="102000"/>
              </a:lnSpc>
              <a:spcBef>
                <a:spcPts val="0"/>
              </a:spcBef>
              <a:spcAft>
                <a:spcPts val="900"/>
              </a:spcAft>
            </a:pPr>
            <a:r>
              <a:rPr sz="1200" b="1">
                <a:solidFill>
                  <a:srgbClr val="0E4D64"/>
                </a:solidFill>
                <a:latin typeface="Calibri"/>
              </a:rPr>
              <a:t>›  </a:t>
            </a:r>
            <a:r>
              <a:rPr sz="1200" b="0">
                <a:solidFill>
                  <a:srgbClr val="1B2A38"/>
                </a:solidFill>
                <a:latin typeface="Calibri"/>
              </a:rPr>
              <a:t>speckle noise + acoustic shadows</a:t>
            </a:r>
          </a:p>
          <a:p>
            <a:pPr>
              <a:lnSpc>
                <a:spcPct val="102000"/>
              </a:lnSpc>
              <a:spcBef>
                <a:spcPts val="0"/>
              </a:spcBef>
              <a:spcAft>
                <a:spcPts val="900"/>
              </a:spcAft>
            </a:pPr>
            <a:r>
              <a:rPr sz="1200" b="1">
                <a:solidFill>
                  <a:srgbClr val="0E4D64"/>
                </a:solidFill>
                <a:latin typeface="Calibri"/>
              </a:rPr>
              <a:t>›  </a:t>
            </a:r>
            <a:r>
              <a:rPr sz="1200" b="0">
                <a:solidFill>
                  <a:srgbClr val="1B2A38"/>
                </a:solidFill>
                <a:latin typeface="Calibri"/>
              </a:rPr>
              <a:t>annotation text baked into images</a:t>
            </a:r>
          </a:p>
          <a:p>
            <a:pPr>
              <a:lnSpc>
                <a:spcPct val="102000"/>
              </a:lnSpc>
              <a:spcBef>
                <a:spcPts val="0"/>
              </a:spcBef>
              <a:spcAft>
                <a:spcPts val="900"/>
              </a:spcAft>
            </a:pPr>
            <a:r>
              <a:rPr sz="1200" b="1">
                <a:solidFill>
                  <a:srgbClr val="0E4D64"/>
                </a:solidFill>
                <a:latin typeface="Calibri"/>
              </a:rPr>
              <a:t>›  </a:t>
            </a:r>
            <a:r>
              <a:rPr sz="1200" b="0">
                <a:solidFill>
                  <a:srgbClr val="1B2A38"/>
                </a:solidFill>
                <a:latin typeface="Calibri"/>
              </a:rPr>
              <a:t>normal = no lesion at all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 y="475488"/>
            <a:ext cx="118872" cy="658368"/>
          </a:xfrm>
          <a:prstGeom prst="rect">
            <a:avLst/>
          </a:prstGeom>
          <a:solidFill>
            <a:srgbClr val="1F8A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457200"/>
            <a:ext cx="10789920" cy="320040"/>
          </a:xfrm>
          <a:prstGeom prst="rect">
            <a:avLst/>
          </a:prstGeom>
          <a:noFill/>
        </p:spPr>
        <p:txBody>
          <a:bodyPr wrap="square" anchor="t" lIns="0" rIns="0" tIns="0" bIns="0">
            <a:spAutoFit/>
          </a:bodyPr>
          <a:lstStyle/>
          <a:p>
            <a:pPr algn="l">
              <a:lnSpc>
                <a:spcPct val="100000"/>
              </a:lnSpc>
              <a:spcBef>
                <a:spcPts val="0"/>
              </a:spcBef>
              <a:spcAft>
                <a:spcPts val="400"/>
              </a:spcAft>
            </a:pPr>
            <a:r>
              <a:rPr sz="1250" b="1" i="0">
                <a:solidFill>
                  <a:srgbClr val="1F8AA6"/>
                </a:solidFill>
                <a:latin typeface="Calibri"/>
              </a:rPr>
              <a:t>1 · LITERATURE REVIEW</a:t>
            </a:r>
          </a:p>
        </p:txBody>
      </p:sp>
      <p:sp>
        <p:nvSpPr>
          <p:cNvPr id="6" name="TextBox 5"/>
          <p:cNvSpPr txBox="1"/>
          <p:nvPr/>
        </p:nvSpPr>
        <p:spPr>
          <a:xfrm>
            <a:off x="777240" y="713232"/>
            <a:ext cx="10881360" cy="566928"/>
          </a:xfrm>
          <a:prstGeom prst="rect">
            <a:avLst/>
          </a:prstGeom>
          <a:noFill/>
        </p:spPr>
        <p:txBody>
          <a:bodyPr wrap="square" anchor="t" lIns="0" rIns="0" tIns="0" bIns="0">
            <a:spAutoFit/>
          </a:bodyPr>
          <a:lstStyle/>
          <a:p>
            <a:pPr algn="l">
              <a:lnSpc>
                <a:spcPct val="100000"/>
              </a:lnSpc>
              <a:spcBef>
                <a:spcPts val="0"/>
              </a:spcBef>
              <a:spcAft>
                <a:spcPts val="400"/>
              </a:spcAft>
            </a:pPr>
            <a:r>
              <a:rPr sz="2500" b="1" i="0">
                <a:solidFill>
                  <a:srgbClr val="1B2A38"/>
                </a:solidFill>
                <a:latin typeface="Calibri"/>
              </a:rPr>
              <a:t>Foundation: the three papers in the project brief</a:t>
            </a:r>
          </a:p>
        </p:txBody>
      </p:sp>
      <p:sp>
        <p:nvSpPr>
          <p:cNvPr id="7" name="Rectangle 6"/>
          <p:cNvSpPr/>
          <p:nvPr/>
        </p:nvSpPr>
        <p:spPr>
          <a:xfrm>
            <a:off x="777240" y="1316736"/>
            <a:ext cx="10634472" cy="18288"/>
          </a:xfrm>
          <a:prstGeom prst="rect">
            <a:avLst/>
          </a:prstGeom>
          <a:solidFill>
            <a:srgbClr val="CBD8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73952"/>
            <a:ext cx="7315200" cy="274320"/>
          </a:xfrm>
          <a:prstGeom prst="rect">
            <a:avLst/>
          </a:prstGeom>
          <a:noFill/>
        </p:spPr>
        <p:txBody>
          <a:bodyPr wrap="square" anchor="t" lIns="0" rIns="0" tIns="0" bIns="0">
            <a:spAutoFit/>
          </a:bodyPr>
          <a:lstStyle/>
          <a:p>
            <a:pPr algn="l">
              <a:lnSpc>
                <a:spcPct val="100000"/>
              </a:lnSpc>
              <a:spcBef>
                <a:spcPts val="0"/>
              </a:spcBef>
              <a:spcAft>
                <a:spcPts val="400"/>
              </a:spcAft>
            </a:pPr>
            <a:r>
              <a:rPr sz="900" b="0" i="0">
                <a:solidFill>
                  <a:srgbClr val="8A94A6"/>
                </a:solidFill>
                <a:latin typeface="Calibri"/>
              </a:rPr>
              <a:t>COMP9444 · Group Project 047 · Breast Ultrasound (BUSI)</a:t>
            </a:r>
          </a:p>
        </p:txBody>
      </p:sp>
      <p:sp>
        <p:nvSpPr>
          <p:cNvPr id="9" name="TextBox 8"/>
          <p:cNvSpPr txBox="1"/>
          <p:nvPr/>
        </p:nvSpPr>
        <p:spPr>
          <a:xfrm>
            <a:off x="11064240" y="6473952"/>
            <a:ext cx="685800" cy="274320"/>
          </a:xfrm>
          <a:prstGeom prst="rect">
            <a:avLst/>
          </a:prstGeom>
          <a:noFill/>
        </p:spPr>
        <p:txBody>
          <a:bodyPr wrap="square" anchor="t" lIns="0" rIns="0" tIns="0" bIns="0">
            <a:spAutoFit/>
          </a:bodyPr>
          <a:lstStyle/>
          <a:p>
            <a:pPr algn="r">
              <a:lnSpc>
                <a:spcPct val="100000"/>
              </a:lnSpc>
              <a:spcBef>
                <a:spcPts val="0"/>
              </a:spcBef>
              <a:spcAft>
                <a:spcPts val="400"/>
              </a:spcAft>
            </a:pPr>
            <a:r>
              <a:rPr sz="900" b="1" i="0">
                <a:solidFill>
                  <a:srgbClr val="8A94A6"/>
                </a:solidFill>
                <a:latin typeface="Calibri"/>
              </a:rPr>
              <a:t>4</a:t>
            </a:r>
          </a:p>
        </p:txBody>
      </p:sp>
      <p:sp>
        <p:nvSpPr>
          <p:cNvPr id="10" name="Rounded Rectangle 9"/>
          <p:cNvSpPr/>
          <p:nvPr/>
        </p:nvSpPr>
        <p:spPr>
          <a:xfrm>
            <a:off x="777240" y="1691640"/>
            <a:ext cx="3401568" cy="2880360"/>
          </a:xfrm>
          <a:prstGeom prst="roundRect">
            <a:avLst/>
          </a:prstGeom>
          <a:solidFill>
            <a:srgbClr val="F1F6F8"/>
          </a:solidFill>
          <a:ln w="9525">
            <a:solidFill>
              <a:srgbClr val="CBD8DE"/>
            </a:solidFill>
          </a:ln>
          <a:effectLst/>
          <a:effectLst>
            <a:outerShdw blurRad="90000" dist="38100" dir="5400000" rotWithShape="0">
              <a:srgbClr val="1B2A38">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77240" y="1691640"/>
            <a:ext cx="3401568" cy="566928"/>
          </a:xfrm>
          <a:prstGeom prst="roundRect">
            <a:avLst/>
          </a:prstGeom>
          <a:solidFill>
            <a:srgbClr val="3AA6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2011680"/>
            <a:ext cx="3401568" cy="246888"/>
          </a:xfrm>
          <a:prstGeom prst="rect">
            <a:avLst/>
          </a:prstGeom>
          <a:solidFill>
            <a:srgbClr val="3AA6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78408" y="1737360"/>
            <a:ext cx="3035808" cy="457200"/>
          </a:xfrm>
          <a:prstGeom prst="rect">
            <a:avLst/>
          </a:prstGeom>
          <a:noFill/>
        </p:spPr>
        <p:txBody>
          <a:bodyPr wrap="square" anchor="ctr" lIns="0" rIns="0" tIns="0" bIns="0">
            <a:spAutoFit/>
          </a:bodyPr>
          <a:lstStyle/>
          <a:p>
            <a:pPr algn="l">
              <a:lnSpc>
                <a:spcPct val="100000"/>
              </a:lnSpc>
              <a:spcBef>
                <a:spcPts val="0"/>
              </a:spcBef>
              <a:spcAft>
                <a:spcPts val="400"/>
              </a:spcAft>
            </a:pPr>
            <a:r>
              <a:rPr sz="1500" b="1" i="0">
                <a:solidFill>
                  <a:srgbClr val="FFFFFF"/>
                </a:solidFill>
                <a:latin typeface="Calibri"/>
              </a:rPr>
              <a:t>[1] BUSI dataset</a:t>
            </a:r>
          </a:p>
        </p:txBody>
      </p:sp>
      <p:sp>
        <p:nvSpPr>
          <p:cNvPr id="14" name="TextBox 13"/>
          <p:cNvSpPr txBox="1"/>
          <p:nvPr/>
        </p:nvSpPr>
        <p:spPr>
          <a:xfrm>
            <a:off x="978408" y="2377440"/>
            <a:ext cx="2999232" cy="365760"/>
          </a:xfrm>
          <a:prstGeom prst="rect">
            <a:avLst/>
          </a:prstGeom>
          <a:noFill/>
        </p:spPr>
        <p:txBody>
          <a:bodyPr wrap="square" anchor="t" lIns="0" rIns="0" tIns="0" bIns="0">
            <a:spAutoFit/>
          </a:bodyPr>
          <a:lstStyle/>
          <a:p>
            <a:pPr algn="l">
              <a:lnSpc>
                <a:spcPct val="100000"/>
              </a:lnSpc>
              <a:spcBef>
                <a:spcPts val="0"/>
              </a:spcBef>
              <a:spcAft>
                <a:spcPts val="400"/>
              </a:spcAft>
            </a:pPr>
            <a:r>
              <a:rPr sz="1200" b="1" i="1">
                <a:solidFill>
                  <a:srgbClr val="45596B"/>
                </a:solidFill>
                <a:latin typeface="Calibri"/>
              </a:rPr>
              <a:t>Al-Dhabyani et al., 2020</a:t>
            </a:r>
          </a:p>
        </p:txBody>
      </p:sp>
      <p:sp>
        <p:nvSpPr>
          <p:cNvPr id="15" name="TextBox 14"/>
          <p:cNvSpPr txBox="1"/>
          <p:nvPr/>
        </p:nvSpPr>
        <p:spPr>
          <a:xfrm>
            <a:off x="978408" y="2788920"/>
            <a:ext cx="2999232" cy="1645920"/>
          </a:xfrm>
          <a:prstGeom prst="rect">
            <a:avLst/>
          </a:prstGeom>
          <a:noFill/>
        </p:spPr>
        <p:txBody>
          <a:bodyPr wrap="square" anchor="t" lIns="0" rIns="0" tIns="0" bIns="0">
            <a:spAutoFit/>
          </a:bodyPr>
          <a:lstStyle/>
          <a:p>
            <a:pPr algn="l">
              <a:lnSpc>
                <a:spcPct val="112000"/>
              </a:lnSpc>
              <a:spcBef>
                <a:spcPts val="0"/>
              </a:spcBef>
              <a:spcAft>
                <a:spcPts val="400"/>
              </a:spcAft>
            </a:pPr>
            <a:r>
              <a:rPr sz="1300" b="0" i="0">
                <a:solidFill>
                  <a:srgbClr val="1B2A38"/>
                </a:solidFill>
                <a:latin typeface="Calibri"/>
              </a:rPr>
              <a:t>780 images, 3 classes + ground-truth masks. The de-facto benchmark; small, so augmentation matters.</a:t>
            </a:r>
          </a:p>
        </p:txBody>
      </p:sp>
      <p:sp>
        <p:nvSpPr>
          <p:cNvPr id="16" name="Rounded Rectangle 15"/>
          <p:cNvSpPr/>
          <p:nvPr/>
        </p:nvSpPr>
        <p:spPr>
          <a:xfrm>
            <a:off x="4398264" y="1691640"/>
            <a:ext cx="3401568" cy="2880360"/>
          </a:xfrm>
          <a:prstGeom prst="roundRect">
            <a:avLst/>
          </a:prstGeom>
          <a:solidFill>
            <a:srgbClr val="F1F6F8"/>
          </a:solidFill>
          <a:ln w="9525">
            <a:solidFill>
              <a:srgbClr val="CBD8DE"/>
            </a:solidFill>
          </a:ln>
          <a:effectLst/>
          <a:effectLst>
            <a:outerShdw blurRad="90000" dist="38100" dir="5400000" rotWithShape="0">
              <a:srgbClr val="1B2A38">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4398264" y="1691640"/>
            <a:ext cx="3401568" cy="566928"/>
          </a:xfrm>
          <a:prstGeom prst="roundRect">
            <a:avLst/>
          </a:prstGeom>
          <a:solidFill>
            <a:srgbClr val="1F8A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398264" y="2011680"/>
            <a:ext cx="3401568" cy="246888"/>
          </a:xfrm>
          <a:prstGeom prst="rect">
            <a:avLst/>
          </a:prstGeom>
          <a:solidFill>
            <a:srgbClr val="1F8A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99431" y="1737360"/>
            <a:ext cx="3035808" cy="457200"/>
          </a:xfrm>
          <a:prstGeom prst="rect">
            <a:avLst/>
          </a:prstGeom>
          <a:noFill/>
        </p:spPr>
        <p:txBody>
          <a:bodyPr wrap="square" anchor="ctr" lIns="0" rIns="0" tIns="0" bIns="0">
            <a:spAutoFit/>
          </a:bodyPr>
          <a:lstStyle/>
          <a:p>
            <a:pPr algn="l">
              <a:lnSpc>
                <a:spcPct val="100000"/>
              </a:lnSpc>
              <a:spcBef>
                <a:spcPts val="0"/>
              </a:spcBef>
              <a:spcAft>
                <a:spcPts val="400"/>
              </a:spcAft>
            </a:pPr>
            <a:r>
              <a:rPr sz="1500" b="1" i="0">
                <a:solidFill>
                  <a:srgbClr val="FFFFFF"/>
                </a:solidFill>
                <a:latin typeface="Calibri"/>
              </a:rPr>
              <a:t>[2] Yap et al.</a:t>
            </a:r>
          </a:p>
        </p:txBody>
      </p:sp>
      <p:sp>
        <p:nvSpPr>
          <p:cNvPr id="20" name="TextBox 19"/>
          <p:cNvSpPr txBox="1"/>
          <p:nvPr/>
        </p:nvSpPr>
        <p:spPr>
          <a:xfrm>
            <a:off x="4599431" y="2377440"/>
            <a:ext cx="2999232" cy="365760"/>
          </a:xfrm>
          <a:prstGeom prst="rect">
            <a:avLst/>
          </a:prstGeom>
          <a:noFill/>
        </p:spPr>
        <p:txBody>
          <a:bodyPr wrap="square" anchor="t" lIns="0" rIns="0" tIns="0" bIns="0">
            <a:spAutoFit/>
          </a:bodyPr>
          <a:lstStyle/>
          <a:p>
            <a:pPr algn="l">
              <a:lnSpc>
                <a:spcPct val="100000"/>
              </a:lnSpc>
              <a:spcBef>
                <a:spcPts val="0"/>
              </a:spcBef>
              <a:spcAft>
                <a:spcPts val="400"/>
              </a:spcAft>
            </a:pPr>
            <a:r>
              <a:rPr sz="1200" b="1" i="1">
                <a:solidFill>
                  <a:srgbClr val="45596B"/>
                </a:solidFill>
                <a:latin typeface="Calibri"/>
              </a:rPr>
              <a:t>CNN lesion detection, 2018</a:t>
            </a:r>
          </a:p>
        </p:txBody>
      </p:sp>
      <p:sp>
        <p:nvSpPr>
          <p:cNvPr id="21" name="TextBox 20"/>
          <p:cNvSpPr txBox="1"/>
          <p:nvPr/>
        </p:nvSpPr>
        <p:spPr>
          <a:xfrm>
            <a:off x="4599431" y="2788920"/>
            <a:ext cx="2999232" cy="1645920"/>
          </a:xfrm>
          <a:prstGeom prst="rect">
            <a:avLst/>
          </a:prstGeom>
          <a:noFill/>
        </p:spPr>
        <p:txBody>
          <a:bodyPr wrap="square" anchor="t" lIns="0" rIns="0" tIns="0" bIns="0">
            <a:spAutoFit/>
          </a:bodyPr>
          <a:lstStyle/>
          <a:p>
            <a:pPr algn="l">
              <a:lnSpc>
                <a:spcPct val="112000"/>
              </a:lnSpc>
              <a:spcBef>
                <a:spcPts val="0"/>
              </a:spcBef>
              <a:spcAft>
                <a:spcPts val="400"/>
              </a:spcAft>
            </a:pPr>
            <a:r>
              <a:rPr sz="1300" b="0" i="0">
                <a:solidFill>
                  <a:srgbClr val="1B2A38"/>
                </a:solidFill>
                <a:latin typeface="Calibri"/>
              </a:rPr>
              <a:t>First deep BUS study: patch-LeNet vs. U-Net vs. transfer-learned FCN-AlexNet (FCN best).</a:t>
            </a:r>
          </a:p>
        </p:txBody>
      </p:sp>
      <p:sp>
        <p:nvSpPr>
          <p:cNvPr id="22" name="Rounded Rectangle 21"/>
          <p:cNvSpPr/>
          <p:nvPr/>
        </p:nvSpPr>
        <p:spPr>
          <a:xfrm>
            <a:off x="8019288" y="1691640"/>
            <a:ext cx="3401568" cy="2880360"/>
          </a:xfrm>
          <a:prstGeom prst="roundRect">
            <a:avLst/>
          </a:prstGeom>
          <a:solidFill>
            <a:srgbClr val="F1F6F8"/>
          </a:solidFill>
          <a:ln w="9525">
            <a:solidFill>
              <a:srgbClr val="CBD8DE"/>
            </a:solidFill>
          </a:ln>
          <a:effectLst/>
          <a:effectLst>
            <a:outerShdw blurRad="90000" dist="38100" dir="5400000" rotWithShape="0">
              <a:srgbClr val="1B2A38">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019288" y="1691640"/>
            <a:ext cx="3401568" cy="566928"/>
          </a:xfrm>
          <a:prstGeom prst="round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019288" y="2011680"/>
            <a:ext cx="3401568" cy="246888"/>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20456" y="1737360"/>
            <a:ext cx="3035808" cy="457200"/>
          </a:xfrm>
          <a:prstGeom prst="rect">
            <a:avLst/>
          </a:prstGeom>
          <a:noFill/>
        </p:spPr>
        <p:txBody>
          <a:bodyPr wrap="square" anchor="ctr" lIns="0" rIns="0" tIns="0" bIns="0">
            <a:spAutoFit/>
          </a:bodyPr>
          <a:lstStyle/>
          <a:p>
            <a:pPr algn="l">
              <a:lnSpc>
                <a:spcPct val="100000"/>
              </a:lnSpc>
              <a:spcBef>
                <a:spcPts val="0"/>
              </a:spcBef>
              <a:spcAft>
                <a:spcPts val="400"/>
              </a:spcAft>
            </a:pPr>
            <a:r>
              <a:rPr sz="1500" b="1" i="0">
                <a:solidFill>
                  <a:srgbClr val="FFFFFF"/>
                </a:solidFill>
                <a:latin typeface="Calibri"/>
              </a:rPr>
              <a:t>[3] U-Net</a:t>
            </a:r>
          </a:p>
        </p:txBody>
      </p:sp>
      <p:sp>
        <p:nvSpPr>
          <p:cNvPr id="26" name="TextBox 25"/>
          <p:cNvSpPr txBox="1"/>
          <p:nvPr/>
        </p:nvSpPr>
        <p:spPr>
          <a:xfrm>
            <a:off x="8220456" y="2377440"/>
            <a:ext cx="2999232" cy="365760"/>
          </a:xfrm>
          <a:prstGeom prst="rect">
            <a:avLst/>
          </a:prstGeom>
          <a:noFill/>
        </p:spPr>
        <p:txBody>
          <a:bodyPr wrap="square" anchor="t" lIns="0" rIns="0" tIns="0" bIns="0">
            <a:spAutoFit/>
          </a:bodyPr>
          <a:lstStyle/>
          <a:p>
            <a:pPr algn="l">
              <a:lnSpc>
                <a:spcPct val="100000"/>
              </a:lnSpc>
              <a:spcBef>
                <a:spcPts val="0"/>
              </a:spcBef>
              <a:spcAft>
                <a:spcPts val="400"/>
              </a:spcAft>
            </a:pPr>
            <a:r>
              <a:rPr sz="1200" b="1" i="1">
                <a:solidFill>
                  <a:srgbClr val="45596B"/>
                </a:solidFill>
                <a:latin typeface="Calibri"/>
              </a:rPr>
              <a:t>Ronneberger et al., 2015</a:t>
            </a:r>
          </a:p>
        </p:txBody>
      </p:sp>
      <p:sp>
        <p:nvSpPr>
          <p:cNvPr id="27" name="TextBox 26"/>
          <p:cNvSpPr txBox="1"/>
          <p:nvPr/>
        </p:nvSpPr>
        <p:spPr>
          <a:xfrm>
            <a:off x="8220456" y="2788920"/>
            <a:ext cx="2999232" cy="1645920"/>
          </a:xfrm>
          <a:prstGeom prst="rect">
            <a:avLst/>
          </a:prstGeom>
          <a:noFill/>
        </p:spPr>
        <p:txBody>
          <a:bodyPr wrap="square" anchor="t" lIns="0" rIns="0" tIns="0" bIns="0">
            <a:spAutoFit/>
          </a:bodyPr>
          <a:lstStyle/>
          <a:p>
            <a:pPr algn="l">
              <a:lnSpc>
                <a:spcPct val="112000"/>
              </a:lnSpc>
              <a:spcBef>
                <a:spcPts val="0"/>
              </a:spcBef>
              <a:spcAft>
                <a:spcPts val="400"/>
              </a:spcAft>
            </a:pPr>
            <a:r>
              <a:rPr sz="1300" b="0" i="0">
                <a:solidFill>
                  <a:srgbClr val="1B2A38"/>
                </a:solidFill>
                <a:latin typeface="Calibri"/>
              </a:rPr>
              <a:t>Encoder–decoder with skip connections — the foundational biomedical segmentation net.</a:t>
            </a:r>
          </a:p>
        </p:txBody>
      </p:sp>
      <p:sp>
        <p:nvSpPr>
          <p:cNvPr id="28" name="Rounded Rectangle 27"/>
          <p:cNvSpPr/>
          <p:nvPr/>
        </p:nvSpPr>
        <p:spPr>
          <a:xfrm>
            <a:off x="777240" y="4892040"/>
            <a:ext cx="10634472" cy="960120"/>
          </a:xfrm>
          <a:prstGeom prst="roundRect">
            <a:avLst/>
          </a:prstGeom>
          <a:solidFill>
            <a:srgbClr val="E6EF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05840" y="5029200"/>
            <a:ext cx="10149840" cy="731520"/>
          </a:xfrm>
          <a:prstGeom prst="rect">
            <a:avLst/>
          </a:prstGeom>
          <a:noFill/>
        </p:spPr>
        <p:txBody>
          <a:bodyPr wrap="square" anchor="ctr" lIns="0" rIns="0" tIns="0" bIns="0">
            <a:spAutoFit/>
          </a:bodyPr>
          <a:lstStyle/>
          <a:p>
            <a:pPr algn="l">
              <a:lnSpc>
                <a:spcPct val="110000"/>
              </a:lnSpc>
              <a:spcBef>
                <a:spcPts val="0"/>
              </a:spcBef>
              <a:spcAft>
                <a:spcPts val="400"/>
              </a:spcAft>
            </a:pPr>
            <a:r>
              <a:rPr sz="1350" b="1" i="0">
                <a:solidFill>
                  <a:srgbClr val="1B2A38"/>
                </a:solidFill>
                <a:latin typeface="Calibri"/>
              </a:rPr>
              <a:t>These three define our required reproductions. </a:t>
            </a:r>
            <a:r>
              <a:rPr sz="1350" b="0" i="0">
                <a:solidFill>
                  <a:srgbClr val="0E4D64"/>
                </a:solidFill>
                <a:latin typeface="Calibri"/>
              </a:rPr>
              <a:t>We reproduce all three (U-Net, patch-LeNet, FCN-AlexNet) — then go far beyond them.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 y="475488"/>
            <a:ext cx="118872" cy="658368"/>
          </a:xfrm>
          <a:prstGeom prst="rect">
            <a:avLst/>
          </a:prstGeom>
          <a:solidFill>
            <a:srgbClr val="1F8A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457200"/>
            <a:ext cx="10789920" cy="320040"/>
          </a:xfrm>
          <a:prstGeom prst="rect">
            <a:avLst/>
          </a:prstGeom>
          <a:noFill/>
        </p:spPr>
        <p:txBody>
          <a:bodyPr wrap="square" anchor="t" lIns="0" rIns="0" tIns="0" bIns="0">
            <a:spAutoFit/>
          </a:bodyPr>
          <a:lstStyle/>
          <a:p>
            <a:pPr algn="l">
              <a:lnSpc>
                <a:spcPct val="100000"/>
              </a:lnSpc>
              <a:spcBef>
                <a:spcPts val="0"/>
              </a:spcBef>
              <a:spcAft>
                <a:spcPts val="400"/>
              </a:spcAft>
            </a:pPr>
            <a:r>
              <a:rPr sz="1250" b="1" i="0">
                <a:solidFill>
                  <a:srgbClr val="1F8AA6"/>
                </a:solidFill>
                <a:latin typeface="Calibri"/>
              </a:rPr>
              <a:t>1 · LITERATURE REVIEW</a:t>
            </a:r>
          </a:p>
        </p:txBody>
      </p:sp>
      <p:sp>
        <p:nvSpPr>
          <p:cNvPr id="6" name="TextBox 5"/>
          <p:cNvSpPr txBox="1"/>
          <p:nvPr/>
        </p:nvSpPr>
        <p:spPr>
          <a:xfrm>
            <a:off x="777240" y="713232"/>
            <a:ext cx="10881360" cy="566928"/>
          </a:xfrm>
          <a:prstGeom prst="rect">
            <a:avLst/>
          </a:prstGeom>
          <a:noFill/>
        </p:spPr>
        <p:txBody>
          <a:bodyPr wrap="square" anchor="t" lIns="0" rIns="0" tIns="0" bIns="0">
            <a:spAutoFit/>
          </a:bodyPr>
          <a:lstStyle/>
          <a:p>
            <a:pPr algn="l">
              <a:lnSpc>
                <a:spcPct val="100000"/>
              </a:lnSpc>
              <a:spcBef>
                <a:spcPts val="0"/>
              </a:spcBef>
              <a:spcAft>
                <a:spcPts val="400"/>
              </a:spcAft>
            </a:pPr>
            <a:r>
              <a:rPr sz="2500" b="1" i="0">
                <a:solidFill>
                  <a:srgbClr val="1B2A38"/>
                </a:solidFill>
                <a:latin typeface="Calibri"/>
              </a:rPr>
              <a:t>The architecture landscape we drew from</a:t>
            </a:r>
          </a:p>
        </p:txBody>
      </p:sp>
      <p:sp>
        <p:nvSpPr>
          <p:cNvPr id="7" name="Rectangle 6"/>
          <p:cNvSpPr/>
          <p:nvPr/>
        </p:nvSpPr>
        <p:spPr>
          <a:xfrm>
            <a:off x="777240" y="1316736"/>
            <a:ext cx="10634472" cy="18288"/>
          </a:xfrm>
          <a:prstGeom prst="rect">
            <a:avLst/>
          </a:prstGeom>
          <a:solidFill>
            <a:srgbClr val="CBD8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73952"/>
            <a:ext cx="7315200" cy="274320"/>
          </a:xfrm>
          <a:prstGeom prst="rect">
            <a:avLst/>
          </a:prstGeom>
          <a:noFill/>
        </p:spPr>
        <p:txBody>
          <a:bodyPr wrap="square" anchor="t" lIns="0" rIns="0" tIns="0" bIns="0">
            <a:spAutoFit/>
          </a:bodyPr>
          <a:lstStyle/>
          <a:p>
            <a:pPr algn="l">
              <a:lnSpc>
                <a:spcPct val="100000"/>
              </a:lnSpc>
              <a:spcBef>
                <a:spcPts val="0"/>
              </a:spcBef>
              <a:spcAft>
                <a:spcPts val="400"/>
              </a:spcAft>
            </a:pPr>
            <a:r>
              <a:rPr sz="900" b="0" i="0">
                <a:solidFill>
                  <a:srgbClr val="8A94A6"/>
                </a:solidFill>
                <a:latin typeface="Calibri"/>
              </a:rPr>
              <a:t>COMP9444 · Group Project 047 · Breast Ultrasound (BUSI)</a:t>
            </a:r>
          </a:p>
        </p:txBody>
      </p:sp>
      <p:sp>
        <p:nvSpPr>
          <p:cNvPr id="9" name="TextBox 8"/>
          <p:cNvSpPr txBox="1"/>
          <p:nvPr/>
        </p:nvSpPr>
        <p:spPr>
          <a:xfrm>
            <a:off x="11064240" y="6473952"/>
            <a:ext cx="685800" cy="274320"/>
          </a:xfrm>
          <a:prstGeom prst="rect">
            <a:avLst/>
          </a:prstGeom>
          <a:noFill/>
        </p:spPr>
        <p:txBody>
          <a:bodyPr wrap="square" anchor="t" lIns="0" rIns="0" tIns="0" bIns="0">
            <a:spAutoFit/>
          </a:bodyPr>
          <a:lstStyle/>
          <a:p>
            <a:pPr algn="r">
              <a:lnSpc>
                <a:spcPct val="100000"/>
              </a:lnSpc>
              <a:spcBef>
                <a:spcPts val="0"/>
              </a:spcBef>
              <a:spcAft>
                <a:spcPts val="400"/>
              </a:spcAft>
            </a:pPr>
            <a:r>
              <a:rPr sz="900" b="1" i="0">
                <a:solidFill>
                  <a:srgbClr val="8A94A6"/>
                </a:solidFill>
                <a:latin typeface="Calibri"/>
              </a:rPr>
              <a:t>5</a:t>
            </a:r>
          </a:p>
        </p:txBody>
      </p:sp>
      <p:sp>
        <p:nvSpPr>
          <p:cNvPr id="10" name="Rounded Rectangle 9"/>
          <p:cNvSpPr/>
          <p:nvPr/>
        </p:nvSpPr>
        <p:spPr>
          <a:xfrm>
            <a:off x="777240" y="1645920"/>
            <a:ext cx="5212080" cy="4343400"/>
          </a:xfrm>
          <a:prstGeom prst="roundRect">
            <a:avLst/>
          </a:prstGeom>
          <a:solidFill>
            <a:srgbClr val="F1F6F8"/>
          </a:solidFill>
          <a:ln w="9525">
            <a:solidFill>
              <a:srgbClr val="CBD8DE"/>
            </a:solidFill>
          </a:ln>
          <a:effectLst/>
          <a:effectLst>
            <a:outerShdw blurRad="90000" dist="38100" dir="5400000" rotWithShape="0">
              <a:srgbClr val="1B2A38">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1828800"/>
            <a:ext cx="4754880" cy="365760"/>
          </a:xfrm>
          <a:prstGeom prst="rect">
            <a:avLst/>
          </a:prstGeom>
          <a:noFill/>
        </p:spPr>
        <p:txBody>
          <a:bodyPr wrap="square" anchor="t" lIns="0" rIns="0" tIns="0" bIns="0">
            <a:spAutoFit/>
          </a:bodyPr>
          <a:lstStyle/>
          <a:p>
            <a:pPr algn="l">
              <a:lnSpc>
                <a:spcPct val="100000"/>
              </a:lnSpc>
              <a:spcBef>
                <a:spcPts val="0"/>
              </a:spcBef>
              <a:spcAft>
                <a:spcPts val="400"/>
              </a:spcAft>
            </a:pPr>
            <a:r>
              <a:rPr sz="1350" b="1" i="0">
                <a:solidFill>
                  <a:srgbClr val="0E4D64"/>
                </a:solidFill>
                <a:latin typeface="Calibri"/>
              </a:rPr>
              <a:t>CLASSIFICATION BACKBONES</a:t>
            </a:r>
          </a:p>
        </p:txBody>
      </p:sp>
      <p:sp>
        <p:nvSpPr>
          <p:cNvPr id="12" name="TextBox 11"/>
          <p:cNvSpPr txBox="1"/>
          <p:nvPr/>
        </p:nvSpPr>
        <p:spPr>
          <a:xfrm>
            <a:off x="1005840" y="2286000"/>
            <a:ext cx="4754880" cy="3657600"/>
          </a:xfrm>
          <a:prstGeom prst="rect">
            <a:avLst/>
          </a:prstGeom>
          <a:noFill/>
        </p:spPr>
        <p:txBody>
          <a:bodyPr wrap="square" lIns="0" rIns="0" tIns="0" bIns="0">
            <a:spAutoFit/>
          </a:bodyPr>
          <a:lstStyle/>
          <a:p>
            <a:pPr>
              <a:lnSpc>
                <a:spcPct val="102000"/>
              </a:lnSpc>
              <a:spcBef>
                <a:spcPts val="0"/>
              </a:spcBef>
              <a:spcAft>
                <a:spcPts val="1000"/>
              </a:spcAft>
            </a:pPr>
            <a:r>
              <a:rPr sz="1300" b="1">
                <a:solidFill>
                  <a:srgbClr val="0E4D64"/>
                </a:solidFill>
                <a:latin typeface="Calibri"/>
              </a:rPr>
              <a:t>•  </a:t>
            </a:r>
            <a:r>
              <a:rPr sz="1300" b="1">
                <a:solidFill>
                  <a:srgbClr val="0E4D64"/>
                </a:solidFill>
                <a:latin typeface="Calibri"/>
              </a:rPr>
              <a:t>ResNet [4]: </a:t>
            </a:r>
            <a:r>
              <a:rPr sz="1300" b="0">
                <a:solidFill>
                  <a:srgbClr val="1B2A38"/>
                </a:solidFill>
                <a:latin typeface="Calibri"/>
              </a:rPr>
              <a:t>residual shortcuts → very deep nets trainable (ILSVRC'15).</a:t>
            </a:r>
          </a:p>
          <a:p>
            <a:pPr>
              <a:lnSpc>
                <a:spcPct val="102000"/>
              </a:lnSpc>
              <a:spcBef>
                <a:spcPts val="0"/>
              </a:spcBef>
              <a:spcAft>
                <a:spcPts val="1000"/>
              </a:spcAft>
            </a:pPr>
            <a:r>
              <a:rPr sz="1300" b="1">
                <a:solidFill>
                  <a:srgbClr val="0E4D64"/>
                </a:solidFill>
                <a:latin typeface="Calibri"/>
              </a:rPr>
              <a:t>•  </a:t>
            </a:r>
            <a:r>
              <a:rPr sz="1300" b="1">
                <a:solidFill>
                  <a:srgbClr val="0E4D64"/>
                </a:solidFill>
                <a:latin typeface="Calibri"/>
              </a:rPr>
              <a:t>DenseNet [5]: </a:t>
            </a:r>
            <a:r>
              <a:rPr sz="1300" b="0">
                <a:solidFill>
                  <a:srgbClr val="1B2A38"/>
                </a:solidFill>
                <a:latin typeface="Calibri"/>
              </a:rPr>
              <a:t>dense connectivity → feature reuse, parameter-efficient, good on small data.</a:t>
            </a:r>
          </a:p>
          <a:p>
            <a:pPr>
              <a:lnSpc>
                <a:spcPct val="102000"/>
              </a:lnSpc>
              <a:spcBef>
                <a:spcPts val="0"/>
              </a:spcBef>
              <a:spcAft>
                <a:spcPts val="1000"/>
              </a:spcAft>
            </a:pPr>
            <a:r>
              <a:rPr sz="1300" b="1">
                <a:solidFill>
                  <a:srgbClr val="0E4D64"/>
                </a:solidFill>
                <a:latin typeface="Calibri"/>
              </a:rPr>
              <a:t>•  </a:t>
            </a:r>
            <a:r>
              <a:rPr sz="1300" b="1">
                <a:solidFill>
                  <a:srgbClr val="0E4D64"/>
                </a:solidFill>
                <a:latin typeface="Calibri"/>
              </a:rPr>
              <a:t>EfficientNet [6]: </a:t>
            </a:r>
            <a:r>
              <a:rPr sz="1300" b="0">
                <a:solidFill>
                  <a:srgbClr val="1B2A38"/>
                </a:solidFill>
                <a:latin typeface="Calibri"/>
              </a:rPr>
              <a:t>compound depth/width/resolution scaling; small variants transfer well.</a:t>
            </a:r>
          </a:p>
          <a:p>
            <a:pPr>
              <a:lnSpc>
                <a:spcPct val="102000"/>
              </a:lnSpc>
              <a:spcBef>
                <a:spcPts val="0"/>
              </a:spcBef>
              <a:spcAft>
                <a:spcPts val="1000"/>
              </a:spcAft>
            </a:pPr>
            <a:r>
              <a:rPr sz="1300" b="1">
                <a:solidFill>
                  <a:srgbClr val="0E4D64"/>
                </a:solidFill>
                <a:latin typeface="Calibri"/>
              </a:rPr>
              <a:t>•  </a:t>
            </a:r>
            <a:r>
              <a:rPr sz="1300" b="1">
                <a:solidFill>
                  <a:srgbClr val="0E4D64"/>
                </a:solidFill>
                <a:latin typeface="Calibri"/>
              </a:rPr>
              <a:t>Note: </a:t>
            </a:r>
            <a:r>
              <a:rPr sz="1300" b="0">
                <a:solidFill>
                  <a:srgbClr val="1B2A38"/>
                </a:solidFill>
                <a:latin typeface="Calibri"/>
              </a:rPr>
              <a:t>Grad-CAM for interpretable heatmaps; caution on 'near-perfect' BUSI numbers (leakage).</a:t>
            </a:r>
          </a:p>
        </p:txBody>
      </p:sp>
      <p:sp>
        <p:nvSpPr>
          <p:cNvPr id="13" name="Rounded Rectangle 12"/>
          <p:cNvSpPr/>
          <p:nvPr/>
        </p:nvSpPr>
        <p:spPr>
          <a:xfrm>
            <a:off x="6172200" y="1645920"/>
            <a:ext cx="5257800" cy="4343400"/>
          </a:xfrm>
          <a:prstGeom prst="roundRect">
            <a:avLst/>
          </a:prstGeom>
          <a:solidFill>
            <a:srgbClr val="F1F6F8"/>
          </a:solidFill>
          <a:ln w="9525">
            <a:solidFill>
              <a:srgbClr val="CBD8DE"/>
            </a:solidFill>
          </a:ln>
          <a:effectLst/>
          <a:effectLst>
            <a:outerShdw blurRad="90000" dist="38100" dir="5400000" rotWithShape="0">
              <a:srgbClr val="1B2A38">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0" y="1828800"/>
            <a:ext cx="4846320" cy="365760"/>
          </a:xfrm>
          <a:prstGeom prst="rect">
            <a:avLst/>
          </a:prstGeom>
          <a:noFill/>
        </p:spPr>
        <p:txBody>
          <a:bodyPr wrap="square" anchor="t" lIns="0" rIns="0" tIns="0" bIns="0">
            <a:spAutoFit/>
          </a:bodyPr>
          <a:lstStyle/>
          <a:p>
            <a:pPr algn="l">
              <a:lnSpc>
                <a:spcPct val="100000"/>
              </a:lnSpc>
              <a:spcBef>
                <a:spcPts val="0"/>
              </a:spcBef>
              <a:spcAft>
                <a:spcPts val="400"/>
              </a:spcAft>
            </a:pPr>
            <a:r>
              <a:rPr sz="1350" b="1" i="0">
                <a:solidFill>
                  <a:srgbClr val="0E4D64"/>
                </a:solidFill>
                <a:latin typeface="Calibri"/>
              </a:rPr>
              <a:t>SEGMENTATION ARCHITECTURES</a:t>
            </a:r>
          </a:p>
        </p:txBody>
      </p:sp>
      <p:sp>
        <p:nvSpPr>
          <p:cNvPr id="15" name="TextBox 14"/>
          <p:cNvSpPr txBox="1"/>
          <p:nvPr/>
        </p:nvSpPr>
        <p:spPr>
          <a:xfrm>
            <a:off x="6400800" y="2286000"/>
            <a:ext cx="4846320" cy="3657600"/>
          </a:xfrm>
          <a:prstGeom prst="rect">
            <a:avLst/>
          </a:prstGeom>
          <a:noFill/>
        </p:spPr>
        <p:txBody>
          <a:bodyPr wrap="square" lIns="0" rIns="0" tIns="0" bIns="0">
            <a:spAutoFit/>
          </a:bodyPr>
          <a:lstStyle/>
          <a:p>
            <a:pPr>
              <a:lnSpc>
                <a:spcPct val="102000"/>
              </a:lnSpc>
              <a:spcBef>
                <a:spcPts val="0"/>
              </a:spcBef>
              <a:spcAft>
                <a:spcPts val="900"/>
              </a:spcAft>
            </a:pPr>
            <a:r>
              <a:rPr sz="1300" b="1">
                <a:solidFill>
                  <a:srgbClr val="0E4D64"/>
                </a:solidFill>
                <a:latin typeface="Calibri"/>
              </a:rPr>
              <a:t>•  </a:t>
            </a:r>
            <a:r>
              <a:rPr sz="1300" b="1">
                <a:solidFill>
                  <a:srgbClr val="0E4D64"/>
                </a:solidFill>
                <a:latin typeface="Calibri"/>
              </a:rPr>
              <a:t>Skip-connection: </a:t>
            </a:r>
            <a:r>
              <a:rPr sz="1300" b="0">
                <a:solidFill>
                  <a:srgbClr val="1B2A38"/>
                </a:solidFill>
                <a:latin typeface="Calibri"/>
              </a:rPr>
              <a:t>U-Net family — UNet++, UNet3+, Attention U-Net (learns *where to look*).</a:t>
            </a:r>
          </a:p>
          <a:p>
            <a:pPr>
              <a:lnSpc>
                <a:spcPct val="102000"/>
              </a:lnSpc>
              <a:spcBef>
                <a:spcPts val="0"/>
              </a:spcBef>
              <a:spcAft>
                <a:spcPts val="900"/>
              </a:spcAft>
            </a:pPr>
            <a:r>
              <a:rPr sz="1300" b="1">
                <a:solidFill>
                  <a:srgbClr val="0E4D64"/>
                </a:solidFill>
                <a:latin typeface="Calibri"/>
              </a:rPr>
              <a:t>•  </a:t>
            </a:r>
            <a:r>
              <a:rPr sz="1300" b="1">
                <a:solidFill>
                  <a:srgbClr val="0E4D64"/>
                </a:solidFill>
                <a:latin typeface="Calibri"/>
              </a:rPr>
              <a:t>DeepLabV3+ [7]: </a:t>
            </a:r>
            <a:r>
              <a:rPr sz="1300" b="0">
                <a:solidFill>
                  <a:srgbClr val="1B2A38"/>
                </a:solidFill>
                <a:latin typeface="Calibri"/>
              </a:rPr>
              <a:t>atrous separable conv + ASPP for multi-scale context.</a:t>
            </a:r>
          </a:p>
          <a:p>
            <a:pPr>
              <a:lnSpc>
                <a:spcPct val="102000"/>
              </a:lnSpc>
              <a:spcBef>
                <a:spcPts val="0"/>
              </a:spcBef>
              <a:spcAft>
                <a:spcPts val="900"/>
              </a:spcAft>
            </a:pPr>
            <a:r>
              <a:rPr sz="1300" b="1">
                <a:solidFill>
                  <a:srgbClr val="0E4D64"/>
                </a:solidFill>
                <a:latin typeface="Calibri"/>
              </a:rPr>
              <a:t>•  </a:t>
            </a:r>
            <a:r>
              <a:rPr sz="1300" b="1">
                <a:solidFill>
                  <a:srgbClr val="0E4D64"/>
                </a:solidFill>
                <a:latin typeface="Calibri"/>
              </a:rPr>
              <a:t>AAU-Net [12]: </a:t>
            </a:r>
            <a:r>
              <a:rPr sz="1300" b="0">
                <a:solidFill>
                  <a:srgbClr val="1B2A38"/>
                </a:solidFill>
                <a:latin typeface="Calibri"/>
              </a:rPr>
              <a:t>BUS-specific attention for fuzzy boundaries / irregular shapes.</a:t>
            </a:r>
          </a:p>
          <a:p>
            <a:pPr>
              <a:lnSpc>
                <a:spcPct val="102000"/>
              </a:lnSpc>
              <a:spcBef>
                <a:spcPts val="0"/>
              </a:spcBef>
              <a:spcAft>
                <a:spcPts val="900"/>
              </a:spcAft>
            </a:pPr>
            <a:r>
              <a:rPr sz="1300" b="1">
                <a:solidFill>
                  <a:srgbClr val="0E4D64"/>
                </a:solidFill>
                <a:latin typeface="Calibri"/>
              </a:rPr>
              <a:t>•  </a:t>
            </a:r>
            <a:r>
              <a:rPr sz="1300" b="1">
                <a:solidFill>
                  <a:srgbClr val="0E4D64"/>
                </a:solidFill>
                <a:latin typeface="Calibri"/>
              </a:rPr>
              <a:t>CResU-Net [13]: </a:t>
            </a:r>
            <a:r>
              <a:rPr sz="1300" b="0">
                <a:solidFill>
                  <a:srgbClr val="1B2A38"/>
                </a:solidFill>
                <a:latin typeface="Calibri"/>
              </a:rPr>
              <a:t>residual + dense Co-Blocks; strong reported BUSI Dice.</a:t>
            </a:r>
          </a:p>
          <a:p>
            <a:pPr>
              <a:lnSpc>
                <a:spcPct val="102000"/>
              </a:lnSpc>
              <a:spcBef>
                <a:spcPts val="0"/>
              </a:spcBef>
              <a:spcAft>
                <a:spcPts val="900"/>
              </a:spcAft>
            </a:pPr>
            <a:r>
              <a:rPr sz="1300" b="1">
                <a:solidFill>
                  <a:srgbClr val="0E4D64"/>
                </a:solidFill>
                <a:latin typeface="Calibri"/>
              </a:rPr>
              <a:t>•  </a:t>
            </a:r>
            <a:r>
              <a:rPr sz="1300" b="1">
                <a:solidFill>
                  <a:srgbClr val="0E4D64"/>
                </a:solidFill>
                <a:latin typeface="Calibri"/>
              </a:rPr>
              <a:t>nnU-Net [20]: </a:t>
            </a:r>
            <a:r>
              <a:rPr sz="1300" b="0">
                <a:solidFill>
                  <a:srgbClr val="1B2A38"/>
                </a:solidFill>
                <a:latin typeface="Calibri"/>
              </a:rPr>
              <a:t>self-configuring U-Net; strong general baseline.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 y="475488"/>
            <a:ext cx="118872" cy="658368"/>
          </a:xfrm>
          <a:prstGeom prst="rect">
            <a:avLst/>
          </a:prstGeom>
          <a:solidFill>
            <a:srgbClr val="1F8A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457200"/>
            <a:ext cx="10789920" cy="320040"/>
          </a:xfrm>
          <a:prstGeom prst="rect">
            <a:avLst/>
          </a:prstGeom>
          <a:noFill/>
        </p:spPr>
        <p:txBody>
          <a:bodyPr wrap="square" anchor="t" lIns="0" rIns="0" tIns="0" bIns="0">
            <a:spAutoFit/>
          </a:bodyPr>
          <a:lstStyle/>
          <a:p>
            <a:pPr algn="l">
              <a:lnSpc>
                <a:spcPct val="100000"/>
              </a:lnSpc>
              <a:spcBef>
                <a:spcPts val="0"/>
              </a:spcBef>
              <a:spcAft>
                <a:spcPts val="400"/>
              </a:spcAft>
            </a:pPr>
            <a:r>
              <a:rPr sz="1250" b="1" i="0">
                <a:solidFill>
                  <a:srgbClr val="1F8AA6"/>
                </a:solidFill>
                <a:latin typeface="Calibri"/>
              </a:rPr>
              <a:t>1 · LITERATURE REVIEW</a:t>
            </a:r>
          </a:p>
        </p:txBody>
      </p:sp>
      <p:sp>
        <p:nvSpPr>
          <p:cNvPr id="6" name="TextBox 5"/>
          <p:cNvSpPr txBox="1"/>
          <p:nvPr/>
        </p:nvSpPr>
        <p:spPr>
          <a:xfrm>
            <a:off x="777240" y="713232"/>
            <a:ext cx="10881360" cy="566928"/>
          </a:xfrm>
          <a:prstGeom prst="rect">
            <a:avLst/>
          </a:prstGeom>
          <a:noFill/>
        </p:spPr>
        <p:txBody>
          <a:bodyPr wrap="square" anchor="t" lIns="0" rIns="0" tIns="0" bIns="0">
            <a:spAutoFit/>
          </a:bodyPr>
          <a:lstStyle/>
          <a:p>
            <a:pPr algn="l">
              <a:lnSpc>
                <a:spcPct val="100000"/>
              </a:lnSpc>
              <a:spcBef>
                <a:spcPts val="0"/>
              </a:spcBef>
              <a:spcAft>
                <a:spcPts val="400"/>
              </a:spcAft>
            </a:pPr>
            <a:r>
              <a:rPr sz="2500" b="1" i="0">
                <a:solidFill>
                  <a:srgbClr val="1B2A38"/>
                </a:solidFill>
                <a:latin typeface="Calibri"/>
              </a:rPr>
              <a:t>Combining the two tasks — our design space</a:t>
            </a:r>
          </a:p>
        </p:txBody>
      </p:sp>
      <p:sp>
        <p:nvSpPr>
          <p:cNvPr id="7" name="Rectangle 6"/>
          <p:cNvSpPr/>
          <p:nvPr/>
        </p:nvSpPr>
        <p:spPr>
          <a:xfrm>
            <a:off x="777240" y="1316736"/>
            <a:ext cx="10634472" cy="18288"/>
          </a:xfrm>
          <a:prstGeom prst="rect">
            <a:avLst/>
          </a:prstGeom>
          <a:solidFill>
            <a:srgbClr val="CBD8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73952"/>
            <a:ext cx="7315200" cy="274320"/>
          </a:xfrm>
          <a:prstGeom prst="rect">
            <a:avLst/>
          </a:prstGeom>
          <a:noFill/>
        </p:spPr>
        <p:txBody>
          <a:bodyPr wrap="square" anchor="t" lIns="0" rIns="0" tIns="0" bIns="0">
            <a:spAutoFit/>
          </a:bodyPr>
          <a:lstStyle/>
          <a:p>
            <a:pPr algn="l">
              <a:lnSpc>
                <a:spcPct val="100000"/>
              </a:lnSpc>
              <a:spcBef>
                <a:spcPts val="0"/>
              </a:spcBef>
              <a:spcAft>
                <a:spcPts val="400"/>
              </a:spcAft>
            </a:pPr>
            <a:r>
              <a:rPr sz="900" b="0" i="0">
                <a:solidFill>
                  <a:srgbClr val="8A94A6"/>
                </a:solidFill>
                <a:latin typeface="Calibri"/>
              </a:rPr>
              <a:t>COMP9444 · Group Project 047 · Breast Ultrasound (BUSI)</a:t>
            </a:r>
          </a:p>
        </p:txBody>
      </p:sp>
      <p:sp>
        <p:nvSpPr>
          <p:cNvPr id="9" name="TextBox 8"/>
          <p:cNvSpPr txBox="1"/>
          <p:nvPr/>
        </p:nvSpPr>
        <p:spPr>
          <a:xfrm>
            <a:off x="11064240" y="6473952"/>
            <a:ext cx="685800" cy="274320"/>
          </a:xfrm>
          <a:prstGeom prst="rect">
            <a:avLst/>
          </a:prstGeom>
          <a:noFill/>
        </p:spPr>
        <p:txBody>
          <a:bodyPr wrap="square" anchor="t" lIns="0" rIns="0" tIns="0" bIns="0">
            <a:spAutoFit/>
          </a:bodyPr>
          <a:lstStyle/>
          <a:p>
            <a:pPr algn="r">
              <a:lnSpc>
                <a:spcPct val="100000"/>
              </a:lnSpc>
              <a:spcBef>
                <a:spcPts val="0"/>
              </a:spcBef>
              <a:spcAft>
                <a:spcPts val="400"/>
              </a:spcAft>
            </a:pPr>
            <a:r>
              <a:rPr sz="900" b="1" i="0">
                <a:solidFill>
                  <a:srgbClr val="8A94A6"/>
                </a:solidFill>
                <a:latin typeface="Calibri"/>
              </a:rPr>
              <a:t>6</a:t>
            </a:r>
          </a:p>
        </p:txBody>
      </p:sp>
      <p:sp>
        <p:nvSpPr>
          <p:cNvPr id="10" name="Rounded Rectangle 9"/>
          <p:cNvSpPr/>
          <p:nvPr/>
        </p:nvSpPr>
        <p:spPr>
          <a:xfrm>
            <a:off x="777240" y="1737360"/>
            <a:ext cx="5212080" cy="3566160"/>
          </a:xfrm>
          <a:prstGeom prst="roundRect">
            <a:avLst/>
          </a:prstGeom>
          <a:solidFill>
            <a:srgbClr val="EAF3EE"/>
          </a:solidFill>
          <a:ln w="9525">
            <a:solidFill>
              <a:srgbClr val="CBD8DE"/>
            </a:solidFill>
          </a:ln>
          <a:effectLst/>
          <a:effectLst>
            <a:outerShdw blurRad="90000" dist="38100" dir="5400000" rotWithShape="0">
              <a:srgbClr val="1B2A38">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77240" y="1737360"/>
            <a:ext cx="5212080" cy="548640"/>
          </a:xfrm>
          <a:prstGeom prst="roundRect">
            <a:avLst/>
          </a:prstGeom>
          <a:solidFill>
            <a:srgbClr val="3AA6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2057400"/>
            <a:ext cx="5212080" cy="228600"/>
          </a:xfrm>
          <a:prstGeom prst="rect">
            <a:avLst/>
          </a:prstGeom>
          <a:solidFill>
            <a:srgbClr val="EA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1810512"/>
            <a:ext cx="4754880" cy="457200"/>
          </a:xfrm>
          <a:prstGeom prst="rect">
            <a:avLst/>
          </a:prstGeom>
          <a:noFill/>
        </p:spPr>
        <p:txBody>
          <a:bodyPr wrap="square" anchor="ctr" lIns="0" rIns="0" tIns="0" bIns="0">
            <a:spAutoFit/>
          </a:bodyPr>
          <a:lstStyle/>
          <a:p>
            <a:pPr algn="l">
              <a:lnSpc>
                <a:spcPct val="100000"/>
              </a:lnSpc>
              <a:spcBef>
                <a:spcPts val="0"/>
              </a:spcBef>
              <a:spcAft>
                <a:spcPts val="400"/>
              </a:spcAft>
            </a:pPr>
            <a:r>
              <a:rPr sz="1500" b="1" i="0">
                <a:solidFill>
                  <a:srgbClr val="FFFFFF"/>
                </a:solidFill>
                <a:latin typeface="Calibri"/>
              </a:rPr>
              <a:t>SEQUENTIAL · Dual-stage  [17]</a:t>
            </a:r>
          </a:p>
        </p:txBody>
      </p:sp>
      <p:sp>
        <p:nvSpPr>
          <p:cNvPr id="14" name="TextBox 13"/>
          <p:cNvSpPr txBox="1"/>
          <p:nvPr/>
        </p:nvSpPr>
        <p:spPr>
          <a:xfrm>
            <a:off x="1005840" y="2423160"/>
            <a:ext cx="4754880" cy="2743200"/>
          </a:xfrm>
          <a:prstGeom prst="rect">
            <a:avLst/>
          </a:prstGeom>
          <a:noFill/>
        </p:spPr>
        <p:txBody>
          <a:bodyPr wrap="square" anchor="t" lIns="0" rIns="0" tIns="0" bIns="0">
            <a:spAutoFit/>
          </a:bodyPr>
          <a:lstStyle/>
          <a:p>
            <a:pPr algn="l">
              <a:lnSpc>
                <a:spcPct val="112000"/>
              </a:lnSpc>
              <a:spcBef>
                <a:spcPts val="0"/>
              </a:spcBef>
              <a:spcAft>
                <a:spcPts val="700"/>
              </a:spcAft>
            </a:pPr>
            <a:r>
              <a:rPr sz="1300" b="1" i="1">
                <a:solidFill>
                  <a:srgbClr val="1B2A38"/>
                </a:solidFill>
                <a:latin typeface="Calibri"/>
              </a:rPr>
              <a:t>Bruno et al., 2025</a:t>
            </a:r>
          </a:p>
          <a:p>
            <a:pPr algn="l">
              <a:lnSpc>
                <a:spcPct val="112000"/>
              </a:lnSpc>
              <a:spcBef>
                <a:spcPts val="0"/>
              </a:spcBef>
              <a:spcAft>
                <a:spcPts val="700"/>
              </a:spcAft>
            </a:pPr>
            <a:r>
              <a:rPr sz="1350" b="0" i="0">
                <a:solidFill>
                  <a:srgbClr val="1B2A38"/>
                </a:solidFill>
                <a:latin typeface="Calibri"/>
              </a:rPr>
              <a:t>Segment first → crop the lesion ROI → classify the ROI (benign/malignant).</a:t>
            </a:r>
          </a:p>
          <a:p>
            <a:pPr algn="l">
              <a:lnSpc>
                <a:spcPct val="112000"/>
              </a:lnSpc>
              <a:spcBef>
                <a:spcPts val="0"/>
              </a:spcBef>
              <a:spcAft>
                <a:spcPts val="700"/>
              </a:spcAft>
            </a:pPr>
            <a:r>
              <a:rPr sz="1250" b="0" i="1">
                <a:solidFill>
                  <a:srgbClr val="45596B"/>
                </a:solidFill>
                <a:latin typeface="Calibri"/>
              </a:rPr>
              <a:t>Focusing the classifier on the lesion removes background clutter.</a:t>
            </a:r>
          </a:p>
        </p:txBody>
      </p:sp>
      <p:sp>
        <p:nvSpPr>
          <p:cNvPr id="15" name="TextBox 14"/>
          <p:cNvSpPr txBox="1"/>
          <p:nvPr/>
        </p:nvSpPr>
        <p:spPr>
          <a:xfrm>
            <a:off x="1005840" y="4709160"/>
            <a:ext cx="4754880" cy="457200"/>
          </a:xfrm>
          <a:prstGeom prst="rect">
            <a:avLst/>
          </a:prstGeom>
          <a:noFill/>
        </p:spPr>
        <p:txBody>
          <a:bodyPr wrap="square" anchor="t" lIns="0" rIns="0" tIns="0" bIns="0">
            <a:spAutoFit/>
          </a:bodyPr>
          <a:lstStyle/>
          <a:p>
            <a:pPr algn="l">
              <a:lnSpc>
                <a:spcPct val="100000"/>
              </a:lnSpc>
              <a:spcBef>
                <a:spcPts val="0"/>
              </a:spcBef>
              <a:spcAft>
                <a:spcPts val="400"/>
              </a:spcAft>
            </a:pPr>
            <a:r>
              <a:rPr sz="1300" b="1" i="0">
                <a:solidFill>
                  <a:srgbClr val="3AA655"/>
                </a:solidFill>
                <a:latin typeface="Calibri"/>
              </a:rPr>
              <a:t>→ We adopt this and then improve it.</a:t>
            </a:r>
          </a:p>
        </p:txBody>
      </p:sp>
      <p:sp>
        <p:nvSpPr>
          <p:cNvPr id="16" name="Rounded Rectangle 15"/>
          <p:cNvSpPr/>
          <p:nvPr/>
        </p:nvSpPr>
        <p:spPr>
          <a:xfrm>
            <a:off x="6172200" y="1737360"/>
            <a:ext cx="5257800" cy="3566160"/>
          </a:xfrm>
          <a:prstGeom prst="roundRect">
            <a:avLst/>
          </a:prstGeom>
          <a:solidFill>
            <a:srgbClr val="F3ECEC"/>
          </a:solidFill>
          <a:ln w="9525">
            <a:solidFill>
              <a:srgbClr val="CBD8DE"/>
            </a:solidFill>
          </a:ln>
          <a:effectLst/>
          <a:effectLst>
            <a:outerShdw blurRad="90000" dist="38100" dir="5400000" rotWithShape="0">
              <a:srgbClr val="1B2A38">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172200" y="1737360"/>
            <a:ext cx="5257800" cy="548640"/>
          </a:xfrm>
          <a:prstGeom prst="roundRect">
            <a:avLst/>
          </a:prstGeom>
          <a:solidFill>
            <a:srgbClr val="E159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172200" y="2057400"/>
            <a:ext cx="5257800" cy="228600"/>
          </a:xfrm>
          <a:prstGeom prst="rect">
            <a:avLst/>
          </a:prstGeom>
          <a:solidFill>
            <a:srgbClr val="F3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0" y="1810512"/>
            <a:ext cx="4846320" cy="457200"/>
          </a:xfrm>
          <a:prstGeom prst="rect">
            <a:avLst/>
          </a:prstGeom>
          <a:noFill/>
        </p:spPr>
        <p:txBody>
          <a:bodyPr wrap="square" anchor="ctr" lIns="0" rIns="0" tIns="0" bIns="0">
            <a:spAutoFit/>
          </a:bodyPr>
          <a:lstStyle/>
          <a:p>
            <a:pPr algn="l">
              <a:lnSpc>
                <a:spcPct val="100000"/>
              </a:lnSpc>
              <a:spcBef>
                <a:spcPts val="0"/>
              </a:spcBef>
              <a:spcAft>
                <a:spcPts val="400"/>
              </a:spcAft>
            </a:pPr>
            <a:r>
              <a:rPr sz="1500" b="1" i="0">
                <a:solidFill>
                  <a:srgbClr val="FFFFFF"/>
                </a:solidFill>
                <a:latin typeface="Calibri"/>
              </a:rPr>
              <a:t>JOINT · Multi-task  [24]</a:t>
            </a:r>
          </a:p>
        </p:txBody>
      </p:sp>
      <p:sp>
        <p:nvSpPr>
          <p:cNvPr id="20" name="TextBox 19"/>
          <p:cNvSpPr txBox="1"/>
          <p:nvPr/>
        </p:nvSpPr>
        <p:spPr>
          <a:xfrm>
            <a:off x="6400800" y="2423160"/>
            <a:ext cx="4846320" cy="2743200"/>
          </a:xfrm>
          <a:prstGeom prst="rect">
            <a:avLst/>
          </a:prstGeom>
          <a:noFill/>
        </p:spPr>
        <p:txBody>
          <a:bodyPr wrap="square" anchor="t" lIns="0" rIns="0" tIns="0" bIns="0">
            <a:spAutoFit/>
          </a:bodyPr>
          <a:lstStyle/>
          <a:p>
            <a:pPr algn="l">
              <a:lnSpc>
                <a:spcPct val="112000"/>
              </a:lnSpc>
              <a:spcBef>
                <a:spcPts val="0"/>
              </a:spcBef>
              <a:spcAft>
                <a:spcPts val="700"/>
              </a:spcAft>
            </a:pPr>
            <a:r>
              <a:rPr sz="1300" b="1" i="1">
                <a:solidFill>
                  <a:srgbClr val="1B2A38"/>
                </a:solidFill>
                <a:latin typeface="Calibri"/>
              </a:rPr>
              <a:t>Lu et al., 2025 (MTL-OCA)</a:t>
            </a:r>
          </a:p>
          <a:p>
            <a:pPr algn="l">
              <a:lnSpc>
                <a:spcPct val="112000"/>
              </a:lnSpc>
              <a:spcBef>
                <a:spcPts val="0"/>
              </a:spcBef>
              <a:spcAft>
                <a:spcPts val="700"/>
              </a:spcAft>
            </a:pPr>
            <a:r>
              <a:rPr sz="1350" b="0" i="0">
                <a:solidFill>
                  <a:srgbClr val="1B2A38"/>
                </a:solidFill>
                <a:latin typeface="Calibri"/>
              </a:rPr>
              <a:t>One shared encoder feeds two heads: a segmentation head (object-contextual attention) and a classification head.</a:t>
            </a:r>
          </a:p>
          <a:p>
            <a:pPr algn="l">
              <a:lnSpc>
                <a:spcPct val="112000"/>
              </a:lnSpc>
              <a:spcBef>
                <a:spcPts val="0"/>
              </a:spcBef>
              <a:spcAft>
                <a:spcPts val="700"/>
              </a:spcAft>
            </a:pPr>
            <a:r>
              <a:rPr sz="1250" b="0" i="1">
                <a:solidFill>
                  <a:srgbClr val="45596B"/>
                </a:solidFill>
                <a:latin typeface="Calibri"/>
              </a:rPr>
              <a:t>Solves both at once — but sharing capacity is a compromise.</a:t>
            </a:r>
          </a:p>
        </p:txBody>
      </p:sp>
      <p:sp>
        <p:nvSpPr>
          <p:cNvPr id="21" name="TextBox 20"/>
          <p:cNvSpPr txBox="1"/>
          <p:nvPr/>
        </p:nvSpPr>
        <p:spPr>
          <a:xfrm>
            <a:off x="6400800" y="4709160"/>
            <a:ext cx="4846320" cy="457200"/>
          </a:xfrm>
          <a:prstGeom prst="rect">
            <a:avLst/>
          </a:prstGeom>
          <a:noFill/>
        </p:spPr>
        <p:txBody>
          <a:bodyPr wrap="square" anchor="t" lIns="0" rIns="0" tIns="0" bIns="0">
            <a:spAutoFit/>
          </a:bodyPr>
          <a:lstStyle/>
          <a:p>
            <a:pPr algn="l">
              <a:lnSpc>
                <a:spcPct val="100000"/>
              </a:lnSpc>
              <a:spcBef>
                <a:spcPts val="0"/>
              </a:spcBef>
              <a:spcAft>
                <a:spcPts val="400"/>
              </a:spcAft>
            </a:pPr>
            <a:r>
              <a:rPr sz="1300" b="1" i="0">
                <a:solidFill>
                  <a:srgbClr val="E1595B"/>
                </a:solidFill>
                <a:latin typeface="Calibri"/>
              </a:rPr>
              <a:t>→ We reproduce it as the joint alternative.</a:t>
            </a:r>
          </a:p>
        </p:txBody>
      </p:sp>
      <p:sp>
        <p:nvSpPr>
          <p:cNvPr id="22" name="Rounded Rectangle 21"/>
          <p:cNvSpPr/>
          <p:nvPr/>
        </p:nvSpPr>
        <p:spPr>
          <a:xfrm>
            <a:off x="777240" y="5486400"/>
            <a:ext cx="10634472" cy="566928"/>
          </a:xfrm>
          <a:prstGeom prst="round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4400" y="5486400"/>
            <a:ext cx="10332720" cy="566928"/>
          </a:xfrm>
          <a:prstGeom prst="rect">
            <a:avLst/>
          </a:prstGeom>
          <a:noFill/>
        </p:spPr>
        <p:txBody>
          <a:bodyPr wrap="square" anchor="ctr" lIns="0" rIns="0" tIns="0" bIns="0">
            <a:spAutoFit/>
          </a:bodyPr>
          <a:lstStyle/>
          <a:p>
            <a:pPr algn="l">
              <a:lnSpc>
                <a:spcPct val="100000"/>
              </a:lnSpc>
              <a:spcBef>
                <a:spcPts val="0"/>
              </a:spcBef>
              <a:spcAft>
                <a:spcPts val="400"/>
              </a:spcAft>
            </a:pPr>
            <a:r>
              <a:rPr sz="1350" b="1" i="0">
                <a:solidFill>
                  <a:srgbClr val="FFFFFF"/>
                </a:solidFill>
                <a:latin typeface="Calibri"/>
              </a:rPr>
              <a:t>These two lines — sequential vs. joint — frame our combined-task experiments.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 y="475488"/>
            <a:ext cx="118872" cy="658368"/>
          </a:xfrm>
          <a:prstGeom prst="rect">
            <a:avLst/>
          </a:prstGeom>
          <a:solidFill>
            <a:srgbClr val="3AA6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457200"/>
            <a:ext cx="10789920" cy="320040"/>
          </a:xfrm>
          <a:prstGeom prst="rect">
            <a:avLst/>
          </a:prstGeom>
          <a:noFill/>
        </p:spPr>
        <p:txBody>
          <a:bodyPr wrap="square" anchor="t" lIns="0" rIns="0" tIns="0" bIns="0">
            <a:spAutoFit/>
          </a:bodyPr>
          <a:lstStyle/>
          <a:p>
            <a:pPr algn="l">
              <a:lnSpc>
                <a:spcPct val="100000"/>
              </a:lnSpc>
              <a:spcBef>
                <a:spcPts val="0"/>
              </a:spcBef>
              <a:spcAft>
                <a:spcPts val="400"/>
              </a:spcAft>
            </a:pPr>
            <a:r>
              <a:rPr sz="1250" b="1" i="0">
                <a:solidFill>
                  <a:srgbClr val="3AA655"/>
                </a:solidFill>
                <a:latin typeface="Calibri"/>
              </a:rPr>
              <a:t>2 · DATA</a:t>
            </a:r>
          </a:p>
        </p:txBody>
      </p:sp>
      <p:sp>
        <p:nvSpPr>
          <p:cNvPr id="6" name="TextBox 5"/>
          <p:cNvSpPr txBox="1"/>
          <p:nvPr/>
        </p:nvSpPr>
        <p:spPr>
          <a:xfrm>
            <a:off x="777240" y="713232"/>
            <a:ext cx="10881360" cy="566928"/>
          </a:xfrm>
          <a:prstGeom prst="rect">
            <a:avLst/>
          </a:prstGeom>
          <a:noFill/>
        </p:spPr>
        <p:txBody>
          <a:bodyPr wrap="square" anchor="t" lIns="0" rIns="0" tIns="0" bIns="0">
            <a:spAutoFit/>
          </a:bodyPr>
          <a:lstStyle/>
          <a:p>
            <a:pPr algn="l">
              <a:lnSpc>
                <a:spcPct val="100000"/>
              </a:lnSpc>
              <a:spcBef>
                <a:spcPts val="0"/>
              </a:spcBef>
              <a:spcAft>
                <a:spcPts val="400"/>
              </a:spcAft>
            </a:pPr>
            <a:r>
              <a:rPr sz="2500" b="1" i="0">
                <a:solidFill>
                  <a:srgbClr val="1B2A38"/>
                </a:solidFill>
                <a:latin typeface="Calibri"/>
              </a:rPr>
              <a:t>The BUSI dataset at a glance</a:t>
            </a:r>
          </a:p>
        </p:txBody>
      </p:sp>
      <p:sp>
        <p:nvSpPr>
          <p:cNvPr id="7" name="Rectangle 6"/>
          <p:cNvSpPr/>
          <p:nvPr/>
        </p:nvSpPr>
        <p:spPr>
          <a:xfrm>
            <a:off x="777240" y="1316736"/>
            <a:ext cx="10634472" cy="18288"/>
          </a:xfrm>
          <a:prstGeom prst="rect">
            <a:avLst/>
          </a:prstGeom>
          <a:solidFill>
            <a:srgbClr val="CBD8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73952"/>
            <a:ext cx="7315200" cy="274320"/>
          </a:xfrm>
          <a:prstGeom prst="rect">
            <a:avLst/>
          </a:prstGeom>
          <a:noFill/>
        </p:spPr>
        <p:txBody>
          <a:bodyPr wrap="square" anchor="t" lIns="0" rIns="0" tIns="0" bIns="0">
            <a:spAutoFit/>
          </a:bodyPr>
          <a:lstStyle/>
          <a:p>
            <a:pPr algn="l">
              <a:lnSpc>
                <a:spcPct val="100000"/>
              </a:lnSpc>
              <a:spcBef>
                <a:spcPts val="0"/>
              </a:spcBef>
              <a:spcAft>
                <a:spcPts val="400"/>
              </a:spcAft>
            </a:pPr>
            <a:r>
              <a:rPr sz="900" b="0" i="0">
                <a:solidFill>
                  <a:srgbClr val="8A94A6"/>
                </a:solidFill>
                <a:latin typeface="Calibri"/>
              </a:rPr>
              <a:t>COMP9444 · Group Project 047 · Breast Ultrasound (BUSI)</a:t>
            </a:r>
          </a:p>
        </p:txBody>
      </p:sp>
      <p:sp>
        <p:nvSpPr>
          <p:cNvPr id="9" name="TextBox 8"/>
          <p:cNvSpPr txBox="1"/>
          <p:nvPr/>
        </p:nvSpPr>
        <p:spPr>
          <a:xfrm>
            <a:off x="11064240" y="6473952"/>
            <a:ext cx="685800" cy="274320"/>
          </a:xfrm>
          <a:prstGeom prst="rect">
            <a:avLst/>
          </a:prstGeom>
          <a:noFill/>
        </p:spPr>
        <p:txBody>
          <a:bodyPr wrap="square" anchor="t" lIns="0" rIns="0" tIns="0" bIns="0">
            <a:spAutoFit/>
          </a:bodyPr>
          <a:lstStyle/>
          <a:p>
            <a:pPr algn="r">
              <a:lnSpc>
                <a:spcPct val="100000"/>
              </a:lnSpc>
              <a:spcBef>
                <a:spcPts val="0"/>
              </a:spcBef>
              <a:spcAft>
                <a:spcPts val="400"/>
              </a:spcAft>
            </a:pPr>
            <a:r>
              <a:rPr sz="900" b="1" i="0">
                <a:solidFill>
                  <a:srgbClr val="8A94A6"/>
                </a:solidFill>
                <a:latin typeface="Calibri"/>
              </a:rPr>
              <a:t>7</a:t>
            </a:r>
          </a:p>
        </p:txBody>
      </p:sp>
      <p:sp>
        <p:nvSpPr>
          <p:cNvPr id="10" name="Rounded Rectangle 9"/>
          <p:cNvSpPr/>
          <p:nvPr/>
        </p:nvSpPr>
        <p:spPr>
          <a:xfrm>
            <a:off x="777240" y="1645920"/>
            <a:ext cx="2468880" cy="1417320"/>
          </a:xfrm>
          <a:prstGeom prst="roundRect">
            <a:avLst/>
          </a:prstGeom>
          <a:solidFill>
            <a:srgbClr val="F1F6F8"/>
          </a:solidFill>
          <a:ln w="9525">
            <a:solidFill>
              <a:srgbClr val="CBD8DE"/>
            </a:solidFill>
          </a:ln>
          <a:effectLst/>
          <a:effectLst>
            <a:outerShdw blurRad="90000" dist="38100" dir="5400000" rotWithShape="0">
              <a:srgbClr val="1B2A38">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77240" y="1645920"/>
            <a:ext cx="2468880" cy="91440"/>
          </a:xfrm>
          <a:prstGeom prst="round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1828800"/>
            <a:ext cx="2468880" cy="640080"/>
          </a:xfrm>
          <a:prstGeom prst="rect">
            <a:avLst/>
          </a:prstGeom>
          <a:noFill/>
        </p:spPr>
        <p:txBody>
          <a:bodyPr wrap="square" anchor="t" lIns="0" rIns="0" tIns="0" bIns="0">
            <a:spAutoFit/>
          </a:bodyPr>
          <a:lstStyle/>
          <a:p>
            <a:pPr algn="ctr">
              <a:lnSpc>
                <a:spcPct val="100000"/>
              </a:lnSpc>
              <a:spcBef>
                <a:spcPts val="0"/>
              </a:spcBef>
              <a:spcAft>
                <a:spcPts val="400"/>
              </a:spcAft>
            </a:pPr>
            <a:r>
              <a:rPr sz="3000" b="1" i="0">
                <a:solidFill>
                  <a:srgbClr val="0E4D64"/>
                </a:solidFill>
                <a:latin typeface="Calibri"/>
              </a:rPr>
              <a:t>780</a:t>
            </a:r>
          </a:p>
        </p:txBody>
      </p:sp>
      <p:sp>
        <p:nvSpPr>
          <p:cNvPr id="13" name="TextBox 12"/>
          <p:cNvSpPr txBox="1"/>
          <p:nvPr/>
        </p:nvSpPr>
        <p:spPr>
          <a:xfrm>
            <a:off x="914400" y="2514600"/>
            <a:ext cx="2194560" cy="457200"/>
          </a:xfrm>
          <a:prstGeom prst="rect">
            <a:avLst/>
          </a:prstGeom>
          <a:noFill/>
        </p:spPr>
        <p:txBody>
          <a:bodyPr wrap="square" anchor="t" lIns="0" rIns="0" tIns="0" bIns="0">
            <a:spAutoFit/>
          </a:bodyPr>
          <a:lstStyle/>
          <a:p>
            <a:pPr algn="ctr">
              <a:lnSpc>
                <a:spcPct val="100000"/>
              </a:lnSpc>
              <a:spcBef>
                <a:spcPts val="0"/>
              </a:spcBef>
              <a:spcAft>
                <a:spcPts val="400"/>
              </a:spcAft>
            </a:pPr>
            <a:r>
              <a:rPr sz="1200" b="1" i="0">
                <a:solidFill>
                  <a:srgbClr val="45596B"/>
                </a:solidFill>
                <a:latin typeface="Calibri"/>
              </a:rPr>
              <a:t>ultrasound images</a:t>
            </a:r>
          </a:p>
        </p:txBody>
      </p:sp>
      <p:sp>
        <p:nvSpPr>
          <p:cNvPr id="14" name="Rounded Rectangle 13"/>
          <p:cNvSpPr/>
          <p:nvPr/>
        </p:nvSpPr>
        <p:spPr>
          <a:xfrm>
            <a:off x="3474720" y="1645920"/>
            <a:ext cx="2468880" cy="1417320"/>
          </a:xfrm>
          <a:prstGeom prst="roundRect">
            <a:avLst/>
          </a:prstGeom>
          <a:solidFill>
            <a:srgbClr val="F1F6F8"/>
          </a:solidFill>
          <a:ln w="9525">
            <a:solidFill>
              <a:srgbClr val="CBD8DE"/>
            </a:solidFill>
          </a:ln>
          <a:effectLst/>
          <a:effectLst>
            <a:outerShdw blurRad="90000" dist="38100" dir="5400000" rotWithShape="0">
              <a:srgbClr val="1B2A38">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474720" y="1645920"/>
            <a:ext cx="2468880" cy="91440"/>
          </a:xfrm>
          <a:prstGeom prst="roundRect">
            <a:avLst/>
          </a:prstGeom>
          <a:solidFill>
            <a:srgbClr val="1F8A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474720" y="1828800"/>
            <a:ext cx="2468880" cy="640080"/>
          </a:xfrm>
          <a:prstGeom prst="rect">
            <a:avLst/>
          </a:prstGeom>
          <a:noFill/>
        </p:spPr>
        <p:txBody>
          <a:bodyPr wrap="square" anchor="t" lIns="0" rIns="0" tIns="0" bIns="0">
            <a:spAutoFit/>
          </a:bodyPr>
          <a:lstStyle/>
          <a:p>
            <a:pPr algn="ctr">
              <a:lnSpc>
                <a:spcPct val="100000"/>
              </a:lnSpc>
              <a:spcBef>
                <a:spcPts val="0"/>
              </a:spcBef>
              <a:spcAft>
                <a:spcPts val="400"/>
              </a:spcAft>
            </a:pPr>
            <a:r>
              <a:rPr sz="3000" b="1" i="0">
                <a:solidFill>
                  <a:srgbClr val="1F8AA6"/>
                </a:solidFill>
                <a:latin typeface="Calibri"/>
              </a:rPr>
              <a:t>3</a:t>
            </a:r>
          </a:p>
        </p:txBody>
      </p:sp>
      <p:sp>
        <p:nvSpPr>
          <p:cNvPr id="17" name="TextBox 16"/>
          <p:cNvSpPr txBox="1"/>
          <p:nvPr/>
        </p:nvSpPr>
        <p:spPr>
          <a:xfrm>
            <a:off x="3611880" y="2514600"/>
            <a:ext cx="2194560" cy="457200"/>
          </a:xfrm>
          <a:prstGeom prst="rect">
            <a:avLst/>
          </a:prstGeom>
          <a:noFill/>
        </p:spPr>
        <p:txBody>
          <a:bodyPr wrap="square" anchor="t" lIns="0" rIns="0" tIns="0" bIns="0">
            <a:spAutoFit/>
          </a:bodyPr>
          <a:lstStyle/>
          <a:p>
            <a:pPr algn="ctr">
              <a:lnSpc>
                <a:spcPct val="100000"/>
              </a:lnSpc>
              <a:spcBef>
                <a:spcPts val="0"/>
              </a:spcBef>
              <a:spcAft>
                <a:spcPts val="400"/>
              </a:spcAft>
            </a:pPr>
            <a:r>
              <a:rPr sz="1200" b="1" i="0">
                <a:solidFill>
                  <a:srgbClr val="45596B"/>
                </a:solidFill>
                <a:latin typeface="Calibri"/>
              </a:rPr>
              <a:t>classes (n/b/m)</a:t>
            </a:r>
          </a:p>
        </p:txBody>
      </p:sp>
      <p:sp>
        <p:nvSpPr>
          <p:cNvPr id="18" name="Rounded Rectangle 17"/>
          <p:cNvSpPr/>
          <p:nvPr/>
        </p:nvSpPr>
        <p:spPr>
          <a:xfrm>
            <a:off x="6172200" y="1645920"/>
            <a:ext cx="2468880" cy="1417320"/>
          </a:xfrm>
          <a:prstGeom prst="roundRect">
            <a:avLst/>
          </a:prstGeom>
          <a:solidFill>
            <a:srgbClr val="F1F6F8"/>
          </a:solidFill>
          <a:ln w="9525">
            <a:solidFill>
              <a:srgbClr val="CBD8DE"/>
            </a:solidFill>
          </a:ln>
          <a:effectLst/>
          <a:effectLst>
            <a:outerShdw blurRad="90000" dist="38100" dir="5400000" rotWithShape="0">
              <a:srgbClr val="1B2A38">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172200" y="1645920"/>
            <a:ext cx="2468880" cy="91440"/>
          </a:xfrm>
          <a:prstGeom prst="roundRect">
            <a:avLst/>
          </a:prstGeom>
          <a:solidFill>
            <a:srgbClr val="3AA6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172200" y="1828800"/>
            <a:ext cx="2468880" cy="640080"/>
          </a:xfrm>
          <a:prstGeom prst="rect">
            <a:avLst/>
          </a:prstGeom>
          <a:noFill/>
        </p:spPr>
        <p:txBody>
          <a:bodyPr wrap="square" anchor="t" lIns="0" rIns="0" tIns="0" bIns="0">
            <a:spAutoFit/>
          </a:bodyPr>
          <a:lstStyle/>
          <a:p>
            <a:pPr algn="ctr">
              <a:lnSpc>
                <a:spcPct val="100000"/>
              </a:lnSpc>
              <a:spcBef>
                <a:spcPts val="0"/>
              </a:spcBef>
              <a:spcAft>
                <a:spcPts val="400"/>
              </a:spcAft>
            </a:pPr>
            <a:r>
              <a:rPr sz="3000" b="1" i="0">
                <a:solidFill>
                  <a:srgbClr val="3AA655"/>
                </a:solidFill>
                <a:latin typeface="Calibri"/>
              </a:rPr>
              <a:t>600</a:t>
            </a:r>
          </a:p>
        </p:txBody>
      </p:sp>
      <p:sp>
        <p:nvSpPr>
          <p:cNvPr id="21" name="TextBox 20"/>
          <p:cNvSpPr txBox="1"/>
          <p:nvPr/>
        </p:nvSpPr>
        <p:spPr>
          <a:xfrm>
            <a:off x="6309360" y="2514600"/>
            <a:ext cx="2194560" cy="457200"/>
          </a:xfrm>
          <a:prstGeom prst="rect">
            <a:avLst/>
          </a:prstGeom>
          <a:noFill/>
        </p:spPr>
        <p:txBody>
          <a:bodyPr wrap="square" anchor="t" lIns="0" rIns="0" tIns="0" bIns="0">
            <a:spAutoFit/>
          </a:bodyPr>
          <a:lstStyle/>
          <a:p>
            <a:pPr algn="ctr">
              <a:lnSpc>
                <a:spcPct val="100000"/>
              </a:lnSpc>
              <a:spcBef>
                <a:spcPts val="0"/>
              </a:spcBef>
              <a:spcAft>
                <a:spcPts val="400"/>
              </a:spcAft>
            </a:pPr>
            <a:r>
              <a:rPr sz="1200" b="1" i="0">
                <a:solidFill>
                  <a:srgbClr val="45596B"/>
                </a:solidFill>
                <a:latin typeface="Calibri"/>
              </a:rPr>
              <a:t>female patients (25–75y)</a:t>
            </a:r>
          </a:p>
        </p:txBody>
      </p:sp>
      <p:sp>
        <p:nvSpPr>
          <p:cNvPr id="22" name="Rounded Rectangle 21"/>
          <p:cNvSpPr/>
          <p:nvPr/>
        </p:nvSpPr>
        <p:spPr>
          <a:xfrm>
            <a:off x="8869680" y="1645920"/>
            <a:ext cx="2468880" cy="1417320"/>
          </a:xfrm>
          <a:prstGeom prst="roundRect">
            <a:avLst/>
          </a:prstGeom>
          <a:solidFill>
            <a:srgbClr val="F1F6F8"/>
          </a:solidFill>
          <a:ln w="9525">
            <a:solidFill>
              <a:srgbClr val="CBD8DE"/>
            </a:solidFill>
          </a:ln>
          <a:effectLst/>
          <a:effectLst>
            <a:outerShdw blurRad="90000" dist="38100" dir="5400000" rotWithShape="0">
              <a:srgbClr val="1B2A38">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869680" y="1645920"/>
            <a:ext cx="2468880" cy="91440"/>
          </a:xfrm>
          <a:prstGeom prst="roundRect">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869680" y="1828800"/>
            <a:ext cx="2468880" cy="640080"/>
          </a:xfrm>
          <a:prstGeom prst="rect">
            <a:avLst/>
          </a:prstGeom>
          <a:noFill/>
        </p:spPr>
        <p:txBody>
          <a:bodyPr wrap="square" anchor="t" lIns="0" rIns="0" tIns="0" bIns="0">
            <a:spAutoFit/>
          </a:bodyPr>
          <a:lstStyle/>
          <a:p>
            <a:pPr algn="ctr">
              <a:lnSpc>
                <a:spcPct val="100000"/>
              </a:lnSpc>
              <a:spcBef>
                <a:spcPts val="0"/>
              </a:spcBef>
              <a:spcAft>
                <a:spcPts val="400"/>
              </a:spcAft>
            </a:pPr>
            <a:r>
              <a:rPr sz="3000" b="1" i="0">
                <a:solidFill>
                  <a:srgbClr val="E8A33D"/>
                </a:solidFill>
                <a:latin typeface="Calibri"/>
              </a:rPr>
              <a:t>~500²</a:t>
            </a:r>
          </a:p>
        </p:txBody>
      </p:sp>
      <p:sp>
        <p:nvSpPr>
          <p:cNvPr id="25" name="TextBox 24"/>
          <p:cNvSpPr txBox="1"/>
          <p:nvPr/>
        </p:nvSpPr>
        <p:spPr>
          <a:xfrm>
            <a:off x="9006840" y="2514600"/>
            <a:ext cx="2194560" cy="457200"/>
          </a:xfrm>
          <a:prstGeom prst="rect">
            <a:avLst/>
          </a:prstGeom>
          <a:noFill/>
        </p:spPr>
        <p:txBody>
          <a:bodyPr wrap="square" anchor="t" lIns="0" rIns="0" tIns="0" bIns="0">
            <a:spAutoFit/>
          </a:bodyPr>
          <a:lstStyle/>
          <a:p>
            <a:pPr algn="ctr">
              <a:lnSpc>
                <a:spcPct val="100000"/>
              </a:lnSpc>
              <a:spcBef>
                <a:spcPts val="0"/>
              </a:spcBef>
              <a:spcAft>
                <a:spcPts val="400"/>
              </a:spcAft>
            </a:pPr>
            <a:r>
              <a:rPr sz="1200" b="1" i="0">
                <a:solidFill>
                  <a:srgbClr val="45596B"/>
                </a:solidFill>
                <a:latin typeface="Calibri"/>
              </a:rPr>
              <a:t>avg px · PNG + masks</a:t>
            </a:r>
          </a:p>
        </p:txBody>
      </p:sp>
      <p:sp>
        <p:nvSpPr>
          <p:cNvPr id="26" name="TextBox 25"/>
          <p:cNvSpPr txBox="1"/>
          <p:nvPr/>
        </p:nvSpPr>
        <p:spPr>
          <a:xfrm>
            <a:off x="777240" y="3291840"/>
            <a:ext cx="10607040" cy="365760"/>
          </a:xfrm>
          <a:prstGeom prst="rect">
            <a:avLst/>
          </a:prstGeom>
          <a:noFill/>
        </p:spPr>
        <p:txBody>
          <a:bodyPr wrap="square" anchor="t" lIns="0" rIns="0" tIns="0" bIns="0">
            <a:spAutoFit/>
          </a:bodyPr>
          <a:lstStyle/>
          <a:p>
            <a:pPr algn="l">
              <a:lnSpc>
                <a:spcPct val="100000"/>
              </a:lnSpc>
              <a:spcBef>
                <a:spcPts val="0"/>
              </a:spcBef>
              <a:spcAft>
                <a:spcPts val="400"/>
              </a:spcAft>
            </a:pPr>
            <a:r>
              <a:rPr sz="1400" b="1" i="0">
                <a:solidFill>
                  <a:srgbClr val="1B2A38"/>
                </a:solidFill>
                <a:latin typeface="Calibri"/>
              </a:rPr>
              <a:t>We ran a 10-part exploratory analysis; four questions drove every downstream design choice:</a:t>
            </a:r>
          </a:p>
        </p:txBody>
      </p:sp>
      <p:sp>
        <p:nvSpPr>
          <p:cNvPr id="27" name="Rounded Rectangle 26"/>
          <p:cNvSpPr/>
          <p:nvPr/>
        </p:nvSpPr>
        <p:spPr>
          <a:xfrm>
            <a:off x="777240" y="3840480"/>
            <a:ext cx="5166360" cy="914400"/>
          </a:xfrm>
          <a:prstGeom prst="roundRect">
            <a:avLst/>
          </a:prstGeom>
          <a:solidFill>
            <a:srgbClr val="F1F6F8"/>
          </a:solidFill>
          <a:ln w="9525">
            <a:solidFill>
              <a:srgbClr val="CBD8DE"/>
            </a:solidFill>
          </a:ln>
          <a:effectLst/>
          <a:effectLst>
            <a:outerShdw blurRad="90000" dist="38100" dir="5400000" rotWithShape="0">
              <a:srgbClr val="1B2A38">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777240" y="3840480"/>
            <a:ext cx="109728" cy="914400"/>
          </a:xfrm>
          <a:prstGeom prst="roundRect">
            <a:avLst/>
          </a:prstGeom>
          <a:solidFill>
            <a:srgbClr val="3AA6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51560" y="3950208"/>
            <a:ext cx="4754880" cy="365760"/>
          </a:xfrm>
          <a:prstGeom prst="rect">
            <a:avLst/>
          </a:prstGeom>
          <a:noFill/>
        </p:spPr>
        <p:txBody>
          <a:bodyPr wrap="square" anchor="t" lIns="0" rIns="0" tIns="0" bIns="0">
            <a:spAutoFit/>
          </a:bodyPr>
          <a:lstStyle/>
          <a:p>
            <a:pPr algn="l">
              <a:lnSpc>
                <a:spcPct val="100000"/>
              </a:lnSpc>
              <a:spcBef>
                <a:spcPts val="0"/>
              </a:spcBef>
              <a:spcAft>
                <a:spcPts val="400"/>
              </a:spcAft>
            </a:pPr>
            <a:r>
              <a:rPr sz="1350" b="1" i="0">
                <a:solidFill>
                  <a:srgbClr val="1B2A38"/>
                </a:solidFill>
                <a:latin typeface="Calibri"/>
              </a:rPr>
              <a:t>How imbalanced?</a:t>
            </a:r>
          </a:p>
        </p:txBody>
      </p:sp>
      <p:sp>
        <p:nvSpPr>
          <p:cNvPr id="30" name="TextBox 29"/>
          <p:cNvSpPr txBox="1"/>
          <p:nvPr/>
        </p:nvSpPr>
        <p:spPr>
          <a:xfrm>
            <a:off x="1051560" y="4315968"/>
            <a:ext cx="4754880" cy="411480"/>
          </a:xfrm>
          <a:prstGeom prst="rect">
            <a:avLst/>
          </a:prstGeom>
          <a:noFill/>
        </p:spPr>
        <p:txBody>
          <a:bodyPr wrap="square" anchor="t" lIns="0" rIns="0" tIns="0" bIns="0">
            <a:spAutoFit/>
          </a:bodyPr>
          <a:lstStyle/>
          <a:p>
            <a:pPr algn="l">
              <a:lnSpc>
                <a:spcPct val="100000"/>
              </a:lnSpc>
              <a:spcBef>
                <a:spcPts val="0"/>
              </a:spcBef>
              <a:spcAft>
                <a:spcPts val="400"/>
              </a:spcAft>
            </a:pPr>
            <a:r>
              <a:rPr sz="1200" b="0" i="0">
                <a:solidFill>
                  <a:srgbClr val="45596B"/>
                </a:solidFill>
                <a:latin typeface="Calibri"/>
              </a:rPr>
              <a:t>benign 56% · malignant 27% · normal 17% → class weights</a:t>
            </a:r>
          </a:p>
        </p:txBody>
      </p:sp>
      <p:sp>
        <p:nvSpPr>
          <p:cNvPr id="31" name="Rounded Rectangle 30"/>
          <p:cNvSpPr/>
          <p:nvPr/>
        </p:nvSpPr>
        <p:spPr>
          <a:xfrm>
            <a:off x="6172200" y="3840480"/>
            <a:ext cx="5166360" cy="914400"/>
          </a:xfrm>
          <a:prstGeom prst="roundRect">
            <a:avLst/>
          </a:prstGeom>
          <a:solidFill>
            <a:srgbClr val="F1F6F8"/>
          </a:solidFill>
          <a:ln w="9525">
            <a:solidFill>
              <a:srgbClr val="CBD8DE"/>
            </a:solidFill>
          </a:ln>
          <a:effectLst/>
          <a:effectLst>
            <a:outerShdw blurRad="90000" dist="38100" dir="5400000" rotWithShape="0">
              <a:srgbClr val="1B2A38">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6172200" y="3840480"/>
            <a:ext cx="109728" cy="914400"/>
          </a:xfrm>
          <a:prstGeom prst="roundRect">
            <a:avLst/>
          </a:prstGeom>
          <a:solidFill>
            <a:srgbClr val="1F8A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46520" y="3950208"/>
            <a:ext cx="4754880" cy="365760"/>
          </a:xfrm>
          <a:prstGeom prst="rect">
            <a:avLst/>
          </a:prstGeom>
          <a:noFill/>
        </p:spPr>
        <p:txBody>
          <a:bodyPr wrap="square" anchor="t" lIns="0" rIns="0" tIns="0" bIns="0">
            <a:spAutoFit/>
          </a:bodyPr>
          <a:lstStyle/>
          <a:p>
            <a:pPr algn="l">
              <a:lnSpc>
                <a:spcPct val="100000"/>
              </a:lnSpc>
              <a:spcBef>
                <a:spcPts val="0"/>
              </a:spcBef>
              <a:spcAft>
                <a:spcPts val="400"/>
              </a:spcAft>
            </a:pPr>
            <a:r>
              <a:rPr sz="1350" b="1" i="0">
                <a:solidFill>
                  <a:srgbClr val="1B2A38"/>
                </a:solidFill>
                <a:latin typeface="Calibri"/>
              </a:rPr>
              <a:t>How big are lesions?</a:t>
            </a:r>
          </a:p>
        </p:txBody>
      </p:sp>
      <p:sp>
        <p:nvSpPr>
          <p:cNvPr id="34" name="TextBox 33"/>
          <p:cNvSpPr txBox="1"/>
          <p:nvPr/>
        </p:nvSpPr>
        <p:spPr>
          <a:xfrm>
            <a:off x="6446520" y="4315968"/>
            <a:ext cx="4754880" cy="411480"/>
          </a:xfrm>
          <a:prstGeom prst="rect">
            <a:avLst/>
          </a:prstGeom>
          <a:noFill/>
        </p:spPr>
        <p:txBody>
          <a:bodyPr wrap="square" anchor="t" lIns="0" rIns="0" tIns="0" bIns="0">
            <a:spAutoFit/>
          </a:bodyPr>
          <a:lstStyle/>
          <a:p>
            <a:pPr algn="l">
              <a:lnSpc>
                <a:spcPct val="100000"/>
              </a:lnSpc>
              <a:spcBef>
                <a:spcPts val="0"/>
              </a:spcBef>
              <a:spcAft>
                <a:spcPts val="400"/>
              </a:spcAft>
            </a:pPr>
            <a:r>
              <a:rPr sz="1200" b="0" i="0">
                <a:solidFill>
                  <a:srgbClr val="45596B"/>
                </a:solidFill>
                <a:latin typeface="Calibri"/>
              </a:rPr>
              <a:t>benign median just 3.8% of image → hard to segment</a:t>
            </a:r>
          </a:p>
        </p:txBody>
      </p:sp>
      <p:sp>
        <p:nvSpPr>
          <p:cNvPr id="35" name="Rounded Rectangle 34"/>
          <p:cNvSpPr/>
          <p:nvPr/>
        </p:nvSpPr>
        <p:spPr>
          <a:xfrm>
            <a:off x="777240" y="4892040"/>
            <a:ext cx="5166360" cy="914400"/>
          </a:xfrm>
          <a:prstGeom prst="roundRect">
            <a:avLst/>
          </a:prstGeom>
          <a:solidFill>
            <a:srgbClr val="F1F6F8"/>
          </a:solidFill>
          <a:ln w="9525">
            <a:solidFill>
              <a:srgbClr val="CBD8DE"/>
            </a:solidFill>
          </a:ln>
          <a:effectLst/>
          <a:effectLst>
            <a:outerShdw blurRad="90000" dist="38100" dir="5400000" rotWithShape="0">
              <a:srgbClr val="1B2A38">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777240" y="4892040"/>
            <a:ext cx="109728" cy="914400"/>
          </a:xfrm>
          <a:prstGeom prst="roundRect">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51560" y="5001768"/>
            <a:ext cx="4754880" cy="365760"/>
          </a:xfrm>
          <a:prstGeom prst="rect">
            <a:avLst/>
          </a:prstGeom>
          <a:noFill/>
        </p:spPr>
        <p:txBody>
          <a:bodyPr wrap="square" anchor="t" lIns="0" rIns="0" tIns="0" bIns="0">
            <a:spAutoFit/>
          </a:bodyPr>
          <a:lstStyle/>
          <a:p>
            <a:pPr algn="l">
              <a:lnSpc>
                <a:spcPct val="100000"/>
              </a:lnSpc>
              <a:spcBef>
                <a:spcPts val="0"/>
              </a:spcBef>
              <a:spcAft>
                <a:spcPts val="400"/>
              </a:spcAft>
            </a:pPr>
            <a:r>
              <a:rPr sz="1350" b="1" i="0">
                <a:solidFill>
                  <a:srgbClr val="1B2A38"/>
                </a:solidFill>
                <a:latin typeface="Calibri"/>
              </a:rPr>
              <a:t>Can intensity classify?</a:t>
            </a:r>
          </a:p>
        </p:txBody>
      </p:sp>
      <p:sp>
        <p:nvSpPr>
          <p:cNvPr id="38" name="TextBox 37"/>
          <p:cNvSpPr txBox="1"/>
          <p:nvPr/>
        </p:nvSpPr>
        <p:spPr>
          <a:xfrm>
            <a:off x="1051560" y="5367527"/>
            <a:ext cx="4754880" cy="411480"/>
          </a:xfrm>
          <a:prstGeom prst="rect">
            <a:avLst/>
          </a:prstGeom>
          <a:noFill/>
        </p:spPr>
        <p:txBody>
          <a:bodyPr wrap="square" anchor="t" lIns="0" rIns="0" tIns="0" bIns="0">
            <a:spAutoFit/>
          </a:bodyPr>
          <a:lstStyle/>
          <a:p>
            <a:pPr algn="l">
              <a:lnSpc>
                <a:spcPct val="100000"/>
              </a:lnSpc>
              <a:spcBef>
                <a:spcPts val="0"/>
              </a:spcBef>
              <a:spcAft>
                <a:spcPts val="400"/>
              </a:spcAft>
            </a:pPr>
            <a:r>
              <a:rPr sz="1200" b="0" i="0">
                <a:solidFill>
                  <a:srgbClr val="45596B"/>
                </a:solidFill>
                <a:latin typeface="Calibri"/>
              </a:rPr>
              <a:t>distributions overlap → need learned features + normalisation</a:t>
            </a:r>
          </a:p>
        </p:txBody>
      </p:sp>
      <p:sp>
        <p:nvSpPr>
          <p:cNvPr id="39" name="Rounded Rectangle 38"/>
          <p:cNvSpPr/>
          <p:nvPr/>
        </p:nvSpPr>
        <p:spPr>
          <a:xfrm>
            <a:off x="6172200" y="4892040"/>
            <a:ext cx="5166360" cy="914400"/>
          </a:xfrm>
          <a:prstGeom prst="roundRect">
            <a:avLst/>
          </a:prstGeom>
          <a:solidFill>
            <a:srgbClr val="F1F6F8"/>
          </a:solidFill>
          <a:ln w="9525">
            <a:solidFill>
              <a:srgbClr val="CBD8DE"/>
            </a:solidFill>
          </a:ln>
          <a:effectLst/>
          <a:effectLst>
            <a:outerShdw blurRad="90000" dist="38100" dir="5400000" rotWithShape="0">
              <a:srgbClr val="1B2A38">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6172200" y="4892040"/>
            <a:ext cx="109728" cy="914400"/>
          </a:xfrm>
          <a:prstGeom prst="roundRect">
            <a:avLst/>
          </a:prstGeom>
          <a:solidFill>
            <a:srgbClr val="E159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446520" y="5001768"/>
            <a:ext cx="4754880" cy="365760"/>
          </a:xfrm>
          <a:prstGeom prst="rect">
            <a:avLst/>
          </a:prstGeom>
          <a:noFill/>
        </p:spPr>
        <p:txBody>
          <a:bodyPr wrap="square" anchor="t" lIns="0" rIns="0" tIns="0" bIns="0">
            <a:spAutoFit/>
          </a:bodyPr>
          <a:lstStyle/>
          <a:p>
            <a:pPr algn="l">
              <a:lnSpc>
                <a:spcPct val="100000"/>
              </a:lnSpc>
              <a:spcBef>
                <a:spcPts val="0"/>
              </a:spcBef>
              <a:spcAft>
                <a:spcPts val="400"/>
              </a:spcAft>
            </a:pPr>
            <a:r>
              <a:rPr sz="1350" b="1" i="0">
                <a:solidFill>
                  <a:srgbClr val="1B2A38"/>
                </a:solidFill>
                <a:latin typeface="Calibri"/>
              </a:rPr>
              <a:t>Is the data clean?</a:t>
            </a:r>
          </a:p>
        </p:txBody>
      </p:sp>
      <p:sp>
        <p:nvSpPr>
          <p:cNvPr id="42" name="TextBox 41"/>
          <p:cNvSpPr txBox="1"/>
          <p:nvPr/>
        </p:nvSpPr>
        <p:spPr>
          <a:xfrm>
            <a:off x="6446520" y="5367527"/>
            <a:ext cx="4754880" cy="411480"/>
          </a:xfrm>
          <a:prstGeom prst="rect">
            <a:avLst/>
          </a:prstGeom>
          <a:noFill/>
        </p:spPr>
        <p:txBody>
          <a:bodyPr wrap="square" anchor="t" lIns="0" rIns="0" tIns="0" bIns="0">
            <a:spAutoFit/>
          </a:bodyPr>
          <a:lstStyle/>
          <a:p>
            <a:pPr algn="l">
              <a:lnSpc>
                <a:spcPct val="100000"/>
              </a:lnSpc>
              <a:spcBef>
                <a:spcPts val="0"/>
              </a:spcBef>
              <a:spcAft>
                <a:spcPts val="400"/>
              </a:spcAft>
            </a:pPr>
            <a:r>
              <a:rPr sz="1200" b="0" i="0">
                <a:solidFill>
                  <a:srgbClr val="45596B"/>
                </a:solidFill>
                <a:latin typeface="Calibri"/>
              </a:rPr>
              <a:t>36% are near-duplicates, some cross-class → leakage risk!</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 y="475488"/>
            <a:ext cx="118872" cy="658368"/>
          </a:xfrm>
          <a:prstGeom prst="rect">
            <a:avLst/>
          </a:prstGeom>
          <a:solidFill>
            <a:srgbClr val="3AA6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457200"/>
            <a:ext cx="10789920" cy="320040"/>
          </a:xfrm>
          <a:prstGeom prst="rect">
            <a:avLst/>
          </a:prstGeom>
          <a:noFill/>
        </p:spPr>
        <p:txBody>
          <a:bodyPr wrap="square" anchor="t" lIns="0" rIns="0" tIns="0" bIns="0">
            <a:spAutoFit/>
          </a:bodyPr>
          <a:lstStyle/>
          <a:p>
            <a:pPr algn="l">
              <a:lnSpc>
                <a:spcPct val="100000"/>
              </a:lnSpc>
              <a:spcBef>
                <a:spcPts val="0"/>
              </a:spcBef>
              <a:spcAft>
                <a:spcPts val="400"/>
              </a:spcAft>
            </a:pPr>
            <a:r>
              <a:rPr sz="1250" b="1" i="0">
                <a:solidFill>
                  <a:srgbClr val="3AA655"/>
                </a:solidFill>
                <a:latin typeface="Calibri"/>
              </a:rPr>
              <a:t>2 · EDA</a:t>
            </a:r>
          </a:p>
        </p:txBody>
      </p:sp>
      <p:sp>
        <p:nvSpPr>
          <p:cNvPr id="6" name="TextBox 5"/>
          <p:cNvSpPr txBox="1"/>
          <p:nvPr/>
        </p:nvSpPr>
        <p:spPr>
          <a:xfrm>
            <a:off x="777240" y="713232"/>
            <a:ext cx="10881360" cy="566928"/>
          </a:xfrm>
          <a:prstGeom prst="rect">
            <a:avLst/>
          </a:prstGeom>
          <a:noFill/>
        </p:spPr>
        <p:txBody>
          <a:bodyPr wrap="square" anchor="t" lIns="0" rIns="0" tIns="0" bIns="0">
            <a:spAutoFit/>
          </a:bodyPr>
          <a:lstStyle/>
          <a:p>
            <a:pPr algn="l">
              <a:lnSpc>
                <a:spcPct val="100000"/>
              </a:lnSpc>
              <a:spcBef>
                <a:spcPts val="0"/>
              </a:spcBef>
              <a:spcAft>
                <a:spcPts val="400"/>
              </a:spcAft>
            </a:pPr>
            <a:r>
              <a:rPr sz="2500" b="1" i="0">
                <a:solidFill>
                  <a:srgbClr val="1B2A38"/>
                </a:solidFill>
                <a:latin typeface="Calibri"/>
              </a:rPr>
              <a:t>Imbalanced classes &amp; tiny benign lesions</a:t>
            </a:r>
          </a:p>
        </p:txBody>
      </p:sp>
      <p:sp>
        <p:nvSpPr>
          <p:cNvPr id="7" name="Rectangle 6"/>
          <p:cNvSpPr/>
          <p:nvPr/>
        </p:nvSpPr>
        <p:spPr>
          <a:xfrm>
            <a:off x="777240" y="1316736"/>
            <a:ext cx="10634472" cy="18288"/>
          </a:xfrm>
          <a:prstGeom prst="rect">
            <a:avLst/>
          </a:prstGeom>
          <a:solidFill>
            <a:srgbClr val="CBD8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73952"/>
            <a:ext cx="7315200" cy="274320"/>
          </a:xfrm>
          <a:prstGeom prst="rect">
            <a:avLst/>
          </a:prstGeom>
          <a:noFill/>
        </p:spPr>
        <p:txBody>
          <a:bodyPr wrap="square" anchor="t" lIns="0" rIns="0" tIns="0" bIns="0">
            <a:spAutoFit/>
          </a:bodyPr>
          <a:lstStyle/>
          <a:p>
            <a:pPr algn="l">
              <a:lnSpc>
                <a:spcPct val="100000"/>
              </a:lnSpc>
              <a:spcBef>
                <a:spcPts val="0"/>
              </a:spcBef>
              <a:spcAft>
                <a:spcPts val="400"/>
              </a:spcAft>
            </a:pPr>
            <a:r>
              <a:rPr sz="900" b="0" i="0">
                <a:solidFill>
                  <a:srgbClr val="8A94A6"/>
                </a:solidFill>
                <a:latin typeface="Calibri"/>
              </a:rPr>
              <a:t>COMP9444 · Group Project 047 · Breast Ultrasound (BUSI)</a:t>
            </a:r>
          </a:p>
        </p:txBody>
      </p:sp>
      <p:sp>
        <p:nvSpPr>
          <p:cNvPr id="9" name="TextBox 8"/>
          <p:cNvSpPr txBox="1"/>
          <p:nvPr/>
        </p:nvSpPr>
        <p:spPr>
          <a:xfrm>
            <a:off x="11064240" y="6473952"/>
            <a:ext cx="685800" cy="274320"/>
          </a:xfrm>
          <a:prstGeom prst="rect">
            <a:avLst/>
          </a:prstGeom>
          <a:noFill/>
        </p:spPr>
        <p:txBody>
          <a:bodyPr wrap="square" anchor="t" lIns="0" rIns="0" tIns="0" bIns="0">
            <a:spAutoFit/>
          </a:bodyPr>
          <a:lstStyle/>
          <a:p>
            <a:pPr algn="r">
              <a:lnSpc>
                <a:spcPct val="100000"/>
              </a:lnSpc>
              <a:spcBef>
                <a:spcPts val="0"/>
              </a:spcBef>
              <a:spcAft>
                <a:spcPts val="400"/>
              </a:spcAft>
            </a:pPr>
            <a:r>
              <a:rPr sz="900" b="1" i="0">
                <a:solidFill>
                  <a:srgbClr val="8A94A6"/>
                </a:solidFill>
                <a:latin typeface="Calibri"/>
              </a:rPr>
              <a:t>8</a:t>
            </a:r>
          </a:p>
        </p:txBody>
      </p:sp>
      <p:pic>
        <p:nvPicPr>
          <p:cNvPr id="10" name="Picture 9" descr="fig01_class_distribution.png"/>
          <p:cNvPicPr>
            <a:picLocks noChangeAspect="1"/>
          </p:cNvPicPr>
          <p:nvPr/>
        </p:nvPicPr>
        <p:blipFill>
          <a:blip r:embed="rId2"/>
          <a:stretch>
            <a:fillRect/>
          </a:stretch>
        </p:blipFill>
        <p:spPr>
          <a:xfrm>
            <a:off x="844032" y="1600200"/>
            <a:ext cx="5078494" cy="2194560"/>
          </a:xfrm>
          <a:prstGeom prst="rect">
            <a:avLst/>
          </a:prstGeom>
          <a:ln w="9525">
            <a:solidFill>
              <a:srgbClr val="CBD8DE"/>
            </a:solidFill>
          </a:ln>
        </p:spPr>
      </p:pic>
      <p:pic>
        <p:nvPicPr>
          <p:cNvPr id="11" name="Picture 10" descr="fig05_area_ratio.png"/>
          <p:cNvPicPr>
            <a:picLocks noChangeAspect="1"/>
          </p:cNvPicPr>
          <p:nvPr/>
        </p:nvPicPr>
        <p:blipFill>
          <a:blip r:embed="rId3"/>
          <a:stretch>
            <a:fillRect/>
          </a:stretch>
        </p:blipFill>
        <p:spPr>
          <a:xfrm>
            <a:off x="640080" y="3932831"/>
            <a:ext cx="5486400" cy="2101296"/>
          </a:xfrm>
          <a:prstGeom prst="rect">
            <a:avLst/>
          </a:prstGeom>
          <a:ln w="9525">
            <a:solidFill>
              <a:srgbClr val="CBD8DE"/>
            </a:solidFill>
          </a:ln>
        </p:spPr>
      </p:pic>
      <p:sp>
        <p:nvSpPr>
          <p:cNvPr id="12" name="Rounded Rectangle 11"/>
          <p:cNvSpPr/>
          <p:nvPr/>
        </p:nvSpPr>
        <p:spPr>
          <a:xfrm>
            <a:off x="6400800" y="1645920"/>
            <a:ext cx="5029200" cy="4297680"/>
          </a:xfrm>
          <a:prstGeom prst="roundRect">
            <a:avLst/>
          </a:prstGeom>
          <a:solidFill>
            <a:srgbClr val="F1F6F8"/>
          </a:solidFill>
          <a:ln w="9525">
            <a:solidFill>
              <a:srgbClr val="CBD8DE"/>
            </a:solidFill>
          </a:ln>
          <a:effectLst/>
          <a:effectLst>
            <a:outerShdw blurRad="90000" dist="38100" dir="5400000" rotWithShape="0">
              <a:srgbClr val="1B2A38">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29400" y="1828800"/>
            <a:ext cx="4572000" cy="365760"/>
          </a:xfrm>
          <a:prstGeom prst="rect">
            <a:avLst/>
          </a:prstGeom>
          <a:noFill/>
        </p:spPr>
        <p:txBody>
          <a:bodyPr wrap="square" anchor="t" lIns="0" rIns="0" tIns="0" bIns="0">
            <a:spAutoFit/>
          </a:bodyPr>
          <a:lstStyle/>
          <a:p>
            <a:pPr algn="l">
              <a:lnSpc>
                <a:spcPct val="100000"/>
              </a:lnSpc>
              <a:spcBef>
                <a:spcPts val="0"/>
              </a:spcBef>
              <a:spcAft>
                <a:spcPts val="400"/>
              </a:spcAft>
            </a:pPr>
            <a:r>
              <a:rPr sz="1400" b="1" i="0">
                <a:solidFill>
                  <a:srgbClr val="0E4D64"/>
                </a:solidFill>
                <a:latin typeface="Calibri"/>
              </a:rPr>
              <a:t>Read-outs → design choices</a:t>
            </a:r>
          </a:p>
        </p:txBody>
      </p:sp>
      <p:sp>
        <p:nvSpPr>
          <p:cNvPr id="14" name="TextBox 13"/>
          <p:cNvSpPr txBox="1"/>
          <p:nvPr/>
        </p:nvSpPr>
        <p:spPr>
          <a:xfrm>
            <a:off x="6629400" y="2331720"/>
            <a:ext cx="4617720" cy="3566160"/>
          </a:xfrm>
          <a:prstGeom prst="rect">
            <a:avLst/>
          </a:prstGeom>
          <a:noFill/>
        </p:spPr>
        <p:txBody>
          <a:bodyPr wrap="square" lIns="0" rIns="0" tIns="0" bIns="0">
            <a:spAutoFit/>
          </a:bodyPr>
          <a:lstStyle/>
          <a:p>
            <a:pPr>
              <a:lnSpc>
                <a:spcPct val="102000"/>
              </a:lnSpc>
              <a:spcBef>
                <a:spcPts val="0"/>
              </a:spcBef>
              <a:spcAft>
                <a:spcPts val="900"/>
              </a:spcAft>
            </a:pPr>
            <a:r>
              <a:rPr sz="1300" b="1">
                <a:solidFill>
                  <a:srgbClr val="0E4D64"/>
                </a:solidFill>
                <a:latin typeface="Calibri"/>
              </a:rPr>
              <a:t>•  </a:t>
            </a:r>
            <a:r>
              <a:rPr sz="1300" b="1">
                <a:solidFill>
                  <a:srgbClr val="0E4D64"/>
                </a:solidFill>
                <a:latin typeface="Calibri"/>
              </a:rPr>
              <a:t>Imbalance: </a:t>
            </a:r>
            <a:r>
              <a:rPr sz="1300" b="0">
                <a:solidFill>
                  <a:srgbClr val="1B2A38"/>
                </a:solidFill>
                <a:latin typeface="Calibri"/>
              </a:rPr>
              <a:t>benign 56% / malignant 27% / normal 17%.</a:t>
            </a:r>
          </a:p>
          <a:p>
            <a:pPr>
              <a:lnSpc>
                <a:spcPct val="102000"/>
              </a:lnSpc>
              <a:spcBef>
                <a:spcPts val="0"/>
              </a:spcBef>
              <a:spcAft>
                <a:spcPts val="900"/>
              </a:spcAft>
            </a:pPr>
            <a:r>
              <a:rPr sz="1200">
                <a:solidFill>
                  <a:srgbClr val="45596B"/>
                </a:solidFill>
                <a:latin typeface="Calibri"/>
              </a:rPr>
              <a:t>      –  </a:t>
            </a:r>
            <a:r>
              <a:rPr sz="1200" b="0">
                <a:solidFill>
                  <a:srgbClr val="45596B"/>
                </a:solidFill>
                <a:latin typeface="Calibri"/>
              </a:rPr>
              <a:t>→ inverse-frequency class weights in the loss; report macro-F1 not accuracy.</a:t>
            </a:r>
          </a:p>
          <a:p>
            <a:pPr>
              <a:lnSpc>
                <a:spcPct val="102000"/>
              </a:lnSpc>
              <a:spcBef>
                <a:spcPts val="0"/>
              </a:spcBef>
              <a:spcAft>
                <a:spcPts val="900"/>
              </a:spcAft>
            </a:pPr>
            <a:r>
              <a:rPr sz="1300" b="1">
                <a:solidFill>
                  <a:srgbClr val="0E4D64"/>
                </a:solidFill>
                <a:latin typeface="Calibri"/>
              </a:rPr>
              <a:t>•  </a:t>
            </a:r>
            <a:r>
              <a:rPr sz="1300" b="1">
                <a:solidFill>
                  <a:srgbClr val="0E4D64"/>
                </a:solidFill>
                <a:latin typeface="Calibri"/>
              </a:rPr>
              <a:t>Lesion size: </a:t>
            </a:r>
            <a:r>
              <a:rPr sz="1300" b="0">
                <a:solidFill>
                  <a:srgbClr val="1B2A38"/>
                </a:solidFill>
                <a:latin typeface="Calibri"/>
              </a:rPr>
              <a:t>malignant median 12.1% of image vs. benign only 3.8%.</a:t>
            </a:r>
          </a:p>
          <a:p>
            <a:pPr>
              <a:lnSpc>
                <a:spcPct val="102000"/>
              </a:lnSpc>
              <a:spcBef>
                <a:spcPts val="0"/>
              </a:spcBef>
              <a:spcAft>
                <a:spcPts val="900"/>
              </a:spcAft>
            </a:pPr>
            <a:r>
              <a:rPr sz="1200">
                <a:solidFill>
                  <a:srgbClr val="45596B"/>
                </a:solidFill>
                <a:latin typeface="Calibri"/>
              </a:rPr>
              <a:t>      –  </a:t>
            </a:r>
            <a:r>
              <a:rPr sz="1200" b="0">
                <a:solidFill>
                  <a:srgbClr val="45596B"/>
                </a:solidFill>
                <a:latin typeface="Calibri"/>
              </a:rPr>
              <a:t>→ tiny benign masses are the hardest to segment; Dice is very sensitive here.</a:t>
            </a:r>
          </a:p>
          <a:p>
            <a:pPr>
              <a:lnSpc>
                <a:spcPct val="102000"/>
              </a:lnSpc>
              <a:spcBef>
                <a:spcPts val="0"/>
              </a:spcBef>
              <a:spcAft>
                <a:spcPts val="900"/>
              </a:spcAft>
            </a:pPr>
            <a:r>
              <a:rPr sz="1200">
                <a:solidFill>
                  <a:srgbClr val="45596B"/>
                </a:solidFill>
                <a:latin typeface="Calibri"/>
              </a:rPr>
              <a:t>      –  </a:t>
            </a:r>
            <a:r>
              <a:rPr sz="1200" b="0">
                <a:solidFill>
                  <a:srgbClr val="45596B"/>
                </a:solidFill>
                <a:latin typeface="Calibri"/>
              </a:rPr>
              <a:t>→ score Dice per-image then average (don't pool pixels — big lesions would dominate).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 y="475488"/>
            <a:ext cx="118872" cy="658368"/>
          </a:xfrm>
          <a:prstGeom prst="rect">
            <a:avLst/>
          </a:prstGeom>
          <a:solidFill>
            <a:srgbClr val="3AA6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457200"/>
            <a:ext cx="10789920" cy="320040"/>
          </a:xfrm>
          <a:prstGeom prst="rect">
            <a:avLst/>
          </a:prstGeom>
          <a:noFill/>
        </p:spPr>
        <p:txBody>
          <a:bodyPr wrap="square" anchor="t" lIns="0" rIns="0" tIns="0" bIns="0">
            <a:spAutoFit/>
          </a:bodyPr>
          <a:lstStyle/>
          <a:p>
            <a:pPr algn="l">
              <a:lnSpc>
                <a:spcPct val="100000"/>
              </a:lnSpc>
              <a:spcBef>
                <a:spcPts val="0"/>
              </a:spcBef>
              <a:spcAft>
                <a:spcPts val="400"/>
              </a:spcAft>
            </a:pPr>
            <a:r>
              <a:rPr sz="1250" b="1" i="0">
                <a:solidFill>
                  <a:srgbClr val="3AA655"/>
                </a:solidFill>
                <a:latin typeface="Calibri"/>
              </a:rPr>
              <a:t>2 · EDA</a:t>
            </a:r>
          </a:p>
        </p:txBody>
      </p:sp>
      <p:sp>
        <p:nvSpPr>
          <p:cNvPr id="6" name="TextBox 5"/>
          <p:cNvSpPr txBox="1"/>
          <p:nvPr/>
        </p:nvSpPr>
        <p:spPr>
          <a:xfrm>
            <a:off x="777240" y="713232"/>
            <a:ext cx="10881360" cy="566928"/>
          </a:xfrm>
          <a:prstGeom prst="rect">
            <a:avLst/>
          </a:prstGeom>
          <a:noFill/>
        </p:spPr>
        <p:txBody>
          <a:bodyPr wrap="square" anchor="t" lIns="0" rIns="0" tIns="0" bIns="0">
            <a:spAutoFit/>
          </a:bodyPr>
          <a:lstStyle/>
          <a:p>
            <a:pPr algn="l">
              <a:lnSpc>
                <a:spcPct val="100000"/>
              </a:lnSpc>
              <a:spcBef>
                <a:spcPts val="0"/>
              </a:spcBef>
              <a:spcAft>
                <a:spcPts val="400"/>
              </a:spcAft>
            </a:pPr>
            <a:r>
              <a:rPr sz="2500" b="1" i="0">
                <a:solidFill>
                  <a:srgbClr val="1B2A38"/>
                </a:solidFill>
                <a:latin typeface="Calibri"/>
              </a:rPr>
              <a:t>Location bias &amp; why intensity alone fails</a:t>
            </a:r>
          </a:p>
        </p:txBody>
      </p:sp>
      <p:sp>
        <p:nvSpPr>
          <p:cNvPr id="7" name="Rectangle 6"/>
          <p:cNvSpPr/>
          <p:nvPr/>
        </p:nvSpPr>
        <p:spPr>
          <a:xfrm>
            <a:off x="777240" y="1316736"/>
            <a:ext cx="10634472" cy="18288"/>
          </a:xfrm>
          <a:prstGeom prst="rect">
            <a:avLst/>
          </a:prstGeom>
          <a:solidFill>
            <a:srgbClr val="CBD8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73952"/>
            <a:ext cx="7315200" cy="274320"/>
          </a:xfrm>
          <a:prstGeom prst="rect">
            <a:avLst/>
          </a:prstGeom>
          <a:noFill/>
        </p:spPr>
        <p:txBody>
          <a:bodyPr wrap="square" anchor="t" lIns="0" rIns="0" tIns="0" bIns="0">
            <a:spAutoFit/>
          </a:bodyPr>
          <a:lstStyle/>
          <a:p>
            <a:pPr algn="l">
              <a:lnSpc>
                <a:spcPct val="100000"/>
              </a:lnSpc>
              <a:spcBef>
                <a:spcPts val="0"/>
              </a:spcBef>
              <a:spcAft>
                <a:spcPts val="400"/>
              </a:spcAft>
            </a:pPr>
            <a:r>
              <a:rPr sz="900" b="0" i="0">
                <a:solidFill>
                  <a:srgbClr val="8A94A6"/>
                </a:solidFill>
                <a:latin typeface="Calibri"/>
              </a:rPr>
              <a:t>COMP9444 · Group Project 047 · Breast Ultrasound (BUSI)</a:t>
            </a:r>
          </a:p>
        </p:txBody>
      </p:sp>
      <p:sp>
        <p:nvSpPr>
          <p:cNvPr id="9" name="TextBox 8"/>
          <p:cNvSpPr txBox="1"/>
          <p:nvPr/>
        </p:nvSpPr>
        <p:spPr>
          <a:xfrm>
            <a:off x="11064240" y="6473952"/>
            <a:ext cx="685800" cy="274320"/>
          </a:xfrm>
          <a:prstGeom prst="rect">
            <a:avLst/>
          </a:prstGeom>
          <a:noFill/>
        </p:spPr>
        <p:txBody>
          <a:bodyPr wrap="square" anchor="t" lIns="0" rIns="0" tIns="0" bIns="0">
            <a:spAutoFit/>
          </a:bodyPr>
          <a:lstStyle/>
          <a:p>
            <a:pPr algn="r">
              <a:lnSpc>
                <a:spcPct val="100000"/>
              </a:lnSpc>
              <a:spcBef>
                <a:spcPts val="0"/>
              </a:spcBef>
              <a:spcAft>
                <a:spcPts val="400"/>
              </a:spcAft>
            </a:pPr>
            <a:r>
              <a:rPr sz="900" b="1" i="0">
                <a:solidFill>
                  <a:srgbClr val="8A94A6"/>
                </a:solidFill>
                <a:latin typeface="Calibri"/>
              </a:rPr>
              <a:t>9</a:t>
            </a:r>
          </a:p>
        </p:txBody>
      </p:sp>
      <p:pic>
        <p:nvPicPr>
          <p:cNvPr id="10" name="Picture 9" descr="fig06_location_heatmap.png"/>
          <p:cNvPicPr>
            <a:picLocks noChangeAspect="1"/>
          </p:cNvPicPr>
          <p:nvPr/>
        </p:nvPicPr>
        <p:blipFill>
          <a:blip r:embed="rId2"/>
          <a:stretch>
            <a:fillRect/>
          </a:stretch>
        </p:blipFill>
        <p:spPr>
          <a:xfrm>
            <a:off x="2985567" y="1600200"/>
            <a:ext cx="6190384" cy="2148840"/>
          </a:xfrm>
          <a:prstGeom prst="rect">
            <a:avLst/>
          </a:prstGeom>
          <a:ln w="9525">
            <a:solidFill>
              <a:srgbClr val="CBD8DE"/>
            </a:solidFill>
          </a:ln>
        </p:spPr>
      </p:pic>
      <p:pic>
        <p:nvPicPr>
          <p:cNvPr id="11" name="Picture 10" descr="fig07_intensity.png"/>
          <p:cNvPicPr>
            <a:picLocks noChangeAspect="1"/>
          </p:cNvPicPr>
          <p:nvPr/>
        </p:nvPicPr>
        <p:blipFill>
          <a:blip r:embed="rId3"/>
          <a:stretch>
            <a:fillRect/>
          </a:stretch>
        </p:blipFill>
        <p:spPr>
          <a:xfrm>
            <a:off x="812312" y="3886200"/>
            <a:ext cx="7245054" cy="2194560"/>
          </a:xfrm>
          <a:prstGeom prst="rect">
            <a:avLst/>
          </a:prstGeom>
          <a:ln w="9525">
            <a:solidFill>
              <a:srgbClr val="CBD8DE"/>
            </a:solidFill>
          </a:ln>
        </p:spPr>
      </p:pic>
      <p:sp>
        <p:nvSpPr>
          <p:cNvPr id="12" name="Rounded Rectangle 11"/>
          <p:cNvSpPr/>
          <p:nvPr/>
        </p:nvSpPr>
        <p:spPr>
          <a:xfrm>
            <a:off x="8458200" y="3886200"/>
            <a:ext cx="2971800" cy="2194560"/>
          </a:xfrm>
          <a:prstGeom prst="roundRect">
            <a:avLst/>
          </a:prstGeom>
          <a:solidFill>
            <a:srgbClr val="F1F6F8"/>
          </a:solidFill>
          <a:ln w="9525">
            <a:solidFill>
              <a:srgbClr val="CBD8DE"/>
            </a:solidFill>
          </a:ln>
          <a:effectLst/>
          <a:effectLst>
            <a:outerShdw blurRad="90000" dist="38100" dir="5400000" rotWithShape="0">
              <a:srgbClr val="1B2A38">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59368" y="4041648"/>
            <a:ext cx="2606040" cy="365760"/>
          </a:xfrm>
          <a:prstGeom prst="rect">
            <a:avLst/>
          </a:prstGeom>
          <a:noFill/>
        </p:spPr>
        <p:txBody>
          <a:bodyPr wrap="square" anchor="t" lIns="0" rIns="0" tIns="0" bIns="0">
            <a:spAutoFit/>
          </a:bodyPr>
          <a:lstStyle/>
          <a:p>
            <a:pPr algn="l">
              <a:lnSpc>
                <a:spcPct val="100000"/>
              </a:lnSpc>
              <a:spcBef>
                <a:spcPts val="0"/>
              </a:spcBef>
              <a:spcAft>
                <a:spcPts val="400"/>
              </a:spcAft>
            </a:pPr>
            <a:r>
              <a:rPr sz="1350" b="1" i="0">
                <a:solidFill>
                  <a:srgbClr val="0E4D64"/>
                </a:solidFill>
                <a:latin typeface="Calibri"/>
              </a:rPr>
              <a:t>Takeaways</a:t>
            </a:r>
          </a:p>
        </p:txBody>
      </p:sp>
      <p:sp>
        <p:nvSpPr>
          <p:cNvPr id="14" name="TextBox 13"/>
          <p:cNvSpPr txBox="1"/>
          <p:nvPr/>
        </p:nvSpPr>
        <p:spPr>
          <a:xfrm>
            <a:off x="8659368" y="4480560"/>
            <a:ext cx="2606040" cy="1554480"/>
          </a:xfrm>
          <a:prstGeom prst="rect">
            <a:avLst/>
          </a:prstGeom>
          <a:noFill/>
        </p:spPr>
        <p:txBody>
          <a:bodyPr wrap="square" lIns="0" rIns="0" tIns="0" bIns="0">
            <a:spAutoFit/>
          </a:bodyPr>
          <a:lstStyle/>
          <a:p>
            <a:pPr>
              <a:lnSpc>
                <a:spcPct val="102000"/>
              </a:lnSpc>
              <a:spcBef>
                <a:spcPts val="0"/>
              </a:spcBef>
              <a:spcAft>
                <a:spcPts val="800"/>
              </a:spcAft>
            </a:pPr>
            <a:r>
              <a:rPr sz="1150" b="1">
                <a:solidFill>
                  <a:srgbClr val="0E4D64"/>
                </a:solidFill>
                <a:latin typeface="Calibri"/>
              </a:rPr>
              <a:t>›  </a:t>
            </a:r>
            <a:r>
              <a:rPr sz="1150" b="0">
                <a:solidFill>
                  <a:srgbClr val="1B2A38"/>
                </a:solidFill>
                <a:latin typeface="Calibri"/>
              </a:rPr>
              <a:t>lesions cluster near image centre (acquisition bias).</a:t>
            </a:r>
          </a:p>
          <a:p>
            <a:pPr>
              <a:lnSpc>
                <a:spcPct val="102000"/>
              </a:lnSpc>
              <a:spcBef>
                <a:spcPts val="0"/>
              </a:spcBef>
              <a:spcAft>
                <a:spcPts val="800"/>
              </a:spcAft>
            </a:pPr>
            <a:r>
              <a:rPr sz="1150" b="1">
                <a:solidFill>
                  <a:srgbClr val="0E4D64"/>
                </a:solidFill>
                <a:latin typeface="Calibri"/>
              </a:rPr>
              <a:t>›  </a:t>
            </a:r>
            <a:r>
              <a:rPr sz="1150" b="0">
                <a:solidFill>
                  <a:srgbClr val="1B2A38"/>
                </a:solidFill>
                <a:latin typeface="Calibri"/>
              </a:rPr>
              <a:t>class intensity/contrast overlap heavily.</a:t>
            </a:r>
          </a:p>
          <a:p>
            <a:pPr>
              <a:lnSpc>
                <a:spcPct val="102000"/>
              </a:lnSpc>
              <a:spcBef>
                <a:spcPts val="0"/>
              </a:spcBef>
              <a:spcAft>
                <a:spcPts val="800"/>
              </a:spcAft>
            </a:pPr>
            <a:r>
              <a:rPr sz="1150" b="1">
                <a:solidFill>
                  <a:srgbClr val="0E4D64"/>
                </a:solidFill>
                <a:latin typeface="Calibri"/>
              </a:rPr>
              <a:t>›  </a:t>
            </a:r>
            <a:r>
              <a:rPr sz="1150" b="0">
                <a:solidFill>
                  <a:srgbClr val="1B2A38"/>
                </a:solidFill>
                <a:latin typeface="Calibri"/>
              </a:rPr>
              <a:t>→ pixel brightness is a weak feature; need learned features + normalisation.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 y="475488"/>
            <a:ext cx="118872" cy="658368"/>
          </a:xfrm>
          <a:prstGeom prst="rect">
            <a:avLst/>
          </a:prstGeom>
          <a:solidFill>
            <a:srgbClr val="E159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457200"/>
            <a:ext cx="10789920" cy="320040"/>
          </a:xfrm>
          <a:prstGeom prst="rect">
            <a:avLst/>
          </a:prstGeom>
          <a:noFill/>
        </p:spPr>
        <p:txBody>
          <a:bodyPr wrap="square" anchor="t" lIns="0" rIns="0" tIns="0" bIns="0">
            <a:spAutoFit/>
          </a:bodyPr>
          <a:lstStyle/>
          <a:p>
            <a:pPr algn="l">
              <a:lnSpc>
                <a:spcPct val="100000"/>
              </a:lnSpc>
              <a:spcBef>
                <a:spcPts val="0"/>
              </a:spcBef>
              <a:spcAft>
                <a:spcPts val="400"/>
              </a:spcAft>
            </a:pPr>
            <a:r>
              <a:rPr sz="1250" b="1" i="0">
                <a:solidFill>
                  <a:srgbClr val="E1595B"/>
                </a:solidFill>
                <a:latin typeface="Calibri"/>
              </a:rPr>
              <a:t>2 · EDA — KEY FINDING</a:t>
            </a:r>
          </a:p>
        </p:txBody>
      </p:sp>
      <p:sp>
        <p:nvSpPr>
          <p:cNvPr id="6" name="TextBox 5"/>
          <p:cNvSpPr txBox="1"/>
          <p:nvPr/>
        </p:nvSpPr>
        <p:spPr>
          <a:xfrm>
            <a:off x="777240" y="713232"/>
            <a:ext cx="10881360" cy="566928"/>
          </a:xfrm>
          <a:prstGeom prst="rect">
            <a:avLst/>
          </a:prstGeom>
          <a:noFill/>
        </p:spPr>
        <p:txBody>
          <a:bodyPr wrap="square" anchor="t" lIns="0" rIns="0" tIns="0" bIns="0">
            <a:spAutoFit/>
          </a:bodyPr>
          <a:lstStyle/>
          <a:p>
            <a:pPr algn="l">
              <a:lnSpc>
                <a:spcPct val="100000"/>
              </a:lnSpc>
              <a:spcBef>
                <a:spcPts val="0"/>
              </a:spcBef>
              <a:spcAft>
                <a:spcPts val="400"/>
              </a:spcAft>
            </a:pPr>
            <a:r>
              <a:rPr sz="2500" b="1" i="0">
                <a:solidFill>
                  <a:srgbClr val="1B2A38"/>
                </a:solidFill>
                <a:latin typeface="Calibri"/>
              </a:rPr>
              <a:t>Hidden trap: near-duplicates cause data leakage</a:t>
            </a:r>
          </a:p>
        </p:txBody>
      </p:sp>
      <p:sp>
        <p:nvSpPr>
          <p:cNvPr id="7" name="Rectangle 6"/>
          <p:cNvSpPr/>
          <p:nvPr/>
        </p:nvSpPr>
        <p:spPr>
          <a:xfrm>
            <a:off x="777240" y="1316736"/>
            <a:ext cx="10634472" cy="18288"/>
          </a:xfrm>
          <a:prstGeom prst="rect">
            <a:avLst/>
          </a:prstGeom>
          <a:solidFill>
            <a:srgbClr val="CBD8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73952"/>
            <a:ext cx="7315200" cy="274320"/>
          </a:xfrm>
          <a:prstGeom prst="rect">
            <a:avLst/>
          </a:prstGeom>
          <a:noFill/>
        </p:spPr>
        <p:txBody>
          <a:bodyPr wrap="square" anchor="t" lIns="0" rIns="0" tIns="0" bIns="0">
            <a:spAutoFit/>
          </a:bodyPr>
          <a:lstStyle/>
          <a:p>
            <a:pPr algn="l">
              <a:lnSpc>
                <a:spcPct val="100000"/>
              </a:lnSpc>
              <a:spcBef>
                <a:spcPts val="0"/>
              </a:spcBef>
              <a:spcAft>
                <a:spcPts val="400"/>
              </a:spcAft>
            </a:pPr>
            <a:r>
              <a:rPr sz="900" b="0" i="0">
                <a:solidFill>
                  <a:srgbClr val="8A94A6"/>
                </a:solidFill>
                <a:latin typeface="Calibri"/>
              </a:rPr>
              <a:t>COMP9444 · Group Project 047 · Breast Ultrasound (BUSI)</a:t>
            </a:r>
          </a:p>
        </p:txBody>
      </p:sp>
      <p:sp>
        <p:nvSpPr>
          <p:cNvPr id="9" name="TextBox 8"/>
          <p:cNvSpPr txBox="1"/>
          <p:nvPr/>
        </p:nvSpPr>
        <p:spPr>
          <a:xfrm>
            <a:off x="11064240" y="6473952"/>
            <a:ext cx="685800" cy="274320"/>
          </a:xfrm>
          <a:prstGeom prst="rect">
            <a:avLst/>
          </a:prstGeom>
          <a:noFill/>
        </p:spPr>
        <p:txBody>
          <a:bodyPr wrap="square" anchor="t" lIns="0" rIns="0" tIns="0" bIns="0">
            <a:spAutoFit/>
          </a:bodyPr>
          <a:lstStyle/>
          <a:p>
            <a:pPr algn="r">
              <a:lnSpc>
                <a:spcPct val="100000"/>
              </a:lnSpc>
              <a:spcBef>
                <a:spcPts val="0"/>
              </a:spcBef>
              <a:spcAft>
                <a:spcPts val="400"/>
              </a:spcAft>
            </a:pPr>
            <a:r>
              <a:rPr sz="900" b="1" i="0">
                <a:solidFill>
                  <a:srgbClr val="8A94A6"/>
                </a:solidFill>
                <a:latin typeface="Calibri"/>
              </a:rPr>
              <a:t>10</a:t>
            </a:r>
          </a:p>
        </p:txBody>
      </p:sp>
      <p:pic>
        <p:nvPicPr>
          <p:cNvPr id="10" name="Picture 9" descr="fig09_duplicates.png"/>
          <p:cNvPicPr>
            <a:picLocks noChangeAspect="1"/>
          </p:cNvPicPr>
          <p:nvPr/>
        </p:nvPicPr>
        <p:blipFill>
          <a:blip r:embed="rId2"/>
          <a:stretch>
            <a:fillRect/>
          </a:stretch>
        </p:blipFill>
        <p:spPr>
          <a:xfrm>
            <a:off x="1129151" y="1554480"/>
            <a:ext cx="5788417" cy="2194560"/>
          </a:xfrm>
          <a:prstGeom prst="rect">
            <a:avLst/>
          </a:prstGeom>
          <a:ln w="9525">
            <a:solidFill>
              <a:srgbClr val="CBD8DE"/>
            </a:solidFill>
          </a:ln>
        </p:spPr>
      </p:pic>
      <p:pic>
        <p:nvPicPr>
          <p:cNvPr id="11" name="Picture 10" descr="fig10_leakage.png"/>
          <p:cNvPicPr>
            <a:picLocks noChangeAspect="1"/>
          </p:cNvPicPr>
          <p:nvPr/>
        </p:nvPicPr>
        <p:blipFill>
          <a:blip r:embed="rId3"/>
          <a:stretch>
            <a:fillRect/>
          </a:stretch>
        </p:blipFill>
        <p:spPr>
          <a:xfrm>
            <a:off x="1194481" y="3840480"/>
            <a:ext cx="5657756" cy="2194560"/>
          </a:xfrm>
          <a:prstGeom prst="rect">
            <a:avLst/>
          </a:prstGeom>
          <a:ln w="9525">
            <a:solidFill>
              <a:srgbClr val="CBD8DE"/>
            </a:solidFill>
          </a:ln>
        </p:spPr>
      </p:pic>
      <p:sp>
        <p:nvSpPr>
          <p:cNvPr id="12" name="Rounded Rectangle 11"/>
          <p:cNvSpPr/>
          <p:nvPr/>
        </p:nvSpPr>
        <p:spPr>
          <a:xfrm>
            <a:off x="7635240" y="1645920"/>
            <a:ext cx="3794760" cy="4343400"/>
          </a:xfrm>
          <a:prstGeom prst="roundRect">
            <a:avLst/>
          </a:prstGeom>
          <a:solidFill>
            <a:srgbClr val="F7E9E9"/>
          </a:solidFill>
          <a:ln w="9525">
            <a:solidFill>
              <a:srgbClr val="CBD8DE"/>
            </a:solidFill>
          </a:ln>
          <a:effectLst/>
          <a:effectLst>
            <a:outerShdw blurRad="90000" dist="38100" dir="5400000" rotWithShape="0">
              <a:srgbClr val="1B2A38">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7635240" y="1645920"/>
            <a:ext cx="3794760" cy="502920"/>
          </a:xfrm>
          <a:prstGeom prst="roundRect">
            <a:avLst/>
          </a:prstGeom>
          <a:solidFill>
            <a:srgbClr val="E159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635240" y="1920240"/>
            <a:ext cx="3794760" cy="228600"/>
          </a:xfrm>
          <a:prstGeom prst="rect">
            <a:avLst/>
          </a:prstGeom>
          <a:solidFill>
            <a:srgbClr val="F7E9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836408" y="1700784"/>
            <a:ext cx="3383280" cy="457200"/>
          </a:xfrm>
          <a:prstGeom prst="rect">
            <a:avLst/>
          </a:prstGeom>
          <a:noFill/>
        </p:spPr>
        <p:txBody>
          <a:bodyPr wrap="square" anchor="ctr" lIns="0" rIns="0" tIns="0" bIns="0">
            <a:spAutoFit/>
          </a:bodyPr>
          <a:lstStyle/>
          <a:p>
            <a:pPr algn="l">
              <a:lnSpc>
                <a:spcPct val="100000"/>
              </a:lnSpc>
              <a:spcBef>
                <a:spcPts val="0"/>
              </a:spcBef>
              <a:spcAft>
                <a:spcPts val="400"/>
              </a:spcAft>
            </a:pPr>
            <a:r>
              <a:rPr sz="1350" b="1" i="0">
                <a:solidFill>
                  <a:srgbClr val="FFFFFF"/>
                </a:solidFill>
                <a:latin typeface="Calibri"/>
              </a:rPr>
              <a:t>THE PROBLEM</a:t>
            </a:r>
          </a:p>
        </p:txBody>
      </p:sp>
      <p:sp>
        <p:nvSpPr>
          <p:cNvPr id="16" name="TextBox 15"/>
          <p:cNvSpPr txBox="1"/>
          <p:nvPr/>
        </p:nvSpPr>
        <p:spPr>
          <a:xfrm>
            <a:off x="7836408" y="2331720"/>
            <a:ext cx="3383280" cy="2011680"/>
          </a:xfrm>
          <a:prstGeom prst="rect">
            <a:avLst/>
          </a:prstGeom>
          <a:noFill/>
        </p:spPr>
        <p:txBody>
          <a:bodyPr wrap="square" lIns="0" rIns="0" tIns="0" bIns="0">
            <a:spAutoFit/>
          </a:bodyPr>
          <a:lstStyle/>
          <a:p>
            <a:pPr>
              <a:lnSpc>
                <a:spcPct val="102000"/>
              </a:lnSpc>
              <a:spcBef>
                <a:spcPts val="0"/>
              </a:spcBef>
              <a:spcAft>
                <a:spcPts val="900"/>
              </a:spcAft>
            </a:pPr>
            <a:r>
              <a:rPr sz="1250" b="1">
                <a:solidFill>
                  <a:srgbClr val="E1595B"/>
                </a:solidFill>
                <a:latin typeface="Calibri"/>
              </a:rPr>
              <a:t>›  </a:t>
            </a:r>
            <a:r>
              <a:rPr sz="1250" b="0">
                <a:solidFill>
                  <a:srgbClr val="1B2A38"/>
                </a:solidFill>
                <a:latin typeface="Calibri"/>
              </a:rPr>
              <a:t>pHash finds 277 imgs (36%) in 124 near-duplicate clusters.</a:t>
            </a:r>
          </a:p>
          <a:p>
            <a:pPr>
              <a:lnSpc>
                <a:spcPct val="102000"/>
              </a:lnSpc>
              <a:spcBef>
                <a:spcPts val="0"/>
              </a:spcBef>
              <a:spcAft>
                <a:spcPts val="900"/>
              </a:spcAft>
            </a:pPr>
            <a:r>
              <a:rPr sz="1250" b="1">
                <a:solidFill>
                  <a:srgbClr val="E1595B"/>
                </a:solidFill>
                <a:latin typeface="Calibri"/>
              </a:rPr>
              <a:t>›  </a:t>
            </a:r>
            <a:r>
              <a:rPr sz="1250" b="0">
                <a:solidFill>
                  <a:srgbClr val="1B2A38"/>
                </a:solidFill>
                <a:latin typeface="Calibri"/>
              </a:rPr>
              <a:t>some duplicates even span classes (benign≈malignant copy!).</a:t>
            </a:r>
          </a:p>
          <a:p>
            <a:pPr>
              <a:lnSpc>
                <a:spcPct val="102000"/>
              </a:lnSpc>
              <a:spcBef>
                <a:spcPts val="0"/>
              </a:spcBef>
              <a:spcAft>
                <a:spcPts val="900"/>
              </a:spcAft>
            </a:pPr>
            <a:r>
              <a:rPr sz="1250" b="1">
                <a:solidFill>
                  <a:srgbClr val="E1595B"/>
                </a:solidFill>
                <a:latin typeface="Calibri"/>
              </a:rPr>
              <a:t>›  </a:t>
            </a:r>
            <a:r>
              <a:rPr sz="1250" b="0">
                <a:solidFill>
                  <a:srgbClr val="1B2A38"/>
                </a:solidFill>
                <a:latin typeface="Calibri"/>
              </a:rPr>
              <a:t>a random 70/30 split leaks ~59 clusters across train &amp; test.</a:t>
            </a:r>
          </a:p>
        </p:txBody>
      </p:sp>
      <p:sp>
        <p:nvSpPr>
          <p:cNvPr id="17" name="Rounded Rectangle 16"/>
          <p:cNvSpPr/>
          <p:nvPr/>
        </p:nvSpPr>
        <p:spPr>
          <a:xfrm>
            <a:off x="7836408" y="4434840"/>
            <a:ext cx="3383280" cy="1371600"/>
          </a:xfrm>
          <a:prstGeom prst="roundRect">
            <a:avLst/>
          </a:prstGeom>
          <a:solidFill>
            <a:srgbClr val="FFFFFF"/>
          </a:solidFill>
          <a:ln w="15240">
            <a:solidFill>
              <a:srgbClr val="E159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01000" y="4553712"/>
            <a:ext cx="3063240" cy="1188720"/>
          </a:xfrm>
          <a:prstGeom prst="rect">
            <a:avLst/>
          </a:prstGeom>
          <a:noFill/>
        </p:spPr>
        <p:txBody>
          <a:bodyPr wrap="square" anchor="t" lIns="0" rIns="0" tIns="0" bIns="0">
            <a:spAutoFit/>
          </a:bodyPr>
          <a:lstStyle/>
          <a:p>
            <a:pPr algn="l">
              <a:lnSpc>
                <a:spcPct val="110000"/>
              </a:lnSpc>
              <a:spcBef>
                <a:spcPts val="0"/>
              </a:spcBef>
              <a:spcAft>
                <a:spcPts val="400"/>
              </a:spcAft>
            </a:pPr>
            <a:r>
              <a:rPr sz="1300" b="1" i="0">
                <a:solidFill>
                  <a:srgbClr val="E1595B"/>
                </a:solidFill>
                <a:latin typeface="Calibri"/>
              </a:rPr>
              <a:t>Our fix:</a:t>
            </a:r>
          </a:p>
          <a:p>
            <a:pPr algn="l">
              <a:lnSpc>
                <a:spcPct val="110000"/>
              </a:lnSpc>
              <a:spcBef>
                <a:spcPts val="0"/>
              </a:spcBef>
              <a:spcAft>
                <a:spcPts val="400"/>
              </a:spcAft>
            </a:pPr>
            <a:r>
              <a:rPr sz="1250" b="0" i="0">
                <a:solidFill>
                  <a:srgbClr val="1B2A38"/>
                </a:solidFill>
                <a:latin typeface="Calibri"/>
              </a:rPr>
              <a:t>cluster-level, class-stratified 70/15/15 split — no duplicate can cross the train/test line.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 y="475488"/>
            <a:ext cx="118872" cy="658368"/>
          </a:xfrm>
          <a:prstGeom prst="rect">
            <a:avLst/>
          </a:prstGeom>
          <a:solidFill>
            <a:srgbClr val="3AA6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457200"/>
            <a:ext cx="10789920" cy="320040"/>
          </a:xfrm>
          <a:prstGeom prst="rect">
            <a:avLst/>
          </a:prstGeom>
          <a:noFill/>
        </p:spPr>
        <p:txBody>
          <a:bodyPr wrap="square" anchor="t" lIns="0" rIns="0" tIns="0" bIns="0">
            <a:spAutoFit/>
          </a:bodyPr>
          <a:lstStyle/>
          <a:p>
            <a:pPr algn="l">
              <a:lnSpc>
                <a:spcPct val="100000"/>
              </a:lnSpc>
              <a:spcBef>
                <a:spcPts val="0"/>
              </a:spcBef>
              <a:spcAft>
                <a:spcPts val="400"/>
              </a:spcAft>
            </a:pPr>
            <a:r>
              <a:rPr sz="1250" b="1" i="0">
                <a:solidFill>
                  <a:srgbClr val="3AA655"/>
                </a:solidFill>
                <a:latin typeface="Calibri"/>
              </a:rPr>
              <a:t>2 · PRE-PROCESSING</a:t>
            </a:r>
          </a:p>
        </p:txBody>
      </p:sp>
      <p:sp>
        <p:nvSpPr>
          <p:cNvPr id="6" name="TextBox 5"/>
          <p:cNvSpPr txBox="1"/>
          <p:nvPr/>
        </p:nvSpPr>
        <p:spPr>
          <a:xfrm>
            <a:off x="777240" y="713232"/>
            <a:ext cx="10881360" cy="566928"/>
          </a:xfrm>
          <a:prstGeom prst="rect">
            <a:avLst/>
          </a:prstGeom>
          <a:noFill/>
        </p:spPr>
        <p:txBody>
          <a:bodyPr wrap="square" anchor="t" lIns="0" rIns="0" tIns="0" bIns="0">
            <a:spAutoFit/>
          </a:bodyPr>
          <a:lstStyle/>
          <a:p>
            <a:pPr algn="l">
              <a:lnSpc>
                <a:spcPct val="100000"/>
              </a:lnSpc>
              <a:spcBef>
                <a:spcPts val="0"/>
              </a:spcBef>
              <a:spcAft>
                <a:spcPts val="400"/>
              </a:spcAft>
            </a:pPr>
            <a:r>
              <a:rPr sz="2500" b="1" i="0">
                <a:solidFill>
                  <a:srgbClr val="1B2A38"/>
                </a:solidFill>
                <a:latin typeface="Calibri"/>
              </a:rPr>
              <a:t>One shared, leakage-free data pipeline</a:t>
            </a:r>
          </a:p>
        </p:txBody>
      </p:sp>
      <p:sp>
        <p:nvSpPr>
          <p:cNvPr id="7" name="Rectangle 6"/>
          <p:cNvSpPr/>
          <p:nvPr/>
        </p:nvSpPr>
        <p:spPr>
          <a:xfrm>
            <a:off x="777240" y="1316736"/>
            <a:ext cx="10634472" cy="18288"/>
          </a:xfrm>
          <a:prstGeom prst="rect">
            <a:avLst/>
          </a:prstGeom>
          <a:solidFill>
            <a:srgbClr val="CBD8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73952"/>
            <a:ext cx="7315200" cy="274320"/>
          </a:xfrm>
          <a:prstGeom prst="rect">
            <a:avLst/>
          </a:prstGeom>
          <a:noFill/>
        </p:spPr>
        <p:txBody>
          <a:bodyPr wrap="square" anchor="t" lIns="0" rIns="0" tIns="0" bIns="0">
            <a:spAutoFit/>
          </a:bodyPr>
          <a:lstStyle/>
          <a:p>
            <a:pPr algn="l">
              <a:lnSpc>
                <a:spcPct val="100000"/>
              </a:lnSpc>
              <a:spcBef>
                <a:spcPts val="0"/>
              </a:spcBef>
              <a:spcAft>
                <a:spcPts val="400"/>
              </a:spcAft>
            </a:pPr>
            <a:r>
              <a:rPr sz="900" b="0" i="0">
                <a:solidFill>
                  <a:srgbClr val="8A94A6"/>
                </a:solidFill>
                <a:latin typeface="Calibri"/>
              </a:rPr>
              <a:t>COMP9444 · Group Project 047 · Breast Ultrasound (BUSI)</a:t>
            </a:r>
          </a:p>
        </p:txBody>
      </p:sp>
      <p:sp>
        <p:nvSpPr>
          <p:cNvPr id="9" name="TextBox 8"/>
          <p:cNvSpPr txBox="1"/>
          <p:nvPr/>
        </p:nvSpPr>
        <p:spPr>
          <a:xfrm>
            <a:off x="11064240" y="6473952"/>
            <a:ext cx="685800" cy="274320"/>
          </a:xfrm>
          <a:prstGeom prst="rect">
            <a:avLst/>
          </a:prstGeom>
          <a:noFill/>
        </p:spPr>
        <p:txBody>
          <a:bodyPr wrap="square" anchor="t" lIns="0" rIns="0" tIns="0" bIns="0">
            <a:spAutoFit/>
          </a:bodyPr>
          <a:lstStyle/>
          <a:p>
            <a:pPr algn="r">
              <a:lnSpc>
                <a:spcPct val="100000"/>
              </a:lnSpc>
              <a:spcBef>
                <a:spcPts val="0"/>
              </a:spcBef>
              <a:spcAft>
                <a:spcPts val="400"/>
              </a:spcAft>
            </a:pPr>
            <a:r>
              <a:rPr sz="900" b="1" i="0">
                <a:solidFill>
                  <a:srgbClr val="8A94A6"/>
                </a:solidFill>
                <a:latin typeface="Calibri"/>
              </a:rPr>
              <a:t>11</a:t>
            </a:r>
          </a:p>
        </p:txBody>
      </p:sp>
      <p:sp>
        <p:nvSpPr>
          <p:cNvPr id="10" name="Rounded Rectangle 9"/>
          <p:cNvSpPr/>
          <p:nvPr/>
        </p:nvSpPr>
        <p:spPr>
          <a:xfrm>
            <a:off x="777240" y="1783080"/>
            <a:ext cx="2487168" cy="1737360"/>
          </a:xfrm>
          <a:prstGeom prst="roundRect">
            <a:avLst/>
          </a:prstGeom>
          <a:solidFill>
            <a:srgbClr val="F1F6F8"/>
          </a:solidFill>
          <a:ln w="9525">
            <a:solidFill>
              <a:srgbClr val="CBD8DE"/>
            </a:solidFill>
          </a:ln>
          <a:effectLst/>
          <a:effectLst>
            <a:outerShdw blurRad="90000" dist="38100" dir="5400000" rotWithShape="0">
              <a:srgbClr val="1B2A38">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77240" y="1783080"/>
            <a:ext cx="2487168" cy="457200"/>
          </a:xfrm>
          <a:prstGeom prst="roundRect">
            <a:avLst/>
          </a:prstGeom>
          <a:solidFill>
            <a:srgbClr val="3AA6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2011680"/>
            <a:ext cx="2487168" cy="228600"/>
          </a:xfrm>
          <a:prstGeom prst="rect">
            <a:avLst/>
          </a:prstGeom>
          <a:solidFill>
            <a:srgbClr val="F1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1828800"/>
            <a:ext cx="2487168" cy="411480"/>
          </a:xfrm>
          <a:prstGeom prst="rect">
            <a:avLst/>
          </a:prstGeom>
          <a:noFill/>
        </p:spPr>
        <p:txBody>
          <a:bodyPr wrap="square" anchor="ctr" lIns="0" rIns="0" tIns="0" bIns="0">
            <a:spAutoFit/>
          </a:bodyPr>
          <a:lstStyle/>
          <a:p>
            <a:pPr algn="ctr">
              <a:lnSpc>
                <a:spcPct val="100000"/>
              </a:lnSpc>
              <a:spcBef>
                <a:spcPts val="0"/>
              </a:spcBef>
              <a:spcAft>
                <a:spcPts val="400"/>
              </a:spcAft>
            </a:pPr>
            <a:r>
              <a:rPr sz="1400" b="1" i="0">
                <a:solidFill>
                  <a:srgbClr val="FFFFFF"/>
                </a:solidFill>
                <a:latin typeface="Calibri"/>
              </a:rPr>
              <a:t>CLEAN</a:t>
            </a:r>
          </a:p>
        </p:txBody>
      </p:sp>
      <p:sp>
        <p:nvSpPr>
          <p:cNvPr id="14" name="TextBox 13"/>
          <p:cNvSpPr txBox="1"/>
          <p:nvPr/>
        </p:nvSpPr>
        <p:spPr>
          <a:xfrm>
            <a:off x="923544" y="2350008"/>
            <a:ext cx="2194560" cy="1097280"/>
          </a:xfrm>
          <a:prstGeom prst="rect">
            <a:avLst/>
          </a:prstGeom>
          <a:noFill/>
        </p:spPr>
        <p:txBody>
          <a:bodyPr wrap="square" anchor="t" lIns="0" rIns="0" tIns="0" bIns="0">
            <a:spAutoFit/>
          </a:bodyPr>
          <a:lstStyle/>
          <a:p>
            <a:pPr algn="l">
              <a:lnSpc>
                <a:spcPct val="112000"/>
              </a:lnSpc>
              <a:spcBef>
                <a:spcPts val="0"/>
              </a:spcBef>
              <a:spcAft>
                <a:spcPts val="400"/>
              </a:spcAft>
            </a:pPr>
            <a:r>
              <a:rPr sz="1200" b="0" i="0">
                <a:solidFill>
                  <a:srgbClr val="1B2A38"/>
                </a:solidFill>
                <a:latin typeface="Calibri"/>
              </a:rPr>
              <a:t>drop cross-class duplicate · merge multi-masks by union</a:t>
            </a:r>
          </a:p>
        </p:txBody>
      </p:sp>
      <p:sp>
        <p:nvSpPr>
          <p:cNvPr id="15" name="Right Arrow 14"/>
          <p:cNvSpPr/>
          <p:nvPr/>
        </p:nvSpPr>
        <p:spPr>
          <a:xfrm>
            <a:off x="3282696" y="2523744"/>
            <a:ext cx="219456" cy="256032"/>
          </a:xfrm>
          <a:prstGeom prst="rightArrow">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3520440" y="1783080"/>
            <a:ext cx="2487168" cy="1737360"/>
          </a:xfrm>
          <a:prstGeom prst="roundRect">
            <a:avLst/>
          </a:prstGeom>
          <a:solidFill>
            <a:srgbClr val="F1F6F8"/>
          </a:solidFill>
          <a:ln w="9525">
            <a:solidFill>
              <a:srgbClr val="CBD8DE"/>
            </a:solidFill>
          </a:ln>
          <a:effectLst/>
          <a:effectLst>
            <a:outerShdw blurRad="90000" dist="38100" dir="5400000" rotWithShape="0">
              <a:srgbClr val="1B2A38">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3520440" y="1783080"/>
            <a:ext cx="2487168" cy="457200"/>
          </a:xfrm>
          <a:prstGeom prst="roundRect">
            <a:avLst/>
          </a:prstGeom>
          <a:solidFill>
            <a:srgbClr val="E159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520440" y="2011680"/>
            <a:ext cx="2487168" cy="228600"/>
          </a:xfrm>
          <a:prstGeom prst="rect">
            <a:avLst/>
          </a:prstGeom>
          <a:solidFill>
            <a:srgbClr val="F1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520440" y="1828800"/>
            <a:ext cx="2487168" cy="411480"/>
          </a:xfrm>
          <a:prstGeom prst="rect">
            <a:avLst/>
          </a:prstGeom>
          <a:noFill/>
        </p:spPr>
        <p:txBody>
          <a:bodyPr wrap="square" anchor="ctr" lIns="0" rIns="0" tIns="0" bIns="0">
            <a:spAutoFit/>
          </a:bodyPr>
          <a:lstStyle/>
          <a:p>
            <a:pPr algn="ctr">
              <a:lnSpc>
                <a:spcPct val="100000"/>
              </a:lnSpc>
              <a:spcBef>
                <a:spcPts val="0"/>
              </a:spcBef>
              <a:spcAft>
                <a:spcPts val="400"/>
              </a:spcAft>
            </a:pPr>
            <a:r>
              <a:rPr sz="1400" b="1" i="0">
                <a:solidFill>
                  <a:srgbClr val="FFFFFF"/>
                </a:solidFill>
                <a:latin typeface="Calibri"/>
              </a:rPr>
              <a:t>DE-LEAK</a:t>
            </a:r>
          </a:p>
        </p:txBody>
      </p:sp>
      <p:sp>
        <p:nvSpPr>
          <p:cNvPr id="20" name="TextBox 19"/>
          <p:cNvSpPr txBox="1"/>
          <p:nvPr/>
        </p:nvSpPr>
        <p:spPr>
          <a:xfrm>
            <a:off x="3666744" y="2350008"/>
            <a:ext cx="2194560" cy="1097280"/>
          </a:xfrm>
          <a:prstGeom prst="rect">
            <a:avLst/>
          </a:prstGeom>
          <a:noFill/>
        </p:spPr>
        <p:txBody>
          <a:bodyPr wrap="square" anchor="t" lIns="0" rIns="0" tIns="0" bIns="0">
            <a:spAutoFit/>
          </a:bodyPr>
          <a:lstStyle/>
          <a:p>
            <a:pPr algn="l">
              <a:lnSpc>
                <a:spcPct val="112000"/>
              </a:lnSpc>
              <a:spcBef>
                <a:spcPts val="0"/>
              </a:spcBef>
              <a:spcAft>
                <a:spcPts val="400"/>
              </a:spcAft>
            </a:pPr>
            <a:r>
              <a:rPr sz="1200" b="0" i="0">
                <a:solidFill>
                  <a:srgbClr val="1B2A38"/>
                </a:solidFill>
                <a:latin typeface="Calibri"/>
              </a:rPr>
              <a:t>pHash → 124 clusters · cluster-level stratified 70/15/15</a:t>
            </a:r>
          </a:p>
        </p:txBody>
      </p:sp>
      <p:sp>
        <p:nvSpPr>
          <p:cNvPr id="21" name="Right Arrow 20"/>
          <p:cNvSpPr/>
          <p:nvPr/>
        </p:nvSpPr>
        <p:spPr>
          <a:xfrm>
            <a:off x="6025896" y="2523744"/>
            <a:ext cx="219456" cy="256032"/>
          </a:xfrm>
          <a:prstGeom prst="rightArrow">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6263640" y="1783080"/>
            <a:ext cx="2487168" cy="1737360"/>
          </a:xfrm>
          <a:prstGeom prst="roundRect">
            <a:avLst/>
          </a:prstGeom>
          <a:solidFill>
            <a:srgbClr val="F1F6F8"/>
          </a:solidFill>
          <a:ln w="9525">
            <a:solidFill>
              <a:srgbClr val="CBD8DE"/>
            </a:solidFill>
          </a:ln>
          <a:effectLst/>
          <a:effectLst>
            <a:outerShdw blurRad="90000" dist="38100" dir="5400000" rotWithShape="0">
              <a:srgbClr val="1B2A38">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263640" y="1783080"/>
            <a:ext cx="2487168" cy="457200"/>
          </a:xfrm>
          <a:prstGeom prst="roundRect">
            <a:avLst/>
          </a:prstGeom>
          <a:solidFill>
            <a:srgbClr val="1F8A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63640" y="2011680"/>
            <a:ext cx="2487168" cy="228600"/>
          </a:xfrm>
          <a:prstGeom prst="rect">
            <a:avLst/>
          </a:prstGeom>
          <a:solidFill>
            <a:srgbClr val="F1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63640" y="1828800"/>
            <a:ext cx="2487168" cy="411480"/>
          </a:xfrm>
          <a:prstGeom prst="rect">
            <a:avLst/>
          </a:prstGeom>
          <a:noFill/>
        </p:spPr>
        <p:txBody>
          <a:bodyPr wrap="square" anchor="ctr" lIns="0" rIns="0" tIns="0" bIns="0">
            <a:spAutoFit/>
          </a:bodyPr>
          <a:lstStyle/>
          <a:p>
            <a:pPr algn="ctr">
              <a:lnSpc>
                <a:spcPct val="100000"/>
              </a:lnSpc>
              <a:spcBef>
                <a:spcPts val="0"/>
              </a:spcBef>
              <a:spcAft>
                <a:spcPts val="400"/>
              </a:spcAft>
            </a:pPr>
            <a:r>
              <a:rPr sz="1400" b="1" i="0">
                <a:solidFill>
                  <a:srgbClr val="FFFFFF"/>
                </a:solidFill>
                <a:latin typeface="Calibri"/>
              </a:rPr>
              <a:t>PRE-PROCESS</a:t>
            </a:r>
          </a:p>
        </p:txBody>
      </p:sp>
      <p:sp>
        <p:nvSpPr>
          <p:cNvPr id="26" name="TextBox 25"/>
          <p:cNvSpPr txBox="1"/>
          <p:nvPr/>
        </p:nvSpPr>
        <p:spPr>
          <a:xfrm>
            <a:off x="6409944" y="2350008"/>
            <a:ext cx="2194560" cy="1097280"/>
          </a:xfrm>
          <a:prstGeom prst="rect">
            <a:avLst/>
          </a:prstGeom>
          <a:noFill/>
        </p:spPr>
        <p:txBody>
          <a:bodyPr wrap="square" anchor="t" lIns="0" rIns="0" tIns="0" bIns="0">
            <a:spAutoFit/>
          </a:bodyPr>
          <a:lstStyle/>
          <a:p>
            <a:pPr algn="l">
              <a:lnSpc>
                <a:spcPct val="112000"/>
              </a:lnSpc>
              <a:spcBef>
                <a:spcPts val="0"/>
              </a:spcBef>
              <a:spcAft>
                <a:spcPts val="400"/>
              </a:spcAft>
            </a:pPr>
            <a:r>
              <a:rPr sz="1200" b="0" i="0">
                <a:solidFill>
                  <a:srgbClr val="1B2A38"/>
                </a:solidFill>
                <a:latin typeface="Calibri"/>
              </a:rPr>
              <a:t>letterbox 256×256 · grayscale · normalise [-1,1] or ImageNet</a:t>
            </a:r>
          </a:p>
        </p:txBody>
      </p:sp>
      <p:sp>
        <p:nvSpPr>
          <p:cNvPr id="27" name="Right Arrow 26"/>
          <p:cNvSpPr/>
          <p:nvPr/>
        </p:nvSpPr>
        <p:spPr>
          <a:xfrm>
            <a:off x="8769096" y="2523744"/>
            <a:ext cx="219456" cy="256032"/>
          </a:xfrm>
          <a:prstGeom prst="rightArrow">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9006840" y="1783080"/>
            <a:ext cx="2487168" cy="1737360"/>
          </a:xfrm>
          <a:prstGeom prst="roundRect">
            <a:avLst/>
          </a:prstGeom>
          <a:solidFill>
            <a:srgbClr val="F1F6F8"/>
          </a:solidFill>
          <a:ln w="9525">
            <a:solidFill>
              <a:srgbClr val="CBD8DE"/>
            </a:solidFill>
          </a:ln>
          <a:effectLst/>
          <a:effectLst>
            <a:outerShdw blurRad="90000" dist="38100" dir="5400000" rotWithShape="0">
              <a:srgbClr val="1B2A38">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9006840" y="1783080"/>
            <a:ext cx="2487168" cy="457200"/>
          </a:xfrm>
          <a:prstGeom prst="roundRect">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006840" y="2011680"/>
            <a:ext cx="2487168" cy="228600"/>
          </a:xfrm>
          <a:prstGeom prst="rect">
            <a:avLst/>
          </a:prstGeom>
          <a:solidFill>
            <a:srgbClr val="F1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06840" y="1828800"/>
            <a:ext cx="2487168" cy="411480"/>
          </a:xfrm>
          <a:prstGeom prst="rect">
            <a:avLst/>
          </a:prstGeom>
          <a:noFill/>
        </p:spPr>
        <p:txBody>
          <a:bodyPr wrap="square" anchor="ctr" lIns="0" rIns="0" tIns="0" bIns="0">
            <a:spAutoFit/>
          </a:bodyPr>
          <a:lstStyle/>
          <a:p>
            <a:pPr algn="ctr">
              <a:lnSpc>
                <a:spcPct val="100000"/>
              </a:lnSpc>
              <a:spcBef>
                <a:spcPts val="0"/>
              </a:spcBef>
              <a:spcAft>
                <a:spcPts val="400"/>
              </a:spcAft>
            </a:pPr>
            <a:r>
              <a:rPr sz="1400" b="1" i="0">
                <a:solidFill>
                  <a:srgbClr val="FFFFFF"/>
                </a:solidFill>
                <a:latin typeface="Calibri"/>
              </a:rPr>
              <a:t>AUGMENT</a:t>
            </a:r>
          </a:p>
        </p:txBody>
      </p:sp>
      <p:sp>
        <p:nvSpPr>
          <p:cNvPr id="32" name="TextBox 31"/>
          <p:cNvSpPr txBox="1"/>
          <p:nvPr/>
        </p:nvSpPr>
        <p:spPr>
          <a:xfrm>
            <a:off x="9153144" y="2350008"/>
            <a:ext cx="2194560" cy="1097280"/>
          </a:xfrm>
          <a:prstGeom prst="rect">
            <a:avLst/>
          </a:prstGeom>
          <a:noFill/>
        </p:spPr>
        <p:txBody>
          <a:bodyPr wrap="square" anchor="t" lIns="0" rIns="0" tIns="0" bIns="0">
            <a:spAutoFit/>
          </a:bodyPr>
          <a:lstStyle/>
          <a:p>
            <a:pPr algn="l">
              <a:lnSpc>
                <a:spcPct val="112000"/>
              </a:lnSpc>
              <a:spcBef>
                <a:spcPts val="0"/>
              </a:spcBef>
              <a:spcAft>
                <a:spcPts val="400"/>
              </a:spcAft>
            </a:pPr>
            <a:r>
              <a:rPr sz="1200" b="0" i="0">
                <a:solidFill>
                  <a:srgbClr val="1B2A38"/>
                </a:solidFill>
                <a:latin typeface="Calibri"/>
              </a:rPr>
              <a:t>train-only: h-flip · affine · brightness/contrast jitter</a:t>
            </a:r>
          </a:p>
        </p:txBody>
      </p:sp>
      <p:sp>
        <p:nvSpPr>
          <p:cNvPr id="33" name="Rounded Rectangle 32"/>
          <p:cNvSpPr/>
          <p:nvPr/>
        </p:nvSpPr>
        <p:spPr>
          <a:xfrm>
            <a:off x="777240" y="3886200"/>
            <a:ext cx="5257800" cy="2057400"/>
          </a:xfrm>
          <a:prstGeom prst="roundRect">
            <a:avLst/>
          </a:prstGeom>
          <a:solidFill>
            <a:srgbClr val="F1F6F8"/>
          </a:solidFill>
          <a:ln w="9525">
            <a:solidFill>
              <a:srgbClr val="CBD8DE"/>
            </a:solidFill>
          </a:ln>
          <a:effectLst/>
          <a:effectLst>
            <a:outerShdw blurRad="90000" dist="38100" dir="5400000" rotWithShape="0">
              <a:srgbClr val="1B2A38">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5840" y="4041648"/>
            <a:ext cx="4754880" cy="365760"/>
          </a:xfrm>
          <a:prstGeom prst="rect">
            <a:avLst/>
          </a:prstGeom>
          <a:noFill/>
        </p:spPr>
        <p:txBody>
          <a:bodyPr wrap="square" anchor="t" lIns="0" rIns="0" tIns="0" bIns="0">
            <a:spAutoFit/>
          </a:bodyPr>
          <a:lstStyle/>
          <a:p>
            <a:pPr algn="l">
              <a:lnSpc>
                <a:spcPct val="100000"/>
              </a:lnSpc>
              <a:spcBef>
                <a:spcPts val="0"/>
              </a:spcBef>
              <a:spcAft>
                <a:spcPts val="400"/>
              </a:spcAft>
            </a:pPr>
            <a:r>
              <a:rPr sz="1350" b="1" i="0">
                <a:solidFill>
                  <a:srgbClr val="0E4D64"/>
                </a:solidFill>
                <a:latin typeface="Calibri"/>
              </a:rPr>
              <a:t>How the splits are used</a:t>
            </a:r>
          </a:p>
        </p:txBody>
      </p:sp>
      <p:sp>
        <p:nvSpPr>
          <p:cNvPr id="35" name="TextBox 34"/>
          <p:cNvSpPr txBox="1"/>
          <p:nvPr/>
        </p:nvSpPr>
        <p:spPr>
          <a:xfrm>
            <a:off x="1005840" y="4480560"/>
            <a:ext cx="4846320" cy="1463040"/>
          </a:xfrm>
          <a:prstGeom prst="rect">
            <a:avLst/>
          </a:prstGeom>
          <a:noFill/>
        </p:spPr>
        <p:txBody>
          <a:bodyPr wrap="square" lIns="0" rIns="0" tIns="0" bIns="0">
            <a:spAutoFit/>
          </a:bodyPr>
          <a:lstStyle/>
          <a:p>
            <a:pPr>
              <a:lnSpc>
                <a:spcPct val="102000"/>
              </a:lnSpc>
              <a:spcBef>
                <a:spcPts val="0"/>
              </a:spcBef>
              <a:spcAft>
                <a:spcPts val="900"/>
              </a:spcAft>
            </a:pPr>
            <a:r>
              <a:rPr sz="1250" b="1">
                <a:solidFill>
                  <a:srgbClr val="0E4D64"/>
                </a:solidFill>
                <a:latin typeface="Calibri"/>
              </a:rPr>
              <a:t>•  </a:t>
            </a:r>
            <a:r>
              <a:rPr sz="1250" b="1">
                <a:solidFill>
                  <a:srgbClr val="0E4D64"/>
                </a:solidFill>
                <a:latin typeface="Calibri"/>
              </a:rPr>
              <a:t>Segmentation: </a:t>
            </a:r>
            <a:r>
              <a:rPr sz="1250" b="0">
                <a:solidFill>
                  <a:srgbClr val="1B2A38"/>
                </a:solidFill>
                <a:latin typeface="Calibri"/>
              </a:rPr>
              <a:t>645 benign+malignant lesion images → 445 / 102 / 98.</a:t>
            </a:r>
          </a:p>
          <a:p>
            <a:pPr>
              <a:lnSpc>
                <a:spcPct val="102000"/>
              </a:lnSpc>
              <a:spcBef>
                <a:spcPts val="0"/>
              </a:spcBef>
              <a:spcAft>
                <a:spcPts val="900"/>
              </a:spcAft>
            </a:pPr>
            <a:r>
              <a:rPr sz="1250" b="1">
                <a:solidFill>
                  <a:srgbClr val="0E4D64"/>
                </a:solidFill>
                <a:latin typeface="Calibri"/>
              </a:rPr>
              <a:t>•  </a:t>
            </a:r>
            <a:r>
              <a:rPr sz="1250" b="1">
                <a:solidFill>
                  <a:srgbClr val="0E4D64"/>
                </a:solidFill>
                <a:latin typeface="Calibri"/>
              </a:rPr>
              <a:t>Classification: </a:t>
            </a:r>
            <a:r>
              <a:rPr sz="1250" b="0">
                <a:solidFill>
                  <a:srgbClr val="1B2A38"/>
                </a:solidFill>
                <a:latin typeface="Calibri"/>
              </a:rPr>
              <a:t>all 3 classes, 778 → 540 / 120 / 118.</a:t>
            </a:r>
          </a:p>
          <a:p>
            <a:pPr>
              <a:lnSpc>
                <a:spcPct val="102000"/>
              </a:lnSpc>
              <a:spcBef>
                <a:spcPts val="0"/>
              </a:spcBef>
              <a:spcAft>
                <a:spcPts val="900"/>
              </a:spcAft>
            </a:pPr>
            <a:r>
              <a:rPr sz="1250" b="1">
                <a:solidFill>
                  <a:srgbClr val="0E4D64"/>
                </a:solidFill>
                <a:latin typeface="Calibri"/>
              </a:rPr>
              <a:t>•  </a:t>
            </a:r>
            <a:r>
              <a:rPr sz="1250" b="1">
                <a:solidFill>
                  <a:srgbClr val="0E4D64"/>
                </a:solidFill>
                <a:latin typeface="Calibri"/>
              </a:rPr>
              <a:t>Same split: </a:t>
            </a:r>
            <a:r>
              <a:rPr sz="1250" b="0">
                <a:solidFill>
                  <a:srgbClr val="1B2A38"/>
                </a:solidFill>
                <a:latin typeface="Calibri"/>
              </a:rPr>
              <a:t>every model sees the identical split → fair comparison.</a:t>
            </a:r>
          </a:p>
        </p:txBody>
      </p:sp>
      <p:sp>
        <p:nvSpPr>
          <p:cNvPr id="36" name="Rounded Rectangle 35"/>
          <p:cNvSpPr/>
          <p:nvPr/>
        </p:nvSpPr>
        <p:spPr>
          <a:xfrm>
            <a:off x="6172200" y="3886200"/>
            <a:ext cx="5257800" cy="2057400"/>
          </a:xfrm>
          <a:prstGeom prst="roundRect">
            <a:avLst/>
          </a:prstGeom>
          <a:solidFill>
            <a:srgbClr val="F1F6F8"/>
          </a:solidFill>
          <a:ln w="9525">
            <a:solidFill>
              <a:srgbClr val="CBD8DE"/>
            </a:solidFill>
          </a:ln>
          <a:effectLst/>
          <a:effectLst>
            <a:outerShdw blurRad="90000" dist="38100" dir="5400000" rotWithShape="0">
              <a:srgbClr val="1B2A38">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00800" y="4041648"/>
            <a:ext cx="4846320" cy="365760"/>
          </a:xfrm>
          <a:prstGeom prst="rect">
            <a:avLst/>
          </a:prstGeom>
          <a:noFill/>
        </p:spPr>
        <p:txBody>
          <a:bodyPr wrap="square" anchor="t" lIns="0" rIns="0" tIns="0" bIns="0">
            <a:spAutoFit/>
          </a:bodyPr>
          <a:lstStyle/>
          <a:p>
            <a:pPr algn="l">
              <a:lnSpc>
                <a:spcPct val="100000"/>
              </a:lnSpc>
              <a:spcBef>
                <a:spcPts val="0"/>
              </a:spcBef>
              <a:spcAft>
                <a:spcPts val="400"/>
              </a:spcAft>
            </a:pPr>
            <a:r>
              <a:rPr sz="1350" b="1" i="0">
                <a:solidFill>
                  <a:srgbClr val="0E4D64"/>
                </a:solidFill>
                <a:latin typeface="Calibri"/>
              </a:rPr>
              <a:t>Evaluation metrics</a:t>
            </a:r>
          </a:p>
        </p:txBody>
      </p:sp>
      <p:sp>
        <p:nvSpPr>
          <p:cNvPr id="38" name="TextBox 37"/>
          <p:cNvSpPr txBox="1"/>
          <p:nvPr/>
        </p:nvSpPr>
        <p:spPr>
          <a:xfrm>
            <a:off x="6400800" y="4480560"/>
            <a:ext cx="4846320" cy="1463040"/>
          </a:xfrm>
          <a:prstGeom prst="rect">
            <a:avLst/>
          </a:prstGeom>
          <a:noFill/>
        </p:spPr>
        <p:txBody>
          <a:bodyPr wrap="square" lIns="0" rIns="0" tIns="0" bIns="0">
            <a:spAutoFit/>
          </a:bodyPr>
          <a:lstStyle/>
          <a:p>
            <a:pPr>
              <a:lnSpc>
                <a:spcPct val="102000"/>
              </a:lnSpc>
              <a:spcBef>
                <a:spcPts val="0"/>
              </a:spcBef>
              <a:spcAft>
                <a:spcPts val="900"/>
              </a:spcAft>
            </a:pPr>
            <a:r>
              <a:rPr sz="1250" b="1">
                <a:solidFill>
                  <a:srgbClr val="0E4D64"/>
                </a:solidFill>
                <a:latin typeface="Calibri"/>
              </a:rPr>
              <a:t>•  </a:t>
            </a:r>
            <a:r>
              <a:rPr sz="1250" b="1">
                <a:solidFill>
                  <a:srgbClr val="0E4D64"/>
                </a:solidFill>
                <a:latin typeface="Calibri"/>
              </a:rPr>
              <a:t>Classification: </a:t>
            </a:r>
            <a:r>
              <a:rPr sz="1250" b="0">
                <a:solidFill>
                  <a:srgbClr val="1B2A38"/>
                </a:solidFill>
                <a:latin typeface="Calibri"/>
              </a:rPr>
              <a:t>macro-F1 (primary), balanced-acc, macro-AUC, confusion matrix.</a:t>
            </a:r>
          </a:p>
          <a:p>
            <a:pPr>
              <a:lnSpc>
                <a:spcPct val="102000"/>
              </a:lnSpc>
              <a:spcBef>
                <a:spcPts val="0"/>
              </a:spcBef>
              <a:spcAft>
                <a:spcPts val="900"/>
              </a:spcAft>
            </a:pPr>
            <a:r>
              <a:rPr sz="1250" b="1">
                <a:solidFill>
                  <a:srgbClr val="0E4D64"/>
                </a:solidFill>
                <a:latin typeface="Calibri"/>
              </a:rPr>
              <a:t>•  </a:t>
            </a:r>
            <a:r>
              <a:rPr sz="1250" b="1">
                <a:solidFill>
                  <a:srgbClr val="0E4D64"/>
                </a:solidFill>
                <a:latin typeface="Calibri"/>
              </a:rPr>
              <a:t>Segmentation: </a:t>
            </a:r>
            <a:r>
              <a:rPr sz="1250" b="0">
                <a:solidFill>
                  <a:srgbClr val="1B2A38"/>
                </a:solidFill>
                <a:latin typeface="Calibri"/>
              </a:rPr>
              <a:t>Dice &amp; IoU (per-image mean) + pixel P/R; Yap detection metrics.</a:t>
            </a:r>
          </a:p>
          <a:p>
            <a:pPr>
              <a:lnSpc>
                <a:spcPct val="102000"/>
              </a:lnSpc>
              <a:spcBef>
                <a:spcPts val="0"/>
              </a:spcBef>
              <a:spcAft>
                <a:spcPts val="900"/>
              </a:spcAft>
            </a:pPr>
            <a:r>
              <a:rPr sz="1250" b="1">
                <a:solidFill>
                  <a:srgbClr val="0E4D64"/>
                </a:solidFill>
                <a:latin typeface="Calibri"/>
              </a:rPr>
              <a:t>•  </a:t>
            </a:r>
            <a:r>
              <a:rPr sz="1250" b="1">
                <a:solidFill>
                  <a:srgbClr val="0E4D64"/>
                </a:solidFill>
                <a:latin typeface="Calibri"/>
              </a:rPr>
              <a:t>Robustness: </a:t>
            </a:r>
            <a:r>
              <a:rPr sz="1250" b="0">
                <a:solidFill>
                  <a:srgbClr val="1B2A38"/>
                </a:solidFill>
                <a:latin typeface="Calibri"/>
              </a:rPr>
              <a:t>multi-seed mean ± std + bootstrap 95% CI on final pipeline.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 y="475488"/>
            <a:ext cx="118872" cy="658368"/>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457200"/>
            <a:ext cx="10789920" cy="320040"/>
          </a:xfrm>
          <a:prstGeom prst="rect">
            <a:avLst/>
          </a:prstGeom>
          <a:noFill/>
        </p:spPr>
        <p:txBody>
          <a:bodyPr wrap="square" anchor="t" lIns="0" rIns="0" tIns="0" bIns="0">
            <a:spAutoFit/>
          </a:bodyPr>
          <a:lstStyle/>
          <a:p>
            <a:pPr algn="l">
              <a:lnSpc>
                <a:spcPct val="100000"/>
              </a:lnSpc>
              <a:spcBef>
                <a:spcPts val="0"/>
              </a:spcBef>
              <a:spcAft>
                <a:spcPts val="400"/>
              </a:spcAft>
            </a:pPr>
            <a:r>
              <a:rPr sz="1250" b="1" i="0">
                <a:solidFill>
                  <a:srgbClr val="0E4D64"/>
                </a:solidFill>
                <a:latin typeface="Calibri"/>
              </a:rPr>
              <a:t>3 · MODELS &amp; METHODS</a:t>
            </a:r>
          </a:p>
        </p:txBody>
      </p:sp>
      <p:sp>
        <p:nvSpPr>
          <p:cNvPr id="6" name="TextBox 5"/>
          <p:cNvSpPr txBox="1"/>
          <p:nvPr/>
        </p:nvSpPr>
        <p:spPr>
          <a:xfrm>
            <a:off x="777240" y="713232"/>
            <a:ext cx="10881360" cy="566928"/>
          </a:xfrm>
          <a:prstGeom prst="rect">
            <a:avLst/>
          </a:prstGeom>
          <a:noFill/>
        </p:spPr>
        <p:txBody>
          <a:bodyPr wrap="square" anchor="t" lIns="0" rIns="0" tIns="0" bIns="0">
            <a:spAutoFit/>
          </a:bodyPr>
          <a:lstStyle/>
          <a:p>
            <a:pPr algn="l">
              <a:lnSpc>
                <a:spcPct val="100000"/>
              </a:lnSpc>
              <a:spcBef>
                <a:spcPts val="0"/>
              </a:spcBef>
              <a:spcAft>
                <a:spcPts val="400"/>
              </a:spcAft>
            </a:pPr>
            <a:r>
              <a:rPr sz="2500" b="1" i="0">
                <a:solidFill>
                  <a:srgbClr val="1B2A38"/>
                </a:solidFill>
                <a:latin typeface="Calibri"/>
              </a:rPr>
              <a:t>13 reproduced models + 2 of our own</a:t>
            </a:r>
          </a:p>
        </p:txBody>
      </p:sp>
      <p:sp>
        <p:nvSpPr>
          <p:cNvPr id="7" name="Rectangle 6"/>
          <p:cNvSpPr/>
          <p:nvPr/>
        </p:nvSpPr>
        <p:spPr>
          <a:xfrm>
            <a:off x="777240" y="1316736"/>
            <a:ext cx="10634472" cy="18288"/>
          </a:xfrm>
          <a:prstGeom prst="rect">
            <a:avLst/>
          </a:prstGeom>
          <a:solidFill>
            <a:srgbClr val="CBD8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73952"/>
            <a:ext cx="7315200" cy="274320"/>
          </a:xfrm>
          <a:prstGeom prst="rect">
            <a:avLst/>
          </a:prstGeom>
          <a:noFill/>
        </p:spPr>
        <p:txBody>
          <a:bodyPr wrap="square" anchor="t" lIns="0" rIns="0" tIns="0" bIns="0">
            <a:spAutoFit/>
          </a:bodyPr>
          <a:lstStyle/>
          <a:p>
            <a:pPr algn="l">
              <a:lnSpc>
                <a:spcPct val="100000"/>
              </a:lnSpc>
              <a:spcBef>
                <a:spcPts val="0"/>
              </a:spcBef>
              <a:spcAft>
                <a:spcPts val="400"/>
              </a:spcAft>
            </a:pPr>
            <a:r>
              <a:rPr sz="900" b="0" i="0">
                <a:solidFill>
                  <a:srgbClr val="8A94A6"/>
                </a:solidFill>
                <a:latin typeface="Calibri"/>
              </a:rPr>
              <a:t>COMP9444 · Group Project 047 · Breast Ultrasound (BUSI)</a:t>
            </a:r>
          </a:p>
        </p:txBody>
      </p:sp>
      <p:sp>
        <p:nvSpPr>
          <p:cNvPr id="9" name="TextBox 8"/>
          <p:cNvSpPr txBox="1"/>
          <p:nvPr/>
        </p:nvSpPr>
        <p:spPr>
          <a:xfrm>
            <a:off x="11064240" y="6473952"/>
            <a:ext cx="685800" cy="274320"/>
          </a:xfrm>
          <a:prstGeom prst="rect">
            <a:avLst/>
          </a:prstGeom>
          <a:noFill/>
        </p:spPr>
        <p:txBody>
          <a:bodyPr wrap="square" anchor="t" lIns="0" rIns="0" tIns="0" bIns="0">
            <a:spAutoFit/>
          </a:bodyPr>
          <a:lstStyle/>
          <a:p>
            <a:pPr algn="r">
              <a:lnSpc>
                <a:spcPct val="100000"/>
              </a:lnSpc>
              <a:spcBef>
                <a:spcPts val="0"/>
              </a:spcBef>
              <a:spcAft>
                <a:spcPts val="400"/>
              </a:spcAft>
            </a:pPr>
            <a:r>
              <a:rPr sz="900" b="1" i="0">
                <a:solidFill>
                  <a:srgbClr val="8A94A6"/>
                </a:solidFill>
                <a:latin typeface="Calibri"/>
              </a:rPr>
              <a:t>12</a:t>
            </a:r>
          </a:p>
        </p:txBody>
      </p:sp>
      <p:sp>
        <p:nvSpPr>
          <p:cNvPr id="10" name="Rounded Rectangle 9"/>
          <p:cNvSpPr/>
          <p:nvPr/>
        </p:nvSpPr>
        <p:spPr>
          <a:xfrm>
            <a:off x="777240" y="1691640"/>
            <a:ext cx="3246120" cy="3703320"/>
          </a:xfrm>
          <a:prstGeom prst="roundRect">
            <a:avLst/>
          </a:prstGeom>
          <a:solidFill>
            <a:srgbClr val="F1F6F8"/>
          </a:solidFill>
          <a:ln w="9525">
            <a:solidFill>
              <a:srgbClr val="CBD8DE"/>
            </a:solidFill>
          </a:ln>
          <a:effectLst/>
          <a:effectLst>
            <a:outerShdw blurRad="90000" dist="38100" dir="5400000" rotWithShape="0">
              <a:srgbClr val="1B2A38">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77240" y="1691640"/>
            <a:ext cx="3246120" cy="502920"/>
          </a:xfrm>
          <a:prstGeom prst="roundRect">
            <a:avLst/>
          </a:prstGeom>
          <a:solidFill>
            <a:srgbClr val="1F8A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1965960"/>
            <a:ext cx="3246120" cy="228600"/>
          </a:xfrm>
          <a:prstGeom prst="rect">
            <a:avLst/>
          </a:prstGeom>
          <a:solidFill>
            <a:srgbClr val="F1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1737360"/>
            <a:ext cx="3246120" cy="457200"/>
          </a:xfrm>
          <a:prstGeom prst="rect">
            <a:avLst/>
          </a:prstGeom>
          <a:noFill/>
        </p:spPr>
        <p:txBody>
          <a:bodyPr wrap="square" anchor="ctr" lIns="0" rIns="0" tIns="0" bIns="0">
            <a:spAutoFit/>
          </a:bodyPr>
          <a:lstStyle/>
          <a:p>
            <a:pPr algn="ctr">
              <a:lnSpc>
                <a:spcPct val="100000"/>
              </a:lnSpc>
              <a:spcBef>
                <a:spcPts val="0"/>
              </a:spcBef>
              <a:spcAft>
                <a:spcPts val="400"/>
              </a:spcAft>
            </a:pPr>
            <a:r>
              <a:rPr sz="1350" b="1" i="0">
                <a:solidFill>
                  <a:srgbClr val="FFFFFF"/>
                </a:solidFill>
                <a:latin typeface="Calibri"/>
              </a:rPr>
              <a:t>SEGMENTATION (8)</a:t>
            </a:r>
          </a:p>
        </p:txBody>
      </p:sp>
      <p:sp>
        <p:nvSpPr>
          <p:cNvPr id="14" name="Rounded Rectangle 13"/>
          <p:cNvSpPr/>
          <p:nvPr/>
        </p:nvSpPr>
        <p:spPr>
          <a:xfrm>
            <a:off x="960120" y="2331720"/>
            <a:ext cx="2880360" cy="329184"/>
          </a:xfrm>
          <a:prstGeom prst="roundRect">
            <a:avLst/>
          </a:prstGeom>
          <a:solidFill>
            <a:srgbClr val="FFFFFF"/>
          </a:solidFill>
          <a:ln w="9525">
            <a:solidFill>
              <a:srgbClr val="CBD8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69848" y="2331720"/>
            <a:ext cx="2743200" cy="329184"/>
          </a:xfrm>
          <a:prstGeom prst="rect">
            <a:avLst/>
          </a:prstGeom>
          <a:noFill/>
        </p:spPr>
        <p:txBody>
          <a:bodyPr wrap="square" anchor="ctr" lIns="0" rIns="0" tIns="0" bIns="0">
            <a:spAutoFit/>
          </a:bodyPr>
          <a:lstStyle/>
          <a:p>
            <a:pPr algn="l">
              <a:lnSpc>
                <a:spcPct val="100000"/>
              </a:lnSpc>
              <a:spcBef>
                <a:spcPts val="0"/>
              </a:spcBef>
              <a:spcAft>
                <a:spcPts val="400"/>
              </a:spcAft>
            </a:pPr>
            <a:r>
              <a:rPr sz="1150" b="0" i="0">
                <a:solidFill>
                  <a:srgbClr val="1B2A38"/>
                </a:solidFill>
                <a:latin typeface="Calibri"/>
              </a:rPr>
              <a:t>U-Net [3]*</a:t>
            </a:r>
          </a:p>
        </p:txBody>
      </p:sp>
      <p:sp>
        <p:nvSpPr>
          <p:cNvPr id="16" name="Rounded Rectangle 15"/>
          <p:cNvSpPr/>
          <p:nvPr/>
        </p:nvSpPr>
        <p:spPr>
          <a:xfrm>
            <a:off x="960120" y="2715768"/>
            <a:ext cx="2880360" cy="329184"/>
          </a:xfrm>
          <a:prstGeom prst="roundRect">
            <a:avLst/>
          </a:prstGeom>
          <a:solidFill>
            <a:srgbClr val="FFFFFF"/>
          </a:solidFill>
          <a:ln w="9525">
            <a:solidFill>
              <a:srgbClr val="CBD8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69848" y="2715768"/>
            <a:ext cx="2743200" cy="329184"/>
          </a:xfrm>
          <a:prstGeom prst="rect">
            <a:avLst/>
          </a:prstGeom>
          <a:noFill/>
        </p:spPr>
        <p:txBody>
          <a:bodyPr wrap="square" anchor="ctr" lIns="0" rIns="0" tIns="0" bIns="0">
            <a:spAutoFit/>
          </a:bodyPr>
          <a:lstStyle/>
          <a:p>
            <a:pPr algn="l">
              <a:lnSpc>
                <a:spcPct val="100000"/>
              </a:lnSpc>
              <a:spcBef>
                <a:spcPts val="0"/>
              </a:spcBef>
              <a:spcAft>
                <a:spcPts val="400"/>
              </a:spcAft>
            </a:pPr>
            <a:r>
              <a:rPr sz="1150" b="0" i="0">
                <a:solidFill>
                  <a:srgbClr val="1B2A38"/>
                </a:solidFill>
                <a:latin typeface="Calibri"/>
              </a:rPr>
              <a:t>Attention U-Net [9]</a:t>
            </a:r>
          </a:p>
        </p:txBody>
      </p:sp>
      <p:sp>
        <p:nvSpPr>
          <p:cNvPr id="18" name="Rounded Rectangle 17"/>
          <p:cNvSpPr/>
          <p:nvPr/>
        </p:nvSpPr>
        <p:spPr>
          <a:xfrm>
            <a:off x="960120" y="3099815"/>
            <a:ext cx="2880360" cy="329184"/>
          </a:xfrm>
          <a:prstGeom prst="roundRect">
            <a:avLst/>
          </a:prstGeom>
          <a:solidFill>
            <a:srgbClr val="FFFFFF"/>
          </a:solidFill>
          <a:ln w="9525">
            <a:solidFill>
              <a:srgbClr val="CBD8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69848" y="3099815"/>
            <a:ext cx="2743200" cy="329184"/>
          </a:xfrm>
          <a:prstGeom prst="rect">
            <a:avLst/>
          </a:prstGeom>
          <a:noFill/>
        </p:spPr>
        <p:txBody>
          <a:bodyPr wrap="square" anchor="ctr" lIns="0" rIns="0" tIns="0" bIns="0">
            <a:spAutoFit/>
          </a:bodyPr>
          <a:lstStyle/>
          <a:p>
            <a:pPr algn="l">
              <a:lnSpc>
                <a:spcPct val="100000"/>
              </a:lnSpc>
              <a:spcBef>
                <a:spcPts val="0"/>
              </a:spcBef>
              <a:spcAft>
                <a:spcPts val="400"/>
              </a:spcAft>
            </a:pPr>
            <a:r>
              <a:rPr sz="1150" b="0" i="0">
                <a:solidFill>
                  <a:srgbClr val="1B2A38"/>
                </a:solidFill>
                <a:latin typeface="Calibri"/>
              </a:rPr>
              <a:t>DeepLabV3+ [7]</a:t>
            </a:r>
          </a:p>
        </p:txBody>
      </p:sp>
      <p:sp>
        <p:nvSpPr>
          <p:cNvPr id="20" name="Rounded Rectangle 19"/>
          <p:cNvSpPr/>
          <p:nvPr/>
        </p:nvSpPr>
        <p:spPr>
          <a:xfrm>
            <a:off x="960120" y="3483863"/>
            <a:ext cx="2880360" cy="329184"/>
          </a:xfrm>
          <a:prstGeom prst="roundRect">
            <a:avLst/>
          </a:prstGeom>
          <a:solidFill>
            <a:srgbClr val="FFFFFF"/>
          </a:solidFill>
          <a:ln w="9525">
            <a:solidFill>
              <a:srgbClr val="CBD8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69848" y="3483863"/>
            <a:ext cx="2743200" cy="329184"/>
          </a:xfrm>
          <a:prstGeom prst="rect">
            <a:avLst/>
          </a:prstGeom>
          <a:noFill/>
        </p:spPr>
        <p:txBody>
          <a:bodyPr wrap="square" anchor="ctr" lIns="0" rIns="0" tIns="0" bIns="0">
            <a:spAutoFit/>
          </a:bodyPr>
          <a:lstStyle/>
          <a:p>
            <a:pPr algn="l">
              <a:lnSpc>
                <a:spcPct val="100000"/>
              </a:lnSpc>
              <a:spcBef>
                <a:spcPts val="0"/>
              </a:spcBef>
              <a:spcAft>
                <a:spcPts val="400"/>
              </a:spcAft>
            </a:pPr>
            <a:r>
              <a:rPr sz="1150" b="0" i="0">
                <a:solidFill>
                  <a:srgbClr val="1B2A38"/>
                </a:solidFill>
                <a:latin typeface="Calibri"/>
              </a:rPr>
              <a:t>nnU-Net [20]</a:t>
            </a:r>
          </a:p>
        </p:txBody>
      </p:sp>
      <p:sp>
        <p:nvSpPr>
          <p:cNvPr id="22" name="Rounded Rectangle 21"/>
          <p:cNvSpPr/>
          <p:nvPr/>
        </p:nvSpPr>
        <p:spPr>
          <a:xfrm>
            <a:off x="960120" y="3867911"/>
            <a:ext cx="2880360" cy="329184"/>
          </a:xfrm>
          <a:prstGeom prst="roundRect">
            <a:avLst/>
          </a:prstGeom>
          <a:solidFill>
            <a:srgbClr val="FFFFFF"/>
          </a:solidFill>
          <a:ln w="9525">
            <a:solidFill>
              <a:srgbClr val="CBD8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69848" y="3867911"/>
            <a:ext cx="2743200" cy="329184"/>
          </a:xfrm>
          <a:prstGeom prst="rect">
            <a:avLst/>
          </a:prstGeom>
          <a:noFill/>
        </p:spPr>
        <p:txBody>
          <a:bodyPr wrap="square" anchor="ctr" lIns="0" rIns="0" tIns="0" bIns="0">
            <a:spAutoFit/>
          </a:bodyPr>
          <a:lstStyle/>
          <a:p>
            <a:pPr algn="l">
              <a:lnSpc>
                <a:spcPct val="100000"/>
              </a:lnSpc>
              <a:spcBef>
                <a:spcPts val="0"/>
              </a:spcBef>
              <a:spcAft>
                <a:spcPts val="400"/>
              </a:spcAft>
            </a:pPr>
            <a:r>
              <a:rPr sz="1150" b="0" i="0">
                <a:solidFill>
                  <a:srgbClr val="1B2A38"/>
                </a:solidFill>
                <a:latin typeface="Calibri"/>
              </a:rPr>
              <a:t>AAU-Net [12]</a:t>
            </a:r>
          </a:p>
        </p:txBody>
      </p:sp>
      <p:sp>
        <p:nvSpPr>
          <p:cNvPr id="24" name="Rounded Rectangle 23"/>
          <p:cNvSpPr/>
          <p:nvPr/>
        </p:nvSpPr>
        <p:spPr>
          <a:xfrm>
            <a:off x="960120" y="4251959"/>
            <a:ext cx="2880360" cy="329184"/>
          </a:xfrm>
          <a:prstGeom prst="roundRect">
            <a:avLst/>
          </a:prstGeom>
          <a:solidFill>
            <a:srgbClr val="FFFFFF"/>
          </a:solidFill>
          <a:ln w="9525">
            <a:solidFill>
              <a:srgbClr val="CBD8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69848" y="4251959"/>
            <a:ext cx="2743200" cy="329184"/>
          </a:xfrm>
          <a:prstGeom prst="rect">
            <a:avLst/>
          </a:prstGeom>
          <a:noFill/>
        </p:spPr>
        <p:txBody>
          <a:bodyPr wrap="square" anchor="ctr" lIns="0" rIns="0" tIns="0" bIns="0">
            <a:spAutoFit/>
          </a:bodyPr>
          <a:lstStyle/>
          <a:p>
            <a:pPr algn="l">
              <a:lnSpc>
                <a:spcPct val="100000"/>
              </a:lnSpc>
              <a:spcBef>
                <a:spcPts val="0"/>
              </a:spcBef>
              <a:spcAft>
                <a:spcPts val="400"/>
              </a:spcAft>
            </a:pPr>
            <a:r>
              <a:rPr sz="1150" b="0" i="0">
                <a:solidFill>
                  <a:srgbClr val="1B2A38"/>
                </a:solidFill>
                <a:latin typeface="Calibri"/>
              </a:rPr>
              <a:t>CResU-Net [13]</a:t>
            </a:r>
          </a:p>
        </p:txBody>
      </p:sp>
      <p:sp>
        <p:nvSpPr>
          <p:cNvPr id="26" name="Rounded Rectangle 25"/>
          <p:cNvSpPr/>
          <p:nvPr/>
        </p:nvSpPr>
        <p:spPr>
          <a:xfrm>
            <a:off x="960120" y="4636007"/>
            <a:ext cx="2880360" cy="329184"/>
          </a:xfrm>
          <a:prstGeom prst="roundRect">
            <a:avLst/>
          </a:prstGeom>
          <a:solidFill>
            <a:srgbClr val="FFFFFF"/>
          </a:solidFill>
          <a:ln w="9525">
            <a:solidFill>
              <a:srgbClr val="CBD8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69848" y="4636007"/>
            <a:ext cx="2743200" cy="329184"/>
          </a:xfrm>
          <a:prstGeom prst="rect">
            <a:avLst/>
          </a:prstGeom>
          <a:noFill/>
        </p:spPr>
        <p:txBody>
          <a:bodyPr wrap="square" anchor="ctr" lIns="0" rIns="0" tIns="0" bIns="0">
            <a:spAutoFit/>
          </a:bodyPr>
          <a:lstStyle/>
          <a:p>
            <a:pPr algn="l">
              <a:lnSpc>
                <a:spcPct val="100000"/>
              </a:lnSpc>
              <a:spcBef>
                <a:spcPts val="0"/>
              </a:spcBef>
              <a:spcAft>
                <a:spcPts val="400"/>
              </a:spcAft>
            </a:pPr>
            <a:r>
              <a:rPr sz="1150" b="0" i="0">
                <a:solidFill>
                  <a:srgbClr val="1B2A38"/>
                </a:solidFill>
                <a:latin typeface="Calibri"/>
              </a:rPr>
              <a:t>FCN-AlexNet [2]*</a:t>
            </a:r>
          </a:p>
        </p:txBody>
      </p:sp>
      <p:sp>
        <p:nvSpPr>
          <p:cNvPr id="28" name="Rounded Rectangle 27"/>
          <p:cNvSpPr/>
          <p:nvPr/>
        </p:nvSpPr>
        <p:spPr>
          <a:xfrm>
            <a:off x="960120" y="5020055"/>
            <a:ext cx="2880360" cy="329184"/>
          </a:xfrm>
          <a:prstGeom prst="roundRect">
            <a:avLst/>
          </a:prstGeom>
          <a:solidFill>
            <a:srgbClr val="FFFFFF"/>
          </a:solidFill>
          <a:ln w="9525">
            <a:solidFill>
              <a:srgbClr val="CBD8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69848" y="5020055"/>
            <a:ext cx="2743200" cy="329184"/>
          </a:xfrm>
          <a:prstGeom prst="rect">
            <a:avLst/>
          </a:prstGeom>
          <a:noFill/>
        </p:spPr>
        <p:txBody>
          <a:bodyPr wrap="square" anchor="ctr" lIns="0" rIns="0" tIns="0" bIns="0">
            <a:spAutoFit/>
          </a:bodyPr>
          <a:lstStyle/>
          <a:p>
            <a:pPr algn="l">
              <a:lnSpc>
                <a:spcPct val="100000"/>
              </a:lnSpc>
              <a:spcBef>
                <a:spcPts val="0"/>
              </a:spcBef>
              <a:spcAft>
                <a:spcPts val="400"/>
              </a:spcAft>
            </a:pPr>
            <a:r>
              <a:rPr sz="1150" b="0" i="0">
                <a:solidFill>
                  <a:srgbClr val="1B2A38"/>
                </a:solidFill>
                <a:latin typeface="Calibri"/>
              </a:rPr>
              <a:t>Patch-LeNet [2]*</a:t>
            </a:r>
          </a:p>
        </p:txBody>
      </p:sp>
      <p:sp>
        <p:nvSpPr>
          <p:cNvPr id="30" name="Rounded Rectangle 29"/>
          <p:cNvSpPr/>
          <p:nvPr/>
        </p:nvSpPr>
        <p:spPr>
          <a:xfrm>
            <a:off x="4206240" y="1691640"/>
            <a:ext cx="2240280" cy="3703320"/>
          </a:xfrm>
          <a:prstGeom prst="roundRect">
            <a:avLst/>
          </a:prstGeom>
          <a:solidFill>
            <a:srgbClr val="F1F6F8"/>
          </a:solidFill>
          <a:ln w="9525">
            <a:solidFill>
              <a:srgbClr val="CBD8DE"/>
            </a:solidFill>
          </a:ln>
          <a:effectLst/>
          <a:effectLst>
            <a:outerShdw blurRad="90000" dist="38100" dir="5400000" rotWithShape="0">
              <a:srgbClr val="1B2A38">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4206240" y="1691640"/>
            <a:ext cx="2240280" cy="502920"/>
          </a:xfrm>
          <a:prstGeom prst="round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4206240" y="1965960"/>
            <a:ext cx="2240280" cy="228600"/>
          </a:xfrm>
          <a:prstGeom prst="rect">
            <a:avLst/>
          </a:prstGeom>
          <a:solidFill>
            <a:srgbClr val="F1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206240" y="1737360"/>
            <a:ext cx="2240280" cy="457200"/>
          </a:xfrm>
          <a:prstGeom prst="rect">
            <a:avLst/>
          </a:prstGeom>
          <a:noFill/>
        </p:spPr>
        <p:txBody>
          <a:bodyPr wrap="square" anchor="ctr" lIns="0" rIns="0" tIns="0" bIns="0">
            <a:spAutoFit/>
          </a:bodyPr>
          <a:lstStyle/>
          <a:p>
            <a:pPr algn="ctr">
              <a:lnSpc>
                <a:spcPct val="100000"/>
              </a:lnSpc>
              <a:spcBef>
                <a:spcPts val="0"/>
              </a:spcBef>
              <a:spcAft>
                <a:spcPts val="400"/>
              </a:spcAft>
            </a:pPr>
            <a:r>
              <a:rPr sz="1350" b="1" i="0">
                <a:solidFill>
                  <a:srgbClr val="FFFFFF"/>
                </a:solidFill>
                <a:latin typeface="Calibri"/>
              </a:rPr>
              <a:t>CLASSIFICATION (3)</a:t>
            </a:r>
          </a:p>
        </p:txBody>
      </p:sp>
      <p:sp>
        <p:nvSpPr>
          <p:cNvPr id="34" name="Rounded Rectangle 33"/>
          <p:cNvSpPr/>
          <p:nvPr/>
        </p:nvSpPr>
        <p:spPr>
          <a:xfrm>
            <a:off x="4389120" y="2331720"/>
            <a:ext cx="1874520" cy="329184"/>
          </a:xfrm>
          <a:prstGeom prst="roundRect">
            <a:avLst/>
          </a:prstGeom>
          <a:solidFill>
            <a:srgbClr val="FFFFFF"/>
          </a:solidFill>
          <a:ln w="9525">
            <a:solidFill>
              <a:srgbClr val="CBD8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498848" y="2331720"/>
            <a:ext cx="1737360" cy="329184"/>
          </a:xfrm>
          <a:prstGeom prst="rect">
            <a:avLst/>
          </a:prstGeom>
          <a:noFill/>
        </p:spPr>
        <p:txBody>
          <a:bodyPr wrap="square" anchor="ctr" lIns="0" rIns="0" tIns="0" bIns="0">
            <a:spAutoFit/>
          </a:bodyPr>
          <a:lstStyle/>
          <a:p>
            <a:pPr algn="l">
              <a:lnSpc>
                <a:spcPct val="100000"/>
              </a:lnSpc>
              <a:spcBef>
                <a:spcPts val="0"/>
              </a:spcBef>
              <a:spcAft>
                <a:spcPts val="400"/>
              </a:spcAft>
            </a:pPr>
            <a:r>
              <a:rPr sz="1150" b="0" i="0">
                <a:solidFill>
                  <a:srgbClr val="1B2A38"/>
                </a:solidFill>
                <a:latin typeface="Calibri"/>
              </a:rPr>
              <a:t>ResNet-18 [4]</a:t>
            </a:r>
          </a:p>
        </p:txBody>
      </p:sp>
      <p:sp>
        <p:nvSpPr>
          <p:cNvPr id="36" name="Rounded Rectangle 35"/>
          <p:cNvSpPr/>
          <p:nvPr/>
        </p:nvSpPr>
        <p:spPr>
          <a:xfrm>
            <a:off x="4389120" y="2715768"/>
            <a:ext cx="1874520" cy="329184"/>
          </a:xfrm>
          <a:prstGeom prst="roundRect">
            <a:avLst/>
          </a:prstGeom>
          <a:solidFill>
            <a:srgbClr val="FFFFFF"/>
          </a:solidFill>
          <a:ln w="9525">
            <a:solidFill>
              <a:srgbClr val="CBD8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498848" y="2715768"/>
            <a:ext cx="1737360" cy="329184"/>
          </a:xfrm>
          <a:prstGeom prst="rect">
            <a:avLst/>
          </a:prstGeom>
          <a:noFill/>
        </p:spPr>
        <p:txBody>
          <a:bodyPr wrap="square" anchor="ctr" lIns="0" rIns="0" tIns="0" bIns="0">
            <a:spAutoFit/>
          </a:bodyPr>
          <a:lstStyle/>
          <a:p>
            <a:pPr algn="l">
              <a:lnSpc>
                <a:spcPct val="100000"/>
              </a:lnSpc>
              <a:spcBef>
                <a:spcPts val="0"/>
              </a:spcBef>
              <a:spcAft>
                <a:spcPts val="400"/>
              </a:spcAft>
            </a:pPr>
            <a:r>
              <a:rPr sz="1150" b="0" i="0">
                <a:solidFill>
                  <a:srgbClr val="1B2A38"/>
                </a:solidFill>
                <a:latin typeface="Calibri"/>
              </a:rPr>
              <a:t>DenseNet-121 [5]</a:t>
            </a:r>
          </a:p>
        </p:txBody>
      </p:sp>
      <p:sp>
        <p:nvSpPr>
          <p:cNvPr id="38" name="Rounded Rectangle 37"/>
          <p:cNvSpPr/>
          <p:nvPr/>
        </p:nvSpPr>
        <p:spPr>
          <a:xfrm>
            <a:off x="4389120" y="3099815"/>
            <a:ext cx="1874520" cy="329184"/>
          </a:xfrm>
          <a:prstGeom prst="roundRect">
            <a:avLst/>
          </a:prstGeom>
          <a:solidFill>
            <a:srgbClr val="FFFFFF"/>
          </a:solidFill>
          <a:ln w="9525">
            <a:solidFill>
              <a:srgbClr val="CBD8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498848" y="3099815"/>
            <a:ext cx="1737360" cy="329184"/>
          </a:xfrm>
          <a:prstGeom prst="rect">
            <a:avLst/>
          </a:prstGeom>
          <a:noFill/>
        </p:spPr>
        <p:txBody>
          <a:bodyPr wrap="square" anchor="ctr" lIns="0" rIns="0" tIns="0" bIns="0">
            <a:spAutoFit/>
          </a:bodyPr>
          <a:lstStyle/>
          <a:p>
            <a:pPr algn="l">
              <a:lnSpc>
                <a:spcPct val="100000"/>
              </a:lnSpc>
              <a:spcBef>
                <a:spcPts val="0"/>
              </a:spcBef>
              <a:spcAft>
                <a:spcPts val="400"/>
              </a:spcAft>
            </a:pPr>
            <a:r>
              <a:rPr sz="1150" b="0" i="0">
                <a:solidFill>
                  <a:srgbClr val="1B2A38"/>
                </a:solidFill>
                <a:latin typeface="Calibri"/>
              </a:rPr>
              <a:t>EfficientNet-B0 [6]</a:t>
            </a:r>
          </a:p>
        </p:txBody>
      </p:sp>
      <p:sp>
        <p:nvSpPr>
          <p:cNvPr id="40" name="Rounded Rectangle 39"/>
          <p:cNvSpPr/>
          <p:nvPr/>
        </p:nvSpPr>
        <p:spPr>
          <a:xfrm>
            <a:off x="6629400" y="1691640"/>
            <a:ext cx="2194560" cy="3703320"/>
          </a:xfrm>
          <a:prstGeom prst="roundRect">
            <a:avLst/>
          </a:prstGeom>
          <a:solidFill>
            <a:srgbClr val="F1F6F8"/>
          </a:solidFill>
          <a:ln w="9525">
            <a:solidFill>
              <a:srgbClr val="CBD8DE"/>
            </a:solidFill>
          </a:ln>
          <a:effectLst/>
          <a:effectLst>
            <a:outerShdw blurRad="90000" dist="38100" dir="5400000" rotWithShape="0">
              <a:srgbClr val="1B2A38">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6629400" y="1691640"/>
            <a:ext cx="2194560" cy="502920"/>
          </a:xfrm>
          <a:prstGeom prst="roundRect">
            <a:avLst/>
          </a:prstGeom>
          <a:solidFill>
            <a:srgbClr val="3AA6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6629400" y="1965960"/>
            <a:ext cx="2194560" cy="228600"/>
          </a:xfrm>
          <a:prstGeom prst="rect">
            <a:avLst/>
          </a:prstGeom>
          <a:solidFill>
            <a:srgbClr val="F1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629400" y="1737360"/>
            <a:ext cx="2194560" cy="457200"/>
          </a:xfrm>
          <a:prstGeom prst="rect">
            <a:avLst/>
          </a:prstGeom>
          <a:noFill/>
        </p:spPr>
        <p:txBody>
          <a:bodyPr wrap="square" anchor="ctr" lIns="0" rIns="0" tIns="0" bIns="0">
            <a:spAutoFit/>
          </a:bodyPr>
          <a:lstStyle/>
          <a:p>
            <a:pPr algn="ctr">
              <a:lnSpc>
                <a:spcPct val="100000"/>
              </a:lnSpc>
              <a:spcBef>
                <a:spcPts val="0"/>
              </a:spcBef>
              <a:spcAft>
                <a:spcPts val="400"/>
              </a:spcAft>
            </a:pPr>
            <a:r>
              <a:rPr sz="1350" b="1" i="0">
                <a:solidFill>
                  <a:srgbClr val="FFFFFF"/>
                </a:solidFill>
                <a:latin typeface="Calibri"/>
              </a:rPr>
              <a:t>COMBINED (2)</a:t>
            </a:r>
          </a:p>
        </p:txBody>
      </p:sp>
      <p:sp>
        <p:nvSpPr>
          <p:cNvPr id="44" name="Rounded Rectangle 43"/>
          <p:cNvSpPr/>
          <p:nvPr/>
        </p:nvSpPr>
        <p:spPr>
          <a:xfrm>
            <a:off x="6812280" y="2331720"/>
            <a:ext cx="1828800" cy="329184"/>
          </a:xfrm>
          <a:prstGeom prst="roundRect">
            <a:avLst/>
          </a:prstGeom>
          <a:solidFill>
            <a:srgbClr val="FFFFFF"/>
          </a:solidFill>
          <a:ln w="9525">
            <a:solidFill>
              <a:srgbClr val="CBD8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922008" y="2331720"/>
            <a:ext cx="1691639" cy="329184"/>
          </a:xfrm>
          <a:prstGeom prst="rect">
            <a:avLst/>
          </a:prstGeom>
          <a:noFill/>
        </p:spPr>
        <p:txBody>
          <a:bodyPr wrap="square" anchor="ctr" lIns="0" rIns="0" tIns="0" bIns="0">
            <a:spAutoFit/>
          </a:bodyPr>
          <a:lstStyle/>
          <a:p>
            <a:pPr algn="l">
              <a:lnSpc>
                <a:spcPct val="100000"/>
              </a:lnSpc>
              <a:spcBef>
                <a:spcPts val="0"/>
              </a:spcBef>
              <a:spcAft>
                <a:spcPts val="400"/>
              </a:spcAft>
            </a:pPr>
            <a:r>
              <a:rPr sz="1150" b="0" i="0">
                <a:solidFill>
                  <a:srgbClr val="1B2A38"/>
                </a:solidFill>
                <a:latin typeface="Calibri"/>
              </a:rPr>
              <a:t>Dual-stage [17]</a:t>
            </a:r>
          </a:p>
        </p:txBody>
      </p:sp>
      <p:sp>
        <p:nvSpPr>
          <p:cNvPr id="46" name="Rounded Rectangle 45"/>
          <p:cNvSpPr/>
          <p:nvPr/>
        </p:nvSpPr>
        <p:spPr>
          <a:xfrm>
            <a:off x="6812280" y="2715768"/>
            <a:ext cx="1828800" cy="329184"/>
          </a:xfrm>
          <a:prstGeom prst="roundRect">
            <a:avLst/>
          </a:prstGeom>
          <a:solidFill>
            <a:srgbClr val="FFFFFF"/>
          </a:solidFill>
          <a:ln w="9525">
            <a:solidFill>
              <a:srgbClr val="CBD8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922008" y="2715768"/>
            <a:ext cx="1691639" cy="329184"/>
          </a:xfrm>
          <a:prstGeom prst="rect">
            <a:avLst/>
          </a:prstGeom>
          <a:noFill/>
        </p:spPr>
        <p:txBody>
          <a:bodyPr wrap="square" anchor="ctr" lIns="0" rIns="0" tIns="0" bIns="0">
            <a:spAutoFit/>
          </a:bodyPr>
          <a:lstStyle/>
          <a:p>
            <a:pPr algn="l">
              <a:lnSpc>
                <a:spcPct val="100000"/>
              </a:lnSpc>
              <a:spcBef>
                <a:spcPts val="0"/>
              </a:spcBef>
              <a:spcAft>
                <a:spcPts val="400"/>
              </a:spcAft>
            </a:pPr>
            <a:r>
              <a:rPr sz="1150" b="0" i="0">
                <a:solidFill>
                  <a:srgbClr val="1B2A38"/>
                </a:solidFill>
                <a:latin typeface="Calibri"/>
              </a:rPr>
              <a:t>MTL-OCA [24]</a:t>
            </a:r>
          </a:p>
        </p:txBody>
      </p:sp>
      <p:sp>
        <p:nvSpPr>
          <p:cNvPr id="48" name="Rounded Rectangle 47"/>
          <p:cNvSpPr/>
          <p:nvPr/>
        </p:nvSpPr>
        <p:spPr>
          <a:xfrm>
            <a:off x="9006840" y="1691640"/>
            <a:ext cx="2404872" cy="3703320"/>
          </a:xfrm>
          <a:prstGeom prst="roundRect">
            <a:avLst/>
          </a:prstGeom>
          <a:solidFill>
            <a:srgbClr val="F7EDDD"/>
          </a:solidFill>
          <a:ln w="9525">
            <a:solidFill>
              <a:srgbClr val="CBD8DE"/>
            </a:solidFill>
          </a:ln>
          <a:effectLst/>
          <a:effectLst>
            <a:outerShdw blurRad="90000" dist="38100" dir="5400000" rotWithShape="0">
              <a:srgbClr val="1B2A38">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ounded Rectangle 48"/>
          <p:cNvSpPr/>
          <p:nvPr/>
        </p:nvSpPr>
        <p:spPr>
          <a:xfrm>
            <a:off x="9006840" y="1691640"/>
            <a:ext cx="2404872" cy="502920"/>
          </a:xfrm>
          <a:prstGeom prst="roundRect">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9006840" y="1965960"/>
            <a:ext cx="2404872" cy="228600"/>
          </a:xfrm>
          <a:prstGeom prst="rect">
            <a:avLst/>
          </a:prstGeom>
          <a:solidFill>
            <a:srgbClr val="F7E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9006840" y="1737360"/>
            <a:ext cx="2404872" cy="457200"/>
          </a:xfrm>
          <a:prstGeom prst="rect">
            <a:avLst/>
          </a:prstGeom>
          <a:noFill/>
        </p:spPr>
        <p:txBody>
          <a:bodyPr wrap="square" anchor="ctr" lIns="0" rIns="0" tIns="0" bIns="0">
            <a:spAutoFit/>
          </a:bodyPr>
          <a:lstStyle/>
          <a:p>
            <a:pPr algn="ctr">
              <a:lnSpc>
                <a:spcPct val="100000"/>
              </a:lnSpc>
              <a:spcBef>
                <a:spcPts val="0"/>
              </a:spcBef>
              <a:spcAft>
                <a:spcPts val="400"/>
              </a:spcAft>
            </a:pPr>
            <a:r>
              <a:rPr sz="1300" b="1" i="0">
                <a:solidFill>
                  <a:srgbClr val="FFFFFF"/>
                </a:solidFill>
                <a:latin typeface="Calibri"/>
              </a:rPr>
              <a:t>OUR IMPROVEMENTS (2)</a:t>
            </a:r>
          </a:p>
        </p:txBody>
      </p:sp>
      <p:sp>
        <p:nvSpPr>
          <p:cNvPr id="52" name="Rounded Rectangle 51"/>
          <p:cNvSpPr/>
          <p:nvPr/>
        </p:nvSpPr>
        <p:spPr>
          <a:xfrm>
            <a:off x="9189719" y="2377440"/>
            <a:ext cx="2039112" cy="1143000"/>
          </a:xfrm>
          <a:prstGeom prst="roundRect">
            <a:avLst/>
          </a:prstGeom>
          <a:solidFill>
            <a:srgbClr val="FFFFFF"/>
          </a:solidFill>
          <a:ln w="15240">
            <a:solidFill>
              <a:srgbClr val="E8A3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326880" y="2505456"/>
            <a:ext cx="1810512" cy="914400"/>
          </a:xfrm>
          <a:prstGeom prst="rect">
            <a:avLst/>
          </a:prstGeom>
          <a:noFill/>
        </p:spPr>
        <p:txBody>
          <a:bodyPr wrap="square" anchor="t" lIns="0" rIns="0" tIns="0" bIns="0">
            <a:spAutoFit/>
          </a:bodyPr>
          <a:lstStyle/>
          <a:p>
            <a:pPr algn="l">
              <a:lnSpc>
                <a:spcPct val="105000"/>
              </a:lnSpc>
              <a:spcBef>
                <a:spcPts val="0"/>
              </a:spcBef>
              <a:spcAft>
                <a:spcPts val="400"/>
              </a:spcAft>
            </a:pPr>
            <a:r>
              <a:rPr sz="1250" b="1" i="0">
                <a:solidFill>
                  <a:srgbClr val="1B2A38"/>
                </a:solidFill>
                <a:latin typeface="Calibri"/>
              </a:rPr>
              <a:t>★ Improved segmenter</a:t>
            </a:r>
          </a:p>
          <a:p>
            <a:pPr algn="l">
              <a:lnSpc>
                <a:spcPct val="105000"/>
              </a:lnSpc>
              <a:spcBef>
                <a:spcPts val="0"/>
              </a:spcBef>
              <a:spcAft>
                <a:spcPts val="400"/>
              </a:spcAft>
            </a:pPr>
            <a:r>
              <a:rPr sz="1100" b="0" i="0">
                <a:solidFill>
                  <a:srgbClr val="45596B"/>
                </a:solidFill>
                <a:latin typeface="Calibri"/>
              </a:rPr>
              <a:t>(pretrained EffB4 U-Net)</a:t>
            </a:r>
          </a:p>
        </p:txBody>
      </p:sp>
      <p:sp>
        <p:nvSpPr>
          <p:cNvPr id="54" name="Rounded Rectangle 53"/>
          <p:cNvSpPr/>
          <p:nvPr/>
        </p:nvSpPr>
        <p:spPr>
          <a:xfrm>
            <a:off x="9189719" y="3749039"/>
            <a:ext cx="2039112" cy="1143000"/>
          </a:xfrm>
          <a:prstGeom prst="roundRect">
            <a:avLst/>
          </a:prstGeom>
          <a:solidFill>
            <a:srgbClr val="FFFFFF"/>
          </a:solidFill>
          <a:ln w="15240">
            <a:solidFill>
              <a:srgbClr val="E8A3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326880" y="3877055"/>
            <a:ext cx="1810512" cy="914400"/>
          </a:xfrm>
          <a:prstGeom prst="rect">
            <a:avLst/>
          </a:prstGeom>
          <a:noFill/>
        </p:spPr>
        <p:txBody>
          <a:bodyPr wrap="square" anchor="t" lIns="0" rIns="0" tIns="0" bIns="0">
            <a:spAutoFit/>
          </a:bodyPr>
          <a:lstStyle/>
          <a:p>
            <a:pPr algn="l">
              <a:lnSpc>
                <a:spcPct val="105000"/>
              </a:lnSpc>
              <a:spcBef>
                <a:spcPts val="0"/>
              </a:spcBef>
              <a:spcAft>
                <a:spcPts val="400"/>
              </a:spcAft>
            </a:pPr>
            <a:r>
              <a:rPr sz="1250" b="1" i="0">
                <a:solidFill>
                  <a:srgbClr val="1B2A38"/>
                </a:solidFill>
                <a:latin typeface="Calibri"/>
              </a:rPr>
              <a:t>★ Improved dual-stage</a:t>
            </a:r>
          </a:p>
          <a:p>
            <a:pPr algn="l">
              <a:lnSpc>
                <a:spcPct val="105000"/>
              </a:lnSpc>
              <a:spcBef>
                <a:spcPts val="0"/>
              </a:spcBef>
              <a:spcAft>
                <a:spcPts val="400"/>
              </a:spcAft>
            </a:pPr>
            <a:r>
              <a:rPr sz="1100" b="0" i="0">
                <a:solidFill>
                  <a:srgbClr val="45596B"/>
                </a:solidFill>
                <a:latin typeface="Calibri"/>
              </a:rPr>
              <a:t>(rigorous eval)</a:t>
            </a:r>
          </a:p>
        </p:txBody>
      </p:sp>
      <p:sp>
        <p:nvSpPr>
          <p:cNvPr id="56" name="TextBox 55"/>
          <p:cNvSpPr txBox="1"/>
          <p:nvPr/>
        </p:nvSpPr>
        <p:spPr>
          <a:xfrm>
            <a:off x="777240" y="5623560"/>
            <a:ext cx="10607040" cy="457200"/>
          </a:xfrm>
          <a:prstGeom prst="rect">
            <a:avLst/>
          </a:prstGeom>
          <a:noFill/>
        </p:spPr>
        <p:txBody>
          <a:bodyPr wrap="square" anchor="t" lIns="0" rIns="0" tIns="0" bIns="0">
            <a:spAutoFit/>
          </a:bodyPr>
          <a:lstStyle/>
          <a:p>
            <a:pPr algn="l">
              <a:lnSpc>
                <a:spcPct val="100000"/>
              </a:lnSpc>
              <a:spcBef>
                <a:spcPts val="0"/>
              </a:spcBef>
              <a:spcAft>
                <a:spcPts val="400"/>
              </a:spcAft>
            </a:pPr>
            <a:r>
              <a:rPr sz="1150" b="0" i="1">
                <a:solidFill>
                  <a:srgbClr val="45596B"/>
                </a:solidFill>
                <a:latin typeface="Calibri"/>
              </a:rPr>
              <a:t>* = the three papers named in the project brief.   </a:t>
            </a:r>
            <a:r>
              <a:rPr sz="1150" b="1" i="0">
                <a:solidFill>
                  <a:srgbClr val="0E4D64"/>
                </a:solidFill>
                <a:latin typeface="Calibri"/>
              </a:rPr>
              <a:t>Every reused backbone is pretrained torchvision; every head, loss &amp; training loop is our own.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 y="475488"/>
            <a:ext cx="118872" cy="658368"/>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457200"/>
            <a:ext cx="10789920" cy="320040"/>
          </a:xfrm>
          <a:prstGeom prst="rect">
            <a:avLst/>
          </a:prstGeom>
          <a:noFill/>
        </p:spPr>
        <p:txBody>
          <a:bodyPr wrap="square" anchor="t" lIns="0" rIns="0" tIns="0" bIns="0">
            <a:spAutoFit/>
          </a:bodyPr>
          <a:lstStyle/>
          <a:p>
            <a:pPr algn="l">
              <a:lnSpc>
                <a:spcPct val="100000"/>
              </a:lnSpc>
              <a:spcBef>
                <a:spcPts val="0"/>
              </a:spcBef>
              <a:spcAft>
                <a:spcPts val="400"/>
              </a:spcAft>
            </a:pPr>
            <a:r>
              <a:rPr sz="1250" b="1" i="0">
                <a:solidFill>
                  <a:srgbClr val="0E4D64"/>
                </a:solidFill>
                <a:latin typeface="Calibri"/>
              </a:rPr>
              <a:t>3 · REPRODUCTION</a:t>
            </a:r>
          </a:p>
        </p:txBody>
      </p:sp>
      <p:sp>
        <p:nvSpPr>
          <p:cNvPr id="6" name="TextBox 5"/>
          <p:cNvSpPr txBox="1"/>
          <p:nvPr/>
        </p:nvSpPr>
        <p:spPr>
          <a:xfrm>
            <a:off x="777240" y="713232"/>
            <a:ext cx="10881360" cy="566928"/>
          </a:xfrm>
          <a:prstGeom prst="rect">
            <a:avLst/>
          </a:prstGeom>
          <a:noFill/>
        </p:spPr>
        <p:txBody>
          <a:bodyPr wrap="square" anchor="t" lIns="0" rIns="0" tIns="0" bIns="0">
            <a:spAutoFit/>
          </a:bodyPr>
          <a:lstStyle/>
          <a:p>
            <a:pPr algn="l">
              <a:lnSpc>
                <a:spcPct val="100000"/>
              </a:lnSpc>
              <a:spcBef>
                <a:spcPts val="0"/>
              </a:spcBef>
              <a:spcAft>
                <a:spcPts val="400"/>
              </a:spcAft>
            </a:pPr>
            <a:r>
              <a:rPr sz="2500" b="1" i="0">
                <a:solidFill>
                  <a:srgbClr val="1B2A38"/>
                </a:solidFill>
                <a:latin typeface="Calibri"/>
              </a:rPr>
              <a:t>The three required papers, from scratch</a:t>
            </a:r>
          </a:p>
        </p:txBody>
      </p:sp>
      <p:sp>
        <p:nvSpPr>
          <p:cNvPr id="7" name="Rectangle 6"/>
          <p:cNvSpPr/>
          <p:nvPr/>
        </p:nvSpPr>
        <p:spPr>
          <a:xfrm>
            <a:off x="777240" y="1316736"/>
            <a:ext cx="10634472" cy="18288"/>
          </a:xfrm>
          <a:prstGeom prst="rect">
            <a:avLst/>
          </a:prstGeom>
          <a:solidFill>
            <a:srgbClr val="CBD8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73952"/>
            <a:ext cx="7315200" cy="274320"/>
          </a:xfrm>
          <a:prstGeom prst="rect">
            <a:avLst/>
          </a:prstGeom>
          <a:noFill/>
        </p:spPr>
        <p:txBody>
          <a:bodyPr wrap="square" anchor="t" lIns="0" rIns="0" tIns="0" bIns="0">
            <a:spAutoFit/>
          </a:bodyPr>
          <a:lstStyle/>
          <a:p>
            <a:pPr algn="l">
              <a:lnSpc>
                <a:spcPct val="100000"/>
              </a:lnSpc>
              <a:spcBef>
                <a:spcPts val="0"/>
              </a:spcBef>
              <a:spcAft>
                <a:spcPts val="400"/>
              </a:spcAft>
            </a:pPr>
            <a:r>
              <a:rPr sz="900" b="0" i="0">
                <a:solidFill>
                  <a:srgbClr val="8A94A6"/>
                </a:solidFill>
                <a:latin typeface="Calibri"/>
              </a:rPr>
              <a:t>COMP9444 · Group Project 047 · Breast Ultrasound (BUSI)</a:t>
            </a:r>
          </a:p>
        </p:txBody>
      </p:sp>
      <p:sp>
        <p:nvSpPr>
          <p:cNvPr id="9" name="TextBox 8"/>
          <p:cNvSpPr txBox="1"/>
          <p:nvPr/>
        </p:nvSpPr>
        <p:spPr>
          <a:xfrm>
            <a:off x="11064240" y="6473952"/>
            <a:ext cx="685800" cy="274320"/>
          </a:xfrm>
          <a:prstGeom prst="rect">
            <a:avLst/>
          </a:prstGeom>
          <a:noFill/>
        </p:spPr>
        <p:txBody>
          <a:bodyPr wrap="square" anchor="t" lIns="0" rIns="0" tIns="0" bIns="0">
            <a:spAutoFit/>
          </a:bodyPr>
          <a:lstStyle/>
          <a:p>
            <a:pPr algn="r">
              <a:lnSpc>
                <a:spcPct val="100000"/>
              </a:lnSpc>
              <a:spcBef>
                <a:spcPts val="0"/>
              </a:spcBef>
              <a:spcAft>
                <a:spcPts val="400"/>
              </a:spcAft>
            </a:pPr>
            <a:r>
              <a:rPr sz="900" b="1" i="0">
                <a:solidFill>
                  <a:srgbClr val="8A94A6"/>
                </a:solidFill>
                <a:latin typeface="Calibri"/>
              </a:rPr>
              <a:t>13</a:t>
            </a:r>
          </a:p>
        </p:txBody>
      </p:sp>
      <p:sp>
        <p:nvSpPr>
          <p:cNvPr id="10" name="Rounded Rectangle 9"/>
          <p:cNvSpPr/>
          <p:nvPr/>
        </p:nvSpPr>
        <p:spPr>
          <a:xfrm>
            <a:off x="777240" y="1691640"/>
            <a:ext cx="3401568" cy="3246120"/>
          </a:xfrm>
          <a:prstGeom prst="roundRect">
            <a:avLst/>
          </a:prstGeom>
          <a:solidFill>
            <a:srgbClr val="F1F6F8"/>
          </a:solidFill>
          <a:ln w="9525">
            <a:solidFill>
              <a:srgbClr val="CBD8DE"/>
            </a:solidFill>
          </a:ln>
          <a:effectLst/>
          <a:effectLst>
            <a:outerShdw blurRad="90000" dist="38100" dir="5400000" rotWithShape="0">
              <a:srgbClr val="1B2A38">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78408" y="1874519"/>
            <a:ext cx="2999232" cy="411480"/>
          </a:xfrm>
          <a:prstGeom prst="rect">
            <a:avLst/>
          </a:prstGeom>
          <a:noFill/>
        </p:spPr>
        <p:txBody>
          <a:bodyPr wrap="square" anchor="t" lIns="0" rIns="0" tIns="0" bIns="0">
            <a:spAutoFit/>
          </a:bodyPr>
          <a:lstStyle/>
          <a:p>
            <a:pPr algn="l">
              <a:lnSpc>
                <a:spcPct val="100000"/>
              </a:lnSpc>
              <a:spcBef>
                <a:spcPts val="0"/>
              </a:spcBef>
              <a:spcAft>
                <a:spcPts val="400"/>
              </a:spcAft>
            </a:pPr>
            <a:r>
              <a:rPr sz="1600" b="1" i="0">
                <a:solidFill>
                  <a:srgbClr val="0E4D64"/>
                </a:solidFill>
                <a:latin typeface="Calibri"/>
              </a:rPr>
              <a:t>U-Net [3]</a:t>
            </a:r>
          </a:p>
        </p:txBody>
      </p:sp>
      <p:sp>
        <p:nvSpPr>
          <p:cNvPr id="12" name="TextBox 11"/>
          <p:cNvSpPr txBox="1"/>
          <p:nvPr/>
        </p:nvSpPr>
        <p:spPr>
          <a:xfrm>
            <a:off x="978408" y="2286000"/>
            <a:ext cx="2999232" cy="320040"/>
          </a:xfrm>
          <a:prstGeom prst="rect">
            <a:avLst/>
          </a:prstGeom>
          <a:noFill/>
        </p:spPr>
        <p:txBody>
          <a:bodyPr wrap="square" anchor="t" lIns="0" rIns="0" tIns="0" bIns="0">
            <a:spAutoFit/>
          </a:bodyPr>
          <a:lstStyle/>
          <a:p>
            <a:pPr algn="l">
              <a:lnSpc>
                <a:spcPct val="100000"/>
              </a:lnSpc>
              <a:spcBef>
                <a:spcPts val="0"/>
              </a:spcBef>
              <a:spcAft>
                <a:spcPts val="400"/>
              </a:spcAft>
            </a:pPr>
            <a:r>
              <a:rPr sz="1150" b="1" i="1">
                <a:solidFill>
                  <a:srgbClr val="45596B"/>
                </a:solidFill>
                <a:latin typeface="Calibri"/>
              </a:rPr>
              <a:t>Ronneberger 2015</a:t>
            </a:r>
          </a:p>
        </p:txBody>
      </p:sp>
      <p:sp>
        <p:nvSpPr>
          <p:cNvPr id="13" name="Rectangle 12"/>
          <p:cNvSpPr/>
          <p:nvPr/>
        </p:nvSpPr>
        <p:spPr>
          <a:xfrm>
            <a:off x="978408" y="2651760"/>
            <a:ext cx="18288" cy="1737360"/>
          </a:xfrm>
          <a:prstGeom prst="rect">
            <a:avLst/>
          </a:prstGeom>
          <a:solidFill>
            <a:srgbClr val="1F8A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06424" y="2651760"/>
            <a:ext cx="2852928" cy="1828800"/>
          </a:xfrm>
          <a:prstGeom prst="rect">
            <a:avLst/>
          </a:prstGeom>
          <a:noFill/>
        </p:spPr>
        <p:txBody>
          <a:bodyPr wrap="square" anchor="t" lIns="0" rIns="0" tIns="0" bIns="0">
            <a:spAutoFit/>
          </a:bodyPr>
          <a:lstStyle/>
          <a:p>
            <a:pPr algn="l">
              <a:lnSpc>
                <a:spcPct val="115000"/>
              </a:lnSpc>
              <a:spcBef>
                <a:spcPts val="0"/>
              </a:spcBef>
              <a:spcAft>
                <a:spcPts val="400"/>
              </a:spcAft>
            </a:pPr>
            <a:r>
              <a:rPr sz="1300" b="0" i="0">
                <a:solidFill>
                  <a:srgbClr val="1B2A38"/>
                </a:solidFill>
                <a:latin typeface="Calibri"/>
              </a:rPr>
              <a:t>4-level encoder/decoder, skip connections, Dice+BCE. Built entirely from scratch in PyTorch.</a:t>
            </a:r>
          </a:p>
        </p:txBody>
      </p:sp>
      <p:sp>
        <p:nvSpPr>
          <p:cNvPr id="15" name="Rounded Rectangle 14"/>
          <p:cNvSpPr/>
          <p:nvPr/>
        </p:nvSpPr>
        <p:spPr>
          <a:xfrm>
            <a:off x="978408" y="4526280"/>
            <a:ext cx="1371600" cy="310896"/>
          </a:xfrm>
          <a:prstGeom prst="roundRect">
            <a:avLst/>
          </a:prstGeom>
          <a:solidFill>
            <a:srgbClr val="1F8A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78408" y="4526280"/>
            <a:ext cx="1371600" cy="310896"/>
          </a:xfrm>
          <a:prstGeom prst="rect">
            <a:avLst/>
          </a:prstGeom>
          <a:noFill/>
        </p:spPr>
        <p:txBody>
          <a:bodyPr wrap="square" anchor="ctr" lIns="0" rIns="0" tIns="0" bIns="0">
            <a:spAutoFit/>
          </a:bodyPr>
          <a:lstStyle/>
          <a:p>
            <a:pPr algn="ctr">
              <a:lnSpc>
                <a:spcPct val="100000"/>
              </a:lnSpc>
              <a:spcBef>
                <a:spcPts val="0"/>
              </a:spcBef>
              <a:spcAft>
                <a:spcPts val="400"/>
              </a:spcAft>
            </a:pPr>
            <a:r>
              <a:rPr sz="1050" b="1" i="0">
                <a:solidFill>
                  <a:srgbClr val="FFFFFF"/>
                </a:solidFill>
                <a:latin typeface="Calibri"/>
              </a:rPr>
              <a:t>from-scratch</a:t>
            </a:r>
          </a:p>
        </p:txBody>
      </p:sp>
      <p:sp>
        <p:nvSpPr>
          <p:cNvPr id="17" name="Rounded Rectangle 16"/>
          <p:cNvSpPr/>
          <p:nvPr/>
        </p:nvSpPr>
        <p:spPr>
          <a:xfrm>
            <a:off x="4398264" y="1691640"/>
            <a:ext cx="3401568" cy="3246120"/>
          </a:xfrm>
          <a:prstGeom prst="roundRect">
            <a:avLst/>
          </a:prstGeom>
          <a:solidFill>
            <a:srgbClr val="F1F6F8"/>
          </a:solidFill>
          <a:ln w="9525">
            <a:solidFill>
              <a:srgbClr val="CBD8DE"/>
            </a:solidFill>
          </a:ln>
          <a:effectLst/>
          <a:effectLst>
            <a:outerShdw blurRad="90000" dist="38100" dir="5400000" rotWithShape="0">
              <a:srgbClr val="1B2A38">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99431" y="1874519"/>
            <a:ext cx="2999232" cy="411480"/>
          </a:xfrm>
          <a:prstGeom prst="rect">
            <a:avLst/>
          </a:prstGeom>
          <a:noFill/>
        </p:spPr>
        <p:txBody>
          <a:bodyPr wrap="square" anchor="t" lIns="0" rIns="0" tIns="0" bIns="0">
            <a:spAutoFit/>
          </a:bodyPr>
          <a:lstStyle/>
          <a:p>
            <a:pPr algn="l">
              <a:lnSpc>
                <a:spcPct val="100000"/>
              </a:lnSpc>
              <a:spcBef>
                <a:spcPts val="0"/>
              </a:spcBef>
              <a:spcAft>
                <a:spcPts val="400"/>
              </a:spcAft>
            </a:pPr>
            <a:r>
              <a:rPr sz="1600" b="1" i="0">
                <a:solidFill>
                  <a:srgbClr val="0E4D64"/>
                </a:solidFill>
                <a:latin typeface="Calibri"/>
              </a:rPr>
              <a:t>Patch-LeNet [2]</a:t>
            </a:r>
          </a:p>
        </p:txBody>
      </p:sp>
      <p:sp>
        <p:nvSpPr>
          <p:cNvPr id="19" name="TextBox 18"/>
          <p:cNvSpPr txBox="1"/>
          <p:nvPr/>
        </p:nvSpPr>
        <p:spPr>
          <a:xfrm>
            <a:off x="4599431" y="2286000"/>
            <a:ext cx="2999232" cy="320040"/>
          </a:xfrm>
          <a:prstGeom prst="rect">
            <a:avLst/>
          </a:prstGeom>
          <a:noFill/>
        </p:spPr>
        <p:txBody>
          <a:bodyPr wrap="square" anchor="t" lIns="0" rIns="0" tIns="0" bIns="0">
            <a:spAutoFit/>
          </a:bodyPr>
          <a:lstStyle/>
          <a:p>
            <a:pPr algn="l">
              <a:lnSpc>
                <a:spcPct val="100000"/>
              </a:lnSpc>
              <a:spcBef>
                <a:spcPts val="0"/>
              </a:spcBef>
              <a:spcAft>
                <a:spcPts val="400"/>
              </a:spcAft>
            </a:pPr>
            <a:r>
              <a:rPr sz="1150" b="1" i="1">
                <a:solidFill>
                  <a:srgbClr val="45596B"/>
                </a:solidFill>
                <a:latin typeface="Calibri"/>
              </a:rPr>
              <a:t>Yap 2018</a:t>
            </a:r>
          </a:p>
        </p:txBody>
      </p:sp>
      <p:sp>
        <p:nvSpPr>
          <p:cNvPr id="20" name="Rectangle 19"/>
          <p:cNvSpPr/>
          <p:nvPr/>
        </p:nvSpPr>
        <p:spPr>
          <a:xfrm>
            <a:off x="4599431" y="2651760"/>
            <a:ext cx="18288" cy="1737360"/>
          </a:xfrm>
          <a:prstGeom prst="rect">
            <a:avLst/>
          </a:prstGeom>
          <a:solidFill>
            <a:srgbClr val="1F8A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27448" y="2651760"/>
            <a:ext cx="2852928" cy="1828800"/>
          </a:xfrm>
          <a:prstGeom prst="rect">
            <a:avLst/>
          </a:prstGeom>
          <a:noFill/>
        </p:spPr>
        <p:txBody>
          <a:bodyPr wrap="square" anchor="t" lIns="0" rIns="0" tIns="0" bIns="0">
            <a:spAutoFit/>
          </a:bodyPr>
          <a:lstStyle/>
          <a:p>
            <a:pPr algn="l">
              <a:lnSpc>
                <a:spcPct val="115000"/>
              </a:lnSpc>
              <a:spcBef>
                <a:spcPts val="0"/>
              </a:spcBef>
              <a:spcAft>
                <a:spcPts val="400"/>
              </a:spcAft>
            </a:pPr>
            <a:r>
              <a:rPr sz="1300" b="0" i="0">
                <a:solidFill>
                  <a:srgbClr val="1B2A38"/>
                </a:solidFill>
                <a:latin typeface="Calibri"/>
              </a:rPr>
              <a:t>Tiny LeNet classifies 28×28 patches; balanced hard-negative sampling; sliding-window detection map.</a:t>
            </a:r>
          </a:p>
        </p:txBody>
      </p:sp>
      <p:sp>
        <p:nvSpPr>
          <p:cNvPr id="22" name="Rounded Rectangle 21"/>
          <p:cNvSpPr/>
          <p:nvPr/>
        </p:nvSpPr>
        <p:spPr>
          <a:xfrm>
            <a:off x="4599431" y="4526280"/>
            <a:ext cx="1371600" cy="310896"/>
          </a:xfrm>
          <a:prstGeom prst="roundRect">
            <a:avLst/>
          </a:prstGeom>
          <a:solidFill>
            <a:srgbClr val="1F8A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99431" y="4526280"/>
            <a:ext cx="1371600" cy="310896"/>
          </a:xfrm>
          <a:prstGeom prst="rect">
            <a:avLst/>
          </a:prstGeom>
          <a:noFill/>
        </p:spPr>
        <p:txBody>
          <a:bodyPr wrap="square" anchor="ctr" lIns="0" rIns="0" tIns="0" bIns="0">
            <a:spAutoFit/>
          </a:bodyPr>
          <a:lstStyle/>
          <a:p>
            <a:pPr algn="ctr">
              <a:lnSpc>
                <a:spcPct val="100000"/>
              </a:lnSpc>
              <a:spcBef>
                <a:spcPts val="0"/>
              </a:spcBef>
              <a:spcAft>
                <a:spcPts val="400"/>
              </a:spcAft>
            </a:pPr>
            <a:r>
              <a:rPr sz="1050" b="1" i="0">
                <a:solidFill>
                  <a:srgbClr val="FFFFFF"/>
                </a:solidFill>
                <a:latin typeface="Calibri"/>
              </a:rPr>
              <a:t>detection</a:t>
            </a:r>
          </a:p>
        </p:txBody>
      </p:sp>
      <p:sp>
        <p:nvSpPr>
          <p:cNvPr id="24" name="Rounded Rectangle 23"/>
          <p:cNvSpPr/>
          <p:nvPr/>
        </p:nvSpPr>
        <p:spPr>
          <a:xfrm>
            <a:off x="8019288" y="1691640"/>
            <a:ext cx="3401568" cy="3246120"/>
          </a:xfrm>
          <a:prstGeom prst="roundRect">
            <a:avLst/>
          </a:prstGeom>
          <a:solidFill>
            <a:srgbClr val="F1F6F8"/>
          </a:solidFill>
          <a:ln w="9525">
            <a:solidFill>
              <a:srgbClr val="CBD8DE"/>
            </a:solidFill>
          </a:ln>
          <a:effectLst/>
          <a:effectLst>
            <a:outerShdw blurRad="90000" dist="38100" dir="5400000" rotWithShape="0">
              <a:srgbClr val="1B2A38">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20456" y="1874519"/>
            <a:ext cx="2999232" cy="411480"/>
          </a:xfrm>
          <a:prstGeom prst="rect">
            <a:avLst/>
          </a:prstGeom>
          <a:noFill/>
        </p:spPr>
        <p:txBody>
          <a:bodyPr wrap="square" anchor="t" lIns="0" rIns="0" tIns="0" bIns="0">
            <a:spAutoFit/>
          </a:bodyPr>
          <a:lstStyle/>
          <a:p>
            <a:pPr algn="l">
              <a:lnSpc>
                <a:spcPct val="100000"/>
              </a:lnSpc>
              <a:spcBef>
                <a:spcPts val="0"/>
              </a:spcBef>
              <a:spcAft>
                <a:spcPts val="400"/>
              </a:spcAft>
            </a:pPr>
            <a:r>
              <a:rPr sz="1600" b="1" i="0">
                <a:solidFill>
                  <a:srgbClr val="0E4D64"/>
                </a:solidFill>
                <a:latin typeface="Calibri"/>
              </a:rPr>
              <a:t>FCN-AlexNet [2]</a:t>
            </a:r>
          </a:p>
        </p:txBody>
      </p:sp>
      <p:sp>
        <p:nvSpPr>
          <p:cNvPr id="26" name="TextBox 25"/>
          <p:cNvSpPr txBox="1"/>
          <p:nvPr/>
        </p:nvSpPr>
        <p:spPr>
          <a:xfrm>
            <a:off x="8220456" y="2286000"/>
            <a:ext cx="2999232" cy="320040"/>
          </a:xfrm>
          <a:prstGeom prst="rect">
            <a:avLst/>
          </a:prstGeom>
          <a:noFill/>
        </p:spPr>
        <p:txBody>
          <a:bodyPr wrap="square" anchor="t" lIns="0" rIns="0" tIns="0" bIns="0">
            <a:spAutoFit/>
          </a:bodyPr>
          <a:lstStyle/>
          <a:p>
            <a:pPr algn="l">
              <a:lnSpc>
                <a:spcPct val="100000"/>
              </a:lnSpc>
              <a:spcBef>
                <a:spcPts val="0"/>
              </a:spcBef>
              <a:spcAft>
                <a:spcPts val="400"/>
              </a:spcAft>
            </a:pPr>
            <a:r>
              <a:rPr sz="1150" b="1" i="1">
                <a:solidFill>
                  <a:srgbClr val="45596B"/>
                </a:solidFill>
                <a:latin typeface="Calibri"/>
              </a:rPr>
              <a:t>Yap 2018 · best</a:t>
            </a:r>
          </a:p>
        </p:txBody>
      </p:sp>
      <p:sp>
        <p:nvSpPr>
          <p:cNvPr id="27" name="Rectangle 26"/>
          <p:cNvSpPr/>
          <p:nvPr/>
        </p:nvSpPr>
        <p:spPr>
          <a:xfrm>
            <a:off x="8220456" y="2651760"/>
            <a:ext cx="18288" cy="1737360"/>
          </a:xfrm>
          <a:prstGeom prst="rect">
            <a:avLst/>
          </a:prstGeom>
          <a:solidFill>
            <a:srgbClr val="1F8A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348471" y="2651760"/>
            <a:ext cx="2852928" cy="1828800"/>
          </a:xfrm>
          <a:prstGeom prst="rect">
            <a:avLst/>
          </a:prstGeom>
          <a:noFill/>
        </p:spPr>
        <p:txBody>
          <a:bodyPr wrap="square" anchor="t" lIns="0" rIns="0" tIns="0" bIns="0">
            <a:spAutoFit/>
          </a:bodyPr>
          <a:lstStyle/>
          <a:p>
            <a:pPr algn="l">
              <a:lnSpc>
                <a:spcPct val="115000"/>
              </a:lnSpc>
              <a:spcBef>
                <a:spcPts val="0"/>
              </a:spcBef>
              <a:spcAft>
                <a:spcPts val="400"/>
              </a:spcAft>
            </a:pPr>
            <a:r>
              <a:rPr sz="1300" b="0" i="0">
                <a:solidFill>
                  <a:srgbClr val="1B2A38"/>
                </a:solidFill>
                <a:latin typeface="Calibri"/>
              </a:rPr>
              <a:t>Pretrained AlexNet → fully-convolutional; fc6/fc7 recast as conv + bilinear upsample. Yap's best method.</a:t>
            </a:r>
          </a:p>
        </p:txBody>
      </p:sp>
      <p:sp>
        <p:nvSpPr>
          <p:cNvPr id="29" name="Rounded Rectangle 28"/>
          <p:cNvSpPr/>
          <p:nvPr/>
        </p:nvSpPr>
        <p:spPr>
          <a:xfrm>
            <a:off x="8220456" y="4526280"/>
            <a:ext cx="1371600" cy="310896"/>
          </a:xfrm>
          <a:prstGeom prst="roundRect">
            <a:avLst/>
          </a:prstGeom>
          <a:solidFill>
            <a:srgbClr val="1F8A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20456" y="4526280"/>
            <a:ext cx="1371600" cy="310896"/>
          </a:xfrm>
          <a:prstGeom prst="rect">
            <a:avLst/>
          </a:prstGeom>
          <a:noFill/>
        </p:spPr>
        <p:txBody>
          <a:bodyPr wrap="square" anchor="ctr" lIns="0" rIns="0" tIns="0" bIns="0">
            <a:spAutoFit/>
          </a:bodyPr>
          <a:lstStyle/>
          <a:p>
            <a:pPr algn="ctr">
              <a:lnSpc>
                <a:spcPct val="100000"/>
              </a:lnSpc>
              <a:spcBef>
                <a:spcPts val="0"/>
              </a:spcBef>
              <a:spcAft>
                <a:spcPts val="400"/>
              </a:spcAft>
            </a:pPr>
            <a:r>
              <a:rPr sz="1050" b="1" i="0">
                <a:solidFill>
                  <a:srgbClr val="FFFFFF"/>
                </a:solidFill>
                <a:latin typeface="Calibri"/>
              </a:rPr>
              <a:t>transfer</a:t>
            </a:r>
          </a:p>
        </p:txBody>
      </p:sp>
      <p:sp>
        <p:nvSpPr>
          <p:cNvPr id="31" name="Rounded Rectangle 30"/>
          <p:cNvSpPr/>
          <p:nvPr/>
        </p:nvSpPr>
        <p:spPr>
          <a:xfrm>
            <a:off x="777240" y="5212080"/>
            <a:ext cx="10634472" cy="777240"/>
          </a:xfrm>
          <a:prstGeom prst="roundRect">
            <a:avLst/>
          </a:prstGeom>
          <a:solidFill>
            <a:srgbClr val="E6EF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05840" y="5212080"/>
            <a:ext cx="10241280" cy="777240"/>
          </a:xfrm>
          <a:prstGeom prst="rect">
            <a:avLst/>
          </a:prstGeom>
          <a:noFill/>
        </p:spPr>
        <p:txBody>
          <a:bodyPr wrap="square" anchor="ctr" lIns="0" rIns="0" tIns="0" bIns="0">
            <a:spAutoFit/>
          </a:bodyPr>
          <a:lstStyle/>
          <a:p>
            <a:pPr algn="l">
              <a:lnSpc>
                <a:spcPct val="110000"/>
              </a:lnSpc>
              <a:spcBef>
                <a:spcPts val="0"/>
              </a:spcBef>
              <a:spcAft>
                <a:spcPts val="400"/>
              </a:spcAft>
            </a:pPr>
            <a:r>
              <a:rPr sz="1300" b="1" i="0">
                <a:solidFill>
                  <a:srgbClr val="E1595B"/>
                </a:solidFill>
                <a:latin typeface="Calibri"/>
              </a:rPr>
              <a:t>Own work: </a:t>
            </a:r>
            <a:r>
              <a:rPr sz="1300" b="0" i="0">
                <a:solidFill>
                  <a:srgbClr val="1B2A38"/>
                </a:solidFill>
                <a:latin typeface="Calibri"/>
              </a:rPr>
              <a:t>full U-Net; the LeNet + hard-negative patch sampler + sliding-window inference; the FCN head &amp; fine-tuning. Only the AlexNet backbone is a pretrained component.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 y="475488"/>
            <a:ext cx="118872" cy="658368"/>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457200"/>
            <a:ext cx="10789920" cy="320040"/>
          </a:xfrm>
          <a:prstGeom prst="rect">
            <a:avLst/>
          </a:prstGeom>
          <a:noFill/>
        </p:spPr>
        <p:txBody>
          <a:bodyPr wrap="square" anchor="t" lIns="0" rIns="0" tIns="0" bIns="0">
            <a:spAutoFit/>
          </a:bodyPr>
          <a:lstStyle/>
          <a:p>
            <a:pPr algn="l">
              <a:lnSpc>
                <a:spcPct val="100000"/>
              </a:lnSpc>
              <a:spcBef>
                <a:spcPts val="0"/>
              </a:spcBef>
              <a:spcAft>
                <a:spcPts val="400"/>
              </a:spcAft>
            </a:pPr>
            <a:r>
              <a:rPr sz="1250" b="1" i="0">
                <a:solidFill>
                  <a:srgbClr val="0E4D64"/>
                </a:solidFill>
                <a:latin typeface="Calibri"/>
              </a:rPr>
              <a:t>3 · SEGMENTATION</a:t>
            </a:r>
          </a:p>
        </p:txBody>
      </p:sp>
      <p:sp>
        <p:nvSpPr>
          <p:cNvPr id="6" name="TextBox 5"/>
          <p:cNvSpPr txBox="1"/>
          <p:nvPr/>
        </p:nvSpPr>
        <p:spPr>
          <a:xfrm>
            <a:off x="777240" y="713232"/>
            <a:ext cx="10881360" cy="566928"/>
          </a:xfrm>
          <a:prstGeom prst="rect">
            <a:avLst/>
          </a:prstGeom>
          <a:noFill/>
        </p:spPr>
        <p:txBody>
          <a:bodyPr wrap="square" anchor="t" lIns="0" rIns="0" tIns="0" bIns="0">
            <a:spAutoFit/>
          </a:bodyPr>
          <a:lstStyle/>
          <a:p>
            <a:pPr algn="l">
              <a:lnSpc>
                <a:spcPct val="100000"/>
              </a:lnSpc>
              <a:spcBef>
                <a:spcPts val="0"/>
              </a:spcBef>
              <a:spcAft>
                <a:spcPts val="400"/>
              </a:spcAft>
            </a:pPr>
            <a:r>
              <a:rPr sz="2500" b="1" i="0">
                <a:solidFill>
                  <a:srgbClr val="1B2A38"/>
                </a:solidFill>
                <a:latin typeface="Calibri"/>
              </a:rPr>
              <a:t>Five stronger segmentation architectures</a:t>
            </a:r>
          </a:p>
        </p:txBody>
      </p:sp>
      <p:sp>
        <p:nvSpPr>
          <p:cNvPr id="7" name="Rectangle 6"/>
          <p:cNvSpPr/>
          <p:nvPr/>
        </p:nvSpPr>
        <p:spPr>
          <a:xfrm>
            <a:off x="777240" y="1316736"/>
            <a:ext cx="10634472" cy="18288"/>
          </a:xfrm>
          <a:prstGeom prst="rect">
            <a:avLst/>
          </a:prstGeom>
          <a:solidFill>
            <a:srgbClr val="CBD8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73952"/>
            <a:ext cx="7315200" cy="274320"/>
          </a:xfrm>
          <a:prstGeom prst="rect">
            <a:avLst/>
          </a:prstGeom>
          <a:noFill/>
        </p:spPr>
        <p:txBody>
          <a:bodyPr wrap="square" anchor="t" lIns="0" rIns="0" tIns="0" bIns="0">
            <a:spAutoFit/>
          </a:bodyPr>
          <a:lstStyle/>
          <a:p>
            <a:pPr algn="l">
              <a:lnSpc>
                <a:spcPct val="100000"/>
              </a:lnSpc>
              <a:spcBef>
                <a:spcPts val="0"/>
              </a:spcBef>
              <a:spcAft>
                <a:spcPts val="400"/>
              </a:spcAft>
            </a:pPr>
            <a:r>
              <a:rPr sz="900" b="0" i="0">
                <a:solidFill>
                  <a:srgbClr val="8A94A6"/>
                </a:solidFill>
                <a:latin typeface="Calibri"/>
              </a:rPr>
              <a:t>COMP9444 · Group Project 047 · Breast Ultrasound (BUSI)</a:t>
            </a:r>
          </a:p>
        </p:txBody>
      </p:sp>
      <p:sp>
        <p:nvSpPr>
          <p:cNvPr id="9" name="TextBox 8"/>
          <p:cNvSpPr txBox="1"/>
          <p:nvPr/>
        </p:nvSpPr>
        <p:spPr>
          <a:xfrm>
            <a:off x="11064240" y="6473952"/>
            <a:ext cx="685800" cy="274320"/>
          </a:xfrm>
          <a:prstGeom prst="rect">
            <a:avLst/>
          </a:prstGeom>
          <a:noFill/>
        </p:spPr>
        <p:txBody>
          <a:bodyPr wrap="square" anchor="t" lIns="0" rIns="0" tIns="0" bIns="0">
            <a:spAutoFit/>
          </a:bodyPr>
          <a:lstStyle/>
          <a:p>
            <a:pPr algn="r">
              <a:lnSpc>
                <a:spcPct val="100000"/>
              </a:lnSpc>
              <a:spcBef>
                <a:spcPts val="0"/>
              </a:spcBef>
              <a:spcAft>
                <a:spcPts val="400"/>
              </a:spcAft>
            </a:pPr>
            <a:r>
              <a:rPr sz="900" b="1" i="0">
                <a:solidFill>
                  <a:srgbClr val="8A94A6"/>
                </a:solidFill>
                <a:latin typeface="Calibri"/>
              </a:rPr>
              <a:t>14</a:t>
            </a:r>
          </a:p>
        </p:txBody>
      </p:sp>
      <p:sp>
        <p:nvSpPr>
          <p:cNvPr id="10" name="Rounded Rectangle 9"/>
          <p:cNvSpPr/>
          <p:nvPr/>
        </p:nvSpPr>
        <p:spPr>
          <a:xfrm>
            <a:off x="777240" y="1645920"/>
            <a:ext cx="10634472" cy="777240"/>
          </a:xfrm>
          <a:prstGeom prst="roundRect">
            <a:avLst/>
          </a:prstGeom>
          <a:solidFill>
            <a:srgbClr val="F1F6F8"/>
          </a:solidFill>
          <a:ln w="9525">
            <a:solidFill>
              <a:srgbClr val="CBD8DE"/>
            </a:solidFill>
          </a:ln>
          <a:effectLst/>
          <a:effectLst>
            <a:outerShdw blurRad="90000" dist="38100" dir="5400000" rotWithShape="0">
              <a:srgbClr val="1B2A38">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77240" y="1645920"/>
            <a:ext cx="109728" cy="777240"/>
          </a:xfrm>
          <a:prstGeom prst="roundRect">
            <a:avLst/>
          </a:prstGeom>
          <a:solidFill>
            <a:srgbClr val="1F8A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1645920"/>
            <a:ext cx="2834640" cy="777240"/>
          </a:xfrm>
          <a:prstGeom prst="rect">
            <a:avLst/>
          </a:prstGeom>
          <a:noFill/>
        </p:spPr>
        <p:txBody>
          <a:bodyPr wrap="square" anchor="ctr" lIns="0" rIns="0" tIns="0" bIns="0">
            <a:spAutoFit/>
          </a:bodyPr>
          <a:lstStyle/>
          <a:p>
            <a:pPr algn="l">
              <a:lnSpc>
                <a:spcPct val="100000"/>
              </a:lnSpc>
              <a:spcBef>
                <a:spcPts val="0"/>
              </a:spcBef>
              <a:spcAft>
                <a:spcPts val="400"/>
              </a:spcAft>
            </a:pPr>
            <a:r>
              <a:rPr sz="1350" b="1" i="0">
                <a:solidFill>
                  <a:srgbClr val="0E4D64"/>
                </a:solidFill>
                <a:latin typeface="Calibri"/>
              </a:rPr>
              <a:t>Attention U-Net [9]</a:t>
            </a:r>
          </a:p>
        </p:txBody>
      </p:sp>
      <p:sp>
        <p:nvSpPr>
          <p:cNvPr id="13" name="TextBox 12"/>
          <p:cNvSpPr txBox="1"/>
          <p:nvPr/>
        </p:nvSpPr>
        <p:spPr>
          <a:xfrm>
            <a:off x="3977639" y="1700784"/>
            <a:ext cx="7315200" cy="685800"/>
          </a:xfrm>
          <a:prstGeom prst="rect">
            <a:avLst/>
          </a:prstGeom>
          <a:noFill/>
        </p:spPr>
        <p:txBody>
          <a:bodyPr wrap="square" anchor="ctr" lIns="0" rIns="0" tIns="0" bIns="0">
            <a:spAutoFit/>
          </a:bodyPr>
          <a:lstStyle/>
          <a:p>
            <a:pPr algn="l">
              <a:lnSpc>
                <a:spcPct val="105000"/>
              </a:lnSpc>
              <a:spcBef>
                <a:spcPts val="0"/>
              </a:spcBef>
              <a:spcAft>
                <a:spcPts val="400"/>
              </a:spcAft>
            </a:pPr>
            <a:r>
              <a:rPr sz="1250" b="0" i="0">
                <a:solidFill>
                  <a:srgbClr val="1B2A38"/>
                </a:solidFill>
                <a:latin typeface="Calibri"/>
              </a:rPr>
              <a:t>additive attention gates on skips — *same recipe* as our U-Net, so it isolates the gate's effect.</a:t>
            </a:r>
          </a:p>
        </p:txBody>
      </p:sp>
      <p:sp>
        <p:nvSpPr>
          <p:cNvPr id="14" name="Rounded Rectangle 13"/>
          <p:cNvSpPr/>
          <p:nvPr/>
        </p:nvSpPr>
        <p:spPr>
          <a:xfrm>
            <a:off x="777240" y="2514600"/>
            <a:ext cx="10634472" cy="777240"/>
          </a:xfrm>
          <a:prstGeom prst="roundRect">
            <a:avLst/>
          </a:prstGeom>
          <a:solidFill>
            <a:srgbClr val="FFFFFF"/>
          </a:solidFill>
          <a:ln w="9525">
            <a:solidFill>
              <a:srgbClr val="CBD8DE"/>
            </a:solidFill>
          </a:ln>
          <a:effectLst/>
          <a:effectLst>
            <a:outerShdw blurRad="90000" dist="38100" dir="5400000" rotWithShape="0">
              <a:srgbClr val="1B2A38">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77240" y="2514600"/>
            <a:ext cx="109728" cy="777240"/>
          </a:xfrm>
          <a:prstGeom prst="roundRect">
            <a:avLst/>
          </a:prstGeom>
          <a:solidFill>
            <a:srgbClr val="1F8A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2514600"/>
            <a:ext cx="2834640" cy="777240"/>
          </a:xfrm>
          <a:prstGeom prst="rect">
            <a:avLst/>
          </a:prstGeom>
          <a:noFill/>
        </p:spPr>
        <p:txBody>
          <a:bodyPr wrap="square" anchor="ctr" lIns="0" rIns="0" tIns="0" bIns="0">
            <a:spAutoFit/>
          </a:bodyPr>
          <a:lstStyle/>
          <a:p>
            <a:pPr algn="l">
              <a:lnSpc>
                <a:spcPct val="100000"/>
              </a:lnSpc>
              <a:spcBef>
                <a:spcPts val="0"/>
              </a:spcBef>
              <a:spcAft>
                <a:spcPts val="400"/>
              </a:spcAft>
            </a:pPr>
            <a:r>
              <a:rPr sz="1350" b="1" i="0">
                <a:solidFill>
                  <a:srgbClr val="0E4D64"/>
                </a:solidFill>
                <a:latin typeface="Calibri"/>
              </a:rPr>
              <a:t>DeepLabV3+ [7]</a:t>
            </a:r>
          </a:p>
        </p:txBody>
      </p:sp>
      <p:sp>
        <p:nvSpPr>
          <p:cNvPr id="17" name="TextBox 16"/>
          <p:cNvSpPr txBox="1"/>
          <p:nvPr/>
        </p:nvSpPr>
        <p:spPr>
          <a:xfrm>
            <a:off x="3977639" y="2569464"/>
            <a:ext cx="7315200" cy="685800"/>
          </a:xfrm>
          <a:prstGeom prst="rect">
            <a:avLst/>
          </a:prstGeom>
          <a:noFill/>
        </p:spPr>
        <p:txBody>
          <a:bodyPr wrap="square" anchor="ctr" lIns="0" rIns="0" tIns="0" bIns="0">
            <a:spAutoFit/>
          </a:bodyPr>
          <a:lstStyle/>
          <a:p>
            <a:pPr algn="l">
              <a:lnSpc>
                <a:spcPct val="105000"/>
              </a:lnSpc>
              <a:spcBef>
                <a:spcPts val="0"/>
              </a:spcBef>
              <a:spcAft>
                <a:spcPts val="400"/>
              </a:spcAft>
            </a:pPr>
            <a:r>
              <a:rPr sz="1250" b="0" i="0">
                <a:solidFill>
                  <a:srgbClr val="1B2A38"/>
                </a:solidFill>
                <a:latin typeface="Calibri"/>
              </a:rPr>
              <a:t>pretrained ResNet-50 + ASPP (atrous rates 6/12/18) + light decoder. Our strongest reproduced baseline.</a:t>
            </a:r>
          </a:p>
        </p:txBody>
      </p:sp>
      <p:sp>
        <p:nvSpPr>
          <p:cNvPr id="18" name="Rounded Rectangle 17"/>
          <p:cNvSpPr/>
          <p:nvPr/>
        </p:nvSpPr>
        <p:spPr>
          <a:xfrm>
            <a:off x="777240" y="3383280"/>
            <a:ext cx="10634472" cy="777240"/>
          </a:xfrm>
          <a:prstGeom prst="roundRect">
            <a:avLst/>
          </a:prstGeom>
          <a:solidFill>
            <a:srgbClr val="F1F6F8"/>
          </a:solidFill>
          <a:ln w="9525">
            <a:solidFill>
              <a:srgbClr val="CBD8DE"/>
            </a:solidFill>
          </a:ln>
          <a:effectLst/>
          <a:effectLst>
            <a:outerShdw blurRad="90000" dist="38100" dir="5400000" rotWithShape="0">
              <a:srgbClr val="1B2A38">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77240" y="3383280"/>
            <a:ext cx="109728" cy="777240"/>
          </a:xfrm>
          <a:prstGeom prst="roundRect">
            <a:avLst/>
          </a:prstGeom>
          <a:solidFill>
            <a:srgbClr val="1F8A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51560" y="3383280"/>
            <a:ext cx="2834640" cy="777240"/>
          </a:xfrm>
          <a:prstGeom prst="rect">
            <a:avLst/>
          </a:prstGeom>
          <a:noFill/>
        </p:spPr>
        <p:txBody>
          <a:bodyPr wrap="square" anchor="ctr" lIns="0" rIns="0" tIns="0" bIns="0">
            <a:spAutoFit/>
          </a:bodyPr>
          <a:lstStyle/>
          <a:p>
            <a:pPr algn="l">
              <a:lnSpc>
                <a:spcPct val="100000"/>
              </a:lnSpc>
              <a:spcBef>
                <a:spcPts val="0"/>
              </a:spcBef>
              <a:spcAft>
                <a:spcPts val="400"/>
              </a:spcAft>
            </a:pPr>
            <a:r>
              <a:rPr sz="1350" b="1" i="0">
                <a:solidFill>
                  <a:srgbClr val="0E4D64"/>
                </a:solidFill>
                <a:latin typeface="Calibri"/>
              </a:rPr>
              <a:t>nnU-Net [20]</a:t>
            </a:r>
          </a:p>
        </p:txBody>
      </p:sp>
      <p:sp>
        <p:nvSpPr>
          <p:cNvPr id="21" name="TextBox 20"/>
          <p:cNvSpPr txBox="1"/>
          <p:nvPr/>
        </p:nvSpPr>
        <p:spPr>
          <a:xfrm>
            <a:off x="3977639" y="3438144"/>
            <a:ext cx="7315200" cy="685800"/>
          </a:xfrm>
          <a:prstGeom prst="rect">
            <a:avLst/>
          </a:prstGeom>
          <a:noFill/>
        </p:spPr>
        <p:txBody>
          <a:bodyPr wrap="square" anchor="ctr" lIns="0" rIns="0" tIns="0" bIns="0">
            <a:spAutoFit/>
          </a:bodyPr>
          <a:lstStyle/>
          <a:p>
            <a:pPr algn="l">
              <a:lnSpc>
                <a:spcPct val="105000"/>
              </a:lnSpc>
              <a:spcBef>
                <a:spcPts val="0"/>
              </a:spcBef>
              <a:spcAft>
                <a:spcPts val="400"/>
              </a:spcAft>
            </a:pPr>
            <a:r>
              <a:rPr sz="1250" b="0" i="0">
                <a:solidFill>
                  <a:srgbClr val="1B2A38"/>
                </a:solidFill>
                <a:latin typeface="Calibri"/>
              </a:rPr>
              <a:t>the fixed blueprint 2D U-Net + deep supervision (InstanceNorm, poly-LR, SGD). A strong general baseline.</a:t>
            </a:r>
          </a:p>
        </p:txBody>
      </p:sp>
      <p:sp>
        <p:nvSpPr>
          <p:cNvPr id="22" name="Rounded Rectangle 21"/>
          <p:cNvSpPr/>
          <p:nvPr/>
        </p:nvSpPr>
        <p:spPr>
          <a:xfrm>
            <a:off x="777240" y="4251959"/>
            <a:ext cx="10634472" cy="777240"/>
          </a:xfrm>
          <a:prstGeom prst="roundRect">
            <a:avLst/>
          </a:prstGeom>
          <a:solidFill>
            <a:srgbClr val="FFFFFF"/>
          </a:solidFill>
          <a:ln w="9525">
            <a:solidFill>
              <a:srgbClr val="CBD8DE"/>
            </a:solidFill>
          </a:ln>
          <a:effectLst/>
          <a:effectLst>
            <a:outerShdw blurRad="90000" dist="38100" dir="5400000" rotWithShape="0">
              <a:srgbClr val="1B2A38">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77240" y="4251959"/>
            <a:ext cx="109728" cy="777240"/>
          </a:xfrm>
          <a:prstGeom prst="roundRect">
            <a:avLst/>
          </a:prstGeom>
          <a:solidFill>
            <a:srgbClr val="1F8A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51560" y="4251959"/>
            <a:ext cx="2834640" cy="777240"/>
          </a:xfrm>
          <a:prstGeom prst="rect">
            <a:avLst/>
          </a:prstGeom>
          <a:noFill/>
        </p:spPr>
        <p:txBody>
          <a:bodyPr wrap="square" anchor="ctr" lIns="0" rIns="0" tIns="0" bIns="0">
            <a:spAutoFit/>
          </a:bodyPr>
          <a:lstStyle/>
          <a:p>
            <a:pPr algn="l">
              <a:lnSpc>
                <a:spcPct val="100000"/>
              </a:lnSpc>
              <a:spcBef>
                <a:spcPts val="0"/>
              </a:spcBef>
              <a:spcAft>
                <a:spcPts val="400"/>
              </a:spcAft>
            </a:pPr>
            <a:r>
              <a:rPr sz="1350" b="1" i="0">
                <a:solidFill>
                  <a:srgbClr val="0E4D64"/>
                </a:solidFill>
                <a:latin typeface="Calibri"/>
              </a:rPr>
              <a:t>AAU-Net [12]</a:t>
            </a:r>
          </a:p>
        </p:txBody>
      </p:sp>
      <p:sp>
        <p:nvSpPr>
          <p:cNvPr id="25" name="TextBox 24"/>
          <p:cNvSpPr txBox="1"/>
          <p:nvPr/>
        </p:nvSpPr>
        <p:spPr>
          <a:xfrm>
            <a:off x="3977639" y="4306823"/>
            <a:ext cx="7315200" cy="685800"/>
          </a:xfrm>
          <a:prstGeom prst="rect">
            <a:avLst/>
          </a:prstGeom>
          <a:noFill/>
        </p:spPr>
        <p:txBody>
          <a:bodyPr wrap="square" anchor="ctr" lIns="0" rIns="0" tIns="0" bIns="0">
            <a:spAutoFit/>
          </a:bodyPr>
          <a:lstStyle/>
          <a:p>
            <a:pPr algn="l">
              <a:lnSpc>
                <a:spcPct val="105000"/>
              </a:lnSpc>
              <a:spcBef>
                <a:spcPts val="0"/>
              </a:spcBef>
              <a:spcAft>
                <a:spcPts val="400"/>
              </a:spcAft>
            </a:pPr>
            <a:r>
              <a:rPr sz="1250" b="0" i="0">
                <a:solidFill>
                  <a:srgbClr val="1B2A38"/>
                </a:solidFill>
                <a:latin typeface="Calibri"/>
              </a:rPr>
              <a:t>BUS-specific Hybrid Adaptive Attention Module: multi-receptive-field + channel &amp; spatial self-attention.</a:t>
            </a:r>
          </a:p>
        </p:txBody>
      </p:sp>
      <p:sp>
        <p:nvSpPr>
          <p:cNvPr id="26" name="Rounded Rectangle 25"/>
          <p:cNvSpPr/>
          <p:nvPr/>
        </p:nvSpPr>
        <p:spPr>
          <a:xfrm>
            <a:off x="777240" y="5120640"/>
            <a:ext cx="10634472" cy="777240"/>
          </a:xfrm>
          <a:prstGeom prst="roundRect">
            <a:avLst/>
          </a:prstGeom>
          <a:solidFill>
            <a:srgbClr val="F1F6F8"/>
          </a:solidFill>
          <a:ln w="9525">
            <a:solidFill>
              <a:srgbClr val="CBD8DE"/>
            </a:solidFill>
          </a:ln>
          <a:effectLst/>
          <a:effectLst>
            <a:outerShdw blurRad="90000" dist="38100" dir="5400000" rotWithShape="0">
              <a:srgbClr val="1B2A38">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777240" y="5120640"/>
            <a:ext cx="109728" cy="777240"/>
          </a:xfrm>
          <a:prstGeom prst="roundRect">
            <a:avLst/>
          </a:prstGeom>
          <a:solidFill>
            <a:srgbClr val="1F8A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51560" y="5120640"/>
            <a:ext cx="2834640" cy="777240"/>
          </a:xfrm>
          <a:prstGeom prst="rect">
            <a:avLst/>
          </a:prstGeom>
          <a:noFill/>
        </p:spPr>
        <p:txBody>
          <a:bodyPr wrap="square" anchor="ctr" lIns="0" rIns="0" tIns="0" bIns="0">
            <a:spAutoFit/>
          </a:bodyPr>
          <a:lstStyle/>
          <a:p>
            <a:pPr algn="l">
              <a:lnSpc>
                <a:spcPct val="100000"/>
              </a:lnSpc>
              <a:spcBef>
                <a:spcPts val="0"/>
              </a:spcBef>
              <a:spcAft>
                <a:spcPts val="400"/>
              </a:spcAft>
            </a:pPr>
            <a:r>
              <a:rPr sz="1350" b="1" i="0">
                <a:solidFill>
                  <a:srgbClr val="0E4D64"/>
                </a:solidFill>
                <a:latin typeface="Calibri"/>
              </a:rPr>
              <a:t>CResU-Net [13]</a:t>
            </a:r>
          </a:p>
        </p:txBody>
      </p:sp>
      <p:sp>
        <p:nvSpPr>
          <p:cNvPr id="29" name="TextBox 28"/>
          <p:cNvSpPr txBox="1"/>
          <p:nvPr/>
        </p:nvSpPr>
        <p:spPr>
          <a:xfrm>
            <a:off x="3977639" y="5175503"/>
            <a:ext cx="7315200" cy="685800"/>
          </a:xfrm>
          <a:prstGeom prst="rect">
            <a:avLst/>
          </a:prstGeom>
          <a:noFill/>
        </p:spPr>
        <p:txBody>
          <a:bodyPr wrap="square" anchor="ctr" lIns="0" rIns="0" tIns="0" bIns="0">
            <a:spAutoFit/>
          </a:bodyPr>
          <a:lstStyle/>
          <a:p>
            <a:pPr algn="l">
              <a:lnSpc>
                <a:spcPct val="105000"/>
              </a:lnSpc>
              <a:spcBef>
                <a:spcPts val="0"/>
              </a:spcBef>
              <a:spcAft>
                <a:spcPts val="400"/>
              </a:spcAft>
            </a:pPr>
            <a:r>
              <a:rPr sz="1250" b="0" i="0">
                <a:solidFill>
                  <a:srgbClr val="1B2A38"/>
                </a:solidFill>
                <a:latin typeface="Calibri"/>
              </a:rPr>
              <a:t>block-scheduled encoder: Co-Block (dense concat) + ResNet + MultiRes blocks; pure-Dice loss.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 y="475488"/>
            <a:ext cx="118872" cy="658368"/>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457200"/>
            <a:ext cx="10789920" cy="320040"/>
          </a:xfrm>
          <a:prstGeom prst="rect">
            <a:avLst/>
          </a:prstGeom>
          <a:noFill/>
        </p:spPr>
        <p:txBody>
          <a:bodyPr wrap="square" anchor="t" lIns="0" rIns="0" tIns="0" bIns="0">
            <a:spAutoFit/>
          </a:bodyPr>
          <a:lstStyle/>
          <a:p>
            <a:pPr algn="l">
              <a:lnSpc>
                <a:spcPct val="100000"/>
              </a:lnSpc>
              <a:spcBef>
                <a:spcPts val="0"/>
              </a:spcBef>
              <a:spcAft>
                <a:spcPts val="400"/>
              </a:spcAft>
            </a:pPr>
            <a:r>
              <a:rPr sz="1250" b="1" i="0">
                <a:solidFill>
                  <a:srgbClr val="0E4D64"/>
                </a:solidFill>
                <a:latin typeface="Calibri"/>
              </a:rPr>
              <a:t>3 · CLASSIFICATION</a:t>
            </a:r>
          </a:p>
        </p:txBody>
      </p:sp>
      <p:sp>
        <p:nvSpPr>
          <p:cNvPr id="6" name="TextBox 5"/>
          <p:cNvSpPr txBox="1"/>
          <p:nvPr/>
        </p:nvSpPr>
        <p:spPr>
          <a:xfrm>
            <a:off x="777240" y="713232"/>
            <a:ext cx="10881360" cy="566928"/>
          </a:xfrm>
          <a:prstGeom prst="rect">
            <a:avLst/>
          </a:prstGeom>
          <a:noFill/>
        </p:spPr>
        <p:txBody>
          <a:bodyPr wrap="square" anchor="t" lIns="0" rIns="0" tIns="0" bIns="0">
            <a:spAutoFit/>
          </a:bodyPr>
          <a:lstStyle/>
          <a:p>
            <a:pPr algn="l">
              <a:lnSpc>
                <a:spcPct val="100000"/>
              </a:lnSpc>
              <a:spcBef>
                <a:spcPts val="0"/>
              </a:spcBef>
              <a:spcAft>
                <a:spcPts val="400"/>
              </a:spcAft>
            </a:pPr>
            <a:r>
              <a:rPr sz="2500" b="1" i="0">
                <a:solidFill>
                  <a:srgbClr val="1B2A38"/>
                </a:solidFill>
                <a:latin typeface="Calibri"/>
              </a:rPr>
              <a:t>Three ImageNet-pretrained backbones</a:t>
            </a:r>
          </a:p>
        </p:txBody>
      </p:sp>
      <p:sp>
        <p:nvSpPr>
          <p:cNvPr id="7" name="Rectangle 6"/>
          <p:cNvSpPr/>
          <p:nvPr/>
        </p:nvSpPr>
        <p:spPr>
          <a:xfrm>
            <a:off x="777240" y="1316736"/>
            <a:ext cx="10634472" cy="18288"/>
          </a:xfrm>
          <a:prstGeom prst="rect">
            <a:avLst/>
          </a:prstGeom>
          <a:solidFill>
            <a:srgbClr val="CBD8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73952"/>
            <a:ext cx="7315200" cy="274320"/>
          </a:xfrm>
          <a:prstGeom prst="rect">
            <a:avLst/>
          </a:prstGeom>
          <a:noFill/>
        </p:spPr>
        <p:txBody>
          <a:bodyPr wrap="square" anchor="t" lIns="0" rIns="0" tIns="0" bIns="0">
            <a:spAutoFit/>
          </a:bodyPr>
          <a:lstStyle/>
          <a:p>
            <a:pPr algn="l">
              <a:lnSpc>
                <a:spcPct val="100000"/>
              </a:lnSpc>
              <a:spcBef>
                <a:spcPts val="0"/>
              </a:spcBef>
              <a:spcAft>
                <a:spcPts val="400"/>
              </a:spcAft>
            </a:pPr>
            <a:r>
              <a:rPr sz="900" b="0" i="0">
                <a:solidFill>
                  <a:srgbClr val="8A94A6"/>
                </a:solidFill>
                <a:latin typeface="Calibri"/>
              </a:rPr>
              <a:t>COMP9444 · Group Project 047 · Breast Ultrasound (BUSI)</a:t>
            </a:r>
          </a:p>
        </p:txBody>
      </p:sp>
      <p:sp>
        <p:nvSpPr>
          <p:cNvPr id="9" name="TextBox 8"/>
          <p:cNvSpPr txBox="1"/>
          <p:nvPr/>
        </p:nvSpPr>
        <p:spPr>
          <a:xfrm>
            <a:off x="11064240" y="6473952"/>
            <a:ext cx="685800" cy="274320"/>
          </a:xfrm>
          <a:prstGeom prst="rect">
            <a:avLst/>
          </a:prstGeom>
          <a:noFill/>
        </p:spPr>
        <p:txBody>
          <a:bodyPr wrap="square" anchor="t" lIns="0" rIns="0" tIns="0" bIns="0">
            <a:spAutoFit/>
          </a:bodyPr>
          <a:lstStyle/>
          <a:p>
            <a:pPr algn="r">
              <a:lnSpc>
                <a:spcPct val="100000"/>
              </a:lnSpc>
              <a:spcBef>
                <a:spcPts val="0"/>
              </a:spcBef>
              <a:spcAft>
                <a:spcPts val="400"/>
              </a:spcAft>
            </a:pPr>
            <a:r>
              <a:rPr sz="900" b="1" i="0">
                <a:solidFill>
                  <a:srgbClr val="8A94A6"/>
                </a:solidFill>
                <a:latin typeface="Calibri"/>
              </a:rPr>
              <a:t>15</a:t>
            </a:r>
          </a:p>
        </p:txBody>
      </p:sp>
      <p:sp>
        <p:nvSpPr>
          <p:cNvPr id="10" name="Rounded Rectangle 9"/>
          <p:cNvSpPr/>
          <p:nvPr/>
        </p:nvSpPr>
        <p:spPr>
          <a:xfrm>
            <a:off x="777240" y="1737360"/>
            <a:ext cx="3401568" cy="2651760"/>
          </a:xfrm>
          <a:prstGeom prst="roundRect">
            <a:avLst/>
          </a:prstGeom>
          <a:solidFill>
            <a:srgbClr val="F1F6F8"/>
          </a:solidFill>
          <a:ln w="9525">
            <a:solidFill>
              <a:srgbClr val="CBD8DE"/>
            </a:solidFill>
          </a:ln>
          <a:effectLst/>
          <a:effectLst>
            <a:outerShdw blurRad="90000" dist="38100" dir="5400000" rotWithShape="0">
              <a:srgbClr val="1B2A38">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77240" y="1737360"/>
            <a:ext cx="3401568" cy="548640"/>
          </a:xfrm>
          <a:prstGeom prst="roundRect">
            <a:avLst/>
          </a:prstGeom>
          <a:solidFill>
            <a:srgbClr val="1F8A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2057400"/>
            <a:ext cx="3401568" cy="228600"/>
          </a:xfrm>
          <a:prstGeom prst="rect">
            <a:avLst/>
          </a:prstGeom>
          <a:solidFill>
            <a:srgbClr val="F1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78408" y="1810512"/>
            <a:ext cx="3035808" cy="457200"/>
          </a:xfrm>
          <a:prstGeom prst="rect">
            <a:avLst/>
          </a:prstGeom>
          <a:noFill/>
        </p:spPr>
        <p:txBody>
          <a:bodyPr wrap="square" anchor="ctr" lIns="0" rIns="0" tIns="0" bIns="0">
            <a:spAutoFit/>
          </a:bodyPr>
          <a:lstStyle/>
          <a:p>
            <a:pPr algn="l">
              <a:lnSpc>
                <a:spcPct val="100000"/>
              </a:lnSpc>
              <a:spcBef>
                <a:spcPts val="0"/>
              </a:spcBef>
              <a:spcAft>
                <a:spcPts val="400"/>
              </a:spcAft>
            </a:pPr>
            <a:r>
              <a:rPr sz="1550" b="1" i="0">
                <a:solidFill>
                  <a:srgbClr val="FFFFFF"/>
                </a:solidFill>
                <a:latin typeface="Calibri"/>
              </a:rPr>
              <a:t>ResNet-18 [4]</a:t>
            </a:r>
          </a:p>
        </p:txBody>
      </p:sp>
      <p:sp>
        <p:nvSpPr>
          <p:cNvPr id="14" name="TextBox 13"/>
          <p:cNvSpPr txBox="1"/>
          <p:nvPr/>
        </p:nvSpPr>
        <p:spPr>
          <a:xfrm>
            <a:off x="978408" y="2395728"/>
            <a:ext cx="2999232" cy="320040"/>
          </a:xfrm>
          <a:prstGeom prst="rect">
            <a:avLst/>
          </a:prstGeom>
          <a:noFill/>
        </p:spPr>
        <p:txBody>
          <a:bodyPr wrap="square" anchor="t" lIns="0" rIns="0" tIns="0" bIns="0">
            <a:spAutoFit/>
          </a:bodyPr>
          <a:lstStyle/>
          <a:p>
            <a:pPr algn="l">
              <a:lnSpc>
                <a:spcPct val="100000"/>
              </a:lnSpc>
              <a:spcBef>
                <a:spcPts val="0"/>
              </a:spcBef>
              <a:spcAft>
                <a:spcPts val="400"/>
              </a:spcAft>
            </a:pPr>
            <a:r>
              <a:rPr sz="1150" b="1" i="1">
                <a:solidFill>
                  <a:srgbClr val="45596B"/>
                </a:solidFill>
                <a:latin typeface="Calibri"/>
              </a:rPr>
              <a:t>He 2016</a:t>
            </a:r>
          </a:p>
        </p:txBody>
      </p:sp>
      <p:sp>
        <p:nvSpPr>
          <p:cNvPr id="15" name="TextBox 14"/>
          <p:cNvSpPr txBox="1"/>
          <p:nvPr/>
        </p:nvSpPr>
        <p:spPr>
          <a:xfrm>
            <a:off x="978408" y="2788920"/>
            <a:ext cx="2999232" cy="1463040"/>
          </a:xfrm>
          <a:prstGeom prst="rect">
            <a:avLst/>
          </a:prstGeom>
          <a:noFill/>
        </p:spPr>
        <p:txBody>
          <a:bodyPr wrap="square" anchor="t" lIns="0" rIns="0" tIns="0" bIns="0">
            <a:spAutoFit/>
          </a:bodyPr>
          <a:lstStyle/>
          <a:p>
            <a:pPr algn="l">
              <a:lnSpc>
                <a:spcPct val="118000"/>
              </a:lnSpc>
              <a:spcBef>
                <a:spcPts val="0"/>
              </a:spcBef>
              <a:spcAft>
                <a:spcPts val="400"/>
              </a:spcAft>
            </a:pPr>
            <a:r>
              <a:rPr sz="1300" b="0" i="0">
                <a:solidFill>
                  <a:srgbClr val="1B2A38"/>
                </a:solidFill>
                <a:latin typeface="Calibri"/>
              </a:rPr>
              <a:t>smallest residual net (BUSI is tiny) · fresh 3-way head · SGD fine-tune</a:t>
            </a:r>
          </a:p>
        </p:txBody>
      </p:sp>
      <p:sp>
        <p:nvSpPr>
          <p:cNvPr id="16" name="Rounded Rectangle 15"/>
          <p:cNvSpPr/>
          <p:nvPr/>
        </p:nvSpPr>
        <p:spPr>
          <a:xfrm>
            <a:off x="4398264" y="1737360"/>
            <a:ext cx="3401568" cy="2651760"/>
          </a:xfrm>
          <a:prstGeom prst="roundRect">
            <a:avLst/>
          </a:prstGeom>
          <a:solidFill>
            <a:srgbClr val="F1F6F8"/>
          </a:solidFill>
          <a:ln w="9525">
            <a:solidFill>
              <a:srgbClr val="CBD8DE"/>
            </a:solidFill>
          </a:ln>
          <a:effectLst/>
          <a:effectLst>
            <a:outerShdw blurRad="90000" dist="38100" dir="5400000" rotWithShape="0">
              <a:srgbClr val="1B2A38">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4398264" y="1737360"/>
            <a:ext cx="3401568" cy="548640"/>
          </a:xfrm>
          <a:prstGeom prst="round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398264" y="2057400"/>
            <a:ext cx="3401568" cy="228600"/>
          </a:xfrm>
          <a:prstGeom prst="rect">
            <a:avLst/>
          </a:prstGeom>
          <a:solidFill>
            <a:srgbClr val="F1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99431" y="1810512"/>
            <a:ext cx="3035808" cy="457200"/>
          </a:xfrm>
          <a:prstGeom prst="rect">
            <a:avLst/>
          </a:prstGeom>
          <a:noFill/>
        </p:spPr>
        <p:txBody>
          <a:bodyPr wrap="square" anchor="ctr" lIns="0" rIns="0" tIns="0" bIns="0">
            <a:spAutoFit/>
          </a:bodyPr>
          <a:lstStyle/>
          <a:p>
            <a:pPr algn="l">
              <a:lnSpc>
                <a:spcPct val="100000"/>
              </a:lnSpc>
              <a:spcBef>
                <a:spcPts val="0"/>
              </a:spcBef>
              <a:spcAft>
                <a:spcPts val="400"/>
              </a:spcAft>
            </a:pPr>
            <a:r>
              <a:rPr sz="1550" b="1" i="0">
                <a:solidFill>
                  <a:srgbClr val="FFFFFF"/>
                </a:solidFill>
                <a:latin typeface="Calibri"/>
              </a:rPr>
              <a:t>DenseNet-121 [5]</a:t>
            </a:r>
          </a:p>
        </p:txBody>
      </p:sp>
      <p:sp>
        <p:nvSpPr>
          <p:cNvPr id="20" name="TextBox 19"/>
          <p:cNvSpPr txBox="1"/>
          <p:nvPr/>
        </p:nvSpPr>
        <p:spPr>
          <a:xfrm>
            <a:off x="4599431" y="2395728"/>
            <a:ext cx="2999232" cy="320040"/>
          </a:xfrm>
          <a:prstGeom prst="rect">
            <a:avLst/>
          </a:prstGeom>
          <a:noFill/>
        </p:spPr>
        <p:txBody>
          <a:bodyPr wrap="square" anchor="t" lIns="0" rIns="0" tIns="0" bIns="0">
            <a:spAutoFit/>
          </a:bodyPr>
          <a:lstStyle/>
          <a:p>
            <a:pPr algn="l">
              <a:lnSpc>
                <a:spcPct val="100000"/>
              </a:lnSpc>
              <a:spcBef>
                <a:spcPts val="0"/>
              </a:spcBef>
              <a:spcAft>
                <a:spcPts val="400"/>
              </a:spcAft>
            </a:pPr>
            <a:r>
              <a:rPr sz="1150" b="1" i="1">
                <a:solidFill>
                  <a:srgbClr val="45596B"/>
                </a:solidFill>
                <a:latin typeface="Calibri"/>
              </a:rPr>
              <a:t>Huang 2017</a:t>
            </a:r>
          </a:p>
        </p:txBody>
      </p:sp>
      <p:sp>
        <p:nvSpPr>
          <p:cNvPr id="21" name="TextBox 20"/>
          <p:cNvSpPr txBox="1"/>
          <p:nvPr/>
        </p:nvSpPr>
        <p:spPr>
          <a:xfrm>
            <a:off x="4599431" y="2788920"/>
            <a:ext cx="2999232" cy="1463040"/>
          </a:xfrm>
          <a:prstGeom prst="rect">
            <a:avLst/>
          </a:prstGeom>
          <a:noFill/>
        </p:spPr>
        <p:txBody>
          <a:bodyPr wrap="square" anchor="t" lIns="0" rIns="0" tIns="0" bIns="0">
            <a:spAutoFit/>
          </a:bodyPr>
          <a:lstStyle/>
          <a:p>
            <a:pPr algn="l">
              <a:lnSpc>
                <a:spcPct val="118000"/>
              </a:lnSpc>
              <a:spcBef>
                <a:spcPts val="0"/>
              </a:spcBef>
              <a:spcAft>
                <a:spcPts val="400"/>
              </a:spcAft>
            </a:pPr>
            <a:r>
              <a:rPr sz="1300" b="0" i="0">
                <a:solidFill>
                  <a:srgbClr val="1B2A38"/>
                </a:solidFill>
                <a:latin typeface="Calibri"/>
              </a:rPr>
              <a:t>dense feature reuse · dropout + 3-way head · AdamW + early stop</a:t>
            </a:r>
          </a:p>
        </p:txBody>
      </p:sp>
      <p:sp>
        <p:nvSpPr>
          <p:cNvPr id="22" name="Rounded Rectangle 21"/>
          <p:cNvSpPr/>
          <p:nvPr/>
        </p:nvSpPr>
        <p:spPr>
          <a:xfrm>
            <a:off x="8019288" y="1737360"/>
            <a:ext cx="3401568" cy="2651760"/>
          </a:xfrm>
          <a:prstGeom prst="roundRect">
            <a:avLst/>
          </a:prstGeom>
          <a:solidFill>
            <a:srgbClr val="F1F6F8"/>
          </a:solidFill>
          <a:ln w="9525">
            <a:solidFill>
              <a:srgbClr val="CBD8DE"/>
            </a:solidFill>
          </a:ln>
          <a:effectLst/>
          <a:effectLst>
            <a:outerShdw blurRad="90000" dist="38100" dir="5400000" rotWithShape="0">
              <a:srgbClr val="1B2A38">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019288" y="1737360"/>
            <a:ext cx="3401568" cy="548640"/>
          </a:xfrm>
          <a:prstGeom prst="roundRect">
            <a:avLst/>
          </a:prstGeom>
          <a:solidFill>
            <a:srgbClr val="3AA6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019288" y="2057400"/>
            <a:ext cx="3401568" cy="228600"/>
          </a:xfrm>
          <a:prstGeom prst="rect">
            <a:avLst/>
          </a:prstGeom>
          <a:solidFill>
            <a:srgbClr val="F1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20456" y="1810512"/>
            <a:ext cx="3035808" cy="457200"/>
          </a:xfrm>
          <a:prstGeom prst="rect">
            <a:avLst/>
          </a:prstGeom>
          <a:noFill/>
        </p:spPr>
        <p:txBody>
          <a:bodyPr wrap="square" anchor="ctr" lIns="0" rIns="0" tIns="0" bIns="0">
            <a:spAutoFit/>
          </a:bodyPr>
          <a:lstStyle/>
          <a:p>
            <a:pPr algn="l">
              <a:lnSpc>
                <a:spcPct val="100000"/>
              </a:lnSpc>
              <a:spcBef>
                <a:spcPts val="0"/>
              </a:spcBef>
              <a:spcAft>
                <a:spcPts val="400"/>
              </a:spcAft>
            </a:pPr>
            <a:r>
              <a:rPr sz="1550" b="1" i="0">
                <a:solidFill>
                  <a:srgbClr val="FFFFFF"/>
                </a:solidFill>
                <a:latin typeface="Calibri"/>
              </a:rPr>
              <a:t>EfficientNet-B0 [6]</a:t>
            </a:r>
          </a:p>
        </p:txBody>
      </p:sp>
      <p:sp>
        <p:nvSpPr>
          <p:cNvPr id="26" name="TextBox 25"/>
          <p:cNvSpPr txBox="1"/>
          <p:nvPr/>
        </p:nvSpPr>
        <p:spPr>
          <a:xfrm>
            <a:off x="8220456" y="2395728"/>
            <a:ext cx="2999232" cy="320040"/>
          </a:xfrm>
          <a:prstGeom prst="rect">
            <a:avLst/>
          </a:prstGeom>
          <a:noFill/>
        </p:spPr>
        <p:txBody>
          <a:bodyPr wrap="square" anchor="t" lIns="0" rIns="0" tIns="0" bIns="0">
            <a:spAutoFit/>
          </a:bodyPr>
          <a:lstStyle/>
          <a:p>
            <a:pPr algn="l">
              <a:lnSpc>
                <a:spcPct val="100000"/>
              </a:lnSpc>
              <a:spcBef>
                <a:spcPts val="0"/>
              </a:spcBef>
              <a:spcAft>
                <a:spcPts val="400"/>
              </a:spcAft>
            </a:pPr>
            <a:r>
              <a:rPr sz="1150" b="1" i="1">
                <a:solidFill>
                  <a:srgbClr val="45596B"/>
                </a:solidFill>
                <a:latin typeface="Calibri"/>
              </a:rPr>
              <a:t>Tan &amp; Le 2019</a:t>
            </a:r>
          </a:p>
        </p:txBody>
      </p:sp>
      <p:sp>
        <p:nvSpPr>
          <p:cNvPr id="27" name="TextBox 26"/>
          <p:cNvSpPr txBox="1"/>
          <p:nvPr/>
        </p:nvSpPr>
        <p:spPr>
          <a:xfrm>
            <a:off x="8220456" y="2788920"/>
            <a:ext cx="2999232" cy="1463040"/>
          </a:xfrm>
          <a:prstGeom prst="rect">
            <a:avLst/>
          </a:prstGeom>
          <a:noFill/>
        </p:spPr>
        <p:txBody>
          <a:bodyPr wrap="square" anchor="t" lIns="0" rIns="0" tIns="0" bIns="0">
            <a:spAutoFit/>
          </a:bodyPr>
          <a:lstStyle/>
          <a:p>
            <a:pPr algn="l">
              <a:lnSpc>
                <a:spcPct val="118000"/>
              </a:lnSpc>
              <a:spcBef>
                <a:spcPts val="0"/>
              </a:spcBef>
              <a:spcAft>
                <a:spcPts val="400"/>
              </a:spcAft>
            </a:pPr>
            <a:r>
              <a:rPr sz="1300" b="0" i="0">
                <a:solidFill>
                  <a:srgbClr val="1B2A38"/>
                </a:solidFill>
                <a:latin typeface="Calibri"/>
              </a:rPr>
              <a:t>smallest compound-scaled variant · dropout + 3-way head · Adam</a:t>
            </a:r>
          </a:p>
        </p:txBody>
      </p:sp>
      <p:sp>
        <p:nvSpPr>
          <p:cNvPr id="28" name="Rounded Rectangle 27"/>
          <p:cNvSpPr/>
          <p:nvPr/>
        </p:nvSpPr>
        <p:spPr>
          <a:xfrm>
            <a:off x="777240" y="4709160"/>
            <a:ext cx="10634472" cy="1234440"/>
          </a:xfrm>
          <a:prstGeom prst="roundRect">
            <a:avLst/>
          </a:prstGeom>
          <a:solidFill>
            <a:srgbClr val="E6EF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05840" y="4864608"/>
            <a:ext cx="10149840" cy="365760"/>
          </a:xfrm>
          <a:prstGeom prst="rect">
            <a:avLst/>
          </a:prstGeom>
          <a:noFill/>
        </p:spPr>
        <p:txBody>
          <a:bodyPr wrap="square" anchor="t" lIns="0" rIns="0" tIns="0" bIns="0">
            <a:spAutoFit/>
          </a:bodyPr>
          <a:lstStyle/>
          <a:p>
            <a:pPr algn="l">
              <a:lnSpc>
                <a:spcPct val="100000"/>
              </a:lnSpc>
              <a:spcBef>
                <a:spcPts val="0"/>
              </a:spcBef>
              <a:spcAft>
                <a:spcPts val="400"/>
              </a:spcAft>
            </a:pPr>
            <a:r>
              <a:rPr sz="1350" b="1" i="0">
                <a:solidFill>
                  <a:srgbClr val="0E4D64"/>
                </a:solidFill>
                <a:latin typeface="Calibri"/>
              </a:rPr>
              <a:t>Shared recipe</a:t>
            </a:r>
          </a:p>
        </p:txBody>
      </p:sp>
      <p:sp>
        <p:nvSpPr>
          <p:cNvPr id="30" name="TextBox 29"/>
          <p:cNvSpPr txBox="1"/>
          <p:nvPr/>
        </p:nvSpPr>
        <p:spPr>
          <a:xfrm>
            <a:off x="1005840" y="5230368"/>
            <a:ext cx="10149840" cy="640080"/>
          </a:xfrm>
          <a:prstGeom prst="rect">
            <a:avLst/>
          </a:prstGeom>
          <a:noFill/>
        </p:spPr>
        <p:txBody>
          <a:bodyPr wrap="square" anchor="t" lIns="0" rIns="0" tIns="0" bIns="0">
            <a:spAutoFit/>
          </a:bodyPr>
          <a:lstStyle/>
          <a:p>
            <a:pPr algn="l">
              <a:lnSpc>
                <a:spcPct val="110000"/>
              </a:lnSpc>
              <a:spcBef>
                <a:spcPts val="0"/>
              </a:spcBef>
              <a:spcAft>
                <a:spcPts val="400"/>
              </a:spcAft>
            </a:pPr>
            <a:r>
              <a:rPr sz="1250" b="0" i="0">
                <a:solidFill>
                  <a:srgbClr val="1B2A38"/>
                </a:solidFill>
                <a:latin typeface="Calibri"/>
              </a:rPr>
              <a:t>3-channel ImageNet-normalised 256×256 (grayscale→pseudo-RGB) · final layer replaced by a fresh 3-way head · </a:t>
            </a:r>
            <a:r>
              <a:rPr sz="1250" b="1" i="0">
                <a:solidFill>
                  <a:srgbClr val="E1595B"/>
                </a:solidFill>
                <a:latin typeface="Calibri"/>
              </a:rPr>
              <a:t>inverse-frequency weighted cross-entropy</a:t>
            </a:r>
            <a:r>
              <a:rPr sz="1250" b="0" i="0">
                <a:solidFill>
                  <a:srgbClr val="1B2A38"/>
                </a:solidFill>
                <a:latin typeface="Calibri"/>
              </a:rPr>
              <a:t> to counter class imbalance.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 y="475488"/>
            <a:ext cx="118872" cy="658368"/>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457200"/>
            <a:ext cx="10789920" cy="320040"/>
          </a:xfrm>
          <a:prstGeom prst="rect">
            <a:avLst/>
          </a:prstGeom>
          <a:noFill/>
        </p:spPr>
        <p:txBody>
          <a:bodyPr wrap="square" anchor="t" lIns="0" rIns="0" tIns="0" bIns="0">
            <a:spAutoFit/>
          </a:bodyPr>
          <a:lstStyle/>
          <a:p>
            <a:pPr algn="l">
              <a:lnSpc>
                <a:spcPct val="100000"/>
              </a:lnSpc>
              <a:spcBef>
                <a:spcPts val="0"/>
              </a:spcBef>
              <a:spcAft>
                <a:spcPts val="400"/>
              </a:spcAft>
            </a:pPr>
            <a:r>
              <a:rPr sz="1250" b="1" i="0">
                <a:solidFill>
                  <a:srgbClr val="0E4D64"/>
                </a:solidFill>
                <a:latin typeface="Calibri"/>
              </a:rPr>
              <a:t>3 · COMBINED</a:t>
            </a:r>
          </a:p>
        </p:txBody>
      </p:sp>
      <p:sp>
        <p:nvSpPr>
          <p:cNvPr id="6" name="TextBox 5"/>
          <p:cNvSpPr txBox="1"/>
          <p:nvPr/>
        </p:nvSpPr>
        <p:spPr>
          <a:xfrm>
            <a:off x="777240" y="713232"/>
            <a:ext cx="10881360" cy="566928"/>
          </a:xfrm>
          <a:prstGeom prst="rect">
            <a:avLst/>
          </a:prstGeom>
          <a:noFill/>
        </p:spPr>
        <p:txBody>
          <a:bodyPr wrap="square" anchor="t" lIns="0" rIns="0" tIns="0" bIns="0">
            <a:spAutoFit/>
          </a:bodyPr>
          <a:lstStyle/>
          <a:p>
            <a:pPr algn="l">
              <a:lnSpc>
                <a:spcPct val="100000"/>
              </a:lnSpc>
              <a:spcBef>
                <a:spcPts val="0"/>
              </a:spcBef>
              <a:spcAft>
                <a:spcPts val="400"/>
              </a:spcAft>
            </a:pPr>
            <a:r>
              <a:rPr sz="2500" b="1" i="0">
                <a:solidFill>
                  <a:srgbClr val="1B2A38"/>
                </a:solidFill>
                <a:latin typeface="Calibri"/>
              </a:rPr>
              <a:t>Baseline combined models we reproduced</a:t>
            </a:r>
          </a:p>
        </p:txBody>
      </p:sp>
      <p:sp>
        <p:nvSpPr>
          <p:cNvPr id="7" name="Rectangle 6"/>
          <p:cNvSpPr/>
          <p:nvPr/>
        </p:nvSpPr>
        <p:spPr>
          <a:xfrm>
            <a:off x="777240" y="1316736"/>
            <a:ext cx="10634472" cy="18288"/>
          </a:xfrm>
          <a:prstGeom prst="rect">
            <a:avLst/>
          </a:prstGeom>
          <a:solidFill>
            <a:srgbClr val="CBD8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73952"/>
            <a:ext cx="7315200" cy="274320"/>
          </a:xfrm>
          <a:prstGeom prst="rect">
            <a:avLst/>
          </a:prstGeom>
          <a:noFill/>
        </p:spPr>
        <p:txBody>
          <a:bodyPr wrap="square" anchor="t" lIns="0" rIns="0" tIns="0" bIns="0">
            <a:spAutoFit/>
          </a:bodyPr>
          <a:lstStyle/>
          <a:p>
            <a:pPr algn="l">
              <a:lnSpc>
                <a:spcPct val="100000"/>
              </a:lnSpc>
              <a:spcBef>
                <a:spcPts val="0"/>
              </a:spcBef>
              <a:spcAft>
                <a:spcPts val="400"/>
              </a:spcAft>
            </a:pPr>
            <a:r>
              <a:rPr sz="900" b="0" i="0">
                <a:solidFill>
                  <a:srgbClr val="8A94A6"/>
                </a:solidFill>
                <a:latin typeface="Calibri"/>
              </a:rPr>
              <a:t>COMP9444 · Group Project 047 · Breast Ultrasound (BUSI)</a:t>
            </a:r>
          </a:p>
        </p:txBody>
      </p:sp>
      <p:sp>
        <p:nvSpPr>
          <p:cNvPr id="9" name="TextBox 8"/>
          <p:cNvSpPr txBox="1"/>
          <p:nvPr/>
        </p:nvSpPr>
        <p:spPr>
          <a:xfrm>
            <a:off x="11064240" y="6473952"/>
            <a:ext cx="685800" cy="274320"/>
          </a:xfrm>
          <a:prstGeom prst="rect">
            <a:avLst/>
          </a:prstGeom>
          <a:noFill/>
        </p:spPr>
        <p:txBody>
          <a:bodyPr wrap="square" anchor="t" lIns="0" rIns="0" tIns="0" bIns="0">
            <a:spAutoFit/>
          </a:bodyPr>
          <a:lstStyle/>
          <a:p>
            <a:pPr algn="r">
              <a:lnSpc>
                <a:spcPct val="100000"/>
              </a:lnSpc>
              <a:spcBef>
                <a:spcPts val="0"/>
              </a:spcBef>
              <a:spcAft>
                <a:spcPts val="400"/>
              </a:spcAft>
            </a:pPr>
            <a:r>
              <a:rPr sz="900" b="1" i="0">
                <a:solidFill>
                  <a:srgbClr val="8A94A6"/>
                </a:solidFill>
                <a:latin typeface="Calibri"/>
              </a:rPr>
              <a:t>16</a:t>
            </a:r>
          </a:p>
        </p:txBody>
      </p:sp>
      <p:sp>
        <p:nvSpPr>
          <p:cNvPr id="10" name="TextBox 9"/>
          <p:cNvSpPr txBox="1"/>
          <p:nvPr/>
        </p:nvSpPr>
        <p:spPr>
          <a:xfrm>
            <a:off x="777240" y="1508760"/>
            <a:ext cx="10607040" cy="365760"/>
          </a:xfrm>
          <a:prstGeom prst="rect">
            <a:avLst/>
          </a:prstGeom>
          <a:noFill/>
        </p:spPr>
        <p:txBody>
          <a:bodyPr wrap="square" anchor="t" lIns="0" rIns="0" tIns="0" bIns="0">
            <a:spAutoFit/>
          </a:bodyPr>
          <a:lstStyle/>
          <a:p>
            <a:pPr algn="l">
              <a:lnSpc>
                <a:spcPct val="100000"/>
              </a:lnSpc>
              <a:spcBef>
                <a:spcPts val="0"/>
              </a:spcBef>
              <a:spcAft>
                <a:spcPts val="400"/>
              </a:spcAft>
            </a:pPr>
            <a:r>
              <a:rPr sz="1400" b="1" i="0">
                <a:solidFill>
                  <a:srgbClr val="0E4D64"/>
                </a:solidFill>
                <a:latin typeface="Calibri"/>
              </a:rPr>
              <a:t>Dual-stage [17] — segmentation-guided classification (sequential)</a:t>
            </a:r>
          </a:p>
        </p:txBody>
      </p:sp>
      <p:sp>
        <p:nvSpPr>
          <p:cNvPr id="11" name="Rounded Rectangle 10"/>
          <p:cNvSpPr/>
          <p:nvPr/>
        </p:nvSpPr>
        <p:spPr>
          <a:xfrm>
            <a:off x="822960" y="1965960"/>
            <a:ext cx="1783080" cy="1005840"/>
          </a:xfrm>
          <a:prstGeom prst="roundRect">
            <a:avLst/>
          </a:prstGeom>
          <a:solidFill>
            <a:srgbClr val="8A94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1965960"/>
            <a:ext cx="1783080" cy="1005840"/>
          </a:xfrm>
          <a:prstGeom prst="rect">
            <a:avLst/>
          </a:prstGeom>
          <a:noFill/>
        </p:spPr>
        <p:txBody>
          <a:bodyPr wrap="square" anchor="ctr" lIns="0" rIns="0" tIns="0" bIns="0">
            <a:spAutoFit/>
          </a:bodyPr>
          <a:lstStyle/>
          <a:p>
            <a:pPr algn="ctr">
              <a:lnSpc>
                <a:spcPct val="100000"/>
              </a:lnSpc>
              <a:spcBef>
                <a:spcPts val="0"/>
              </a:spcBef>
              <a:spcAft>
                <a:spcPts val="400"/>
              </a:spcAft>
            </a:pPr>
            <a:r>
              <a:rPr sz="1250" b="1" i="0">
                <a:solidFill>
                  <a:srgbClr val="FFFFFF"/>
                </a:solidFill>
                <a:latin typeface="Calibri"/>
              </a:rPr>
              <a:t>Input</a:t>
            </a:r>
          </a:p>
          <a:p>
            <a:pPr algn="ctr">
              <a:lnSpc>
                <a:spcPct val="100000"/>
              </a:lnSpc>
              <a:spcBef>
                <a:spcPts val="0"/>
              </a:spcBef>
              <a:spcAft>
                <a:spcPts val="400"/>
              </a:spcAft>
            </a:pPr>
            <a:r>
              <a:rPr sz="1100" b="0" i="0">
                <a:solidFill>
                  <a:srgbClr val="E8F1F4"/>
                </a:solidFill>
                <a:latin typeface="Calibri"/>
              </a:rPr>
              <a:t>image</a:t>
            </a:r>
          </a:p>
        </p:txBody>
      </p:sp>
      <p:sp>
        <p:nvSpPr>
          <p:cNvPr id="13" name="Right Arrow 12"/>
          <p:cNvSpPr/>
          <p:nvPr/>
        </p:nvSpPr>
        <p:spPr>
          <a:xfrm>
            <a:off x="2633472" y="2350008"/>
            <a:ext cx="402336" cy="237744"/>
          </a:xfrm>
          <a:prstGeom prst="rightArrow">
            <a:avLst/>
          </a:prstGeom>
          <a:solidFill>
            <a:srgbClr val="4559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063240" y="1965960"/>
            <a:ext cx="1783080" cy="1005840"/>
          </a:xfrm>
          <a:prstGeom prst="roundRect">
            <a:avLst/>
          </a:prstGeom>
          <a:solidFill>
            <a:srgbClr val="1F8A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063240" y="1965960"/>
            <a:ext cx="1783080" cy="1005840"/>
          </a:xfrm>
          <a:prstGeom prst="rect">
            <a:avLst/>
          </a:prstGeom>
          <a:noFill/>
        </p:spPr>
        <p:txBody>
          <a:bodyPr wrap="square" anchor="ctr" lIns="0" rIns="0" tIns="0" bIns="0">
            <a:spAutoFit/>
          </a:bodyPr>
          <a:lstStyle/>
          <a:p>
            <a:pPr algn="ctr">
              <a:lnSpc>
                <a:spcPct val="100000"/>
              </a:lnSpc>
              <a:spcBef>
                <a:spcPts val="0"/>
              </a:spcBef>
              <a:spcAft>
                <a:spcPts val="400"/>
              </a:spcAft>
            </a:pPr>
            <a:r>
              <a:rPr sz="1250" b="1" i="0">
                <a:solidFill>
                  <a:srgbClr val="FFFFFF"/>
                </a:solidFill>
                <a:latin typeface="Calibri"/>
              </a:rPr>
              <a:t>DeepLabV3+</a:t>
            </a:r>
          </a:p>
          <a:p>
            <a:pPr algn="ctr">
              <a:lnSpc>
                <a:spcPct val="100000"/>
              </a:lnSpc>
              <a:spcBef>
                <a:spcPts val="0"/>
              </a:spcBef>
              <a:spcAft>
                <a:spcPts val="400"/>
              </a:spcAft>
            </a:pPr>
            <a:r>
              <a:rPr sz="1100" b="0" i="0">
                <a:solidFill>
                  <a:srgbClr val="E8F1F4"/>
                </a:solidFill>
                <a:latin typeface="Calibri"/>
              </a:rPr>
              <a:t>(segment)</a:t>
            </a:r>
          </a:p>
        </p:txBody>
      </p:sp>
      <p:sp>
        <p:nvSpPr>
          <p:cNvPr id="16" name="Right Arrow 15"/>
          <p:cNvSpPr/>
          <p:nvPr/>
        </p:nvSpPr>
        <p:spPr>
          <a:xfrm>
            <a:off x="4873752" y="2350008"/>
            <a:ext cx="402336" cy="237744"/>
          </a:xfrm>
          <a:prstGeom prst="rightArrow">
            <a:avLst/>
          </a:prstGeom>
          <a:solidFill>
            <a:srgbClr val="4559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5303520" y="1965960"/>
            <a:ext cx="1783080" cy="1005840"/>
          </a:xfrm>
          <a:prstGeom prst="roundRect">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303520" y="1965960"/>
            <a:ext cx="1783080" cy="1005840"/>
          </a:xfrm>
          <a:prstGeom prst="rect">
            <a:avLst/>
          </a:prstGeom>
          <a:noFill/>
        </p:spPr>
        <p:txBody>
          <a:bodyPr wrap="square" anchor="ctr" lIns="0" rIns="0" tIns="0" bIns="0">
            <a:spAutoFit/>
          </a:bodyPr>
          <a:lstStyle/>
          <a:p>
            <a:pPr algn="ctr">
              <a:lnSpc>
                <a:spcPct val="100000"/>
              </a:lnSpc>
              <a:spcBef>
                <a:spcPts val="0"/>
              </a:spcBef>
              <a:spcAft>
                <a:spcPts val="400"/>
              </a:spcAft>
            </a:pPr>
            <a:r>
              <a:rPr sz="1250" b="1" i="0">
                <a:solidFill>
                  <a:srgbClr val="FFFFFF"/>
                </a:solidFill>
                <a:latin typeface="Calibri"/>
              </a:rPr>
              <a:t>ROI crop</a:t>
            </a:r>
          </a:p>
          <a:p>
            <a:pPr algn="ctr">
              <a:lnSpc>
                <a:spcPct val="100000"/>
              </a:lnSpc>
              <a:spcBef>
                <a:spcPts val="0"/>
              </a:spcBef>
              <a:spcAft>
                <a:spcPts val="400"/>
              </a:spcAft>
            </a:pPr>
            <a:r>
              <a:rPr sz="1100" b="0" i="0">
                <a:solidFill>
                  <a:srgbClr val="E8F1F4"/>
                </a:solidFill>
                <a:latin typeface="Calibri"/>
              </a:rPr>
              <a:t>(mask→bbox)</a:t>
            </a:r>
          </a:p>
        </p:txBody>
      </p:sp>
      <p:sp>
        <p:nvSpPr>
          <p:cNvPr id="19" name="Right Arrow 18"/>
          <p:cNvSpPr/>
          <p:nvPr/>
        </p:nvSpPr>
        <p:spPr>
          <a:xfrm>
            <a:off x="7114032" y="2350008"/>
            <a:ext cx="402336" cy="237744"/>
          </a:xfrm>
          <a:prstGeom prst="rightArrow">
            <a:avLst/>
          </a:prstGeom>
          <a:solidFill>
            <a:srgbClr val="4559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7543800" y="1965960"/>
            <a:ext cx="1783080" cy="1005840"/>
          </a:xfrm>
          <a:prstGeom prst="round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543800" y="1965960"/>
            <a:ext cx="1783080" cy="1005840"/>
          </a:xfrm>
          <a:prstGeom prst="rect">
            <a:avLst/>
          </a:prstGeom>
          <a:noFill/>
        </p:spPr>
        <p:txBody>
          <a:bodyPr wrap="square" anchor="ctr" lIns="0" rIns="0" tIns="0" bIns="0">
            <a:spAutoFit/>
          </a:bodyPr>
          <a:lstStyle/>
          <a:p>
            <a:pPr algn="ctr">
              <a:lnSpc>
                <a:spcPct val="100000"/>
              </a:lnSpc>
              <a:spcBef>
                <a:spcPts val="0"/>
              </a:spcBef>
              <a:spcAft>
                <a:spcPts val="400"/>
              </a:spcAft>
            </a:pPr>
            <a:r>
              <a:rPr sz="1250" b="1" i="0">
                <a:solidFill>
                  <a:srgbClr val="FFFFFF"/>
                </a:solidFill>
                <a:latin typeface="Calibri"/>
              </a:rPr>
              <a:t>EfficientNet-B0</a:t>
            </a:r>
          </a:p>
          <a:p>
            <a:pPr algn="ctr">
              <a:lnSpc>
                <a:spcPct val="100000"/>
              </a:lnSpc>
              <a:spcBef>
                <a:spcPts val="0"/>
              </a:spcBef>
              <a:spcAft>
                <a:spcPts val="400"/>
              </a:spcAft>
            </a:pPr>
            <a:r>
              <a:rPr sz="1100" b="0" i="0">
                <a:solidFill>
                  <a:srgbClr val="E8F1F4"/>
                </a:solidFill>
                <a:latin typeface="Calibri"/>
              </a:rPr>
              <a:t>(classify)</a:t>
            </a:r>
          </a:p>
        </p:txBody>
      </p:sp>
      <p:sp>
        <p:nvSpPr>
          <p:cNvPr id="22" name="Right Arrow 21"/>
          <p:cNvSpPr/>
          <p:nvPr/>
        </p:nvSpPr>
        <p:spPr>
          <a:xfrm>
            <a:off x="9354311" y="2350008"/>
            <a:ext cx="402336" cy="237744"/>
          </a:xfrm>
          <a:prstGeom prst="rightArrow">
            <a:avLst/>
          </a:prstGeom>
          <a:solidFill>
            <a:srgbClr val="4559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784080" y="1965960"/>
            <a:ext cx="1783080" cy="1005840"/>
          </a:xfrm>
          <a:prstGeom prst="roundRect">
            <a:avLst/>
          </a:prstGeom>
          <a:solidFill>
            <a:srgbClr val="E159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784080" y="1965960"/>
            <a:ext cx="1783080" cy="1005840"/>
          </a:xfrm>
          <a:prstGeom prst="rect">
            <a:avLst/>
          </a:prstGeom>
          <a:noFill/>
        </p:spPr>
        <p:txBody>
          <a:bodyPr wrap="square" anchor="ctr" lIns="0" rIns="0" tIns="0" bIns="0">
            <a:spAutoFit/>
          </a:bodyPr>
          <a:lstStyle/>
          <a:p>
            <a:pPr algn="ctr">
              <a:lnSpc>
                <a:spcPct val="100000"/>
              </a:lnSpc>
              <a:spcBef>
                <a:spcPts val="0"/>
              </a:spcBef>
              <a:spcAft>
                <a:spcPts val="400"/>
              </a:spcAft>
            </a:pPr>
            <a:r>
              <a:rPr sz="1250" b="1" i="0">
                <a:solidFill>
                  <a:srgbClr val="FFFFFF"/>
                </a:solidFill>
                <a:latin typeface="Calibri"/>
              </a:rPr>
              <a:t>Benign /</a:t>
            </a:r>
          </a:p>
          <a:p>
            <a:pPr algn="ctr">
              <a:lnSpc>
                <a:spcPct val="100000"/>
              </a:lnSpc>
              <a:spcBef>
                <a:spcPts val="0"/>
              </a:spcBef>
              <a:spcAft>
                <a:spcPts val="400"/>
              </a:spcAft>
            </a:pPr>
            <a:r>
              <a:rPr sz="1100" b="0" i="0">
                <a:solidFill>
                  <a:srgbClr val="E8F1F4"/>
                </a:solidFill>
                <a:latin typeface="Calibri"/>
              </a:rPr>
              <a:t>Malignant</a:t>
            </a:r>
          </a:p>
        </p:txBody>
      </p:sp>
      <p:sp>
        <p:nvSpPr>
          <p:cNvPr id="25" name="TextBox 24"/>
          <p:cNvSpPr txBox="1"/>
          <p:nvPr/>
        </p:nvSpPr>
        <p:spPr>
          <a:xfrm>
            <a:off x="777240" y="3429000"/>
            <a:ext cx="10607040" cy="365760"/>
          </a:xfrm>
          <a:prstGeom prst="rect">
            <a:avLst/>
          </a:prstGeom>
          <a:noFill/>
        </p:spPr>
        <p:txBody>
          <a:bodyPr wrap="square" anchor="t" lIns="0" rIns="0" tIns="0" bIns="0">
            <a:spAutoFit/>
          </a:bodyPr>
          <a:lstStyle/>
          <a:p>
            <a:pPr algn="l">
              <a:lnSpc>
                <a:spcPct val="100000"/>
              </a:lnSpc>
              <a:spcBef>
                <a:spcPts val="0"/>
              </a:spcBef>
              <a:spcAft>
                <a:spcPts val="400"/>
              </a:spcAft>
            </a:pPr>
            <a:r>
              <a:rPr sz="1400" b="1" i="0">
                <a:solidFill>
                  <a:srgbClr val="E1595B"/>
                </a:solidFill>
                <a:latin typeface="Calibri"/>
              </a:rPr>
              <a:t>MTL-OCA [24] — multi-task, one shared backbone (joint)</a:t>
            </a:r>
          </a:p>
        </p:txBody>
      </p:sp>
      <p:sp>
        <p:nvSpPr>
          <p:cNvPr id="26" name="Rounded Rectangle 25"/>
          <p:cNvSpPr/>
          <p:nvPr/>
        </p:nvSpPr>
        <p:spPr>
          <a:xfrm>
            <a:off x="822960" y="3886200"/>
            <a:ext cx="10561320" cy="1965960"/>
          </a:xfrm>
          <a:prstGeom prst="roundRect">
            <a:avLst/>
          </a:prstGeom>
          <a:solidFill>
            <a:srgbClr val="F1F6F8"/>
          </a:solidFill>
          <a:ln w="9525">
            <a:solidFill>
              <a:srgbClr val="CBD8DE"/>
            </a:solidFill>
          </a:ln>
          <a:effectLst/>
          <a:effectLst>
            <a:outerShdw blurRad="90000" dist="38100" dir="5400000" rotWithShape="0">
              <a:srgbClr val="1B2A38">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1097280" y="4206240"/>
            <a:ext cx="2286000" cy="1325880"/>
          </a:xfrm>
          <a:prstGeom prst="round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97280" y="4206240"/>
            <a:ext cx="2286000" cy="1325880"/>
          </a:xfrm>
          <a:prstGeom prst="rect">
            <a:avLst/>
          </a:prstGeom>
          <a:noFill/>
        </p:spPr>
        <p:txBody>
          <a:bodyPr wrap="square" anchor="ctr" lIns="0" rIns="0" tIns="0" bIns="0">
            <a:spAutoFit/>
          </a:bodyPr>
          <a:lstStyle/>
          <a:p>
            <a:pPr algn="ctr">
              <a:lnSpc>
                <a:spcPct val="100000"/>
              </a:lnSpc>
              <a:spcBef>
                <a:spcPts val="0"/>
              </a:spcBef>
              <a:spcAft>
                <a:spcPts val="400"/>
              </a:spcAft>
            </a:pPr>
            <a:r>
              <a:rPr sz="1250" b="1" i="0">
                <a:solidFill>
                  <a:srgbClr val="FFFFFF"/>
                </a:solidFill>
                <a:latin typeface="Calibri"/>
              </a:rPr>
              <a:t>Shared
Res-UNet
encoder</a:t>
            </a:r>
          </a:p>
        </p:txBody>
      </p:sp>
      <p:sp>
        <p:nvSpPr>
          <p:cNvPr id="29" name="Right Arrow 28"/>
          <p:cNvSpPr/>
          <p:nvPr/>
        </p:nvSpPr>
        <p:spPr>
          <a:xfrm>
            <a:off x="3429000" y="4370832"/>
            <a:ext cx="457200" cy="219456"/>
          </a:xfrm>
          <a:prstGeom prst="rightArrow">
            <a:avLst/>
          </a:prstGeom>
          <a:solidFill>
            <a:srgbClr val="4559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ight Arrow 29"/>
          <p:cNvSpPr/>
          <p:nvPr/>
        </p:nvSpPr>
        <p:spPr>
          <a:xfrm>
            <a:off x="3429000" y="5074920"/>
            <a:ext cx="457200" cy="219456"/>
          </a:xfrm>
          <a:prstGeom prst="rightArrow">
            <a:avLst/>
          </a:prstGeom>
          <a:solidFill>
            <a:srgbClr val="4559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3977639" y="4160520"/>
            <a:ext cx="3108960" cy="640080"/>
          </a:xfrm>
          <a:prstGeom prst="roundRect">
            <a:avLst/>
          </a:prstGeom>
          <a:solidFill>
            <a:srgbClr val="1F8A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977639" y="4160520"/>
            <a:ext cx="3108960" cy="640080"/>
          </a:xfrm>
          <a:prstGeom prst="rect">
            <a:avLst/>
          </a:prstGeom>
          <a:noFill/>
        </p:spPr>
        <p:txBody>
          <a:bodyPr wrap="square" anchor="ctr" lIns="0" rIns="0" tIns="0" bIns="0">
            <a:spAutoFit/>
          </a:bodyPr>
          <a:lstStyle/>
          <a:p>
            <a:pPr algn="ctr">
              <a:lnSpc>
                <a:spcPct val="100000"/>
              </a:lnSpc>
              <a:spcBef>
                <a:spcPts val="0"/>
              </a:spcBef>
              <a:spcAft>
                <a:spcPts val="400"/>
              </a:spcAft>
            </a:pPr>
            <a:r>
              <a:rPr sz="1200" b="1" i="0">
                <a:solidFill>
                  <a:srgbClr val="FFFFFF"/>
                </a:solidFill>
                <a:latin typeface="Calibri"/>
              </a:rPr>
              <a:t>Segmentation head (OCA attention)</a:t>
            </a:r>
          </a:p>
        </p:txBody>
      </p:sp>
      <p:sp>
        <p:nvSpPr>
          <p:cNvPr id="33" name="Rounded Rectangle 32"/>
          <p:cNvSpPr/>
          <p:nvPr/>
        </p:nvSpPr>
        <p:spPr>
          <a:xfrm>
            <a:off x="3977639" y="4937760"/>
            <a:ext cx="3108960" cy="640080"/>
          </a:xfrm>
          <a:prstGeom prst="roundRect">
            <a:avLst/>
          </a:prstGeom>
          <a:solidFill>
            <a:srgbClr val="3AA6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977639" y="4937760"/>
            <a:ext cx="3108960" cy="640080"/>
          </a:xfrm>
          <a:prstGeom prst="rect">
            <a:avLst/>
          </a:prstGeom>
          <a:noFill/>
        </p:spPr>
        <p:txBody>
          <a:bodyPr wrap="square" anchor="ctr" lIns="0" rIns="0" tIns="0" bIns="0">
            <a:spAutoFit/>
          </a:bodyPr>
          <a:lstStyle/>
          <a:p>
            <a:pPr algn="ctr">
              <a:lnSpc>
                <a:spcPct val="100000"/>
              </a:lnSpc>
              <a:spcBef>
                <a:spcPts val="0"/>
              </a:spcBef>
              <a:spcAft>
                <a:spcPts val="400"/>
              </a:spcAft>
            </a:pPr>
            <a:r>
              <a:rPr sz="1200" b="1" i="0">
                <a:solidFill>
                  <a:srgbClr val="FFFFFF"/>
                </a:solidFill>
                <a:latin typeface="Calibri"/>
              </a:rPr>
              <a:t>Classification head (3-way)</a:t>
            </a:r>
          </a:p>
        </p:txBody>
      </p:sp>
      <p:sp>
        <p:nvSpPr>
          <p:cNvPr id="35" name="TextBox 34"/>
          <p:cNvSpPr txBox="1"/>
          <p:nvPr/>
        </p:nvSpPr>
        <p:spPr>
          <a:xfrm>
            <a:off x="7406640" y="4160520"/>
            <a:ext cx="3749039" cy="1463040"/>
          </a:xfrm>
          <a:prstGeom prst="rect">
            <a:avLst/>
          </a:prstGeom>
          <a:noFill/>
        </p:spPr>
        <p:txBody>
          <a:bodyPr wrap="square" anchor="ctr" lIns="0" rIns="0" tIns="0" bIns="0">
            <a:spAutoFit/>
          </a:bodyPr>
          <a:lstStyle/>
          <a:p>
            <a:pPr algn="l">
              <a:lnSpc>
                <a:spcPct val="115000"/>
              </a:lnSpc>
              <a:spcBef>
                <a:spcPts val="0"/>
              </a:spcBef>
              <a:spcAft>
                <a:spcPts val="400"/>
              </a:spcAft>
            </a:pPr>
            <a:r>
              <a:rPr sz="1200" b="0" i="0">
                <a:solidFill>
                  <a:srgbClr val="1B2A38"/>
                </a:solidFill>
                <a:latin typeface="Calibri"/>
              </a:rPr>
              <a:t>Loss = 0.4·CE(soft) + CE(final) + CE(cls).</a:t>
            </a:r>
          </a:p>
          <a:p>
            <a:pPr algn="l">
              <a:lnSpc>
                <a:spcPct val="115000"/>
              </a:lnSpc>
              <a:spcBef>
                <a:spcPts val="0"/>
              </a:spcBef>
              <a:spcAft>
                <a:spcPts val="400"/>
              </a:spcAft>
            </a:pPr>
            <a:r>
              <a:rPr sz="1200" b="0" i="1">
                <a:solidFill>
                  <a:srgbClr val="45596B"/>
                </a:solidFill>
                <a:latin typeface="Calibri"/>
              </a:rPr>
              <a:t>Solves both tasks at once, but shares capacity — we'll see it underperforms specialists.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 y="475488"/>
            <a:ext cx="118872" cy="658368"/>
          </a:xfrm>
          <a:prstGeom prst="rect">
            <a:avLst/>
          </a:prstGeom>
          <a:solidFill>
            <a:srgbClr val="E159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457200"/>
            <a:ext cx="10789920" cy="320040"/>
          </a:xfrm>
          <a:prstGeom prst="rect">
            <a:avLst/>
          </a:prstGeom>
          <a:noFill/>
        </p:spPr>
        <p:txBody>
          <a:bodyPr wrap="square" anchor="t" lIns="0" rIns="0" tIns="0" bIns="0">
            <a:spAutoFit/>
          </a:bodyPr>
          <a:lstStyle/>
          <a:p>
            <a:pPr algn="l">
              <a:lnSpc>
                <a:spcPct val="100000"/>
              </a:lnSpc>
              <a:spcBef>
                <a:spcPts val="0"/>
              </a:spcBef>
              <a:spcAft>
                <a:spcPts val="400"/>
              </a:spcAft>
            </a:pPr>
            <a:r>
              <a:rPr sz="1250" b="1" i="0">
                <a:solidFill>
                  <a:srgbClr val="E1595B"/>
                </a:solidFill>
                <a:latin typeface="Calibri"/>
              </a:rPr>
              <a:t>4 · IMPROVEMENT — DESIGN DECISION</a:t>
            </a:r>
          </a:p>
        </p:txBody>
      </p:sp>
      <p:sp>
        <p:nvSpPr>
          <p:cNvPr id="6" name="TextBox 5"/>
          <p:cNvSpPr txBox="1"/>
          <p:nvPr/>
        </p:nvSpPr>
        <p:spPr>
          <a:xfrm>
            <a:off x="777240" y="713232"/>
            <a:ext cx="10881360" cy="566928"/>
          </a:xfrm>
          <a:prstGeom prst="rect">
            <a:avLst/>
          </a:prstGeom>
          <a:noFill/>
        </p:spPr>
        <p:txBody>
          <a:bodyPr wrap="square" anchor="t" lIns="0" rIns="0" tIns="0" bIns="0">
            <a:spAutoFit/>
          </a:bodyPr>
          <a:lstStyle/>
          <a:p>
            <a:pPr algn="l">
              <a:lnSpc>
                <a:spcPct val="100000"/>
              </a:lnSpc>
              <a:spcBef>
                <a:spcPts val="0"/>
              </a:spcBef>
              <a:spcAft>
                <a:spcPts val="400"/>
              </a:spcAft>
            </a:pPr>
            <a:r>
              <a:rPr sz="2500" b="1" i="0">
                <a:solidFill>
                  <a:srgbClr val="1B2A38"/>
                </a:solidFill>
                <a:latin typeface="Calibri"/>
              </a:rPr>
              <a:t>Which combined model do we improve — and why?</a:t>
            </a:r>
          </a:p>
        </p:txBody>
      </p:sp>
      <p:sp>
        <p:nvSpPr>
          <p:cNvPr id="7" name="Rectangle 6"/>
          <p:cNvSpPr/>
          <p:nvPr/>
        </p:nvSpPr>
        <p:spPr>
          <a:xfrm>
            <a:off x="777240" y="1316736"/>
            <a:ext cx="10634472" cy="18288"/>
          </a:xfrm>
          <a:prstGeom prst="rect">
            <a:avLst/>
          </a:prstGeom>
          <a:solidFill>
            <a:srgbClr val="CBD8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73952"/>
            <a:ext cx="7315200" cy="274320"/>
          </a:xfrm>
          <a:prstGeom prst="rect">
            <a:avLst/>
          </a:prstGeom>
          <a:noFill/>
        </p:spPr>
        <p:txBody>
          <a:bodyPr wrap="square" anchor="t" lIns="0" rIns="0" tIns="0" bIns="0">
            <a:spAutoFit/>
          </a:bodyPr>
          <a:lstStyle/>
          <a:p>
            <a:pPr algn="l">
              <a:lnSpc>
                <a:spcPct val="100000"/>
              </a:lnSpc>
              <a:spcBef>
                <a:spcPts val="0"/>
              </a:spcBef>
              <a:spcAft>
                <a:spcPts val="400"/>
              </a:spcAft>
            </a:pPr>
            <a:r>
              <a:rPr sz="900" b="0" i="0">
                <a:solidFill>
                  <a:srgbClr val="8A94A6"/>
                </a:solidFill>
                <a:latin typeface="Calibri"/>
              </a:rPr>
              <a:t>COMP9444 · Group Project 047 · Breast Ultrasound (BUSI)</a:t>
            </a:r>
          </a:p>
        </p:txBody>
      </p:sp>
      <p:sp>
        <p:nvSpPr>
          <p:cNvPr id="9" name="TextBox 8"/>
          <p:cNvSpPr txBox="1"/>
          <p:nvPr/>
        </p:nvSpPr>
        <p:spPr>
          <a:xfrm>
            <a:off x="11064240" y="6473952"/>
            <a:ext cx="685800" cy="274320"/>
          </a:xfrm>
          <a:prstGeom prst="rect">
            <a:avLst/>
          </a:prstGeom>
          <a:noFill/>
        </p:spPr>
        <p:txBody>
          <a:bodyPr wrap="square" anchor="t" lIns="0" rIns="0" tIns="0" bIns="0">
            <a:spAutoFit/>
          </a:bodyPr>
          <a:lstStyle/>
          <a:p>
            <a:pPr algn="r">
              <a:lnSpc>
                <a:spcPct val="100000"/>
              </a:lnSpc>
              <a:spcBef>
                <a:spcPts val="0"/>
              </a:spcBef>
              <a:spcAft>
                <a:spcPts val="400"/>
              </a:spcAft>
            </a:pPr>
            <a:r>
              <a:rPr sz="900" b="1" i="0">
                <a:solidFill>
                  <a:srgbClr val="8A94A6"/>
                </a:solidFill>
                <a:latin typeface="Calibri"/>
              </a:rPr>
              <a:t>17</a:t>
            </a:r>
          </a:p>
        </p:txBody>
      </p:sp>
      <p:sp>
        <p:nvSpPr>
          <p:cNvPr id="10" name="TextBox 9"/>
          <p:cNvSpPr txBox="1"/>
          <p:nvPr/>
        </p:nvSpPr>
        <p:spPr>
          <a:xfrm>
            <a:off x="777240" y="1463040"/>
            <a:ext cx="10607040" cy="411480"/>
          </a:xfrm>
          <a:prstGeom prst="rect">
            <a:avLst/>
          </a:prstGeom>
          <a:noFill/>
        </p:spPr>
        <p:txBody>
          <a:bodyPr wrap="square" anchor="t" lIns="0" rIns="0" tIns="0" bIns="0">
            <a:spAutoFit/>
          </a:bodyPr>
          <a:lstStyle/>
          <a:p>
            <a:pPr algn="l">
              <a:lnSpc>
                <a:spcPct val="105000"/>
              </a:lnSpc>
              <a:spcBef>
                <a:spcPts val="0"/>
              </a:spcBef>
              <a:spcAft>
                <a:spcPts val="400"/>
              </a:spcAft>
            </a:pPr>
            <a:r>
              <a:rPr sz="1350" b="0" i="0">
                <a:solidFill>
                  <a:srgbClr val="1B2A38"/>
                </a:solidFill>
                <a:latin typeface="Calibri"/>
              </a:rPr>
              <a:t>We reproduced both combined approaches — </a:t>
            </a:r>
            <a:r>
              <a:rPr sz="1350" b="1" i="0">
                <a:solidFill>
                  <a:srgbClr val="3AA655"/>
                </a:solidFill>
                <a:latin typeface="Calibri"/>
              </a:rPr>
              <a:t>sequential dual-stage [17]</a:t>
            </a:r>
            <a:r>
              <a:rPr sz="1350" b="0" i="0">
                <a:solidFill>
                  <a:srgbClr val="1B2A38"/>
                </a:solidFill>
                <a:latin typeface="Calibri"/>
              </a:rPr>
              <a:t> and </a:t>
            </a:r>
            <a:r>
              <a:rPr sz="1350" b="1" i="0">
                <a:solidFill>
                  <a:srgbClr val="E1595B"/>
                </a:solidFill>
                <a:latin typeface="Calibri"/>
              </a:rPr>
              <a:t>joint multi-task MTL-OCA [25]</a:t>
            </a:r>
            <a:r>
              <a:rPr sz="1350" b="0" i="0">
                <a:solidFill>
                  <a:srgbClr val="1B2A38"/>
                </a:solidFill>
                <a:latin typeface="Calibri"/>
              </a:rPr>
              <a:t>. We chose to optimise the dual-stage line. Here's the reasoning:</a:t>
            </a:r>
          </a:p>
        </p:txBody>
      </p:sp>
      <p:sp>
        <p:nvSpPr>
          <p:cNvPr id="11" name="Rounded Rectangle 10"/>
          <p:cNvSpPr/>
          <p:nvPr/>
        </p:nvSpPr>
        <p:spPr>
          <a:xfrm>
            <a:off x="777240" y="2057400"/>
            <a:ext cx="4709160" cy="3931920"/>
          </a:xfrm>
          <a:prstGeom prst="roundRect">
            <a:avLst/>
          </a:prstGeom>
          <a:solidFill>
            <a:srgbClr val="F1F6F8"/>
          </a:solidFill>
          <a:ln w="9525">
            <a:solidFill>
              <a:srgbClr val="CBD8DE"/>
            </a:solidFill>
          </a:ln>
          <a:effectLst/>
          <a:effectLst>
            <a:outerShdw blurRad="90000" dist="38100" dir="5400000" rotWithShape="0">
              <a:srgbClr val="1B2A38">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87552" y="2212848"/>
            <a:ext cx="4297680" cy="365760"/>
          </a:xfrm>
          <a:prstGeom prst="rect">
            <a:avLst/>
          </a:prstGeom>
          <a:noFill/>
        </p:spPr>
        <p:txBody>
          <a:bodyPr wrap="square" anchor="t" lIns="0" rIns="0" tIns="0" bIns="0">
            <a:spAutoFit/>
          </a:bodyPr>
          <a:lstStyle/>
          <a:p>
            <a:pPr algn="l">
              <a:lnSpc>
                <a:spcPct val="100000"/>
              </a:lnSpc>
              <a:spcBef>
                <a:spcPts val="0"/>
              </a:spcBef>
              <a:spcAft>
                <a:spcPts val="400"/>
              </a:spcAft>
            </a:pPr>
            <a:r>
              <a:rPr sz="1250" b="1" i="0">
                <a:solidFill>
                  <a:srgbClr val="0E4D64"/>
                </a:solidFill>
                <a:latin typeface="Calibri"/>
              </a:rPr>
              <a:t>HEAD-TO-HEAD (our reproductions)</a:t>
            </a:r>
          </a:p>
        </p:txBody>
      </p:sp>
      <p:sp>
        <p:nvSpPr>
          <p:cNvPr id="13" name="TextBox 12"/>
          <p:cNvSpPr txBox="1"/>
          <p:nvPr/>
        </p:nvSpPr>
        <p:spPr>
          <a:xfrm>
            <a:off x="987552" y="2743200"/>
            <a:ext cx="4297680" cy="274320"/>
          </a:xfrm>
          <a:prstGeom prst="rect">
            <a:avLst/>
          </a:prstGeom>
          <a:noFill/>
        </p:spPr>
        <p:txBody>
          <a:bodyPr wrap="square" anchor="t" lIns="0" rIns="0" tIns="0" bIns="0">
            <a:spAutoFit/>
          </a:bodyPr>
          <a:lstStyle/>
          <a:p>
            <a:pPr algn="l">
              <a:lnSpc>
                <a:spcPct val="100000"/>
              </a:lnSpc>
              <a:spcBef>
                <a:spcPts val="0"/>
              </a:spcBef>
              <a:spcAft>
                <a:spcPts val="400"/>
              </a:spcAft>
            </a:pPr>
            <a:r>
              <a:rPr sz="1200" b="1" i="0">
                <a:solidFill>
                  <a:srgbClr val="1B2A38"/>
                </a:solidFill>
                <a:latin typeface="Calibri"/>
              </a:rPr>
              <a:t>Segmentation Dice</a:t>
            </a:r>
          </a:p>
        </p:txBody>
      </p:sp>
      <p:sp>
        <p:nvSpPr>
          <p:cNvPr id="14" name="TextBox 13"/>
          <p:cNvSpPr txBox="1"/>
          <p:nvPr/>
        </p:nvSpPr>
        <p:spPr>
          <a:xfrm>
            <a:off x="987552" y="3035808"/>
            <a:ext cx="1280160" cy="219456"/>
          </a:xfrm>
          <a:prstGeom prst="rect">
            <a:avLst/>
          </a:prstGeom>
          <a:noFill/>
        </p:spPr>
        <p:txBody>
          <a:bodyPr wrap="square" anchor="t" lIns="0" rIns="0" tIns="0" bIns="0">
            <a:spAutoFit/>
          </a:bodyPr>
          <a:lstStyle/>
          <a:p>
            <a:pPr algn="l">
              <a:lnSpc>
                <a:spcPct val="100000"/>
              </a:lnSpc>
              <a:spcBef>
                <a:spcPts val="0"/>
              </a:spcBef>
              <a:spcAft>
                <a:spcPts val="400"/>
              </a:spcAft>
            </a:pPr>
            <a:r>
              <a:rPr sz="950" b="1" i="0">
                <a:solidFill>
                  <a:srgbClr val="E1595B"/>
                </a:solidFill>
                <a:latin typeface="Calibri"/>
              </a:rPr>
              <a:t>MTL-OCA</a:t>
            </a:r>
          </a:p>
        </p:txBody>
      </p:sp>
      <p:sp>
        <p:nvSpPr>
          <p:cNvPr id="15" name="Rectangle 14"/>
          <p:cNvSpPr/>
          <p:nvPr/>
        </p:nvSpPr>
        <p:spPr>
          <a:xfrm>
            <a:off x="2286000" y="3054096"/>
            <a:ext cx="2377440" cy="173736"/>
          </a:xfrm>
          <a:prstGeom prst="rect">
            <a:avLst/>
          </a:prstGeom>
          <a:solidFill>
            <a:srgbClr val="E7E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286000" y="3054096"/>
            <a:ext cx="1454993" cy="173736"/>
          </a:xfrm>
          <a:prstGeom prst="rect">
            <a:avLst/>
          </a:prstGeom>
          <a:solidFill>
            <a:srgbClr val="E159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81728" y="3026664"/>
            <a:ext cx="640080" cy="219456"/>
          </a:xfrm>
          <a:prstGeom prst="rect">
            <a:avLst/>
          </a:prstGeom>
          <a:noFill/>
        </p:spPr>
        <p:txBody>
          <a:bodyPr wrap="square" anchor="t" lIns="0" rIns="0" tIns="0" bIns="0">
            <a:spAutoFit/>
          </a:bodyPr>
          <a:lstStyle/>
          <a:p>
            <a:pPr algn="l">
              <a:lnSpc>
                <a:spcPct val="100000"/>
              </a:lnSpc>
              <a:spcBef>
                <a:spcPts val="0"/>
              </a:spcBef>
              <a:spcAft>
                <a:spcPts val="400"/>
              </a:spcAft>
            </a:pPr>
            <a:r>
              <a:rPr sz="950" b="1" i="0">
                <a:solidFill>
                  <a:srgbClr val="E1595B"/>
                </a:solidFill>
                <a:latin typeface="Calibri"/>
              </a:rPr>
              <a:t>0.612</a:t>
            </a:r>
          </a:p>
        </p:txBody>
      </p:sp>
      <p:sp>
        <p:nvSpPr>
          <p:cNvPr id="18" name="TextBox 17"/>
          <p:cNvSpPr txBox="1"/>
          <p:nvPr/>
        </p:nvSpPr>
        <p:spPr>
          <a:xfrm>
            <a:off x="987552" y="3310128"/>
            <a:ext cx="1280160" cy="219456"/>
          </a:xfrm>
          <a:prstGeom prst="rect">
            <a:avLst/>
          </a:prstGeom>
          <a:noFill/>
        </p:spPr>
        <p:txBody>
          <a:bodyPr wrap="square" anchor="t" lIns="0" rIns="0" tIns="0" bIns="0">
            <a:spAutoFit/>
          </a:bodyPr>
          <a:lstStyle/>
          <a:p>
            <a:pPr algn="l">
              <a:lnSpc>
                <a:spcPct val="100000"/>
              </a:lnSpc>
              <a:spcBef>
                <a:spcPts val="0"/>
              </a:spcBef>
              <a:spcAft>
                <a:spcPts val="400"/>
              </a:spcAft>
            </a:pPr>
            <a:r>
              <a:rPr sz="950" b="1" i="0">
                <a:solidFill>
                  <a:srgbClr val="3AA655"/>
                </a:solidFill>
                <a:latin typeface="Calibri"/>
              </a:rPr>
              <a:t>dual-stage seg</a:t>
            </a:r>
          </a:p>
        </p:txBody>
      </p:sp>
      <p:sp>
        <p:nvSpPr>
          <p:cNvPr id="19" name="Rectangle 18"/>
          <p:cNvSpPr/>
          <p:nvPr/>
        </p:nvSpPr>
        <p:spPr>
          <a:xfrm>
            <a:off x="2286000" y="3328416"/>
            <a:ext cx="2377440" cy="173736"/>
          </a:xfrm>
          <a:prstGeom prst="rect">
            <a:avLst/>
          </a:prstGeom>
          <a:solidFill>
            <a:srgbClr val="E7E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286000" y="3328416"/>
            <a:ext cx="1806854" cy="173736"/>
          </a:xfrm>
          <a:prstGeom prst="rect">
            <a:avLst/>
          </a:prstGeom>
          <a:solidFill>
            <a:srgbClr val="3AA6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681728" y="3300984"/>
            <a:ext cx="640080" cy="219456"/>
          </a:xfrm>
          <a:prstGeom prst="rect">
            <a:avLst/>
          </a:prstGeom>
          <a:noFill/>
        </p:spPr>
        <p:txBody>
          <a:bodyPr wrap="square" anchor="t" lIns="0" rIns="0" tIns="0" bIns="0">
            <a:spAutoFit/>
          </a:bodyPr>
          <a:lstStyle/>
          <a:p>
            <a:pPr algn="l">
              <a:lnSpc>
                <a:spcPct val="100000"/>
              </a:lnSpc>
              <a:spcBef>
                <a:spcPts val="0"/>
              </a:spcBef>
              <a:spcAft>
                <a:spcPts val="400"/>
              </a:spcAft>
            </a:pPr>
            <a:r>
              <a:rPr sz="950" b="1" i="0">
                <a:solidFill>
                  <a:srgbClr val="3AA655"/>
                </a:solidFill>
                <a:latin typeface="Calibri"/>
              </a:rPr>
              <a:t>0.760</a:t>
            </a:r>
          </a:p>
        </p:txBody>
      </p:sp>
      <p:sp>
        <p:nvSpPr>
          <p:cNvPr id="22" name="TextBox 21"/>
          <p:cNvSpPr txBox="1"/>
          <p:nvPr/>
        </p:nvSpPr>
        <p:spPr>
          <a:xfrm>
            <a:off x="987552" y="3794760"/>
            <a:ext cx="4297680" cy="274320"/>
          </a:xfrm>
          <a:prstGeom prst="rect">
            <a:avLst/>
          </a:prstGeom>
          <a:noFill/>
        </p:spPr>
        <p:txBody>
          <a:bodyPr wrap="square" anchor="t" lIns="0" rIns="0" tIns="0" bIns="0">
            <a:spAutoFit/>
          </a:bodyPr>
          <a:lstStyle/>
          <a:p>
            <a:pPr algn="l">
              <a:lnSpc>
                <a:spcPct val="100000"/>
              </a:lnSpc>
              <a:spcBef>
                <a:spcPts val="0"/>
              </a:spcBef>
              <a:spcAft>
                <a:spcPts val="400"/>
              </a:spcAft>
            </a:pPr>
            <a:r>
              <a:rPr sz="1200" b="1" i="0">
                <a:solidFill>
                  <a:srgbClr val="1B2A38"/>
                </a:solidFill>
                <a:latin typeface="Calibri"/>
              </a:rPr>
              <a:t>Classification macro-F1</a:t>
            </a:r>
          </a:p>
        </p:txBody>
      </p:sp>
      <p:sp>
        <p:nvSpPr>
          <p:cNvPr id="23" name="TextBox 22"/>
          <p:cNvSpPr txBox="1"/>
          <p:nvPr/>
        </p:nvSpPr>
        <p:spPr>
          <a:xfrm>
            <a:off x="987552" y="4087368"/>
            <a:ext cx="1280160" cy="219456"/>
          </a:xfrm>
          <a:prstGeom prst="rect">
            <a:avLst/>
          </a:prstGeom>
          <a:noFill/>
        </p:spPr>
        <p:txBody>
          <a:bodyPr wrap="square" anchor="t" lIns="0" rIns="0" tIns="0" bIns="0">
            <a:spAutoFit/>
          </a:bodyPr>
          <a:lstStyle/>
          <a:p>
            <a:pPr algn="l">
              <a:lnSpc>
                <a:spcPct val="100000"/>
              </a:lnSpc>
              <a:spcBef>
                <a:spcPts val="0"/>
              </a:spcBef>
              <a:spcAft>
                <a:spcPts val="400"/>
              </a:spcAft>
            </a:pPr>
            <a:r>
              <a:rPr sz="950" b="1" i="0">
                <a:solidFill>
                  <a:srgbClr val="E1595B"/>
                </a:solidFill>
                <a:latin typeface="Calibri"/>
              </a:rPr>
              <a:t>MTL-OCA</a:t>
            </a:r>
          </a:p>
        </p:txBody>
      </p:sp>
      <p:sp>
        <p:nvSpPr>
          <p:cNvPr id="24" name="Rectangle 23"/>
          <p:cNvSpPr/>
          <p:nvPr/>
        </p:nvSpPr>
        <p:spPr>
          <a:xfrm>
            <a:off x="2286000" y="4105656"/>
            <a:ext cx="2377440" cy="173736"/>
          </a:xfrm>
          <a:prstGeom prst="rect">
            <a:avLst/>
          </a:prstGeom>
          <a:solidFill>
            <a:srgbClr val="E7E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286000" y="4105656"/>
            <a:ext cx="1711756" cy="173736"/>
          </a:xfrm>
          <a:prstGeom prst="rect">
            <a:avLst/>
          </a:prstGeom>
          <a:solidFill>
            <a:srgbClr val="E159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681728" y="4078224"/>
            <a:ext cx="640080" cy="219456"/>
          </a:xfrm>
          <a:prstGeom prst="rect">
            <a:avLst/>
          </a:prstGeom>
          <a:noFill/>
        </p:spPr>
        <p:txBody>
          <a:bodyPr wrap="square" anchor="t" lIns="0" rIns="0" tIns="0" bIns="0">
            <a:spAutoFit/>
          </a:bodyPr>
          <a:lstStyle/>
          <a:p>
            <a:pPr algn="l">
              <a:lnSpc>
                <a:spcPct val="100000"/>
              </a:lnSpc>
              <a:spcBef>
                <a:spcPts val="0"/>
              </a:spcBef>
              <a:spcAft>
                <a:spcPts val="400"/>
              </a:spcAft>
            </a:pPr>
            <a:r>
              <a:rPr sz="950" b="1" i="0">
                <a:solidFill>
                  <a:srgbClr val="E1595B"/>
                </a:solidFill>
                <a:latin typeface="Calibri"/>
              </a:rPr>
              <a:t>0.720</a:t>
            </a:r>
          </a:p>
        </p:txBody>
      </p:sp>
      <p:sp>
        <p:nvSpPr>
          <p:cNvPr id="27" name="TextBox 26"/>
          <p:cNvSpPr txBox="1"/>
          <p:nvPr/>
        </p:nvSpPr>
        <p:spPr>
          <a:xfrm>
            <a:off x="987552" y="4361688"/>
            <a:ext cx="1280160" cy="219456"/>
          </a:xfrm>
          <a:prstGeom prst="rect">
            <a:avLst/>
          </a:prstGeom>
          <a:noFill/>
        </p:spPr>
        <p:txBody>
          <a:bodyPr wrap="square" anchor="t" lIns="0" rIns="0" tIns="0" bIns="0">
            <a:spAutoFit/>
          </a:bodyPr>
          <a:lstStyle/>
          <a:p>
            <a:pPr algn="l">
              <a:lnSpc>
                <a:spcPct val="100000"/>
              </a:lnSpc>
              <a:spcBef>
                <a:spcPts val="0"/>
              </a:spcBef>
              <a:spcAft>
                <a:spcPts val="400"/>
              </a:spcAft>
            </a:pPr>
            <a:r>
              <a:rPr sz="950" b="1" i="0">
                <a:solidFill>
                  <a:srgbClr val="3AA655"/>
                </a:solidFill>
                <a:latin typeface="Calibri"/>
              </a:rPr>
              <a:t>specialist cls</a:t>
            </a:r>
          </a:p>
        </p:txBody>
      </p:sp>
      <p:sp>
        <p:nvSpPr>
          <p:cNvPr id="28" name="Rectangle 27"/>
          <p:cNvSpPr/>
          <p:nvPr/>
        </p:nvSpPr>
        <p:spPr>
          <a:xfrm>
            <a:off x="2286000" y="4379976"/>
            <a:ext cx="2377440" cy="173736"/>
          </a:xfrm>
          <a:prstGeom prst="rect">
            <a:avLst/>
          </a:prstGeom>
          <a:solidFill>
            <a:srgbClr val="E7E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286000" y="4379976"/>
            <a:ext cx="1968520" cy="173736"/>
          </a:xfrm>
          <a:prstGeom prst="rect">
            <a:avLst/>
          </a:prstGeom>
          <a:solidFill>
            <a:srgbClr val="3AA6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681728" y="4352544"/>
            <a:ext cx="640080" cy="219456"/>
          </a:xfrm>
          <a:prstGeom prst="rect">
            <a:avLst/>
          </a:prstGeom>
          <a:noFill/>
        </p:spPr>
        <p:txBody>
          <a:bodyPr wrap="square" anchor="t" lIns="0" rIns="0" tIns="0" bIns="0">
            <a:spAutoFit/>
          </a:bodyPr>
          <a:lstStyle/>
          <a:p>
            <a:pPr algn="l">
              <a:lnSpc>
                <a:spcPct val="100000"/>
              </a:lnSpc>
              <a:spcBef>
                <a:spcPts val="0"/>
              </a:spcBef>
              <a:spcAft>
                <a:spcPts val="400"/>
              </a:spcAft>
            </a:pPr>
            <a:r>
              <a:rPr sz="950" b="1" i="0">
                <a:solidFill>
                  <a:srgbClr val="3AA655"/>
                </a:solidFill>
                <a:latin typeface="Calibri"/>
              </a:rPr>
              <a:t>0.828</a:t>
            </a:r>
          </a:p>
        </p:txBody>
      </p:sp>
      <p:sp>
        <p:nvSpPr>
          <p:cNvPr id="31" name="Rounded Rectangle 30"/>
          <p:cNvSpPr/>
          <p:nvPr/>
        </p:nvSpPr>
        <p:spPr>
          <a:xfrm>
            <a:off x="987552" y="4937760"/>
            <a:ext cx="4297680" cy="914400"/>
          </a:xfrm>
          <a:prstGeom prst="roundRect">
            <a:avLst/>
          </a:prstGeom>
          <a:solidFill>
            <a:srgbClr val="F3ECEC"/>
          </a:solidFill>
          <a:ln w="12700">
            <a:solidFill>
              <a:srgbClr val="E159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143000" y="5029200"/>
            <a:ext cx="4023360" cy="777240"/>
          </a:xfrm>
          <a:prstGeom prst="rect">
            <a:avLst/>
          </a:prstGeom>
          <a:noFill/>
        </p:spPr>
        <p:txBody>
          <a:bodyPr wrap="square" anchor="ctr" lIns="0" rIns="0" tIns="0" bIns="0">
            <a:spAutoFit/>
          </a:bodyPr>
          <a:lstStyle/>
          <a:p>
            <a:pPr algn="l">
              <a:lnSpc>
                <a:spcPct val="105000"/>
              </a:lnSpc>
              <a:spcBef>
                <a:spcPts val="0"/>
              </a:spcBef>
              <a:spcAft>
                <a:spcPts val="400"/>
              </a:spcAft>
            </a:pPr>
            <a:r>
              <a:rPr sz="1150" b="0" i="0">
                <a:solidFill>
                  <a:srgbClr val="1B2A38"/>
                </a:solidFill>
                <a:latin typeface="Calibri"/>
              </a:rPr>
              <a:t>One shared backbone makes MTL-OCA underperform on </a:t>
            </a:r>
            <a:r>
              <a:rPr sz="1150" b="1" i="0">
                <a:solidFill>
                  <a:srgbClr val="E1595B"/>
                </a:solidFill>
                <a:latin typeface="Calibri"/>
              </a:rPr>
              <a:t>both</a:t>
            </a:r>
            <a:r>
              <a:rPr sz="1150" b="0" i="0">
                <a:solidFill>
                  <a:srgbClr val="1B2A38"/>
                </a:solidFill>
                <a:latin typeface="Calibri"/>
              </a:rPr>
              <a:t> tasks. Dual-stage instead plugs in our </a:t>
            </a:r>
            <a:r>
              <a:rPr sz="1150" b="1" i="0">
                <a:solidFill>
                  <a:srgbClr val="3AA655"/>
                </a:solidFill>
                <a:latin typeface="Calibri"/>
              </a:rPr>
              <a:t>best specialists</a:t>
            </a:r>
            <a:r>
              <a:rPr sz="1150" b="0" i="0">
                <a:solidFill>
                  <a:srgbClr val="1B2A38"/>
                </a:solidFill>
                <a:latin typeface="Calibri"/>
              </a:rPr>
              <a:t>.</a:t>
            </a:r>
          </a:p>
        </p:txBody>
      </p:sp>
      <p:sp>
        <p:nvSpPr>
          <p:cNvPr id="33" name="Rounded Rectangle 32"/>
          <p:cNvSpPr/>
          <p:nvPr/>
        </p:nvSpPr>
        <p:spPr>
          <a:xfrm>
            <a:off x="5715000" y="2057400"/>
            <a:ext cx="2743200" cy="1417320"/>
          </a:xfrm>
          <a:prstGeom prst="roundRect">
            <a:avLst/>
          </a:prstGeom>
          <a:solidFill>
            <a:srgbClr val="F1F6F8"/>
          </a:solidFill>
          <a:ln w="9525">
            <a:solidFill>
              <a:srgbClr val="CBD8DE"/>
            </a:solidFill>
          </a:ln>
          <a:effectLst/>
          <a:effectLst>
            <a:outerShdw blurRad="90000" dist="38100" dir="5400000" rotWithShape="0">
              <a:srgbClr val="1B2A38">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5715000" y="2057400"/>
            <a:ext cx="2743200" cy="73152"/>
          </a:xfrm>
          <a:prstGeom prst="roundRect">
            <a:avLst/>
          </a:prstGeom>
          <a:solidFill>
            <a:srgbClr val="1F8A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879592" y="2203704"/>
            <a:ext cx="2414016" cy="365760"/>
          </a:xfrm>
          <a:prstGeom prst="rect">
            <a:avLst/>
          </a:prstGeom>
          <a:noFill/>
        </p:spPr>
        <p:txBody>
          <a:bodyPr wrap="square" anchor="t" lIns="0" rIns="0" tIns="0" bIns="0">
            <a:spAutoFit/>
          </a:bodyPr>
          <a:lstStyle/>
          <a:p>
            <a:pPr algn="l">
              <a:lnSpc>
                <a:spcPct val="100000"/>
              </a:lnSpc>
              <a:spcBef>
                <a:spcPts val="0"/>
              </a:spcBef>
              <a:spcAft>
                <a:spcPts val="400"/>
              </a:spcAft>
            </a:pPr>
            <a:r>
              <a:rPr sz="1300" b="1" i="0">
                <a:solidFill>
                  <a:srgbClr val="1F8AA6"/>
                </a:solidFill>
                <a:latin typeface="Calibri"/>
              </a:rPr>
              <a:t>① Modular &amp; swappable</a:t>
            </a:r>
          </a:p>
        </p:txBody>
      </p:sp>
      <p:sp>
        <p:nvSpPr>
          <p:cNvPr id="36" name="TextBox 35"/>
          <p:cNvSpPr txBox="1"/>
          <p:nvPr/>
        </p:nvSpPr>
        <p:spPr>
          <a:xfrm>
            <a:off x="5879592" y="2587752"/>
            <a:ext cx="2414016" cy="822960"/>
          </a:xfrm>
          <a:prstGeom prst="rect">
            <a:avLst/>
          </a:prstGeom>
          <a:noFill/>
        </p:spPr>
        <p:txBody>
          <a:bodyPr wrap="square" anchor="t" lIns="0" rIns="0" tIns="0" bIns="0">
            <a:spAutoFit/>
          </a:bodyPr>
          <a:lstStyle/>
          <a:p>
            <a:pPr algn="l">
              <a:lnSpc>
                <a:spcPct val="108000"/>
              </a:lnSpc>
              <a:spcBef>
                <a:spcPts val="0"/>
              </a:spcBef>
              <a:spcAft>
                <a:spcPts val="400"/>
              </a:spcAft>
            </a:pPr>
            <a:r>
              <a:rPr sz="1150" b="0" i="0">
                <a:solidFill>
                  <a:srgbClr val="1B2A38"/>
                </a:solidFill>
                <a:latin typeface="Calibri"/>
              </a:rPr>
              <a:t>improve Stage 1 (segmenter) and Stage 2 (classifier) independently.</a:t>
            </a:r>
          </a:p>
        </p:txBody>
      </p:sp>
      <p:sp>
        <p:nvSpPr>
          <p:cNvPr id="37" name="Rounded Rectangle 36"/>
          <p:cNvSpPr/>
          <p:nvPr/>
        </p:nvSpPr>
        <p:spPr>
          <a:xfrm>
            <a:off x="8668512" y="2057400"/>
            <a:ext cx="2743200" cy="1417320"/>
          </a:xfrm>
          <a:prstGeom prst="roundRect">
            <a:avLst/>
          </a:prstGeom>
          <a:solidFill>
            <a:srgbClr val="F1F6F8"/>
          </a:solidFill>
          <a:ln w="9525">
            <a:solidFill>
              <a:srgbClr val="CBD8DE"/>
            </a:solidFill>
          </a:ln>
          <a:effectLst/>
          <a:effectLst>
            <a:outerShdw blurRad="90000" dist="38100" dir="5400000" rotWithShape="0">
              <a:srgbClr val="1B2A38">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8668512" y="2057400"/>
            <a:ext cx="2743200" cy="73152"/>
          </a:xfrm>
          <a:prstGeom prst="roundRect">
            <a:avLst/>
          </a:prstGeom>
          <a:solidFill>
            <a:srgbClr val="3AA6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833104" y="2203704"/>
            <a:ext cx="2414016" cy="365760"/>
          </a:xfrm>
          <a:prstGeom prst="rect">
            <a:avLst/>
          </a:prstGeom>
          <a:noFill/>
        </p:spPr>
        <p:txBody>
          <a:bodyPr wrap="square" anchor="t" lIns="0" rIns="0" tIns="0" bIns="0">
            <a:spAutoFit/>
          </a:bodyPr>
          <a:lstStyle/>
          <a:p>
            <a:pPr algn="l">
              <a:lnSpc>
                <a:spcPct val="100000"/>
              </a:lnSpc>
              <a:spcBef>
                <a:spcPts val="0"/>
              </a:spcBef>
              <a:spcAft>
                <a:spcPts val="400"/>
              </a:spcAft>
            </a:pPr>
            <a:r>
              <a:rPr sz="1300" b="1" i="0">
                <a:solidFill>
                  <a:srgbClr val="3AA655"/>
                </a:solidFill>
                <a:latin typeface="Calibri"/>
              </a:rPr>
              <a:t>② Controlled science</a:t>
            </a:r>
          </a:p>
        </p:txBody>
      </p:sp>
      <p:sp>
        <p:nvSpPr>
          <p:cNvPr id="40" name="TextBox 39"/>
          <p:cNvSpPr txBox="1"/>
          <p:nvPr/>
        </p:nvSpPr>
        <p:spPr>
          <a:xfrm>
            <a:off x="8833104" y="2587752"/>
            <a:ext cx="2414016" cy="822960"/>
          </a:xfrm>
          <a:prstGeom prst="rect">
            <a:avLst/>
          </a:prstGeom>
          <a:noFill/>
        </p:spPr>
        <p:txBody>
          <a:bodyPr wrap="square" anchor="t" lIns="0" rIns="0" tIns="0" bIns="0">
            <a:spAutoFit/>
          </a:bodyPr>
          <a:lstStyle/>
          <a:p>
            <a:pPr algn="l">
              <a:lnSpc>
                <a:spcPct val="108000"/>
              </a:lnSpc>
              <a:spcBef>
                <a:spcPts val="0"/>
              </a:spcBef>
              <a:spcAft>
                <a:spcPts val="400"/>
              </a:spcAft>
            </a:pPr>
            <a:r>
              <a:rPr sz="1150" b="0" i="0">
                <a:solidFill>
                  <a:srgbClr val="1B2A38"/>
                </a:solidFill>
                <a:latin typeface="Calibri"/>
              </a:rPr>
              <a:t>fix Stage 2 byte-for-byte, swap Stage 1 → isolate the segmenter's effect (impossible in a joint net).</a:t>
            </a:r>
          </a:p>
        </p:txBody>
      </p:sp>
      <p:sp>
        <p:nvSpPr>
          <p:cNvPr id="41" name="Rounded Rectangle 40"/>
          <p:cNvSpPr/>
          <p:nvPr/>
        </p:nvSpPr>
        <p:spPr>
          <a:xfrm>
            <a:off x="5715000" y="3657600"/>
            <a:ext cx="2743200" cy="1417320"/>
          </a:xfrm>
          <a:prstGeom prst="roundRect">
            <a:avLst/>
          </a:prstGeom>
          <a:solidFill>
            <a:srgbClr val="F1F6F8"/>
          </a:solidFill>
          <a:ln w="9525">
            <a:solidFill>
              <a:srgbClr val="CBD8DE"/>
            </a:solidFill>
          </a:ln>
          <a:effectLst/>
          <a:effectLst>
            <a:outerShdw blurRad="90000" dist="38100" dir="5400000" rotWithShape="0">
              <a:srgbClr val="1B2A38">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5715000" y="3657600"/>
            <a:ext cx="2743200" cy="73152"/>
          </a:xfrm>
          <a:prstGeom prst="round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879592" y="3803904"/>
            <a:ext cx="2414016" cy="365760"/>
          </a:xfrm>
          <a:prstGeom prst="rect">
            <a:avLst/>
          </a:prstGeom>
          <a:noFill/>
        </p:spPr>
        <p:txBody>
          <a:bodyPr wrap="square" anchor="t" lIns="0" rIns="0" tIns="0" bIns="0">
            <a:spAutoFit/>
          </a:bodyPr>
          <a:lstStyle/>
          <a:p>
            <a:pPr algn="l">
              <a:lnSpc>
                <a:spcPct val="100000"/>
              </a:lnSpc>
              <a:spcBef>
                <a:spcPts val="0"/>
              </a:spcBef>
              <a:spcAft>
                <a:spcPts val="400"/>
              </a:spcAft>
            </a:pPr>
            <a:r>
              <a:rPr sz="1300" b="1" i="0">
                <a:solidFill>
                  <a:srgbClr val="0E4D64"/>
                </a:solidFill>
                <a:latin typeface="Calibri"/>
              </a:rPr>
              <a:t>③ Best-of-breed reuse</a:t>
            </a:r>
          </a:p>
        </p:txBody>
      </p:sp>
      <p:sp>
        <p:nvSpPr>
          <p:cNvPr id="44" name="TextBox 43"/>
          <p:cNvSpPr txBox="1"/>
          <p:nvPr/>
        </p:nvSpPr>
        <p:spPr>
          <a:xfrm>
            <a:off x="5879592" y="4187952"/>
            <a:ext cx="2414016" cy="822960"/>
          </a:xfrm>
          <a:prstGeom prst="rect">
            <a:avLst/>
          </a:prstGeom>
          <a:noFill/>
        </p:spPr>
        <p:txBody>
          <a:bodyPr wrap="square" anchor="t" lIns="0" rIns="0" tIns="0" bIns="0">
            <a:spAutoFit/>
          </a:bodyPr>
          <a:lstStyle/>
          <a:p>
            <a:pPr algn="l">
              <a:lnSpc>
                <a:spcPct val="108000"/>
              </a:lnSpc>
              <a:spcBef>
                <a:spcPts val="0"/>
              </a:spcBef>
              <a:spcAft>
                <a:spcPts val="400"/>
              </a:spcAft>
            </a:pPr>
            <a:r>
              <a:rPr sz="1150" b="0" i="0">
                <a:solidFill>
                  <a:srgbClr val="1B2A38"/>
                </a:solidFill>
                <a:latin typeface="Calibri"/>
              </a:rPr>
              <a:t>plug in our strongest segmenter + strongest classifier; gains compound.</a:t>
            </a:r>
          </a:p>
        </p:txBody>
      </p:sp>
      <p:sp>
        <p:nvSpPr>
          <p:cNvPr id="45" name="Rounded Rectangle 44"/>
          <p:cNvSpPr/>
          <p:nvPr/>
        </p:nvSpPr>
        <p:spPr>
          <a:xfrm>
            <a:off x="8668512" y="3657600"/>
            <a:ext cx="2743200" cy="1417320"/>
          </a:xfrm>
          <a:prstGeom prst="roundRect">
            <a:avLst/>
          </a:prstGeom>
          <a:solidFill>
            <a:srgbClr val="F1F6F8"/>
          </a:solidFill>
          <a:ln w="9525">
            <a:solidFill>
              <a:srgbClr val="CBD8DE"/>
            </a:solidFill>
          </a:ln>
          <a:effectLst/>
          <a:effectLst>
            <a:outerShdw blurRad="90000" dist="38100" dir="5400000" rotWithShape="0">
              <a:srgbClr val="1B2A38">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ounded Rectangle 45"/>
          <p:cNvSpPr/>
          <p:nvPr/>
        </p:nvSpPr>
        <p:spPr>
          <a:xfrm>
            <a:off x="8668512" y="3657600"/>
            <a:ext cx="2743200" cy="73152"/>
          </a:xfrm>
          <a:prstGeom prst="roundRect">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833104" y="3803904"/>
            <a:ext cx="2414016" cy="365760"/>
          </a:xfrm>
          <a:prstGeom prst="rect">
            <a:avLst/>
          </a:prstGeom>
          <a:noFill/>
        </p:spPr>
        <p:txBody>
          <a:bodyPr wrap="square" anchor="t" lIns="0" rIns="0" tIns="0" bIns="0">
            <a:spAutoFit/>
          </a:bodyPr>
          <a:lstStyle/>
          <a:p>
            <a:pPr algn="l">
              <a:lnSpc>
                <a:spcPct val="100000"/>
              </a:lnSpc>
              <a:spcBef>
                <a:spcPts val="0"/>
              </a:spcBef>
              <a:spcAft>
                <a:spcPts val="400"/>
              </a:spcAft>
            </a:pPr>
            <a:r>
              <a:rPr sz="1300" b="1" i="0">
                <a:solidFill>
                  <a:srgbClr val="E8A33D"/>
                </a:solidFill>
                <a:latin typeface="Calibri"/>
              </a:rPr>
              <a:t>④ Clinical interpretability</a:t>
            </a:r>
          </a:p>
        </p:txBody>
      </p:sp>
      <p:sp>
        <p:nvSpPr>
          <p:cNvPr id="48" name="TextBox 47"/>
          <p:cNvSpPr txBox="1"/>
          <p:nvPr/>
        </p:nvSpPr>
        <p:spPr>
          <a:xfrm>
            <a:off x="8833104" y="4187952"/>
            <a:ext cx="2414016" cy="822960"/>
          </a:xfrm>
          <a:prstGeom prst="rect">
            <a:avLst/>
          </a:prstGeom>
          <a:noFill/>
        </p:spPr>
        <p:txBody>
          <a:bodyPr wrap="square" anchor="t" lIns="0" rIns="0" tIns="0" bIns="0">
            <a:spAutoFit/>
          </a:bodyPr>
          <a:lstStyle/>
          <a:p>
            <a:pPr algn="l">
              <a:lnSpc>
                <a:spcPct val="108000"/>
              </a:lnSpc>
              <a:spcBef>
                <a:spcPts val="0"/>
              </a:spcBef>
              <a:spcAft>
                <a:spcPts val="400"/>
              </a:spcAft>
            </a:pPr>
            <a:r>
              <a:rPr sz="1150" b="0" i="0">
                <a:solidFill>
                  <a:srgbClr val="1B2A38"/>
                </a:solidFill>
                <a:latin typeface="Calibri"/>
              </a:rPr>
              <a:t>explicit lesion mask + ROI shows the radiologist *where* — not just a label.</a:t>
            </a:r>
          </a:p>
        </p:txBody>
      </p:sp>
      <p:sp>
        <p:nvSpPr>
          <p:cNvPr id="49" name="Rounded Rectangle 48"/>
          <p:cNvSpPr/>
          <p:nvPr/>
        </p:nvSpPr>
        <p:spPr>
          <a:xfrm>
            <a:off x="5715000" y="4937760"/>
            <a:ext cx="5696712" cy="914400"/>
          </a:xfrm>
          <a:prstGeom prst="round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943600" y="4937760"/>
            <a:ext cx="5303520" cy="914400"/>
          </a:xfrm>
          <a:prstGeom prst="rect">
            <a:avLst/>
          </a:prstGeom>
          <a:noFill/>
        </p:spPr>
        <p:txBody>
          <a:bodyPr wrap="square" anchor="ctr" lIns="0" rIns="0" tIns="0" bIns="0">
            <a:spAutoFit/>
          </a:bodyPr>
          <a:lstStyle/>
          <a:p>
            <a:pPr algn="l">
              <a:lnSpc>
                <a:spcPct val="115000"/>
              </a:lnSpc>
              <a:spcBef>
                <a:spcPts val="0"/>
              </a:spcBef>
              <a:spcAft>
                <a:spcPts val="300"/>
              </a:spcAft>
            </a:pPr>
            <a:r>
              <a:rPr sz="1350" b="1" i="0">
                <a:solidFill>
                  <a:srgbClr val="E8A33D"/>
                </a:solidFill>
                <a:latin typeface="Calibri"/>
              </a:rPr>
              <a:t>Decision:</a:t>
            </a:r>
            <a:r>
              <a:rPr sz="1350" b="1" i="0">
                <a:solidFill>
                  <a:srgbClr val="FFFFFF"/>
                </a:solidFill>
                <a:latin typeface="Calibri"/>
              </a:rPr>
              <a:t> extend &amp; rigorously evaluate the dual-stage pipeline.</a:t>
            </a:r>
          </a:p>
          <a:p>
            <a:pPr algn="l">
              <a:lnSpc>
                <a:spcPct val="115000"/>
              </a:lnSpc>
              <a:spcBef>
                <a:spcPts val="0"/>
              </a:spcBef>
              <a:spcAft>
                <a:spcPts val="300"/>
              </a:spcAft>
            </a:pPr>
            <a:r>
              <a:rPr sz="1200" b="0" i="0">
                <a:solidFill>
                  <a:srgbClr val="CFE6EC"/>
                </a:solidFill>
                <a:latin typeface="Calibri"/>
              </a:rPr>
              <a:t>Stage 1 = our improved segmenter · Stage 2 = strengthened classifier.</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 y="475488"/>
            <a:ext cx="118872" cy="658368"/>
          </a:xfrm>
          <a:prstGeom prst="rect">
            <a:avLst/>
          </a:prstGeom>
          <a:solidFill>
            <a:srgbClr val="E159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457200"/>
            <a:ext cx="10789920" cy="320040"/>
          </a:xfrm>
          <a:prstGeom prst="rect">
            <a:avLst/>
          </a:prstGeom>
          <a:noFill/>
        </p:spPr>
        <p:txBody>
          <a:bodyPr wrap="square" anchor="t" lIns="0" rIns="0" tIns="0" bIns="0">
            <a:spAutoFit/>
          </a:bodyPr>
          <a:lstStyle/>
          <a:p>
            <a:pPr algn="l">
              <a:lnSpc>
                <a:spcPct val="100000"/>
              </a:lnSpc>
              <a:spcBef>
                <a:spcPts val="0"/>
              </a:spcBef>
              <a:spcAft>
                <a:spcPts val="400"/>
              </a:spcAft>
            </a:pPr>
            <a:r>
              <a:rPr sz="1250" b="1" i="0">
                <a:solidFill>
                  <a:srgbClr val="E1595B"/>
                </a:solidFill>
                <a:latin typeface="Calibri"/>
              </a:rPr>
              <a:t>4 · IMPROVEMENT</a:t>
            </a:r>
          </a:p>
        </p:txBody>
      </p:sp>
      <p:sp>
        <p:nvSpPr>
          <p:cNvPr id="6" name="TextBox 5"/>
          <p:cNvSpPr txBox="1"/>
          <p:nvPr/>
        </p:nvSpPr>
        <p:spPr>
          <a:xfrm>
            <a:off x="777240" y="713232"/>
            <a:ext cx="10881360" cy="566928"/>
          </a:xfrm>
          <a:prstGeom prst="rect">
            <a:avLst/>
          </a:prstGeom>
          <a:noFill/>
        </p:spPr>
        <p:txBody>
          <a:bodyPr wrap="square" anchor="t" lIns="0" rIns="0" tIns="0" bIns="0">
            <a:spAutoFit/>
          </a:bodyPr>
          <a:lstStyle/>
          <a:p>
            <a:pPr algn="l">
              <a:lnSpc>
                <a:spcPct val="100000"/>
              </a:lnSpc>
              <a:spcBef>
                <a:spcPts val="0"/>
              </a:spcBef>
              <a:spcAft>
                <a:spcPts val="400"/>
              </a:spcAft>
            </a:pPr>
            <a:r>
              <a:rPr sz="2500" b="1" i="0">
                <a:solidFill>
                  <a:srgbClr val="1B2A38"/>
                </a:solidFill>
                <a:latin typeface="Calibri"/>
              </a:rPr>
              <a:t>Improved segmenter: transfer learning first</a:t>
            </a:r>
          </a:p>
        </p:txBody>
      </p:sp>
      <p:sp>
        <p:nvSpPr>
          <p:cNvPr id="7" name="Rectangle 6"/>
          <p:cNvSpPr/>
          <p:nvPr/>
        </p:nvSpPr>
        <p:spPr>
          <a:xfrm>
            <a:off x="777240" y="1316736"/>
            <a:ext cx="10634472" cy="18288"/>
          </a:xfrm>
          <a:prstGeom prst="rect">
            <a:avLst/>
          </a:prstGeom>
          <a:solidFill>
            <a:srgbClr val="CBD8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73952"/>
            <a:ext cx="7315200" cy="274320"/>
          </a:xfrm>
          <a:prstGeom prst="rect">
            <a:avLst/>
          </a:prstGeom>
          <a:noFill/>
        </p:spPr>
        <p:txBody>
          <a:bodyPr wrap="square" anchor="t" lIns="0" rIns="0" tIns="0" bIns="0">
            <a:spAutoFit/>
          </a:bodyPr>
          <a:lstStyle/>
          <a:p>
            <a:pPr algn="l">
              <a:lnSpc>
                <a:spcPct val="100000"/>
              </a:lnSpc>
              <a:spcBef>
                <a:spcPts val="0"/>
              </a:spcBef>
              <a:spcAft>
                <a:spcPts val="400"/>
              </a:spcAft>
            </a:pPr>
            <a:r>
              <a:rPr sz="900" b="0" i="0">
                <a:solidFill>
                  <a:srgbClr val="8A94A6"/>
                </a:solidFill>
                <a:latin typeface="Calibri"/>
              </a:rPr>
              <a:t>COMP9444 · Group Project 047 · Breast Ultrasound (BUSI)</a:t>
            </a:r>
          </a:p>
        </p:txBody>
      </p:sp>
      <p:sp>
        <p:nvSpPr>
          <p:cNvPr id="9" name="TextBox 8"/>
          <p:cNvSpPr txBox="1"/>
          <p:nvPr/>
        </p:nvSpPr>
        <p:spPr>
          <a:xfrm>
            <a:off x="11064240" y="6473952"/>
            <a:ext cx="685800" cy="274320"/>
          </a:xfrm>
          <a:prstGeom prst="rect">
            <a:avLst/>
          </a:prstGeom>
          <a:noFill/>
        </p:spPr>
        <p:txBody>
          <a:bodyPr wrap="square" anchor="t" lIns="0" rIns="0" tIns="0" bIns="0">
            <a:spAutoFit/>
          </a:bodyPr>
          <a:lstStyle/>
          <a:p>
            <a:pPr algn="r">
              <a:lnSpc>
                <a:spcPct val="100000"/>
              </a:lnSpc>
              <a:spcBef>
                <a:spcPts val="0"/>
              </a:spcBef>
              <a:spcAft>
                <a:spcPts val="400"/>
              </a:spcAft>
            </a:pPr>
            <a:r>
              <a:rPr sz="900" b="1" i="0">
                <a:solidFill>
                  <a:srgbClr val="8A94A6"/>
                </a:solidFill>
                <a:latin typeface="Calibri"/>
              </a:rPr>
              <a:t>18</a:t>
            </a:r>
          </a:p>
        </p:txBody>
      </p:sp>
      <p:sp>
        <p:nvSpPr>
          <p:cNvPr id="10" name="TextBox 9"/>
          <p:cNvSpPr txBox="1"/>
          <p:nvPr/>
        </p:nvSpPr>
        <p:spPr>
          <a:xfrm>
            <a:off x="777240" y="1481328"/>
            <a:ext cx="10607040" cy="411480"/>
          </a:xfrm>
          <a:prstGeom prst="rect">
            <a:avLst/>
          </a:prstGeom>
          <a:noFill/>
        </p:spPr>
        <p:txBody>
          <a:bodyPr wrap="square" anchor="t" lIns="0" rIns="0" tIns="0" bIns="0">
            <a:spAutoFit/>
          </a:bodyPr>
          <a:lstStyle/>
          <a:p>
            <a:pPr algn="l">
              <a:lnSpc>
                <a:spcPct val="105000"/>
              </a:lnSpc>
              <a:spcBef>
                <a:spcPts val="0"/>
              </a:spcBef>
              <a:spcAft>
                <a:spcPts val="400"/>
              </a:spcAft>
            </a:pPr>
            <a:r>
              <a:rPr sz="1350" b="1" i="0">
                <a:solidFill>
                  <a:srgbClr val="E1595B"/>
                </a:solidFill>
                <a:latin typeface="Calibri"/>
              </a:rPr>
              <a:t>Insight from baselines: </a:t>
            </a:r>
            <a:r>
              <a:rPr sz="1350" b="0" i="0">
                <a:solidFill>
                  <a:srgbClr val="1B2A38"/>
                </a:solidFill>
                <a:latin typeface="Calibri"/>
              </a:rPr>
              <a:t>the only nets that used transfer learning (DeepLabV3+) beat the from-scratch ones. So we build a pretrained-encoder U-Net.</a:t>
            </a:r>
          </a:p>
        </p:txBody>
      </p:sp>
      <p:sp>
        <p:nvSpPr>
          <p:cNvPr id="11" name="Rounded Rectangle 10"/>
          <p:cNvSpPr/>
          <p:nvPr/>
        </p:nvSpPr>
        <p:spPr>
          <a:xfrm>
            <a:off x="777240" y="2103120"/>
            <a:ext cx="3401568" cy="2286000"/>
          </a:xfrm>
          <a:prstGeom prst="roundRect">
            <a:avLst/>
          </a:prstGeom>
          <a:solidFill>
            <a:srgbClr val="F1F6F8"/>
          </a:solidFill>
          <a:ln w="9525">
            <a:solidFill>
              <a:srgbClr val="CBD8DE"/>
            </a:solidFill>
          </a:ln>
          <a:effectLst/>
          <a:effectLst>
            <a:outerShdw blurRad="90000" dist="38100" dir="5400000" rotWithShape="0">
              <a:srgbClr val="1B2A38">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77240" y="2103120"/>
            <a:ext cx="3401568" cy="91440"/>
          </a:xfrm>
          <a:prstGeom prst="roundRect">
            <a:avLst/>
          </a:prstGeom>
          <a:solidFill>
            <a:srgbClr val="3AA6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78408" y="2286000"/>
            <a:ext cx="3017520" cy="640080"/>
          </a:xfrm>
          <a:prstGeom prst="rect">
            <a:avLst/>
          </a:prstGeom>
          <a:noFill/>
        </p:spPr>
        <p:txBody>
          <a:bodyPr wrap="square" anchor="t" lIns="0" rIns="0" tIns="0" bIns="0">
            <a:spAutoFit/>
          </a:bodyPr>
          <a:lstStyle/>
          <a:p>
            <a:pPr algn="l">
              <a:lnSpc>
                <a:spcPct val="100000"/>
              </a:lnSpc>
              <a:spcBef>
                <a:spcPts val="0"/>
              </a:spcBef>
              <a:spcAft>
                <a:spcPts val="400"/>
              </a:spcAft>
            </a:pPr>
            <a:r>
              <a:rPr sz="1350" b="1" i="0">
                <a:solidFill>
                  <a:srgbClr val="0E4D64"/>
                </a:solidFill>
                <a:latin typeface="Calibri"/>
              </a:rPr>
              <a:t>① Pretrained EffB4 encoder</a:t>
            </a:r>
          </a:p>
        </p:txBody>
      </p:sp>
      <p:sp>
        <p:nvSpPr>
          <p:cNvPr id="14" name="TextBox 13"/>
          <p:cNvSpPr txBox="1"/>
          <p:nvPr/>
        </p:nvSpPr>
        <p:spPr>
          <a:xfrm>
            <a:off x="978408" y="2971800"/>
            <a:ext cx="3017520" cy="1005840"/>
          </a:xfrm>
          <a:prstGeom prst="rect">
            <a:avLst/>
          </a:prstGeom>
          <a:noFill/>
        </p:spPr>
        <p:txBody>
          <a:bodyPr wrap="square" anchor="t" lIns="0" rIns="0" tIns="0" bIns="0">
            <a:spAutoFit/>
          </a:bodyPr>
          <a:lstStyle/>
          <a:p>
            <a:pPr algn="l">
              <a:lnSpc>
                <a:spcPct val="112000"/>
              </a:lnSpc>
              <a:spcBef>
                <a:spcPts val="0"/>
              </a:spcBef>
              <a:spcAft>
                <a:spcPts val="400"/>
              </a:spcAft>
            </a:pPr>
            <a:r>
              <a:rPr sz="1200" b="0" i="0">
                <a:solidFill>
                  <a:srgbClr val="1B2A38"/>
                </a:solidFill>
                <a:latin typeface="Calibri"/>
              </a:rPr>
              <a:t>ImageNet EfficientNet-B4 encoder + U-Net decoder (via smp).</a:t>
            </a:r>
          </a:p>
        </p:txBody>
      </p:sp>
      <p:sp>
        <p:nvSpPr>
          <p:cNvPr id="15" name="Rounded Rectangle 14"/>
          <p:cNvSpPr/>
          <p:nvPr/>
        </p:nvSpPr>
        <p:spPr>
          <a:xfrm>
            <a:off x="978408" y="3977639"/>
            <a:ext cx="2999232" cy="310896"/>
          </a:xfrm>
          <a:prstGeom prst="roundRect">
            <a:avLst/>
          </a:prstGeom>
          <a:solidFill>
            <a:srgbClr val="3AA6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78408" y="3977639"/>
            <a:ext cx="2999232" cy="310896"/>
          </a:xfrm>
          <a:prstGeom prst="rect">
            <a:avLst/>
          </a:prstGeom>
          <a:noFill/>
        </p:spPr>
        <p:txBody>
          <a:bodyPr wrap="square" anchor="ctr" lIns="0" rIns="0" tIns="0" bIns="0">
            <a:spAutoFit/>
          </a:bodyPr>
          <a:lstStyle/>
          <a:p>
            <a:pPr algn="ctr">
              <a:lnSpc>
                <a:spcPct val="100000"/>
              </a:lnSpc>
              <a:spcBef>
                <a:spcPts val="0"/>
              </a:spcBef>
              <a:spcAft>
                <a:spcPts val="400"/>
              </a:spcAft>
            </a:pPr>
            <a:r>
              <a:rPr sz="1050" b="1" i="0">
                <a:solidFill>
                  <a:srgbClr val="FFFFFF"/>
                </a:solidFill>
                <a:latin typeface="Calibri"/>
              </a:rPr>
              <a:t>the decisive ingredient</a:t>
            </a:r>
          </a:p>
        </p:txBody>
      </p:sp>
      <p:sp>
        <p:nvSpPr>
          <p:cNvPr id="17" name="Rounded Rectangle 16"/>
          <p:cNvSpPr/>
          <p:nvPr/>
        </p:nvSpPr>
        <p:spPr>
          <a:xfrm>
            <a:off x="4398264" y="2103120"/>
            <a:ext cx="3401568" cy="2286000"/>
          </a:xfrm>
          <a:prstGeom prst="roundRect">
            <a:avLst/>
          </a:prstGeom>
          <a:solidFill>
            <a:srgbClr val="F1F6F8"/>
          </a:solidFill>
          <a:ln w="9525">
            <a:solidFill>
              <a:srgbClr val="CBD8DE"/>
            </a:solidFill>
          </a:ln>
          <a:effectLst/>
          <a:effectLst>
            <a:outerShdw blurRad="90000" dist="38100" dir="5400000" rotWithShape="0">
              <a:srgbClr val="1B2A38">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4398264" y="2103120"/>
            <a:ext cx="3401568" cy="91440"/>
          </a:xfrm>
          <a:prstGeom prst="roundRect">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99431" y="2286000"/>
            <a:ext cx="3017520" cy="640080"/>
          </a:xfrm>
          <a:prstGeom prst="rect">
            <a:avLst/>
          </a:prstGeom>
          <a:noFill/>
        </p:spPr>
        <p:txBody>
          <a:bodyPr wrap="square" anchor="t" lIns="0" rIns="0" tIns="0" bIns="0">
            <a:spAutoFit/>
          </a:bodyPr>
          <a:lstStyle/>
          <a:p>
            <a:pPr algn="l">
              <a:lnSpc>
                <a:spcPct val="100000"/>
              </a:lnSpc>
              <a:spcBef>
                <a:spcPts val="0"/>
              </a:spcBef>
              <a:spcAft>
                <a:spcPts val="400"/>
              </a:spcAft>
            </a:pPr>
            <a:r>
              <a:rPr sz="1350" b="1" i="0">
                <a:solidFill>
                  <a:srgbClr val="0E4D64"/>
                </a:solidFill>
                <a:latin typeface="Calibri"/>
              </a:rPr>
              <a:t>② Focal Tversky + BCE loss</a:t>
            </a:r>
          </a:p>
        </p:txBody>
      </p:sp>
      <p:sp>
        <p:nvSpPr>
          <p:cNvPr id="20" name="TextBox 19"/>
          <p:cNvSpPr txBox="1"/>
          <p:nvPr/>
        </p:nvSpPr>
        <p:spPr>
          <a:xfrm>
            <a:off x="4599431" y="2971800"/>
            <a:ext cx="3017520" cy="1005840"/>
          </a:xfrm>
          <a:prstGeom prst="rect">
            <a:avLst/>
          </a:prstGeom>
          <a:noFill/>
        </p:spPr>
        <p:txBody>
          <a:bodyPr wrap="square" anchor="t" lIns="0" rIns="0" tIns="0" bIns="0">
            <a:spAutoFit/>
          </a:bodyPr>
          <a:lstStyle/>
          <a:p>
            <a:pPr algn="l">
              <a:lnSpc>
                <a:spcPct val="112000"/>
              </a:lnSpc>
              <a:spcBef>
                <a:spcPts val="0"/>
              </a:spcBef>
              <a:spcAft>
                <a:spcPts val="400"/>
              </a:spcAft>
            </a:pPr>
            <a:r>
              <a:rPr sz="1200" b="0" i="0">
                <a:solidFill>
                  <a:srgbClr val="1B2A38"/>
                </a:solidFill>
                <a:latin typeface="Calibri"/>
              </a:rPr>
              <a:t>penalises false negatives to attack the missed-lesion tail.</a:t>
            </a:r>
          </a:p>
        </p:txBody>
      </p:sp>
      <p:sp>
        <p:nvSpPr>
          <p:cNvPr id="21" name="Rounded Rectangle 20"/>
          <p:cNvSpPr/>
          <p:nvPr/>
        </p:nvSpPr>
        <p:spPr>
          <a:xfrm>
            <a:off x="4599431" y="3977639"/>
            <a:ext cx="2999232" cy="310896"/>
          </a:xfrm>
          <a:prstGeom prst="roundRect">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99431" y="3977639"/>
            <a:ext cx="2999232" cy="310896"/>
          </a:xfrm>
          <a:prstGeom prst="rect">
            <a:avLst/>
          </a:prstGeom>
          <a:noFill/>
        </p:spPr>
        <p:txBody>
          <a:bodyPr wrap="square" anchor="ctr" lIns="0" rIns="0" tIns="0" bIns="0">
            <a:spAutoFit/>
          </a:bodyPr>
          <a:lstStyle/>
          <a:p>
            <a:pPr algn="ctr">
              <a:lnSpc>
                <a:spcPct val="100000"/>
              </a:lnSpc>
              <a:spcBef>
                <a:spcPts val="0"/>
              </a:spcBef>
              <a:spcAft>
                <a:spcPts val="400"/>
              </a:spcAft>
            </a:pPr>
            <a:r>
              <a:rPr sz="1050" b="1" i="0">
                <a:solidFill>
                  <a:srgbClr val="FFFFFF"/>
                </a:solidFill>
                <a:latin typeface="Calibri"/>
              </a:rPr>
              <a:t>trades precision↔recall</a:t>
            </a:r>
          </a:p>
        </p:txBody>
      </p:sp>
      <p:sp>
        <p:nvSpPr>
          <p:cNvPr id="23" name="Rounded Rectangle 22"/>
          <p:cNvSpPr/>
          <p:nvPr/>
        </p:nvSpPr>
        <p:spPr>
          <a:xfrm>
            <a:off x="8019288" y="2103120"/>
            <a:ext cx="3401568" cy="2286000"/>
          </a:xfrm>
          <a:prstGeom prst="roundRect">
            <a:avLst/>
          </a:prstGeom>
          <a:solidFill>
            <a:srgbClr val="F1F6F8"/>
          </a:solidFill>
          <a:ln w="9525">
            <a:solidFill>
              <a:srgbClr val="CBD8DE"/>
            </a:solidFill>
          </a:ln>
          <a:effectLst/>
          <a:effectLst>
            <a:outerShdw blurRad="90000" dist="38100" dir="5400000" rotWithShape="0">
              <a:srgbClr val="1B2A38">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8019288" y="2103120"/>
            <a:ext cx="3401568" cy="91440"/>
          </a:xfrm>
          <a:prstGeom prst="roundRect">
            <a:avLst/>
          </a:prstGeom>
          <a:solidFill>
            <a:srgbClr val="8A94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20456" y="2286000"/>
            <a:ext cx="3017520" cy="640080"/>
          </a:xfrm>
          <a:prstGeom prst="rect">
            <a:avLst/>
          </a:prstGeom>
          <a:noFill/>
        </p:spPr>
        <p:txBody>
          <a:bodyPr wrap="square" anchor="t" lIns="0" rIns="0" tIns="0" bIns="0">
            <a:spAutoFit/>
          </a:bodyPr>
          <a:lstStyle/>
          <a:p>
            <a:pPr algn="l">
              <a:lnSpc>
                <a:spcPct val="100000"/>
              </a:lnSpc>
              <a:spcBef>
                <a:spcPts val="0"/>
              </a:spcBef>
              <a:spcAft>
                <a:spcPts val="400"/>
              </a:spcAft>
            </a:pPr>
            <a:r>
              <a:rPr sz="1350" b="1" i="0">
                <a:solidFill>
                  <a:srgbClr val="0E4D64"/>
                </a:solidFill>
                <a:latin typeface="Calibri"/>
              </a:rPr>
              <a:t>③ TTA + post-processing</a:t>
            </a:r>
          </a:p>
        </p:txBody>
      </p:sp>
      <p:sp>
        <p:nvSpPr>
          <p:cNvPr id="26" name="TextBox 25"/>
          <p:cNvSpPr txBox="1"/>
          <p:nvPr/>
        </p:nvSpPr>
        <p:spPr>
          <a:xfrm>
            <a:off x="8220456" y="2971800"/>
            <a:ext cx="3017520" cy="1005840"/>
          </a:xfrm>
          <a:prstGeom prst="rect">
            <a:avLst/>
          </a:prstGeom>
          <a:noFill/>
        </p:spPr>
        <p:txBody>
          <a:bodyPr wrap="square" anchor="t" lIns="0" rIns="0" tIns="0" bIns="0">
            <a:spAutoFit/>
          </a:bodyPr>
          <a:lstStyle/>
          <a:p>
            <a:pPr algn="l">
              <a:lnSpc>
                <a:spcPct val="112000"/>
              </a:lnSpc>
              <a:spcBef>
                <a:spcPts val="0"/>
              </a:spcBef>
              <a:spcAft>
                <a:spcPts val="400"/>
              </a:spcAft>
            </a:pPr>
            <a:r>
              <a:rPr sz="1200" b="0" i="0">
                <a:solidFill>
                  <a:srgbClr val="1B2A38"/>
                </a:solidFill>
                <a:latin typeface="Calibri"/>
              </a:rPr>
              <a:t>flip/multi-scale test-time aug + largest-connected-component.</a:t>
            </a:r>
          </a:p>
        </p:txBody>
      </p:sp>
      <p:sp>
        <p:nvSpPr>
          <p:cNvPr id="27" name="Rounded Rectangle 26"/>
          <p:cNvSpPr/>
          <p:nvPr/>
        </p:nvSpPr>
        <p:spPr>
          <a:xfrm>
            <a:off x="8220456" y="3977639"/>
            <a:ext cx="2999232" cy="310896"/>
          </a:xfrm>
          <a:prstGeom prst="roundRect">
            <a:avLst/>
          </a:prstGeom>
          <a:solidFill>
            <a:srgbClr val="8A94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0456" y="3977639"/>
            <a:ext cx="2999232" cy="310896"/>
          </a:xfrm>
          <a:prstGeom prst="rect">
            <a:avLst/>
          </a:prstGeom>
          <a:noFill/>
        </p:spPr>
        <p:txBody>
          <a:bodyPr wrap="square" anchor="ctr" lIns="0" rIns="0" tIns="0" bIns="0">
            <a:spAutoFit/>
          </a:bodyPr>
          <a:lstStyle/>
          <a:p>
            <a:pPr algn="ctr">
              <a:lnSpc>
                <a:spcPct val="100000"/>
              </a:lnSpc>
              <a:spcBef>
                <a:spcPts val="0"/>
              </a:spcBef>
              <a:spcAft>
                <a:spcPts val="400"/>
              </a:spcAft>
            </a:pPr>
            <a:r>
              <a:rPr sz="1050" b="1" i="0">
                <a:solidFill>
                  <a:srgbClr val="FFFFFF"/>
                </a:solidFill>
                <a:latin typeface="Calibri"/>
              </a:rPr>
              <a:t>no Dice gain here</a:t>
            </a:r>
          </a:p>
        </p:txBody>
      </p:sp>
      <p:pic>
        <p:nvPicPr>
          <p:cNvPr id="29" name="Picture 28" descr="Improved_PretrainedUNet_EffB4_examples.png"/>
          <p:cNvPicPr>
            <a:picLocks noChangeAspect="1"/>
          </p:cNvPicPr>
          <p:nvPr/>
        </p:nvPicPr>
        <p:blipFill>
          <a:blip r:embed="rId2"/>
          <a:stretch>
            <a:fillRect/>
          </a:stretch>
        </p:blipFill>
        <p:spPr>
          <a:xfrm>
            <a:off x="2400300" y="4572000"/>
            <a:ext cx="685800" cy="1371600"/>
          </a:xfrm>
          <a:prstGeom prst="rect">
            <a:avLst/>
          </a:prstGeom>
          <a:ln w="9525">
            <a:solidFill>
              <a:srgbClr val="CBD8DE"/>
            </a:solidFill>
          </a:ln>
        </p:spPr>
      </p:pic>
      <p:sp>
        <p:nvSpPr>
          <p:cNvPr id="30" name="Rounded Rectangle 29"/>
          <p:cNvSpPr/>
          <p:nvPr/>
        </p:nvSpPr>
        <p:spPr>
          <a:xfrm>
            <a:off x="4937760" y="4572000"/>
            <a:ext cx="6492240" cy="1371600"/>
          </a:xfrm>
          <a:prstGeom prst="roundRect">
            <a:avLst/>
          </a:prstGeom>
          <a:solidFill>
            <a:srgbClr val="E6EFF2"/>
          </a:solidFill>
          <a:ln w="9525">
            <a:solidFill>
              <a:srgbClr val="CBD8DE"/>
            </a:solidFill>
          </a:ln>
          <a:effectLst/>
          <a:effectLst>
            <a:outerShdw blurRad="90000" dist="38100" dir="5400000" rotWithShape="0">
              <a:srgbClr val="1B2A38">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166360" y="4709160"/>
            <a:ext cx="6035040" cy="365760"/>
          </a:xfrm>
          <a:prstGeom prst="rect">
            <a:avLst/>
          </a:prstGeom>
          <a:noFill/>
        </p:spPr>
        <p:txBody>
          <a:bodyPr wrap="square" anchor="t" lIns="0" rIns="0" tIns="0" bIns="0">
            <a:spAutoFit/>
          </a:bodyPr>
          <a:lstStyle/>
          <a:p>
            <a:pPr algn="l">
              <a:lnSpc>
                <a:spcPct val="100000"/>
              </a:lnSpc>
              <a:spcBef>
                <a:spcPts val="0"/>
              </a:spcBef>
              <a:spcAft>
                <a:spcPts val="400"/>
              </a:spcAft>
            </a:pPr>
            <a:r>
              <a:rPr sz="1300" b="1" i="0">
                <a:solidFill>
                  <a:srgbClr val="0E4D64"/>
                </a:solidFill>
                <a:latin typeface="Calibri"/>
              </a:rPr>
              <a:t>Every idea is tested in a controlled ablation →</a:t>
            </a:r>
          </a:p>
        </p:txBody>
      </p:sp>
      <p:sp>
        <p:nvSpPr>
          <p:cNvPr id="32" name="TextBox 31"/>
          <p:cNvSpPr txBox="1"/>
          <p:nvPr/>
        </p:nvSpPr>
        <p:spPr>
          <a:xfrm>
            <a:off x="5166360" y="5074920"/>
            <a:ext cx="6035040" cy="822960"/>
          </a:xfrm>
          <a:prstGeom prst="rect">
            <a:avLst/>
          </a:prstGeom>
          <a:noFill/>
        </p:spPr>
        <p:txBody>
          <a:bodyPr wrap="square" anchor="t" lIns="0" rIns="0" tIns="0" bIns="0">
            <a:spAutoFit/>
          </a:bodyPr>
          <a:lstStyle/>
          <a:p>
            <a:pPr algn="l">
              <a:lnSpc>
                <a:spcPct val="112000"/>
              </a:lnSpc>
              <a:spcBef>
                <a:spcPts val="0"/>
              </a:spcBef>
              <a:spcAft>
                <a:spcPts val="400"/>
              </a:spcAft>
            </a:pPr>
            <a:r>
              <a:rPr sz="1250" b="0" i="0">
                <a:solidFill>
                  <a:srgbClr val="1B2A38"/>
                </a:solidFill>
                <a:latin typeface="Calibri"/>
              </a:rPr>
              <a:t>We add one component at a time and measure test Dice, so we can attribute the gain precisely — not just claim it. </a:t>
            </a:r>
            <a:r>
              <a:rPr sz="1250" b="1" i="0">
                <a:solidFill>
                  <a:srgbClr val="E1595B"/>
                </a:solidFill>
                <a:latin typeface="Calibri"/>
              </a:rPr>
              <a:t>(Result on next slide.)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 y="475488"/>
            <a:ext cx="118872" cy="658368"/>
          </a:xfrm>
          <a:prstGeom prst="rect">
            <a:avLst/>
          </a:prstGeom>
          <a:solidFill>
            <a:srgbClr val="E159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457200"/>
            <a:ext cx="10789920" cy="320040"/>
          </a:xfrm>
          <a:prstGeom prst="rect">
            <a:avLst/>
          </a:prstGeom>
          <a:noFill/>
        </p:spPr>
        <p:txBody>
          <a:bodyPr wrap="square" anchor="t" lIns="0" rIns="0" tIns="0" bIns="0">
            <a:spAutoFit/>
          </a:bodyPr>
          <a:lstStyle/>
          <a:p>
            <a:pPr algn="l">
              <a:lnSpc>
                <a:spcPct val="100000"/>
              </a:lnSpc>
              <a:spcBef>
                <a:spcPts val="0"/>
              </a:spcBef>
              <a:spcAft>
                <a:spcPts val="400"/>
              </a:spcAft>
            </a:pPr>
            <a:r>
              <a:rPr sz="1250" b="1" i="0">
                <a:solidFill>
                  <a:srgbClr val="E1595B"/>
                </a:solidFill>
                <a:latin typeface="Calibri"/>
              </a:rPr>
              <a:t>4 · ABLATION</a:t>
            </a:r>
          </a:p>
        </p:txBody>
      </p:sp>
      <p:sp>
        <p:nvSpPr>
          <p:cNvPr id="6" name="TextBox 5"/>
          <p:cNvSpPr txBox="1"/>
          <p:nvPr/>
        </p:nvSpPr>
        <p:spPr>
          <a:xfrm>
            <a:off x="777240" y="713232"/>
            <a:ext cx="10881360" cy="566928"/>
          </a:xfrm>
          <a:prstGeom prst="rect">
            <a:avLst/>
          </a:prstGeom>
          <a:noFill/>
        </p:spPr>
        <p:txBody>
          <a:bodyPr wrap="square" anchor="t" lIns="0" rIns="0" tIns="0" bIns="0">
            <a:spAutoFit/>
          </a:bodyPr>
          <a:lstStyle/>
          <a:p>
            <a:pPr algn="l">
              <a:lnSpc>
                <a:spcPct val="100000"/>
              </a:lnSpc>
              <a:spcBef>
                <a:spcPts val="0"/>
              </a:spcBef>
              <a:spcAft>
                <a:spcPts val="400"/>
              </a:spcAft>
            </a:pPr>
            <a:r>
              <a:rPr sz="2500" b="1" i="0">
                <a:solidFill>
                  <a:srgbClr val="1B2A38"/>
                </a:solidFill>
                <a:latin typeface="Calibri"/>
              </a:rPr>
              <a:t>What actually makes the segmenter work?</a:t>
            </a:r>
          </a:p>
        </p:txBody>
      </p:sp>
      <p:sp>
        <p:nvSpPr>
          <p:cNvPr id="7" name="Rectangle 6"/>
          <p:cNvSpPr/>
          <p:nvPr/>
        </p:nvSpPr>
        <p:spPr>
          <a:xfrm>
            <a:off x="777240" y="1316736"/>
            <a:ext cx="10634472" cy="18288"/>
          </a:xfrm>
          <a:prstGeom prst="rect">
            <a:avLst/>
          </a:prstGeom>
          <a:solidFill>
            <a:srgbClr val="CBD8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73952"/>
            <a:ext cx="7315200" cy="274320"/>
          </a:xfrm>
          <a:prstGeom prst="rect">
            <a:avLst/>
          </a:prstGeom>
          <a:noFill/>
        </p:spPr>
        <p:txBody>
          <a:bodyPr wrap="square" anchor="t" lIns="0" rIns="0" tIns="0" bIns="0">
            <a:spAutoFit/>
          </a:bodyPr>
          <a:lstStyle/>
          <a:p>
            <a:pPr algn="l">
              <a:lnSpc>
                <a:spcPct val="100000"/>
              </a:lnSpc>
              <a:spcBef>
                <a:spcPts val="0"/>
              </a:spcBef>
              <a:spcAft>
                <a:spcPts val="400"/>
              </a:spcAft>
            </a:pPr>
            <a:r>
              <a:rPr sz="900" b="0" i="0">
                <a:solidFill>
                  <a:srgbClr val="8A94A6"/>
                </a:solidFill>
                <a:latin typeface="Calibri"/>
              </a:rPr>
              <a:t>COMP9444 · Group Project 047 · Breast Ultrasound (BUSI)</a:t>
            </a:r>
          </a:p>
        </p:txBody>
      </p:sp>
      <p:sp>
        <p:nvSpPr>
          <p:cNvPr id="9" name="TextBox 8"/>
          <p:cNvSpPr txBox="1"/>
          <p:nvPr/>
        </p:nvSpPr>
        <p:spPr>
          <a:xfrm>
            <a:off x="11064240" y="6473952"/>
            <a:ext cx="685800" cy="274320"/>
          </a:xfrm>
          <a:prstGeom prst="rect">
            <a:avLst/>
          </a:prstGeom>
          <a:noFill/>
        </p:spPr>
        <p:txBody>
          <a:bodyPr wrap="square" anchor="t" lIns="0" rIns="0" tIns="0" bIns="0">
            <a:spAutoFit/>
          </a:bodyPr>
          <a:lstStyle/>
          <a:p>
            <a:pPr algn="r">
              <a:lnSpc>
                <a:spcPct val="100000"/>
              </a:lnSpc>
              <a:spcBef>
                <a:spcPts val="0"/>
              </a:spcBef>
              <a:spcAft>
                <a:spcPts val="400"/>
              </a:spcAft>
            </a:pPr>
            <a:r>
              <a:rPr sz="900" b="1" i="0">
                <a:solidFill>
                  <a:srgbClr val="8A94A6"/>
                </a:solidFill>
                <a:latin typeface="Calibri"/>
              </a:rPr>
              <a:t>19</a:t>
            </a:r>
          </a:p>
        </p:txBody>
      </p:sp>
      <p:graphicFrame>
        <p:nvGraphicFramePr>
          <p:cNvPr id="10" name="Table 9"/>
          <p:cNvGraphicFramePr>
            <a:graphicFrameLocks noGrp="1"/>
          </p:cNvGraphicFramePr>
          <p:nvPr/>
        </p:nvGraphicFramePr>
        <p:xfrm>
          <a:off x="777240" y="1783080"/>
          <a:ext cx="6766560" cy="2468880"/>
        </p:xfrm>
        <a:graphic>
          <a:graphicData uri="http://schemas.openxmlformats.org/drawingml/2006/table">
            <a:tbl>
              <a:tblPr>
                <a:tableStyleId>{5C22544A-7EE6-4342-B048-85BDC9FD1C3A}</a:tableStyleId>
              </a:tblPr>
              <a:tblGrid>
                <a:gridCol w="3200400"/>
                <a:gridCol w="1188720"/>
                <a:gridCol w="1188720"/>
                <a:gridCol w="1188720"/>
              </a:tblGrid>
              <a:tr h="457200">
                <a:tc>
                  <a:txBody>
                    <a:bodyPr wrap="square"/>
                    <a:lstStyle/>
                    <a:p>
                      <a:pPr algn="l"/>
                      <a:r>
                        <a:rPr sz="1250" b="1">
                          <a:solidFill>
                            <a:srgbClr val="FFFFFF"/>
                          </a:solidFill>
                          <a:latin typeface="Calibri"/>
                        </a:rPr>
                        <a:t>Configuration (add one component each row)</a:t>
                      </a:r>
                    </a:p>
                  </a:txBody>
                  <a:tcPr marL="64008" marR="45720" marT="18288" marB="18288" anchor="ctr">
                    <a:solidFill>
                      <a:srgbClr val="0E4D64"/>
                    </a:solidFill>
                  </a:tcPr>
                </a:tc>
                <a:tc>
                  <a:txBody>
                    <a:bodyPr wrap="square"/>
                    <a:lstStyle/>
                    <a:p>
                      <a:pPr algn="ctr"/>
                      <a:r>
                        <a:rPr sz="1250" b="1">
                          <a:solidFill>
                            <a:srgbClr val="FFFFFF"/>
                          </a:solidFill>
                          <a:latin typeface="Calibri"/>
                        </a:rPr>
                        <a:t>Dice</a:t>
                      </a:r>
                    </a:p>
                  </a:txBody>
                  <a:tcPr marL="64008" marR="45720" marT="18288" marB="18288" anchor="ctr">
                    <a:solidFill>
                      <a:srgbClr val="0E4D64"/>
                    </a:solidFill>
                  </a:tcPr>
                </a:tc>
                <a:tc>
                  <a:txBody>
                    <a:bodyPr wrap="square"/>
                    <a:lstStyle/>
                    <a:p>
                      <a:pPr algn="ctr"/>
                      <a:r>
                        <a:rPr sz="1250" b="1">
                          <a:solidFill>
                            <a:srgbClr val="FFFFFF"/>
                          </a:solidFill>
                          <a:latin typeface="Calibri"/>
                        </a:rPr>
                        <a:t>Dice std</a:t>
                      </a:r>
                    </a:p>
                  </a:txBody>
                  <a:tcPr marL="64008" marR="45720" marT="18288" marB="18288" anchor="ctr">
                    <a:solidFill>
                      <a:srgbClr val="0E4D64"/>
                    </a:solidFill>
                  </a:tcPr>
                </a:tc>
                <a:tc>
                  <a:txBody>
                    <a:bodyPr wrap="square"/>
                    <a:lstStyle/>
                    <a:p>
                      <a:pPr algn="ctr"/>
                      <a:r>
                        <a:rPr sz="1250" b="1">
                          <a:solidFill>
                            <a:srgbClr val="FFFFFF"/>
                          </a:solidFill>
                          <a:latin typeface="Calibri"/>
                        </a:rPr>
                        <a:t>pixel recall</a:t>
                      </a:r>
                    </a:p>
                  </a:txBody>
                  <a:tcPr marL="64008" marR="45720" marT="18288" marB="18288" anchor="ctr">
                    <a:solidFill>
                      <a:srgbClr val="0E4D64"/>
                    </a:solidFill>
                  </a:tcPr>
                </a:tc>
              </a:tr>
              <a:tr h="502920">
                <a:tc>
                  <a:txBody>
                    <a:bodyPr wrap="square"/>
                    <a:lstStyle/>
                    <a:p>
                      <a:pPr algn="l"/>
                      <a:r>
                        <a:rPr sz="1250" b="0">
                          <a:solidFill>
                            <a:srgbClr val="1B2A38"/>
                          </a:solidFill>
                          <a:latin typeface="Calibri"/>
                        </a:rPr>
                        <a:t>From-scratch U-Net (Dice+BCE)</a:t>
                      </a:r>
                    </a:p>
                  </a:txBody>
                  <a:tcPr marL="64008" marR="45720" marT="18288" marB="18288" anchor="ctr">
                    <a:solidFill>
                      <a:srgbClr val="FFFFFF"/>
                    </a:solidFill>
                  </a:tcPr>
                </a:tc>
                <a:tc>
                  <a:txBody>
                    <a:bodyPr wrap="square"/>
                    <a:lstStyle/>
                    <a:p>
                      <a:pPr algn="ctr"/>
                      <a:r>
                        <a:rPr sz="1250" b="0">
                          <a:solidFill>
                            <a:srgbClr val="1B2A38"/>
                          </a:solidFill>
                          <a:latin typeface="Calibri"/>
                        </a:rPr>
                        <a:t>0.648</a:t>
                      </a:r>
                    </a:p>
                  </a:txBody>
                  <a:tcPr marL="64008" marR="45720" marT="18288" marB="18288" anchor="ctr">
                    <a:solidFill>
                      <a:srgbClr val="FFFFFF"/>
                    </a:solidFill>
                  </a:tcPr>
                </a:tc>
                <a:tc>
                  <a:txBody>
                    <a:bodyPr wrap="square"/>
                    <a:lstStyle/>
                    <a:p>
                      <a:pPr algn="ctr"/>
                      <a:r>
                        <a:rPr sz="1250" b="0">
                          <a:solidFill>
                            <a:srgbClr val="1B2A38"/>
                          </a:solidFill>
                          <a:latin typeface="Calibri"/>
                        </a:rPr>
                        <a:t>0.362</a:t>
                      </a:r>
                    </a:p>
                  </a:txBody>
                  <a:tcPr marL="64008" marR="45720" marT="18288" marB="18288" anchor="ctr">
                    <a:solidFill>
                      <a:srgbClr val="FFFFFF"/>
                    </a:solidFill>
                  </a:tcPr>
                </a:tc>
                <a:tc>
                  <a:txBody>
                    <a:bodyPr wrap="square"/>
                    <a:lstStyle/>
                    <a:p>
                      <a:pPr algn="ctr"/>
                      <a:r>
                        <a:rPr sz="1250" b="0">
                          <a:solidFill>
                            <a:srgbClr val="1B2A38"/>
                          </a:solidFill>
                          <a:latin typeface="Calibri"/>
                        </a:rPr>
                        <a:t>0.637</a:t>
                      </a:r>
                    </a:p>
                  </a:txBody>
                  <a:tcPr marL="64008" marR="45720" marT="18288" marB="18288" anchor="ctr">
                    <a:solidFill>
                      <a:srgbClr val="FFFFFF"/>
                    </a:solidFill>
                  </a:tcPr>
                </a:tc>
              </a:tr>
              <a:tr h="502920">
                <a:tc>
                  <a:txBody>
                    <a:bodyPr wrap="square"/>
                    <a:lstStyle/>
                    <a:p>
                      <a:pPr algn="l"/>
                      <a:r>
                        <a:rPr sz="1250" b="1">
                          <a:solidFill>
                            <a:srgbClr val="1B2A38"/>
                          </a:solidFill>
                          <a:latin typeface="Calibri"/>
                        </a:rPr>
                        <a:t>+ ImageNet-pretrained EffB4 encoder</a:t>
                      </a:r>
                    </a:p>
                  </a:txBody>
                  <a:tcPr marL="64008" marR="45720" marT="18288" marB="18288" anchor="ctr">
                    <a:solidFill>
                      <a:srgbClr val="FFF3D6"/>
                    </a:solidFill>
                  </a:tcPr>
                </a:tc>
                <a:tc>
                  <a:txBody>
                    <a:bodyPr wrap="square"/>
                    <a:lstStyle/>
                    <a:p>
                      <a:pPr algn="ctr"/>
                      <a:r>
                        <a:rPr sz="1250" b="1">
                          <a:solidFill>
                            <a:srgbClr val="1B2A38"/>
                          </a:solidFill>
                          <a:latin typeface="Calibri"/>
                        </a:rPr>
                        <a:t>0.765</a:t>
                      </a:r>
                    </a:p>
                  </a:txBody>
                  <a:tcPr marL="64008" marR="45720" marT="18288" marB="18288" anchor="ctr">
                    <a:solidFill>
                      <a:srgbClr val="FFF3D6"/>
                    </a:solidFill>
                  </a:tcPr>
                </a:tc>
                <a:tc>
                  <a:txBody>
                    <a:bodyPr wrap="square"/>
                    <a:lstStyle/>
                    <a:p>
                      <a:pPr algn="ctr"/>
                      <a:r>
                        <a:rPr sz="1250" b="1">
                          <a:solidFill>
                            <a:srgbClr val="1B2A38"/>
                          </a:solidFill>
                          <a:latin typeface="Calibri"/>
                        </a:rPr>
                        <a:t>0.285</a:t>
                      </a:r>
                    </a:p>
                  </a:txBody>
                  <a:tcPr marL="64008" marR="45720" marT="18288" marB="18288" anchor="ctr">
                    <a:solidFill>
                      <a:srgbClr val="FFF3D6"/>
                    </a:solidFill>
                  </a:tcPr>
                </a:tc>
                <a:tc>
                  <a:txBody>
                    <a:bodyPr wrap="square"/>
                    <a:lstStyle/>
                    <a:p>
                      <a:pPr algn="ctr"/>
                      <a:r>
                        <a:rPr sz="1250" b="1">
                          <a:solidFill>
                            <a:srgbClr val="1B2A38"/>
                          </a:solidFill>
                          <a:latin typeface="Calibri"/>
                        </a:rPr>
                        <a:t>0.763</a:t>
                      </a:r>
                    </a:p>
                  </a:txBody>
                  <a:tcPr marL="64008" marR="45720" marT="18288" marB="18288" anchor="ctr">
                    <a:solidFill>
                      <a:srgbClr val="FFF3D6"/>
                    </a:solidFill>
                  </a:tcPr>
                </a:tc>
              </a:tr>
              <a:tr h="502920">
                <a:tc>
                  <a:txBody>
                    <a:bodyPr wrap="square"/>
                    <a:lstStyle/>
                    <a:p>
                      <a:pPr algn="l"/>
                      <a:r>
                        <a:rPr sz="1250" b="0">
                          <a:solidFill>
                            <a:srgbClr val="1B2A38"/>
                          </a:solidFill>
                          <a:latin typeface="Calibri"/>
                        </a:rPr>
                        <a:t>+ Focal Tversky loss</a:t>
                      </a:r>
                    </a:p>
                  </a:txBody>
                  <a:tcPr marL="64008" marR="45720" marT="18288" marB="18288" anchor="ctr">
                    <a:solidFill>
                      <a:srgbClr val="FFFFFF"/>
                    </a:solidFill>
                  </a:tcPr>
                </a:tc>
                <a:tc>
                  <a:txBody>
                    <a:bodyPr wrap="square"/>
                    <a:lstStyle/>
                    <a:p>
                      <a:pPr algn="ctr"/>
                      <a:r>
                        <a:rPr sz="1250" b="0">
                          <a:solidFill>
                            <a:srgbClr val="1B2A38"/>
                          </a:solidFill>
                          <a:latin typeface="Calibri"/>
                        </a:rPr>
                        <a:t>0.760</a:t>
                      </a:r>
                    </a:p>
                  </a:txBody>
                  <a:tcPr marL="64008" marR="45720" marT="18288" marB="18288" anchor="ctr">
                    <a:solidFill>
                      <a:srgbClr val="FFFFFF"/>
                    </a:solidFill>
                  </a:tcPr>
                </a:tc>
                <a:tc>
                  <a:txBody>
                    <a:bodyPr wrap="square"/>
                    <a:lstStyle/>
                    <a:p>
                      <a:pPr algn="ctr"/>
                      <a:r>
                        <a:rPr sz="1250" b="0">
                          <a:solidFill>
                            <a:srgbClr val="1B2A38"/>
                          </a:solidFill>
                          <a:latin typeface="Calibri"/>
                        </a:rPr>
                        <a:t>0.282</a:t>
                      </a:r>
                    </a:p>
                  </a:txBody>
                  <a:tcPr marL="64008" marR="45720" marT="18288" marB="18288" anchor="ctr">
                    <a:solidFill>
                      <a:srgbClr val="FFFFFF"/>
                    </a:solidFill>
                  </a:tcPr>
                </a:tc>
                <a:tc>
                  <a:txBody>
                    <a:bodyPr wrap="square"/>
                    <a:lstStyle/>
                    <a:p>
                      <a:pPr algn="ctr"/>
                      <a:r>
                        <a:rPr sz="1250" b="0">
                          <a:solidFill>
                            <a:srgbClr val="1B2A38"/>
                          </a:solidFill>
                          <a:latin typeface="Calibri"/>
                        </a:rPr>
                        <a:t>0.800</a:t>
                      </a:r>
                    </a:p>
                  </a:txBody>
                  <a:tcPr marL="64008" marR="45720" marT="18288" marB="18288" anchor="ctr">
                    <a:solidFill>
                      <a:srgbClr val="FFFFFF"/>
                    </a:solidFill>
                  </a:tcPr>
                </a:tc>
              </a:tr>
              <a:tr h="502920">
                <a:tc>
                  <a:txBody>
                    <a:bodyPr wrap="square"/>
                    <a:lstStyle/>
                    <a:p>
                      <a:pPr algn="l"/>
                      <a:r>
                        <a:rPr sz="1250" b="0">
                          <a:solidFill>
                            <a:srgbClr val="1B2A38"/>
                          </a:solidFill>
                          <a:latin typeface="Calibri"/>
                        </a:rPr>
                        <a:t>+ TTA + post-processing (full model)</a:t>
                      </a:r>
                    </a:p>
                  </a:txBody>
                  <a:tcPr marL="64008" marR="45720" marT="18288" marB="18288" anchor="ctr">
                    <a:solidFill>
                      <a:srgbClr val="EEF3F5"/>
                    </a:solidFill>
                  </a:tcPr>
                </a:tc>
                <a:tc>
                  <a:txBody>
                    <a:bodyPr wrap="square"/>
                    <a:lstStyle/>
                    <a:p>
                      <a:pPr algn="ctr"/>
                      <a:r>
                        <a:rPr sz="1250" b="0">
                          <a:solidFill>
                            <a:srgbClr val="1B2A38"/>
                          </a:solidFill>
                          <a:latin typeface="Calibri"/>
                        </a:rPr>
                        <a:t>0.760</a:t>
                      </a:r>
                    </a:p>
                  </a:txBody>
                  <a:tcPr marL="64008" marR="45720" marT="18288" marB="18288" anchor="ctr">
                    <a:solidFill>
                      <a:srgbClr val="EEF3F5"/>
                    </a:solidFill>
                  </a:tcPr>
                </a:tc>
                <a:tc>
                  <a:txBody>
                    <a:bodyPr wrap="square"/>
                    <a:lstStyle/>
                    <a:p>
                      <a:pPr algn="ctr"/>
                      <a:r>
                        <a:rPr sz="1250" b="0">
                          <a:solidFill>
                            <a:srgbClr val="1B2A38"/>
                          </a:solidFill>
                          <a:latin typeface="Calibri"/>
                        </a:rPr>
                        <a:t>0.307</a:t>
                      </a:r>
                    </a:p>
                  </a:txBody>
                  <a:tcPr marL="64008" marR="45720" marT="18288" marB="18288" anchor="ctr">
                    <a:solidFill>
                      <a:srgbClr val="EEF3F5"/>
                    </a:solidFill>
                  </a:tcPr>
                </a:tc>
                <a:tc>
                  <a:txBody>
                    <a:bodyPr wrap="square"/>
                    <a:lstStyle/>
                    <a:p>
                      <a:pPr algn="ctr"/>
                      <a:r>
                        <a:rPr sz="1250" b="0">
                          <a:solidFill>
                            <a:srgbClr val="1B2A38"/>
                          </a:solidFill>
                          <a:latin typeface="Calibri"/>
                        </a:rPr>
                        <a:t>0.790</a:t>
                      </a:r>
                    </a:p>
                  </a:txBody>
                  <a:tcPr marL="64008" marR="45720" marT="18288" marB="18288" anchor="ctr">
                    <a:solidFill>
                      <a:srgbClr val="EEF3F5"/>
                    </a:solidFill>
                  </a:tcPr>
                </a:tc>
              </a:tr>
            </a:tbl>
          </a:graphicData>
        </a:graphic>
      </p:graphicFrame>
      <p:sp>
        <p:nvSpPr>
          <p:cNvPr id="11" name="Rounded Rectangle 10"/>
          <p:cNvSpPr/>
          <p:nvPr/>
        </p:nvSpPr>
        <p:spPr>
          <a:xfrm>
            <a:off x="7772400" y="1783080"/>
            <a:ext cx="3657600" cy="4160520"/>
          </a:xfrm>
          <a:prstGeom prst="roundRect">
            <a:avLst/>
          </a:prstGeom>
          <a:solidFill>
            <a:srgbClr val="F7E9E9"/>
          </a:solidFill>
          <a:ln w="9525">
            <a:solidFill>
              <a:srgbClr val="CBD8DE"/>
            </a:solidFill>
          </a:ln>
          <a:effectLst/>
          <a:effectLst>
            <a:outerShdw blurRad="90000" dist="38100" dir="5400000" rotWithShape="0">
              <a:srgbClr val="1B2A38">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73568" y="1938528"/>
            <a:ext cx="3291840" cy="365760"/>
          </a:xfrm>
          <a:prstGeom prst="rect">
            <a:avLst/>
          </a:prstGeom>
          <a:noFill/>
        </p:spPr>
        <p:txBody>
          <a:bodyPr wrap="square" anchor="t" lIns="0" rIns="0" tIns="0" bIns="0">
            <a:spAutoFit/>
          </a:bodyPr>
          <a:lstStyle/>
          <a:p>
            <a:pPr algn="l">
              <a:lnSpc>
                <a:spcPct val="100000"/>
              </a:lnSpc>
              <a:spcBef>
                <a:spcPts val="0"/>
              </a:spcBef>
              <a:spcAft>
                <a:spcPts val="400"/>
              </a:spcAft>
            </a:pPr>
            <a:r>
              <a:rPr sz="1400" b="1" i="0">
                <a:solidFill>
                  <a:srgbClr val="E1595B"/>
                </a:solidFill>
                <a:latin typeface="Calibri"/>
              </a:rPr>
              <a:t>Verdict</a:t>
            </a:r>
          </a:p>
        </p:txBody>
      </p:sp>
      <p:sp>
        <p:nvSpPr>
          <p:cNvPr id="13" name="TextBox 12"/>
          <p:cNvSpPr txBox="1"/>
          <p:nvPr/>
        </p:nvSpPr>
        <p:spPr>
          <a:xfrm>
            <a:off x="7973568" y="2377440"/>
            <a:ext cx="3291840" cy="3474720"/>
          </a:xfrm>
          <a:prstGeom prst="rect">
            <a:avLst/>
          </a:prstGeom>
          <a:noFill/>
        </p:spPr>
        <p:txBody>
          <a:bodyPr wrap="square" lIns="0" rIns="0" tIns="0" bIns="0">
            <a:spAutoFit/>
          </a:bodyPr>
          <a:lstStyle/>
          <a:p>
            <a:pPr>
              <a:lnSpc>
                <a:spcPct val="102000"/>
              </a:lnSpc>
              <a:spcBef>
                <a:spcPts val="0"/>
              </a:spcBef>
              <a:spcAft>
                <a:spcPts val="1100"/>
              </a:spcAft>
            </a:pPr>
            <a:r>
              <a:rPr sz="1250" b="1">
                <a:solidFill>
                  <a:srgbClr val="E1595B"/>
                </a:solidFill>
                <a:latin typeface="Calibri"/>
              </a:rPr>
              <a:t>•  </a:t>
            </a:r>
            <a:r>
              <a:rPr sz="1250" b="1">
                <a:solidFill>
                  <a:srgbClr val="0E4D64"/>
                </a:solidFill>
                <a:latin typeface="Calibri"/>
              </a:rPr>
              <a:t>Pretrained encoder = </a:t>
            </a:r>
            <a:r>
              <a:rPr sz="1250" b="0">
                <a:solidFill>
                  <a:srgbClr val="1B2A38"/>
                </a:solidFill>
                <a:latin typeface="Calibri"/>
              </a:rPr>
              <a:t>+0.117 Dice, and far fewer completely-missed lesions (std 0.362→0.285).</a:t>
            </a:r>
          </a:p>
          <a:p>
            <a:pPr>
              <a:lnSpc>
                <a:spcPct val="102000"/>
              </a:lnSpc>
              <a:spcBef>
                <a:spcPts val="0"/>
              </a:spcBef>
              <a:spcAft>
                <a:spcPts val="1100"/>
              </a:spcAft>
            </a:pPr>
            <a:r>
              <a:rPr sz="1150">
                <a:solidFill>
                  <a:srgbClr val="45596B"/>
                </a:solidFill>
                <a:latin typeface="Calibri"/>
              </a:rPr>
              <a:t>      –  </a:t>
            </a:r>
            <a:r>
              <a:rPr sz="1150" b="0">
                <a:solidFill>
                  <a:srgbClr val="45596B"/>
                </a:solidFill>
                <a:latin typeface="Calibri"/>
              </a:rPr>
              <a:t>essentially the ENTIRE gain.</a:t>
            </a:r>
          </a:p>
          <a:p>
            <a:pPr>
              <a:lnSpc>
                <a:spcPct val="102000"/>
              </a:lnSpc>
              <a:spcBef>
                <a:spcPts val="0"/>
              </a:spcBef>
              <a:spcAft>
                <a:spcPts val="1100"/>
              </a:spcAft>
            </a:pPr>
            <a:r>
              <a:rPr sz="1250" b="1">
                <a:solidFill>
                  <a:srgbClr val="E1595B"/>
                </a:solidFill>
                <a:latin typeface="Calibri"/>
              </a:rPr>
              <a:t>•  </a:t>
            </a:r>
            <a:r>
              <a:rPr sz="1250" b="1">
                <a:solidFill>
                  <a:srgbClr val="0E4D64"/>
                </a:solidFill>
                <a:latin typeface="Calibri"/>
              </a:rPr>
              <a:t>Focal Tversky: </a:t>
            </a:r>
            <a:r>
              <a:rPr sz="1250" b="0">
                <a:solidFill>
                  <a:srgbClr val="1B2A38"/>
                </a:solidFill>
                <a:latin typeface="Calibri"/>
              </a:rPr>
              <a:t>no overall Dice gain, but raises recall 0.76→0.80 — a precision/recall knob.</a:t>
            </a:r>
          </a:p>
          <a:p>
            <a:pPr>
              <a:lnSpc>
                <a:spcPct val="102000"/>
              </a:lnSpc>
              <a:spcBef>
                <a:spcPts val="0"/>
              </a:spcBef>
              <a:spcAft>
                <a:spcPts val="1100"/>
              </a:spcAft>
            </a:pPr>
            <a:r>
              <a:rPr sz="1250" b="1">
                <a:solidFill>
                  <a:srgbClr val="E1595B"/>
                </a:solidFill>
                <a:latin typeface="Calibri"/>
              </a:rPr>
              <a:t>•  </a:t>
            </a:r>
            <a:r>
              <a:rPr sz="1250" b="1">
                <a:solidFill>
                  <a:srgbClr val="0E4D64"/>
                </a:solidFill>
                <a:latin typeface="Calibri"/>
              </a:rPr>
              <a:t>TTA + post-proc: </a:t>
            </a:r>
            <a:r>
              <a:rPr sz="1250" b="0">
                <a:solidFill>
                  <a:srgbClr val="1B2A38"/>
                </a:solidFill>
                <a:latin typeface="Calibri"/>
              </a:rPr>
              <a:t>no measurable Dice gain on this data.</a:t>
            </a:r>
          </a:p>
        </p:txBody>
      </p:sp>
      <p:sp>
        <p:nvSpPr>
          <p:cNvPr id="14" name="TextBox 13"/>
          <p:cNvSpPr txBox="1"/>
          <p:nvPr/>
        </p:nvSpPr>
        <p:spPr>
          <a:xfrm>
            <a:off x="777240" y="5806440"/>
            <a:ext cx="6766560" cy="457200"/>
          </a:xfrm>
          <a:prstGeom prst="rect">
            <a:avLst/>
          </a:prstGeom>
          <a:noFill/>
        </p:spPr>
        <p:txBody>
          <a:bodyPr wrap="square" anchor="t" lIns="0" rIns="0" tIns="0" bIns="0">
            <a:spAutoFit/>
          </a:bodyPr>
          <a:lstStyle/>
          <a:p>
            <a:pPr algn="l">
              <a:lnSpc>
                <a:spcPct val="100000"/>
              </a:lnSpc>
              <a:spcBef>
                <a:spcPts val="0"/>
              </a:spcBef>
              <a:spcAft>
                <a:spcPts val="400"/>
              </a:spcAft>
            </a:pPr>
            <a:r>
              <a:rPr sz="1300" b="1" i="0">
                <a:solidFill>
                  <a:srgbClr val="E1595B"/>
                </a:solidFill>
                <a:latin typeface="Calibri"/>
              </a:rPr>
              <a:t>Lesson: </a:t>
            </a:r>
            <a:r>
              <a:rPr sz="1300" b="1" i="0">
                <a:solidFill>
                  <a:srgbClr val="1B2A38"/>
                </a:solidFill>
                <a:latin typeface="Calibri"/>
              </a:rPr>
              <a:t>on small, noisy BUSI, transfer learning beats architectural/loss cleverness.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 y="475488"/>
            <a:ext cx="118872" cy="658368"/>
          </a:xfrm>
          <a:prstGeom prst="rect">
            <a:avLst/>
          </a:prstGeom>
          <a:solidFill>
            <a:srgbClr val="E159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457200"/>
            <a:ext cx="10789920" cy="320040"/>
          </a:xfrm>
          <a:prstGeom prst="rect">
            <a:avLst/>
          </a:prstGeom>
          <a:noFill/>
        </p:spPr>
        <p:txBody>
          <a:bodyPr wrap="square" anchor="t" lIns="0" rIns="0" tIns="0" bIns="0">
            <a:spAutoFit/>
          </a:bodyPr>
          <a:lstStyle/>
          <a:p>
            <a:pPr algn="l">
              <a:lnSpc>
                <a:spcPct val="100000"/>
              </a:lnSpc>
              <a:spcBef>
                <a:spcPts val="0"/>
              </a:spcBef>
              <a:spcAft>
                <a:spcPts val="400"/>
              </a:spcAft>
            </a:pPr>
            <a:r>
              <a:rPr sz="1250" b="1" i="0">
                <a:solidFill>
                  <a:srgbClr val="E1595B"/>
                </a:solidFill>
                <a:latin typeface="Calibri"/>
              </a:rPr>
              <a:t>4 · IMPROVEMENT</a:t>
            </a:r>
          </a:p>
        </p:txBody>
      </p:sp>
      <p:sp>
        <p:nvSpPr>
          <p:cNvPr id="6" name="TextBox 5"/>
          <p:cNvSpPr txBox="1"/>
          <p:nvPr/>
        </p:nvSpPr>
        <p:spPr>
          <a:xfrm>
            <a:off x="777240" y="713232"/>
            <a:ext cx="10881360" cy="566928"/>
          </a:xfrm>
          <a:prstGeom prst="rect">
            <a:avLst/>
          </a:prstGeom>
          <a:noFill/>
        </p:spPr>
        <p:txBody>
          <a:bodyPr wrap="square" anchor="t" lIns="0" rIns="0" tIns="0" bIns="0">
            <a:spAutoFit/>
          </a:bodyPr>
          <a:lstStyle/>
          <a:p>
            <a:pPr algn="l">
              <a:lnSpc>
                <a:spcPct val="100000"/>
              </a:lnSpc>
              <a:spcBef>
                <a:spcPts val="0"/>
              </a:spcBef>
              <a:spcAft>
                <a:spcPts val="400"/>
              </a:spcAft>
            </a:pPr>
            <a:r>
              <a:rPr sz="2500" b="1" i="0">
                <a:solidFill>
                  <a:srgbClr val="1B2A38"/>
                </a:solidFill>
                <a:latin typeface="Calibri"/>
              </a:rPr>
              <a:t>Improved dual-stage pipeline</a:t>
            </a:r>
          </a:p>
        </p:txBody>
      </p:sp>
      <p:sp>
        <p:nvSpPr>
          <p:cNvPr id="7" name="Rectangle 6"/>
          <p:cNvSpPr/>
          <p:nvPr/>
        </p:nvSpPr>
        <p:spPr>
          <a:xfrm>
            <a:off x="777240" y="1316736"/>
            <a:ext cx="10634472" cy="18288"/>
          </a:xfrm>
          <a:prstGeom prst="rect">
            <a:avLst/>
          </a:prstGeom>
          <a:solidFill>
            <a:srgbClr val="CBD8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73952"/>
            <a:ext cx="7315200" cy="274320"/>
          </a:xfrm>
          <a:prstGeom prst="rect">
            <a:avLst/>
          </a:prstGeom>
          <a:noFill/>
        </p:spPr>
        <p:txBody>
          <a:bodyPr wrap="square" anchor="t" lIns="0" rIns="0" tIns="0" bIns="0">
            <a:spAutoFit/>
          </a:bodyPr>
          <a:lstStyle/>
          <a:p>
            <a:pPr algn="l">
              <a:lnSpc>
                <a:spcPct val="100000"/>
              </a:lnSpc>
              <a:spcBef>
                <a:spcPts val="0"/>
              </a:spcBef>
              <a:spcAft>
                <a:spcPts val="400"/>
              </a:spcAft>
            </a:pPr>
            <a:r>
              <a:rPr sz="900" b="0" i="0">
                <a:solidFill>
                  <a:srgbClr val="8A94A6"/>
                </a:solidFill>
                <a:latin typeface="Calibri"/>
              </a:rPr>
              <a:t>COMP9444 · Group Project 047 · Breast Ultrasound (BUSI)</a:t>
            </a:r>
          </a:p>
        </p:txBody>
      </p:sp>
      <p:sp>
        <p:nvSpPr>
          <p:cNvPr id="9" name="TextBox 8"/>
          <p:cNvSpPr txBox="1"/>
          <p:nvPr/>
        </p:nvSpPr>
        <p:spPr>
          <a:xfrm>
            <a:off x="11064240" y="6473952"/>
            <a:ext cx="685800" cy="274320"/>
          </a:xfrm>
          <a:prstGeom prst="rect">
            <a:avLst/>
          </a:prstGeom>
          <a:noFill/>
        </p:spPr>
        <p:txBody>
          <a:bodyPr wrap="square" anchor="t" lIns="0" rIns="0" tIns="0" bIns="0">
            <a:spAutoFit/>
          </a:bodyPr>
          <a:lstStyle/>
          <a:p>
            <a:pPr algn="r">
              <a:lnSpc>
                <a:spcPct val="100000"/>
              </a:lnSpc>
              <a:spcBef>
                <a:spcPts val="0"/>
              </a:spcBef>
              <a:spcAft>
                <a:spcPts val="400"/>
              </a:spcAft>
            </a:pPr>
            <a:r>
              <a:rPr sz="900" b="1" i="0">
                <a:solidFill>
                  <a:srgbClr val="8A94A6"/>
                </a:solidFill>
                <a:latin typeface="Calibri"/>
              </a:rPr>
              <a:t>20</a:t>
            </a:r>
          </a:p>
        </p:txBody>
      </p:sp>
      <p:sp>
        <p:nvSpPr>
          <p:cNvPr id="10" name="Rounded Rectangle 9"/>
          <p:cNvSpPr/>
          <p:nvPr/>
        </p:nvSpPr>
        <p:spPr>
          <a:xfrm>
            <a:off x="658368" y="1783080"/>
            <a:ext cx="1965960" cy="1234440"/>
          </a:xfrm>
          <a:prstGeom prst="roundRect">
            <a:avLst/>
          </a:prstGeom>
          <a:solidFill>
            <a:srgbClr val="8A94A6"/>
          </a:solidFill>
          <a:ln>
            <a:noFill/>
          </a:ln>
          <a:effectLst/>
          <a:effectLst>
            <a:outerShdw blurRad="90000" dist="38100" dir="5400000" rotWithShape="0">
              <a:srgbClr val="1B2A38">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8" y="1911095"/>
            <a:ext cx="1783080" cy="731520"/>
          </a:xfrm>
          <a:prstGeom prst="rect">
            <a:avLst/>
          </a:prstGeom>
          <a:noFill/>
        </p:spPr>
        <p:txBody>
          <a:bodyPr wrap="square" anchor="t" lIns="0" rIns="0" tIns="0" bIns="0">
            <a:spAutoFit/>
          </a:bodyPr>
          <a:lstStyle/>
          <a:p>
            <a:pPr algn="ctr">
              <a:lnSpc>
                <a:spcPct val="100000"/>
              </a:lnSpc>
              <a:spcBef>
                <a:spcPts val="0"/>
              </a:spcBef>
              <a:spcAft>
                <a:spcPts val="400"/>
              </a:spcAft>
            </a:pPr>
            <a:r>
              <a:rPr sz="1250" b="1" i="0">
                <a:solidFill>
                  <a:srgbClr val="FFFFFF"/>
                </a:solidFill>
                <a:latin typeface="Calibri"/>
              </a:rPr>
              <a:t>Input US</a:t>
            </a:r>
          </a:p>
          <a:p>
            <a:pPr algn="ctr">
              <a:lnSpc>
                <a:spcPct val="100000"/>
              </a:lnSpc>
              <a:spcBef>
                <a:spcPts val="0"/>
              </a:spcBef>
              <a:spcAft>
                <a:spcPts val="400"/>
              </a:spcAft>
            </a:pPr>
            <a:r>
              <a:rPr sz="1300" b="1" i="0">
                <a:solidFill>
                  <a:srgbClr val="FFFFFF"/>
                </a:solidFill>
                <a:latin typeface="Calibri"/>
              </a:rPr>
              <a:t>image</a:t>
            </a:r>
          </a:p>
        </p:txBody>
      </p:sp>
      <p:sp>
        <p:nvSpPr>
          <p:cNvPr id="12" name="TextBox 11"/>
          <p:cNvSpPr txBox="1"/>
          <p:nvPr/>
        </p:nvSpPr>
        <p:spPr>
          <a:xfrm>
            <a:off x="731519" y="2624328"/>
            <a:ext cx="1819656" cy="365760"/>
          </a:xfrm>
          <a:prstGeom prst="rect">
            <a:avLst/>
          </a:prstGeom>
          <a:noFill/>
        </p:spPr>
        <p:txBody>
          <a:bodyPr wrap="square" anchor="t" lIns="0" rIns="0" tIns="0" bIns="0">
            <a:spAutoFit/>
          </a:bodyPr>
          <a:lstStyle/>
          <a:p>
            <a:pPr algn="ctr">
              <a:lnSpc>
                <a:spcPct val="95000"/>
              </a:lnSpc>
              <a:spcBef>
                <a:spcPts val="0"/>
              </a:spcBef>
              <a:spcAft>
                <a:spcPts val="400"/>
              </a:spcAft>
            </a:pPr>
            <a:r>
              <a:rPr sz="1000" b="0" i="1">
                <a:solidFill>
                  <a:srgbClr val="EAF3F5"/>
                </a:solidFill>
                <a:latin typeface="Calibri"/>
              </a:rPr>
              <a:t>256×256 grayscale</a:t>
            </a:r>
          </a:p>
        </p:txBody>
      </p:sp>
      <p:sp>
        <p:nvSpPr>
          <p:cNvPr id="13" name="Right Arrow 12"/>
          <p:cNvSpPr/>
          <p:nvPr/>
        </p:nvSpPr>
        <p:spPr>
          <a:xfrm>
            <a:off x="2628900" y="2281428"/>
            <a:ext cx="283464" cy="237744"/>
          </a:xfrm>
          <a:prstGeom prst="rightArrow">
            <a:avLst/>
          </a:prstGeom>
          <a:solidFill>
            <a:srgbClr val="4559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2916935" y="1783080"/>
            <a:ext cx="1965960" cy="1234440"/>
          </a:xfrm>
          <a:prstGeom prst="roundRect">
            <a:avLst/>
          </a:prstGeom>
          <a:solidFill>
            <a:srgbClr val="3AA655"/>
          </a:solidFill>
          <a:ln>
            <a:noFill/>
          </a:ln>
          <a:effectLst/>
          <a:effectLst>
            <a:outerShdw blurRad="90000" dist="38100" dir="5400000" rotWithShape="0">
              <a:srgbClr val="1B2A38">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008375" y="1911095"/>
            <a:ext cx="1783080" cy="731520"/>
          </a:xfrm>
          <a:prstGeom prst="rect">
            <a:avLst/>
          </a:prstGeom>
          <a:noFill/>
        </p:spPr>
        <p:txBody>
          <a:bodyPr wrap="square" anchor="t" lIns="0" rIns="0" tIns="0" bIns="0">
            <a:spAutoFit/>
          </a:bodyPr>
          <a:lstStyle/>
          <a:p>
            <a:pPr algn="ctr">
              <a:lnSpc>
                <a:spcPct val="100000"/>
              </a:lnSpc>
              <a:spcBef>
                <a:spcPts val="0"/>
              </a:spcBef>
              <a:spcAft>
                <a:spcPts val="400"/>
              </a:spcAft>
            </a:pPr>
            <a:r>
              <a:rPr sz="1250" b="1" i="0">
                <a:solidFill>
                  <a:srgbClr val="FFFFFF"/>
                </a:solidFill>
                <a:latin typeface="Calibri"/>
              </a:rPr>
              <a:t>STAGE 1</a:t>
            </a:r>
          </a:p>
          <a:p>
            <a:pPr algn="ctr">
              <a:lnSpc>
                <a:spcPct val="100000"/>
              </a:lnSpc>
              <a:spcBef>
                <a:spcPts val="0"/>
              </a:spcBef>
              <a:spcAft>
                <a:spcPts val="400"/>
              </a:spcAft>
            </a:pPr>
            <a:r>
              <a:rPr sz="1300" b="1" i="0">
                <a:solidFill>
                  <a:srgbClr val="FFFFFF"/>
                </a:solidFill>
                <a:latin typeface="Calibri"/>
              </a:rPr>
              <a:t>Improved U-Net</a:t>
            </a:r>
          </a:p>
        </p:txBody>
      </p:sp>
      <p:sp>
        <p:nvSpPr>
          <p:cNvPr id="16" name="TextBox 15"/>
          <p:cNvSpPr txBox="1"/>
          <p:nvPr/>
        </p:nvSpPr>
        <p:spPr>
          <a:xfrm>
            <a:off x="2990087" y="2624328"/>
            <a:ext cx="1819656" cy="365760"/>
          </a:xfrm>
          <a:prstGeom prst="rect">
            <a:avLst/>
          </a:prstGeom>
          <a:noFill/>
        </p:spPr>
        <p:txBody>
          <a:bodyPr wrap="square" anchor="t" lIns="0" rIns="0" tIns="0" bIns="0">
            <a:spAutoFit/>
          </a:bodyPr>
          <a:lstStyle/>
          <a:p>
            <a:pPr algn="ctr">
              <a:lnSpc>
                <a:spcPct val="95000"/>
              </a:lnSpc>
              <a:spcBef>
                <a:spcPts val="0"/>
              </a:spcBef>
              <a:spcAft>
                <a:spcPts val="400"/>
              </a:spcAft>
            </a:pPr>
            <a:r>
              <a:rPr sz="1000" b="0" i="1">
                <a:solidFill>
                  <a:srgbClr val="EAF3F5"/>
                </a:solidFill>
                <a:latin typeface="Calibri"/>
              </a:rPr>
              <a:t>EffB4 encoder → mask</a:t>
            </a:r>
          </a:p>
        </p:txBody>
      </p:sp>
      <p:sp>
        <p:nvSpPr>
          <p:cNvPr id="17" name="Right Arrow 16"/>
          <p:cNvSpPr/>
          <p:nvPr/>
        </p:nvSpPr>
        <p:spPr>
          <a:xfrm>
            <a:off x="4887468" y="2281428"/>
            <a:ext cx="283464" cy="237744"/>
          </a:xfrm>
          <a:prstGeom prst="rightArrow">
            <a:avLst/>
          </a:prstGeom>
          <a:solidFill>
            <a:srgbClr val="4559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5175503" y="1783080"/>
            <a:ext cx="1965960" cy="1234440"/>
          </a:xfrm>
          <a:prstGeom prst="roundRect">
            <a:avLst/>
          </a:prstGeom>
          <a:solidFill>
            <a:srgbClr val="E8A33D"/>
          </a:solidFill>
          <a:ln>
            <a:noFill/>
          </a:ln>
          <a:effectLst/>
          <a:effectLst>
            <a:outerShdw blurRad="90000" dist="38100" dir="5400000" rotWithShape="0">
              <a:srgbClr val="1B2A38">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266943" y="1911095"/>
            <a:ext cx="1783080" cy="731520"/>
          </a:xfrm>
          <a:prstGeom prst="rect">
            <a:avLst/>
          </a:prstGeom>
          <a:noFill/>
        </p:spPr>
        <p:txBody>
          <a:bodyPr wrap="square" anchor="t" lIns="0" rIns="0" tIns="0" bIns="0">
            <a:spAutoFit/>
          </a:bodyPr>
          <a:lstStyle/>
          <a:p>
            <a:pPr algn="ctr">
              <a:lnSpc>
                <a:spcPct val="100000"/>
              </a:lnSpc>
              <a:spcBef>
                <a:spcPts val="0"/>
              </a:spcBef>
              <a:spcAft>
                <a:spcPts val="400"/>
              </a:spcAft>
            </a:pPr>
            <a:r>
              <a:rPr sz="1250" b="1" i="0">
                <a:solidFill>
                  <a:srgbClr val="FFFFFF"/>
                </a:solidFill>
                <a:latin typeface="Calibri"/>
              </a:rPr>
              <a:t>ROI extract</a:t>
            </a:r>
          </a:p>
        </p:txBody>
      </p:sp>
      <p:sp>
        <p:nvSpPr>
          <p:cNvPr id="20" name="TextBox 19"/>
          <p:cNvSpPr txBox="1"/>
          <p:nvPr/>
        </p:nvSpPr>
        <p:spPr>
          <a:xfrm>
            <a:off x="5248655" y="2624328"/>
            <a:ext cx="1819656" cy="365760"/>
          </a:xfrm>
          <a:prstGeom prst="rect">
            <a:avLst/>
          </a:prstGeom>
          <a:noFill/>
        </p:spPr>
        <p:txBody>
          <a:bodyPr wrap="square" anchor="t" lIns="0" rIns="0" tIns="0" bIns="0">
            <a:spAutoFit/>
          </a:bodyPr>
          <a:lstStyle/>
          <a:p>
            <a:pPr algn="ctr">
              <a:lnSpc>
                <a:spcPct val="95000"/>
              </a:lnSpc>
              <a:spcBef>
                <a:spcPts val="0"/>
              </a:spcBef>
              <a:spcAft>
                <a:spcPts val="400"/>
              </a:spcAft>
            </a:pPr>
            <a:r>
              <a:rPr sz="1000" b="0" i="1">
                <a:solidFill>
                  <a:srgbClr val="EAF3F5"/>
                </a:solidFill>
                <a:latin typeface="Calibri"/>
              </a:rPr>
              <a:t>largest CC · bbox +15% crop</a:t>
            </a:r>
          </a:p>
        </p:txBody>
      </p:sp>
      <p:sp>
        <p:nvSpPr>
          <p:cNvPr id="21" name="Right Arrow 20"/>
          <p:cNvSpPr/>
          <p:nvPr/>
        </p:nvSpPr>
        <p:spPr>
          <a:xfrm>
            <a:off x="7146035" y="2281428"/>
            <a:ext cx="283464" cy="237744"/>
          </a:xfrm>
          <a:prstGeom prst="rightArrow">
            <a:avLst/>
          </a:prstGeom>
          <a:solidFill>
            <a:srgbClr val="4559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434071" y="1783080"/>
            <a:ext cx="1965960" cy="1234440"/>
          </a:xfrm>
          <a:prstGeom prst="roundRect">
            <a:avLst/>
          </a:prstGeom>
          <a:solidFill>
            <a:srgbClr val="0E4D64"/>
          </a:solidFill>
          <a:ln>
            <a:noFill/>
          </a:ln>
          <a:effectLst/>
          <a:effectLst>
            <a:outerShdw blurRad="90000" dist="38100" dir="5400000" rotWithShape="0">
              <a:srgbClr val="1B2A38">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525511" y="1911095"/>
            <a:ext cx="1783080" cy="731520"/>
          </a:xfrm>
          <a:prstGeom prst="rect">
            <a:avLst/>
          </a:prstGeom>
          <a:noFill/>
        </p:spPr>
        <p:txBody>
          <a:bodyPr wrap="square" anchor="t" lIns="0" rIns="0" tIns="0" bIns="0">
            <a:spAutoFit/>
          </a:bodyPr>
          <a:lstStyle/>
          <a:p>
            <a:pPr algn="ctr">
              <a:lnSpc>
                <a:spcPct val="100000"/>
              </a:lnSpc>
              <a:spcBef>
                <a:spcPts val="0"/>
              </a:spcBef>
              <a:spcAft>
                <a:spcPts val="400"/>
              </a:spcAft>
            </a:pPr>
            <a:r>
              <a:rPr sz="1250" b="1" i="0">
                <a:solidFill>
                  <a:srgbClr val="FFFFFF"/>
                </a:solidFill>
                <a:latin typeface="Calibri"/>
              </a:rPr>
              <a:t>STAGE 2</a:t>
            </a:r>
          </a:p>
          <a:p>
            <a:pPr algn="ctr">
              <a:lnSpc>
                <a:spcPct val="100000"/>
              </a:lnSpc>
              <a:spcBef>
                <a:spcPts val="0"/>
              </a:spcBef>
              <a:spcAft>
                <a:spcPts val="400"/>
              </a:spcAft>
            </a:pPr>
            <a:r>
              <a:rPr sz="1300" b="1" i="0">
                <a:solidFill>
                  <a:srgbClr val="FFFFFF"/>
                </a:solidFill>
                <a:latin typeface="Calibri"/>
              </a:rPr>
              <a:t>EfficientNet-B0</a:t>
            </a:r>
          </a:p>
        </p:txBody>
      </p:sp>
      <p:sp>
        <p:nvSpPr>
          <p:cNvPr id="24" name="TextBox 23"/>
          <p:cNvSpPr txBox="1"/>
          <p:nvPr/>
        </p:nvSpPr>
        <p:spPr>
          <a:xfrm>
            <a:off x="7507223" y="2624328"/>
            <a:ext cx="1819656" cy="365760"/>
          </a:xfrm>
          <a:prstGeom prst="rect">
            <a:avLst/>
          </a:prstGeom>
          <a:noFill/>
        </p:spPr>
        <p:txBody>
          <a:bodyPr wrap="square" anchor="t" lIns="0" rIns="0" tIns="0" bIns="0">
            <a:spAutoFit/>
          </a:bodyPr>
          <a:lstStyle/>
          <a:p>
            <a:pPr algn="ctr">
              <a:lnSpc>
                <a:spcPct val="95000"/>
              </a:lnSpc>
              <a:spcBef>
                <a:spcPts val="0"/>
              </a:spcBef>
              <a:spcAft>
                <a:spcPts val="400"/>
              </a:spcAft>
            </a:pPr>
            <a:r>
              <a:rPr sz="1000" b="0" i="1">
                <a:solidFill>
                  <a:srgbClr val="EAF3F5"/>
                </a:solidFill>
                <a:latin typeface="Calibri"/>
              </a:rPr>
              <a:t>classify the ROI crop</a:t>
            </a:r>
          </a:p>
        </p:txBody>
      </p:sp>
      <p:sp>
        <p:nvSpPr>
          <p:cNvPr id="25" name="Right Arrow 24"/>
          <p:cNvSpPr/>
          <p:nvPr/>
        </p:nvSpPr>
        <p:spPr>
          <a:xfrm>
            <a:off x="9404604" y="2281428"/>
            <a:ext cx="283464" cy="237744"/>
          </a:xfrm>
          <a:prstGeom prst="rightArrow">
            <a:avLst/>
          </a:prstGeom>
          <a:solidFill>
            <a:srgbClr val="4559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9692640" y="1783080"/>
            <a:ext cx="1965960" cy="1234440"/>
          </a:xfrm>
          <a:prstGeom prst="roundRect">
            <a:avLst/>
          </a:prstGeom>
          <a:solidFill>
            <a:srgbClr val="E1595B"/>
          </a:solidFill>
          <a:ln>
            <a:noFill/>
          </a:ln>
          <a:effectLst/>
          <a:effectLst>
            <a:outerShdw blurRad="90000" dist="38100" dir="5400000" rotWithShape="0">
              <a:srgbClr val="1B2A38">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784080" y="1911095"/>
            <a:ext cx="1783080" cy="731520"/>
          </a:xfrm>
          <a:prstGeom prst="rect">
            <a:avLst/>
          </a:prstGeom>
          <a:noFill/>
        </p:spPr>
        <p:txBody>
          <a:bodyPr wrap="square" anchor="t" lIns="0" rIns="0" tIns="0" bIns="0">
            <a:spAutoFit/>
          </a:bodyPr>
          <a:lstStyle/>
          <a:p>
            <a:pPr algn="ctr">
              <a:lnSpc>
                <a:spcPct val="100000"/>
              </a:lnSpc>
              <a:spcBef>
                <a:spcPts val="0"/>
              </a:spcBef>
              <a:spcAft>
                <a:spcPts val="400"/>
              </a:spcAft>
            </a:pPr>
            <a:r>
              <a:rPr sz="1250" b="1" i="0">
                <a:solidFill>
                  <a:srgbClr val="FFFFFF"/>
                </a:solidFill>
                <a:latin typeface="Calibri"/>
              </a:rPr>
              <a:t>Benign /</a:t>
            </a:r>
          </a:p>
          <a:p>
            <a:pPr algn="ctr">
              <a:lnSpc>
                <a:spcPct val="100000"/>
              </a:lnSpc>
              <a:spcBef>
                <a:spcPts val="0"/>
              </a:spcBef>
              <a:spcAft>
                <a:spcPts val="400"/>
              </a:spcAft>
            </a:pPr>
            <a:r>
              <a:rPr sz="1300" b="1" i="0">
                <a:solidFill>
                  <a:srgbClr val="FFFFFF"/>
                </a:solidFill>
                <a:latin typeface="Calibri"/>
              </a:rPr>
              <a:t>Malignant</a:t>
            </a:r>
          </a:p>
        </p:txBody>
      </p:sp>
      <p:sp>
        <p:nvSpPr>
          <p:cNvPr id="28" name="TextBox 27"/>
          <p:cNvSpPr txBox="1"/>
          <p:nvPr/>
        </p:nvSpPr>
        <p:spPr>
          <a:xfrm>
            <a:off x="9765792" y="2624328"/>
            <a:ext cx="1819656" cy="365760"/>
          </a:xfrm>
          <a:prstGeom prst="rect">
            <a:avLst/>
          </a:prstGeom>
          <a:noFill/>
        </p:spPr>
        <p:txBody>
          <a:bodyPr wrap="square" anchor="t" lIns="0" rIns="0" tIns="0" bIns="0">
            <a:spAutoFit/>
          </a:bodyPr>
          <a:lstStyle/>
          <a:p>
            <a:pPr algn="ctr">
              <a:lnSpc>
                <a:spcPct val="95000"/>
              </a:lnSpc>
              <a:spcBef>
                <a:spcPts val="0"/>
              </a:spcBef>
              <a:spcAft>
                <a:spcPts val="400"/>
              </a:spcAft>
            </a:pPr>
            <a:r>
              <a:rPr sz="1000" b="0" i="1">
                <a:solidFill>
                  <a:srgbClr val="EAF3F5"/>
                </a:solidFill>
                <a:latin typeface="Calibri"/>
              </a:rPr>
              <a:t>+ optional shape features</a:t>
            </a:r>
          </a:p>
        </p:txBody>
      </p:sp>
      <p:sp>
        <p:nvSpPr>
          <p:cNvPr id="29" name="TextBox 28"/>
          <p:cNvSpPr txBox="1"/>
          <p:nvPr/>
        </p:nvSpPr>
        <p:spPr>
          <a:xfrm>
            <a:off x="658368" y="3154680"/>
            <a:ext cx="10698480" cy="365760"/>
          </a:xfrm>
          <a:prstGeom prst="rect">
            <a:avLst/>
          </a:prstGeom>
          <a:noFill/>
        </p:spPr>
        <p:txBody>
          <a:bodyPr wrap="square" anchor="t" lIns="0" rIns="0" tIns="0" bIns="0">
            <a:spAutoFit/>
          </a:bodyPr>
          <a:lstStyle/>
          <a:p>
            <a:pPr algn="l">
              <a:lnSpc>
                <a:spcPct val="100000"/>
              </a:lnSpc>
              <a:spcBef>
                <a:spcPts val="0"/>
              </a:spcBef>
              <a:spcAft>
                <a:spcPts val="400"/>
              </a:spcAft>
            </a:pPr>
            <a:r>
              <a:rPr sz="1250" b="1" i="0">
                <a:solidFill>
                  <a:srgbClr val="E1595B"/>
                </a:solidFill>
                <a:latin typeface="Calibri"/>
              </a:rPr>
              <a:t>Controlled substitution: </a:t>
            </a:r>
            <a:r>
              <a:rPr sz="1250" b="0" i="0">
                <a:solidFill>
                  <a:srgbClr val="1B2A38"/>
                </a:solidFill>
                <a:latin typeface="Calibri"/>
              </a:rPr>
              <a:t>Stage-1 swapped for our stronger segmenter; Stage-2 kept byte-for-byte → any change is attributable to segmentation alone.</a:t>
            </a:r>
          </a:p>
        </p:txBody>
      </p:sp>
      <p:sp>
        <p:nvSpPr>
          <p:cNvPr id="30" name="Rounded Rectangle 29"/>
          <p:cNvSpPr/>
          <p:nvPr/>
        </p:nvSpPr>
        <p:spPr>
          <a:xfrm>
            <a:off x="658368" y="3703320"/>
            <a:ext cx="10744200" cy="2148840"/>
          </a:xfrm>
          <a:prstGeom prst="roundRect">
            <a:avLst/>
          </a:prstGeom>
          <a:solidFill>
            <a:srgbClr val="F1F6F8"/>
          </a:solidFill>
          <a:ln w="9525">
            <a:solidFill>
              <a:srgbClr val="CBD8DE"/>
            </a:solidFill>
          </a:ln>
          <a:effectLst/>
          <a:effectLst>
            <a:outerShdw blurRad="90000" dist="38100" dir="5400000" rotWithShape="0">
              <a:srgbClr val="1B2A38">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68680" y="3840480"/>
            <a:ext cx="10332720" cy="365760"/>
          </a:xfrm>
          <a:prstGeom prst="rect">
            <a:avLst/>
          </a:prstGeom>
          <a:noFill/>
        </p:spPr>
        <p:txBody>
          <a:bodyPr wrap="square" anchor="t" lIns="0" rIns="0" tIns="0" bIns="0">
            <a:spAutoFit/>
          </a:bodyPr>
          <a:lstStyle/>
          <a:p>
            <a:pPr algn="l">
              <a:lnSpc>
                <a:spcPct val="100000"/>
              </a:lnSpc>
              <a:spcBef>
                <a:spcPts val="0"/>
              </a:spcBef>
              <a:spcAft>
                <a:spcPts val="400"/>
              </a:spcAft>
            </a:pPr>
            <a:r>
              <a:rPr sz="1400" b="1" i="0">
                <a:solidFill>
                  <a:srgbClr val="0E4D64"/>
                </a:solidFill>
                <a:latin typeface="Calibri"/>
              </a:rPr>
              <a:t>Rigorous evaluation — the part most papers skip</a:t>
            </a:r>
          </a:p>
        </p:txBody>
      </p:sp>
      <p:sp>
        <p:nvSpPr>
          <p:cNvPr id="32" name="Rounded Rectangle 31"/>
          <p:cNvSpPr/>
          <p:nvPr/>
        </p:nvSpPr>
        <p:spPr>
          <a:xfrm>
            <a:off x="868680" y="4251960"/>
            <a:ext cx="3291840" cy="1417320"/>
          </a:xfrm>
          <a:prstGeom prst="roundRect">
            <a:avLst/>
          </a:prstGeom>
          <a:solidFill>
            <a:srgbClr val="FFFFFF"/>
          </a:solidFill>
          <a:ln w="15240">
            <a:solidFill>
              <a:srgbClr val="1F8A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868680" y="4251960"/>
            <a:ext cx="3291840" cy="73152"/>
          </a:xfrm>
          <a:prstGeom prst="roundRect">
            <a:avLst/>
          </a:prstGeom>
          <a:solidFill>
            <a:srgbClr val="1F8A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33271" y="4389120"/>
            <a:ext cx="2971800" cy="365760"/>
          </a:xfrm>
          <a:prstGeom prst="rect">
            <a:avLst/>
          </a:prstGeom>
          <a:noFill/>
        </p:spPr>
        <p:txBody>
          <a:bodyPr wrap="square" anchor="t" lIns="0" rIns="0" tIns="0" bIns="0">
            <a:spAutoFit/>
          </a:bodyPr>
          <a:lstStyle/>
          <a:p>
            <a:pPr algn="l">
              <a:lnSpc>
                <a:spcPct val="100000"/>
              </a:lnSpc>
              <a:spcBef>
                <a:spcPts val="0"/>
              </a:spcBef>
              <a:spcAft>
                <a:spcPts val="400"/>
              </a:spcAft>
            </a:pPr>
            <a:r>
              <a:rPr sz="1250" b="1" i="0">
                <a:solidFill>
                  <a:srgbClr val="1F8AA6"/>
                </a:solidFill>
                <a:latin typeface="Calibri"/>
              </a:rPr>
              <a:t>Out-of-fold masks</a:t>
            </a:r>
          </a:p>
        </p:txBody>
      </p:sp>
      <p:sp>
        <p:nvSpPr>
          <p:cNvPr id="35" name="TextBox 34"/>
          <p:cNvSpPr txBox="1"/>
          <p:nvPr/>
        </p:nvSpPr>
        <p:spPr>
          <a:xfrm>
            <a:off x="1033271" y="4773168"/>
            <a:ext cx="2971800" cy="868680"/>
          </a:xfrm>
          <a:prstGeom prst="rect">
            <a:avLst/>
          </a:prstGeom>
          <a:noFill/>
        </p:spPr>
        <p:txBody>
          <a:bodyPr wrap="square" anchor="t" lIns="0" rIns="0" tIns="0" bIns="0">
            <a:spAutoFit/>
          </a:bodyPr>
          <a:lstStyle/>
          <a:p>
            <a:pPr algn="l">
              <a:lnSpc>
                <a:spcPct val="108000"/>
              </a:lnSpc>
              <a:spcBef>
                <a:spcPts val="0"/>
              </a:spcBef>
              <a:spcAft>
                <a:spcPts val="400"/>
              </a:spcAft>
            </a:pPr>
            <a:r>
              <a:rPr sz="1100" b="0" i="0">
                <a:solidFill>
                  <a:srgbClr val="1B2A38"/>
                </a:solidFill>
                <a:latin typeface="Calibri"/>
              </a:rPr>
              <a:t>5-fold cross-fitting: each training image's mask comes from a segmenter that never saw it (no train/test mismatch).</a:t>
            </a:r>
          </a:p>
        </p:txBody>
      </p:sp>
      <p:sp>
        <p:nvSpPr>
          <p:cNvPr id="36" name="Rounded Rectangle 35"/>
          <p:cNvSpPr/>
          <p:nvPr/>
        </p:nvSpPr>
        <p:spPr>
          <a:xfrm>
            <a:off x="4389120" y="4251960"/>
            <a:ext cx="3291840" cy="1417320"/>
          </a:xfrm>
          <a:prstGeom prst="roundRect">
            <a:avLst/>
          </a:prstGeom>
          <a:solidFill>
            <a:srgbClr val="FFFFFF"/>
          </a:solidFill>
          <a:ln w="15240">
            <a:solidFill>
              <a:srgbClr val="3AA6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4389120" y="4251960"/>
            <a:ext cx="3291840" cy="73152"/>
          </a:xfrm>
          <a:prstGeom prst="roundRect">
            <a:avLst/>
          </a:prstGeom>
          <a:solidFill>
            <a:srgbClr val="3AA6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553712" y="4389120"/>
            <a:ext cx="2971800" cy="365760"/>
          </a:xfrm>
          <a:prstGeom prst="rect">
            <a:avLst/>
          </a:prstGeom>
          <a:noFill/>
        </p:spPr>
        <p:txBody>
          <a:bodyPr wrap="square" anchor="t" lIns="0" rIns="0" tIns="0" bIns="0">
            <a:spAutoFit/>
          </a:bodyPr>
          <a:lstStyle/>
          <a:p>
            <a:pPr algn="l">
              <a:lnSpc>
                <a:spcPct val="100000"/>
              </a:lnSpc>
              <a:spcBef>
                <a:spcPts val="0"/>
              </a:spcBef>
              <a:spcAft>
                <a:spcPts val="400"/>
              </a:spcAft>
            </a:pPr>
            <a:r>
              <a:rPr sz="1250" b="1" i="0">
                <a:solidFill>
                  <a:srgbClr val="3AA655"/>
                </a:solidFill>
                <a:latin typeface="Calibri"/>
              </a:rPr>
              <a:t>5-seed ensemble</a:t>
            </a:r>
          </a:p>
        </p:txBody>
      </p:sp>
      <p:sp>
        <p:nvSpPr>
          <p:cNvPr id="39" name="TextBox 38"/>
          <p:cNvSpPr txBox="1"/>
          <p:nvPr/>
        </p:nvSpPr>
        <p:spPr>
          <a:xfrm>
            <a:off x="4553712" y="4773168"/>
            <a:ext cx="2971800" cy="868680"/>
          </a:xfrm>
          <a:prstGeom prst="rect">
            <a:avLst/>
          </a:prstGeom>
          <a:noFill/>
        </p:spPr>
        <p:txBody>
          <a:bodyPr wrap="square" anchor="t" lIns="0" rIns="0" tIns="0" bIns="0">
            <a:spAutoFit/>
          </a:bodyPr>
          <a:lstStyle/>
          <a:p>
            <a:pPr algn="l">
              <a:lnSpc>
                <a:spcPct val="108000"/>
              </a:lnSpc>
              <a:spcBef>
                <a:spcPts val="0"/>
              </a:spcBef>
              <a:spcAft>
                <a:spcPts val="400"/>
              </a:spcAft>
            </a:pPr>
            <a:r>
              <a:rPr sz="1100" b="0" i="0">
                <a:solidFill>
                  <a:srgbClr val="1B2A38"/>
                </a:solidFill>
                <a:latin typeface="Calibri"/>
              </a:rPr>
              <a:t>every configuration run with 5 seeds and ensembled — kills single-run luck.</a:t>
            </a:r>
          </a:p>
        </p:txBody>
      </p:sp>
      <p:sp>
        <p:nvSpPr>
          <p:cNvPr id="40" name="Rounded Rectangle 39"/>
          <p:cNvSpPr/>
          <p:nvPr/>
        </p:nvSpPr>
        <p:spPr>
          <a:xfrm>
            <a:off x="7909560" y="4251960"/>
            <a:ext cx="3291840" cy="1417320"/>
          </a:xfrm>
          <a:prstGeom prst="roundRect">
            <a:avLst/>
          </a:prstGeom>
          <a:solidFill>
            <a:srgbClr val="FFFFFF"/>
          </a:solidFill>
          <a:ln w="15240">
            <a:solidFill>
              <a:srgbClr val="E159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7909560" y="4251960"/>
            <a:ext cx="3291840" cy="73152"/>
          </a:xfrm>
          <a:prstGeom prst="roundRect">
            <a:avLst/>
          </a:prstGeom>
          <a:solidFill>
            <a:srgbClr val="E159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074152" y="4389120"/>
            <a:ext cx="2971800" cy="365760"/>
          </a:xfrm>
          <a:prstGeom prst="rect">
            <a:avLst/>
          </a:prstGeom>
          <a:noFill/>
        </p:spPr>
        <p:txBody>
          <a:bodyPr wrap="square" anchor="t" lIns="0" rIns="0" tIns="0" bIns="0">
            <a:spAutoFit/>
          </a:bodyPr>
          <a:lstStyle/>
          <a:p>
            <a:pPr algn="l">
              <a:lnSpc>
                <a:spcPct val="100000"/>
              </a:lnSpc>
              <a:spcBef>
                <a:spcPts val="0"/>
              </a:spcBef>
              <a:spcAft>
                <a:spcPts val="400"/>
              </a:spcAft>
            </a:pPr>
            <a:r>
              <a:rPr sz="1250" b="1" i="0">
                <a:solidFill>
                  <a:srgbClr val="E1595B"/>
                </a:solidFill>
                <a:latin typeface="Calibri"/>
              </a:rPr>
              <a:t>Bootstrap 95% CI</a:t>
            </a:r>
          </a:p>
        </p:txBody>
      </p:sp>
      <p:sp>
        <p:nvSpPr>
          <p:cNvPr id="43" name="TextBox 42"/>
          <p:cNvSpPr txBox="1"/>
          <p:nvPr/>
        </p:nvSpPr>
        <p:spPr>
          <a:xfrm>
            <a:off x="8074152" y="4773168"/>
            <a:ext cx="2971800" cy="868680"/>
          </a:xfrm>
          <a:prstGeom prst="rect">
            <a:avLst/>
          </a:prstGeom>
          <a:noFill/>
        </p:spPr>
        <p:txBody>
          <a:bodyPr wrap="square" anchor="t" lIns="0" rIns="0" tIns="0" bIns="0">
            <a:spAutoFit/>
          </a:bodyPr>
          <a:lstStyle/>
          <a:p>
            <a:pPr algn="l">
              <a:lnSpc>
                <a:spcPct val="108000"/>
              </a:lnSpc>
              <a:spcBef>
                <a:spcPts val="0"/>
              </a:spcBef>
              <a:spcAft>
                <a:spcPts val="400"/>
              </a:spcAft>
            </a:pPr>
            <a:r>
              <a:rPr sz="1100" b="0" i="0">
                <a:solidFill>
                  <a:srgbClr val="1B2A38"/>
                </a:solidFill>
                <a:latin typeface="Calibri"/>
              </a:rPr>
              <a:t>confidence interval on the 98-image test set — is a difference real or just noise?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 y="475488"/>
            <a:ext cx="118872" cy="658368"/>
          </a:xfrm>
          <a:prstGeom prst="rect">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457200"/>
            <a:ext cx="10789920" cy="320040"/>
          </a:xfrm>
          <a:prstGeom prst="rect">
            <a:avLst/>
          </a:prstGeom>
          <a:noFill/>
        </p:spPr>
        <p:txBody>
          <a:bodyPr wrap="square" anchor="t" lIns="0" rIns="0" tIns="0" bIns="0">
            <a:spAutoFit/>
          </a:bodyPr>
          <a:lstStyle/>
          <a:p>
            <a:pPr algn="l">
              <a:lnSpc>
                <a:spcPct val="100000"/>
              </a:lnSpc>
              <a:spcBef>
                <a:spcPts val="0"/>
              </a:spcBef>
              <a:spcAft>
                <a:spcPts val="400"/>
              </a:spcAft>
            </a:pPr>
            <a:r>
              <a:rPr sz="1250" b="1" i="0">
                <a:solidFill>
                  <a:srgbClr val="E8A33D"/>
                </a:solidFill>
                <a:latin typeface="Calibri"/>
              </a:rPr>
              <a:t>5 · RESULTS</a:t>
            </a:r>
          </a:p>
        </p:txBody>
      </p:sp>
      <p:sp>
        <p:nvSpPr>
          <p:cNvPr id="6" name="TextBox 5"/>
          <p:cNvSpPr txBox="1"/>
          <p:nvPr/>
        </p:nvSpPr>
        <p:spPr>
          <a:xfrm>
            <a:off x="777240" y="713232"/>
            <a:ext cx="10881360" cy="566928"/>
          </a:xfrm>
          <a:prstGeom prst="rect">
            <a:avLst/>
          </a:prstGeom>
          <a:noFill/>
        </p:spPr>
        <p:txBody>
          <a:bodyPr wrap="square" anchor="t" lIns="0" rIns="0" tIns="0" bIns="0">
            <a:spAutoFit/>
          </a:bodyPr>
          <a:lstStyle/>
          <a:p>
            <a:pPr algn="l">
              <a:lnSpc>
                <a:spcPct val="100000"/>
              </a:lnSpc>
              <a:spcBef>
                <a:spcPts val="0"/>
              </a:spcBef>
              <a:spcAft>
                <a:spcPts val="400"/>
              </a:spcAft>
            </a:pPr>
            <a:r>
              <a:rPr sz="2500" b="1" i="0">
                <a:solidFill>
                  <a:srgbClr val="1B2A38"/>
                </a:solidFill>
                <a:latin typeface="Calibri"/>
              </a:rPr>
              <a:t>Segmentation leaderboard (leakage-free, 98 imgs)</a:t>
            </a:r>
          </a:p>
        </p:txBody>
      </p:sp>
      <p:sp>
        <p:nvSpPr>
          <p:cNvPr id="7" name="Rectangle 6"/>
          <p:cNvSpPr/>
          <p:nvPr/>
        </p:nvSpPr>
        <p:spPr>
          <a:xfrm>
            <a:off x="777240" y="1316736"/>
            <a:ext cx="10634472" cy="18288"/>
          </a:xfrm>
          <a:prstGeom prst="rect">
            <a:avLst/>
          </a:prstGeom>
          <a:solidFill>
            <a:srgbClr val="CBD8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73952"/>
            <a:ext cx="7315200" cy="274320"/>
          </a:xfrm>
          <a:prstGeom prst="rect">
            <a:avLst/>
          </a:prstGeom>
          <a:noFill/>
        </p:spPr>
        <p:txBody>
          <a:bodyPr wrap="square" anchor="t" lIns="0" rIns="0" tIns="0" bIns="0">
            <a:spAutoFit/>
          </a:bodyPr>
          <a:lstStyle/>
          <a:p>
            <a:pPr algn="l">
              <a:lnSpc>
                <a:spcPct val="100000"/>
              </a:lnSpc>
              <a:spcBef>
                <a:spcPts val="0"/>
              </a:spcBef>
              <a:spcAft>
                <a:spcPts val="400"/>
              </a:spcAft>
            </a:pPr>
            <a:r>
              <a:rPr sz="900" b="0" i="0">
                <a:solidFill>
                  <a:srgbClr val="8A94A6"/>
                </a:solidFill>
                <a:latin typeface="Calibri"/>
              </a:rPr>
              <a:t>COMP9444 · Group Project 047 · Breast Ultrasound (BUSI)</a:t>
            </a:r>
          </a:p>
        </p:txBody>
      </p:sp>
      <p:sp>
        <p:nvSpPr>
          <p:cNvPr id="9" name="TextBox 8"/>
          <p:cNvSpPr txBox="1"/>
          <p:nvPr/>
        </p:nvSpPr>
        <p:spPr>
          <a:xfrm>
            <a:off x="11064240" y="6473952"/>
            <a:ext cx="685800" cy="274320"/>
          </a:xfrm>
          <a:prstGeom prst="rect">
            <a:avLst/>
          </a:prstGeom>
          <a:noFill/>
        </p:spPr>
        <p:txBody>
          <a:bodyPr wrap="square" anchor="t" lIns="0" rIns="0" tIns="0" bIns="0">
            <a:spAutoFit/>
          </a:bodyPr>
          <a:lstStyle/>
          <a:p>
            <a:pPr algn="r">
              <a:lnSpc>
                <a:spcPct val="100000"/>
              </a:lnSpc>
              <a:spcBef>
                <a:spcPts val="0"/>
              </a:spcBef>
              <a:spcAft>
                <a:spcPts val="400"/>
              </a:spcAft>
            </a:pPr>
            <a:r>
              <a:rPr sz="900" b="1" i="0">
                <a:solidFill>
                  <a:srgbClr val="8A94A6"/>
                </a:solidFill>
                <a:latin typeface="Calibri"/>
              </a:rPr>
              <a:t>21</a:t>
            </a:r>
          </a:p>
        </p:txBody>
      </p:sp>
      <p:graphicFrame>
        <p:nvGraphicFramePr>
          <p:cNvPr id="10" name="Table 9"/>
          <p:cNvGraphicFramePr>
            <a:graphicFrameLocks noGrp="1"/>
          </p:cNvGraphicFramePr>
          <p:nvPr/>
        </p:nvGraphicFramePr>
        <p:xfrm>
          <a:off x="777240" y="1554480"/>
          <a:ext cx="6903720" cy="3451860"/>
        </p:xfrm>
        <a:graphic>
          <a:graphicData uri="http://schemas.openxmlformats.org/drawingml/2006/table">
            <a:tbl>
              <a:tblPr>
                <a:tableStyleId>{5C22544A-7EE6-4342-B048-85BDC9FD1C3A}</a:tableStyleId>
              </a:tblPr>
              <a:tblGrid>
                <a:gridCol w="2514600"/>
                <a:gridCol w="914400"/>
                <a:gridCol w="658368"/>
                <a:gridCol w="658368"/>
                <a:gridCol w="749808"/>
                <a:gridCol w="749808"/>
                <a:gridCol w="658368"/>
              </a:tblGrid>
              <a:tr h="365760">
                <a:tc>
                  <a:txBody>
                    <a:bodyPr wrap="square"/>
                    <a:lstStyle/>
                    <a:p>
                      <a:pPr algn="l"/>
                      <a:r>
                        <a:rPr sz="1050" b="1">
                          <a:solidFill>
                            <a:srgbClr val="FFFFFF"/>
                          </a:solidFill>
                          <a:latin typeface="Calibri"/>
                        </a:rPr>
                        <a:t>Model</a:t>
                      </a:r>
                    </a:p>
                  </a:txBody>
                  <a:tcPr marL="64008" marR="45720" marT="18288" marB="18288" anchor="ctr">
                    <a:solidFill>
                      <a:srgbClr val="0E4D64"/>
                    </a:solidFill>
                  </a:tcPr>
                </a:tc>
                <a:tc>
                  <a:txBody>
                    <a:bodyPr wrap="square"/>
                    <a:lstStyle/>
                    <a:p>
                      <a:pPr algn="ctr"/>
                      <a:r>
                        <a:rPr sz="1050" b="1">
                          <a:solidFill>
                            <a:srgbClr val="FFFFFF"/>
                          </a:solidFill>
                          <a:latin typeface="Calibri"/>
                        </a:rPr>
                        <a:t>Type</a:t>
                      </a:r>
                    </a:p>
                  </a:txBody>
                  <a:tcPr marL="64008" marR="45720" marT="18288" marB="18288" anchor="ctr">
                    <a:solidFill>
                      <a:srgbClr val="0E4D64"/>
                    </a:solidFill>
                  </a:tcPr>
                </a:tc>
                <a:tc>
                  <a:txBody>
                    <a:bodyPr wrap="square"/>
                    <a:lstStyle/>
                    <a:p>
                      <a:pPr algn="ctr"/>
                      <a:r>
                        <a:rPr sz="1050" b="1">
                          <a:solidFill>
                            <a:srgbClr val="FFFFFF"/>
                          </a:solidFill>
                          <a:latin typeface="Calibri"/>
                        </a:rPr>
                        <a:t>Dice</a:t>
                      </a:r>
                    </a:p>
                  </a:txBody>
                  <a:tcPr marL="64008" marR="45720" marT="18288" marB="18288" anchor="ctr">
                    <a:solidFill>
                      <a:srgbClr val="0E4D64"/>
                    </a:solidFill>
                  </a:tcPr>
                </a:tc>
                <a:tc>
                  <a:txBody>
                    <a:bodyPr wrap="square"/>
                    <a:lstStyle/>
                    <a:p>
                      <a:pPr algn="ctr"/>
                      <a:r>
                        <a:rPr sz="1050" b="1">
                          <a:solidFill>
                            <a:srgbClr val="FFFFFF"/>
                          </a:solidFill>
                          <a:latin typeface="Calibri"/>
                        </a:rPr>
                        <a:t>IoU</a:t>
                      </a:r>
                    </a:p>
                  </a:txBody>
                  <a:tcPr marL="64008" marR="45720" marT="18288" marB="18288" anchor="ctr">
                    <a:solidFill>
                      <a:srgbClr val="0E4D64"/>
                    </a:solidFill>
                  </a:tcPr>
                </a:tc>
                <a:tc>
                  <a:txBody>
                    <a:bodyPr wrap="square"/>
                    <a:lstStyle/>
                    <a:p>
                      <a:pPr algn="ctr"/>
                      <a:r>
                        <a:rPr sz="1050" b="1">
                          <a:solidFill>
                            <a:srgbClr val="FFFFFF"/>
                          </a:solidFill>
                          <a:latin typeface="Calibri"/>
                        </a:rPr>
                        <a:t>F-meas</a:t>
                      </a:r>
                    </a:p>
                  </a:txBody>
                  <a:tcPr marL="64008" marR="45720" marT="18288" marB="18288" anchor="ctr">
                    <a:solidFill>
                      <a:srgbClr val="0E4D64"/>
                    </a:solidFill>
                  </a:tcPr>
                </a:tc>
                <a:tc>
                  <a:txBody>
                    <a:bodyPr wrap="square"/>
                    <a:lstStyle/>
                    <a:p>
                      <a:pPr algn="ctr"/>
                      <a:r>
                        <a:rPr sz="1050" b="1">
                          <a:solidFill>
                            <a:srgbClr val="FFFFFF"/>
                          </a:solidFill>
                          <a:latin typeface="Calibri"/>
                        </a:rPr>
                        <a:t>Params</a:t>
                      </a:r>
                    </a:p>
                  </a:txBody>
                  <a:tcPr marL="64008" marR="45720" marT="18288" marB="18288" anchor="ctr">
                    <a:solidFill>
                      <a:srgbClr val="0E4D64"/>
                    </a:solidFill>
                  </a:tcPr>
                </a:tc>
                <a:tc>
                  <a:txBody>
                    <a:bodyPr wrap="square"/>
                    <a:lstStyle/>
                    <a:p>
                      <a:pPr algn="ctr"/>
                      <a:r>
                        <a:rPr sz="1050" b="1">
                          <a:solidFill>
                            <a:srgbClr val="FFFFFF"/>
                          </a:solidFill>
                          <a:latin typeface="Calibri"/>
                        </a:rPr>
                        <a:t>Paper</a:t>
                      </a:r>
                    </a:p>
                  </a:txBody>
                  <a:tcPr marL="64008" marR="45720" marT="18288" marB="18288" anchor="ctr">
                    <a:solidFill>
                      <a:srgbClr val="0E4D64"/>
                    </a:solidFill>
                  </a:tcPr>
                </a:tc>
              </a:tr>
              <a:tr h="342900">
                <a:tc>
                  <a:txBody>
                    <a:bodyPr wrap="square"/>
                    <a:lstStyle/>
                    <a:p>
                      <a:pPr algn="l"/>
                      <a:r>
                        <a:rPr sz="1050" b="1">
                          <a:solidFill>
                            <a:srgbClr val="1B2A38"/>
                          </a:solidFill>
                          <a:latin typeface="Calibri"/>
                        </a:rPr>
                        <a:t>Improved Pretrained-UNet (ours)</a:t>
                      </a:r>
                    </a:p>
                  </a:txBody>
                  <a:tcPr marL="64008" marR="45720" marT="18288" marB="18288" anchor="ctr">
                    <a:solidFill>
                      <a:srgbClr val="FFF3D6"/>
                    </a:solidFill>
                  </a:tcPr>
                </a:tc>
                <a:tc>
                  <a:txBody>
                    <a:bodyPr wrap="square"/>
                    <a:lstStyle/>
                    <a:p>
                      <a:pPr algn="ctr"/>
                      <a:r>
                        <a:rPr sz="1050" b="1">
                          <a:solidFill>
                            <a:srgbClr val="1B2A38"/>
                          </a:solidFill>
                          <a:latin typeface="Calibri"/>
                        </a:rPr>
                        <a:t>ours</a:t>
                      </a:r>
                    </a:p>
                  </a:txBody>
                  <a:tcPr marL="64008" marR="45720" marT="18288" marB="18288" anchor="ctr">
                    <a:solidFill>
                      <a:srgbClr val="FFF3D6"/>
                    </a:solidFill>
                  </a:tcPr>
                </a:tc>
                <a:tc>
                  <a:txBody>
                    <a:bodyPr wrap="square"/>
                    <a:lstStyle/>
                    <a:p>
                      <a:pPr algn="ctr"/>
                      <a:r>
                        <a:rPr sz="1050" b="1">
                          <a:solidFill>
                            <a:srgbClr val="1B2A38"/>
                          </a:solidFill>
                          <a:latin typeface="Calibri"/>
                        </a:rPr>
                        <a:t>0.760</a:t>
                      </a:r>
                    </a:p>
                  </a:txBody>
                  <a:tcPr marL="64008" marR="45720" marT="18288" marB="18288" anchor="ctr">
                    <a:solidFill>
                      <a:srgbClr val="FFF3D6"/>
                    </a:solidFill>
                  </a:tcPr>
                </a:tc>
                <a:tc>
                  <a:txBody>
                    <a:bodyPr wrap="square"/>
                    <a:lstStyle/>
                    <a:p>
                      <a:pPr algn="ctr"/>
                      <a:r>
                        <a:rPr sz="1050" b="1">
                          <a:solidFill>
                            <a:srgbClr val="1B2A38"/>
                          </a:solidFill>
                          <a:latin typeface="Calibri"/>
                        </a:rPr>
                        <a:t>0.688</a:t>
                      </a:r>
                    </a:p>
                  </a:txBody>
                  <a:tcPr marL="64008" marR="45720" marT="18288" marB="18288" anchor="ctr">
                    <a:solidFill>
                      <a:srgbClr val="FFF3D6"/>
                    </a:solidFill>
                  </a:tcPr>
                </a:tc>
                <a:tc>
                  <a:txBody>
                    <a:bodyPr wrap="square"/>
                    <a:lstStyle/>
                    <a:p>
                      <a:pPr algn="ctr"/>
                      <a:r>
                        <a:rPr sz="1050" b="1">
                          <a:solidFill>
                            <a:srgbClr val="1B2A38"/>
                          </a:solidFill>
                          <a:latin typeface="Calibri"/>
                        </a:rPr>
                        <a:t>0.854</a:t>
                      </a:r>
                    </a:p>
                  </a:txBody>
                  <a:tcPr marL="64008" marR="45720" marT="18288" marB="18288" anchor="ctr">
                    <a:solidFill>
                      <a:srgbClr val="FFF3D6"/>
                    </a:solidFill>
                  </a:tcPr>
                </a:tc>
                <a:tc>
                  <a:txBody>
                    <a:bodyPr wrap="square"/>
                    <a:lstStyle/>
                    <a:p>
                      <a:pPr algn="ctr"/>
                      <a:r>
                        <a:rPr sz="1050" b="1">
                          <a:solidFill>
                            <a:srgbClr val="1B2A38"/>
                          </a:solidFill>
                          <a:latin typeface="Calibri"/>
                        </a:rPr>
                        <a:t>20.2M</a:t>
                      </a:r>
                    </a:p>
                  </a:txBody>
                  <a:tcPr marL="64008" marR="45720" marT="18288" marB="18288" anchor="ctr">
                    <a:solidFill>
                      <a:srgbClr val="FFF3D6"/>
                    </a:solidFill>
                  </a:tcPr>
                </a:tc>
                <a:tc>
                  <a:txBody>
                    <a:bodyPr wrap="square"/>
                    <a:lstStyle/>
                    <a:p>
                      <a:pPr algn="ctr"/>
                      <a:r>
                        <a:rPr sz="1050" b="1">
                          <a:solidFill>
                            <a:srgbClr val="1B2A38"/>
                          </a:solidFill>
                          <a:latin typeface="Calibri"/>
                        </a:rPr>
                        <a:t>—</a:t>
                      </a:r>
                    </a:p>
                  </a:txBody>
                  <a:tcPr marL="64008" marR="45720" marT="18288" marB="18288" anchor="ctr">
                    <a:solidFill>
                      <a:srgbClr val="FFF3D6"/>
                    </a:solidFill>
                  </a:tcPr>
                </a:tc>
              </a:tr>
              <a:tr h="342900">
                <a:tc>
                  <a:txBody>
                    <a:bodyPr wrap="square"/>
                    <a:lstStyle/>
                    <a:p>
                      <a:pPr algn="l"/>
                      <a:r>
                        <a:rPr sz="1050" b="0">
                          <a:solidFill>
                            <a:srgbClr val="1B2A38"/>
                          </a:solidFill>
                          <a:latin typeface="Calibri"/>
                        </a:rPr>
                        <a:t>DeepLabV3+</a:t>
                      </a:r>
                    </a:p>
                  </a:txBody>
                  <a:tcPr marL="64008" marR="45720" marT="18288" marB="18288" anchor="ctr">
                    <a:solidFill>
                      <a:srgbClr val="EEF3F5"/>
                    </a:solidFill>
                  </a:tcPr>
                </a:tc>
                <a:tc>
                  <a:txBody>
                    <a:bodyPr wrap="square"/>
                    <a:lstStyle/>
                    <a:p>
                      <a:pPr algn="ctr"/>
                      <a:r>
                        <a:rPr sz="1050" b="0">
                          <a:solidFill>
                            <a:srgbClr val="1B2A38"/>
                          </a:solidFill>
                          <a:latin typeface="Calibri"/>
                        </a:rPr>
                        <a:t>transfer</a:t>
                      </a:r>
                    </a:p>
                  </a:txBody>
                  <a:tcPr marL="64008" marR="45720" marT="18288" marB="18288" anchor="ctr">
                    <a:solidFill>
                      <a:srgbClr val="EEF3F5"/>
                    </a:solidFill>
                  </a:tcPr>
                </a:tc>
                <a:tc>
                  <a:txBody>
                    <a:bodyPr wrap="square"/>
                    <a:lstStyle/>
                    <a:p>
                      <a:pPr algn="ctr"/>
                      <a:r>
                        <a:rPr sz="1050" b="0">
                          <a:solidFill>
                            <a:srgbClr val="1B2A38"/>
                          </a:solidFill>
                          <a:latin typeface="Calibri"/>
                        </a:rPr>
                        <a:t>0.739</a:t>
                      </a:r>
                    </a:p>
                  </a:txBody>
                  <a:tcPr marL="64008" marR="45720" marT="18288" marB="18288" anchor="ctr">
                    <a:solidFill>
                      <a:srgbClr val="EEF3F5"/>
                    </a:solidFill>
                  </a:tcPr>
                </a:tc>
                <a:tc>
                  <a:txBody>
                    <a:bodyPr wrap="square"/>
                    <a:lstStyle/>
                    <a:p>
                      <a:pPr algn="ctr"/>
                      <a:r>
                        <a:rPr sz="1050" b="0">
                          <a:solidFill>
                            <a:srgbClr val="1B2A38"/>
                          </a:solidFill>
                          <a:latin typeface="Calibri"/>
                        </a:rPr>
                        <a:t>0.652</a:t>
                      </a:r>
                    </a:p>
                  </a:txBody>
                  <a:tcPr marL="64008" marR="45720" marT="18288" marB="18288" anchor="ctr">
                    <a:solidFill>
                      <a:srgbClr val="EEF3F5"/>
                    </a:solidFill>
                  </a:tcPr>
                </a:tc>
                <a:tc>
                  <a:txBody>
                    <a:bodyPr wrap="square"/>
                    <a:lstStyle/>
                    <a:p>
                      <a:pPr algn="ctr"/>
                      <a:r>
                        <a:rPr sz="1050" b="0">
                          <a:solidFill>
                            <a:srgbClr val="1B2A38"/>
                          </a:solidFill>
                          <a:latin typeface="Calibri"/>
                        </a:rPr>
                        <a:t>0.810</a:t>
                      </a:r>
                    </a:p>
                  </a:txBody>
                  <a:tcPr marL="64008" marR="45720" marT="18288" marB="18288" anchor="ctr">
                    <a:solidFill>
                      <a:srgbClr val="EEF3F5"/>
                    </a:solidFill>
                  </a:tcPr>
                </a:tc>
                <a:tc>
                  <a:txBody>
                    <a:bodyPr wrap="square"/>
                    <a:lstStyle/>
                    <a:p>
                      <a:pPr algn="ctr"/>
                      <a:r>
                        <a:rPr sz="1050" b="0">
                          <a:solidFill>
                            <a:srgbClr val="1B2A38"/>
                          </a:solidFill>
                          <a:latin typeface="Calibri"/>
                        </a:rPr>
                        <a:t>26.7M</a:t>
                      </a:r>
                    </a:p>
                  </a:txBody>
                  <a:tcPr marL="64008" marR="45720" marT="18288" marB="18288" anchor="ctr">
                    <a:solidFill>
                      <a:srgbClr val="EEF3F5"/>
                    </a:solidFill>
                  </a:tcPr>
                </a:tc>
                <a:tc>
                  <a:txBody>
                    <a:bodyPr wrap="square"/>
                    <a:lstStyle/>
                    <a:p>
                      <a:pPr algn="ctr"/>
                      <a:r>
                        <a:rPr sz="1050" b="0">
                          <a:solidFill>
                            <a:srgbClr val="1B2A38"/>
                          </a:solidFill>
                          <a:latin typeface="Calibri"/>
                        </a:rPr>
                        <a:t>—</a:t>
                      </a:r>
                    </a:p>
                  </a:txBody>
                  <a:tcPr marL="64008" marR="45720" marT="18288" marB="18288" anchor="ctr">
                    <a:solidFill>
                      <a:srgbClr val="EEF3F5"/>
                    </a:solidFill>
                  </a:tcPr>
                </a:tc>
              </a:tr>
              <a:tr h="342900">
                <a:tc>
                  <a:txBody>
                    <a:bodyPr wrap="square"/>
                    <a:lstStyle/>
                    <a:p>
                      <a:pPr algn="l"/>
                      <a:r>
                        <a:rPr sz="1050" b="0">
                          <a:solidFill>
                            <a:srgbClr val="1B2A38"/>
                          </a:solidFill>
                          <a:latin typeface="Calibri"/>
                        </a:rPr>
                        <a:t>AAU-Net</a:t>
                      </a:r>
                    </a:p>
                  </a:txBody>
                  <a:tcPr marL="64008" marR="45720" marT="18288" marB="18288" anchor="ctr">
                    <a:solidFill>
                      <a:srgbClr val="FFFFFF"/>
                    </a:solidFill>
                  </a:tcPr>
                </a:tc>
                <a:tc>
                  <a:txBody>
                    <a:bodyPr wrap="square"/>
                    <a:lstStyle/>
                    <a:p>
                      <a:pPr algn="ctr"/>
                      <a:r>
                        <a:rPr sz="1050" b="0">
                          <a:solidFill>
                            <a:srgbClr val="1B2A38"/>
                          </a:solidFill>
                          <a:latin typeface="Calibri"/>
                        </a:rPr>
                        <a:t>reprod.</a:t>
                      </a:r>
                    </a:p>
                  </a:txBody>
                  <a:tcPr marL="64008" marR="45720" marT="18288" marB="18288" anchor="ctr">
                    <a:solidFill>
                      <a:srgbClr val="FFFFFF"/>
                    </a:solidFill>
                  </a:tcPr>
                </a:tc>
                <a:tc>
                  <a:txBody>
                    <a:bodyPr wrap="square"/>
                    <a:lstStyle/>
                    <a:p>
                      <a:pPr algn="ctr"/>
                      <a:r>
                        <a:rPr sz="1050" b="0">
                          <a:solidFill>
                            <a:srgbClr val="1B2A38"/>
                          </a:solidFill>
                          <a:latin typeface="Calibri"/>
                        </a:rPr>
                        <a:t>0.730</a:t>
                      </a:r>
                    </a:p>
                  </a:txBody>
                  <a:tcPr marL="64008" marR="45720" marT="18288" marB="18288" anchor="ctr">
                    <a:solidFill>
                      <a:srgbClr val="FFFFFF"/>
                    </a:solidFill>
                  </a:tcPr>
                </a:tc>
                <a:tc>
                  <a:txBody>
                    <a:bodyPr wrap="square"/>
                    <a:lstStyle/>
                    <a:p>
                      <a:pPr algn="ctr"/>
                      <a:r>
                        <a:rPr sz="1050" b="0">
                          <a:solidFill>
                            <a:srgbClr val="1B2A38"/>
                          </a:solidFill>
                          <a:latin typeface="Calibri"/>
                        </a:rPr>
                        <a:t>0.638</a:t>
                      </a:r>
                    </a:p>
                  </a:txBody>
                  <a:tcPr marL="64008" marR="45720" marT="18288" marB="18288" anchor="ctr">
                    <a:solidFill>
                      <a:srgbClr val="FFFFFF"/>
                    </a:solidFill>
                  </a:tcPr>
                </a:tc>
                <a:tc>
                  <a:txBody>
                    <a:bodyPr wrap="square"/>
                    <a:lstStyle/>
                    <a:p>
                      <a:pPr algn="ctr"/>
                      <a:r>
                        <a:rPr sz="1050" b="0">
                          <a:solidFill>
                            <a:srgbClr val="1B2A38"/>
                          </a:solidFill>
                          <a:latin typeface="Calibri"/>
                        </a:rPr>
                        <a:t>0.723</a:t>
                      </a:r>
                    </a:p>
                  </a:txBody>
                  <a:tcPr marL="64008" marR="45720" marT="18288" marB="18288" anchor="ctr">
                    <a:solidFill>
                      <a:srgbClr val="FFFFFF"/>
                    </a:solidFill>
                  </a:tcPr>
                </a:tc>
                <a:tc>
                  <a:txBody>
                    <a:bodyPr wrap="square"/>
                    <a:lstStyle/>
                    <a:p>
                      <a:pPr algn="ctr"/>
                      <a:r>
                        <a:rPr sz="1050" b="0">
                          <a:solidFill>
                            <a:srgbClr val="1B2A38"/>
                          </a:solidFill>
                          <a:latin typeface="Calibri"/>
                        </a:rPr>
                        <a:t>42.7M</a:t>
                      </a:r>
                    </a:p>
                  </a:txBody>
                  <a:tcPr marL="64008" marR="45720" marT="18288" marB="18288" anchor="ctr">
                    <a:solidFill>
                      <a:srgbClr val="FFFFFF"/>
                    </a:solidFill>
                  </a:tcPr>
                </a:tc>
                <a:tc>
                  <a:txBody>
                    <a:bodyPr wrap="square"/>
                    <a:lstStyle/>
                    <a:p>
                      <a:pPr algn="ctr"/>
                      <a:r>
                        <a:rPr sz="1050" b="0">
                          <a:solidFill>
                            <a:srgbClr val="1B2A38"/>
                          </a:solidFill>
                          <a:latin typeface="Calibri"/>
                        </a:rPr>
                        <a:t>0.775</a:t>
                      </a:r>
                    </a:p>
                  </a:txBody>
                  <a:tcPr marL="64008" marR="45720" marT="18288" marB="18288" anchor="ctr">
                    <a:solidFill>
                      <a:srgbClr val="FFFFFF"/>
                    </a:solidFill>
                  </a:tcPr>
                </a:tc>
              </a:tr>
              <a:tr h="342900">
                <a:tc>
                  <a:txBody>
                    <a:bodyPr wrap="square"/>
                    <a:lstStyle/>
                    <a:p>
                      <a:pPr algn="l"/>
                      <a:r>
                        <a:rPr sz="1050" b="0">
                          <a:solidFill>
                            <a:srgbClr val="1B2A38"/>
                          </a:solidFill>
                          <a:latin typeface="Calibri"/>
                        </a:rPr>
                        <a:t>nnU-Net</a:t>
                      </a:r>
                    </a:p>
                  </a:txBody>
                  <a:tcPr marL="64008" marR="45720" marT="18288" marB="18288" anchor="ctr">
                    <a:solidFill>
                      <a:srgbClr val="EEF3F5"/>
                    </a:solidFill>
                  </a:tcPr>
                </a:tc>
                <a:tc>
                  <a:txBody>
                    <a:bodyPr wrap="square"/>
                    <a:lstStyle/>
                    <a:p>
                      <a:pPr algn="ctr"/>
                      <a:r>
                        <a:rPr sz="1050" b="0">
                          <a:solidFill>
                            <a:srgbClr val="1B2A38"/>
                          </a:solidFill>
                          <a:latin typeface="Calibri"/>
                        </a:rPr>
                        <a:t>reprod.</a:t>
                      </a:r>
                    </a:p>
                  </a:txBody>
                  <a:tcPr marL="64008" marR="45720" marT="18288" marB="18288" anchor="ctr">
                    <a:solidFill>
                      <a:srgbClr val="EEF3F5"/>
                    </a:solidFill>
                  </a:tcPr>
                </a:tc>
                <a:tc>
                  <a:txBody>
                    <a:bodyPr wrap="square"/>
                    <a:lstStyle/>
                    <a:p>
                      <a:pPr algn="ctr"/>
                      <a:r>
                        <a:rPr sz="1050" b="0">
                          <a:solidFill>
                            <a:srgbClr val="1B2A38"/>
                          </a:solidFill>
                          <a:latin typeface="Calibri"/>
                        </a:rPr>
                        <a:t>0.717</a:t>
                      </a:r>
                    </a:p>
                  </a:txBody>
                  <a:tcPr marL="64008" marR="45720" marT="18288" marB="18288" anchor="ctr">
                    <a:solidFill>
                      <a:srgbClr val="EEF3F5"/>
                    </a:solidFill>
                  </a:tcPr>
                </a:tc>
                <a:tc>
                  <a:txBody>
                    <a:bodyPr wrap="square"/>
                    <a:lstStyle/>
                    <a:p>
                      <a:pPr algn="ctr"/>
                      <a:r>
                        <a:rPr sz="1050" b="0">
                          <a:solidFill>
                            <a:srgbClr val="1B2A38"/>
                          </a:solidFill>
                          <a:latin typeface="Calibri"/>
                        </a:rPr>
                        <a:t>0.627</a:t>
                      </a:r>
                    </a:p>
                  </a:txBody>
                  <a:tcPr marL="64008" marR="45720" marT="18288" marB="18288" anchor="ctr">
                    <a:solidFill>
                      <a:srgbClr val="EEF3F5"/>
                    </a:solidFill>
                  </a:tcPr>
                </a:tc>
                <a:tc>
                  <a:txBody>
                    <a:bodyPr wrap="square"/>
                    <a:lstStyle/>
                    <a:p>
                      <a:pPr algn="ctr"/>
                      <a:r>
                        <a:rPr sz="1050" b="0">
                          <a:solidFill>
                            <a:srgbClr val="1B2A38"/>
                          </a:solidFill>
                          <a:latin typeface="Calibri"/>
                        </a:rPr>
                        <a:t>0.781</a:t>
                      </a:r>
                    </a:p>
                  </a:txBody>
                  <a:tcPr marL="64008" marR="45720" marT="18288" marB="18288" anchor="ctr">
                    <a:solidFill>
                      <a:srgbClr val="EEF3F5"/>
                    </a:solidFill>
                  </a:tcPr>
                </a:tc>
                <a:tc>
                  <a:txBody>
                    <a:bodyPr wrap="square"/>
                    <a:lstStyle/>
                    <a:p>
                      <a:pPr algn="ctr"/>
                      <a:r>
                        <a:rPr sz="1050" b="0">
                          <a:solidFill>
                            <a:srgbClr val="1B2A38"/>
                          </a:solidFill>
                          <a:latin typeface="Calibri"/>
                        </a:rPr>
                        <a:t>8.5M</a:t>
                      </a:r>
                    </a:p>
                  </a:txBody>
                  <a:tcPr marL="64008" marR="45720" marT="18288" marB="18288" anchor="ctr">
                    <a:solidFill>
                      <a:srgbClr val="EEF3F5"/>
                    </a:solidFill>
                  </a:tcPr>
                </a:tc>
                <a:tc>
                  <a:txBody>
                    <a:bodyPr wrap="square"/>
                    <a:lstStyle/>
                    <a:p>
                      <a:pPr algn="ctr"/>
                      <a:r>
                        <a:rPr sz="1050" b="0">
                          <a:solidFill>
                            <a:srgbClr val="1B2A38"/>
                          </a:solidFill>
                          <a:latin typeface="Calibri"/>
                        </a:rPr>
                        <a:t>—</a:t>
                      </a:r>
                    </a:p>
                  </a:txBody>
                  <a:tcPr marL="64008" marR="45720" marT="18288" marB="18288" anchor="ctr">
                    <a:solidFill>
                      <a:srgbClr val="EEF3F5"/>
                    </a:solidFill>
                  </a:tcPr>
                </a:tc>
              </a:tr>
              <a:tr h="342900">
                <a:tc>
                  <a:txBody>
                    <a:bodyPr wrap="square"/>
                    <a:lstStyle/>
                    <a:p>
                      <a:pPr algn="l"/>
                      <a:r>
                        <a:rPr sz="1050" b="0">
                          <a:solidFill>
                            <a:srgbClr val="1B2A38"/>
                          </a:solidFill>
                          <a:latin typeface="Calibri"/>
                        </a:rPr>
                        <a:t>CResU-Net</a:t>
                      </a:r>
                    </a:p>
                  </a:txBody>
                  <a:tcPr marL="64008" marR="45720" marT="18288" marB="18288" anchor="ctr">
                    <a:solidFill>
                      <a:srgbClr val="FFFFFF"/>
                    </a:solidFill>
                  </a:tcPr>
                </a:tc>
                <a:tc>
                  <a:txBody>
                    <a:bodyPr wrap="square"/>
                    <a:lstStyle/>
                    <a:p>
                      <a:pPr algn="ctr"/>
                      <a:r>
                        <a:rPr sz="1050" b="0">
                          <a:solidFill>
                            <a:srgbClr val="1B2A38"/>
                          </a:solidFill>
                          <a:latin typeface="Calibri"/>
                        </a:rPr>
                        <a:t>reprod.</a:t>
                      </a:r>
                    </a:p>
                  </a:txBody>
                  <a:tcPr marL="64008" marR="45720" marT="18288" marB="18288" anchor="ctr">
                    <a:solidFill>
                      <a:srgbClr val="FFFFFF"/>
                    </a:solidFill>
                  </a:tcPr>
                </a:tc>
                <a:tc>
                  <a:txBody>
                    <a:bodyPr wrap="square"/>
                    <a:lstStyle/>
                    <a:p>
                      <a:pPr algn="ctr"/>
                      <a:r>
                        <a:rPr sz="1050" b="0">
                          <a:solidFill>
                            <a:srgbClr val="1B2A38"/>
                          </a:solidFill>
                          <a:latin typeface="Calibri"/>
                        </a:rPr>
                        <a:t>0.693</a:t>
                      </a:r>
                    </a:p>
                  </a:txBody>
                  <a:tcPr marL="64008" marR="45720" marT="18288" marB="18288" anchor="ctr">
                    <a:solidFill>
                      <a:srgbClr val="FFFFFF"/>
                    </a:solidFill>
                  </a:tcPr>
                </a:tc>
                <a:tc>
                  <a:txBody>
                    <a:bodyPr wrap="square"/>
                    <a:lstStyle/>
                    <a:p>
                      <a:pPr algn="ctr"/>
                      <a:r>
                        <a:rPr sz="1050" b="0">
                          <a:solidFill>
                            <a:srgbClr val="1B2A38"/>
                          </a:solidFill>
                          <a:latin typeface="Calibri"/>
                        </a:rPr>
                        <a:t>0.600</a:t>
                      </a:r>
                    </a:p>
                  </a:txBody>
                  <a:tcPr marL="64008" marR="45720" marT="18288" marB="18288" anchor="ctr">
                    <a:solidFill>
                      <a:srgbClr val="FFFFFF"/>
                    </a:solidFill>
                  </a:tcPr>
                </a:tc>
                <a:tc>
                  <a:txBody>
                    <a:bodyPr wrap="square"/>
                    <a:lstStyle/>
                    <a:p>
                      <a:pPr algn="ctr"/>
                      <a:r>
                        <a:rPr sz="1050" b="0">
                          <a:solidFill>
                            <a:srgbClr val="1B2A38"/>
                          </a:solidFill>
                          <a:latin typeface="Calibri"/>
                        </a:rPr>
                        <a:t>0.772</a:t>
                      </a:r>
                    </a:p>
                  </a:txBody>
                  <a:tcPr marL="64008" marR="45720" marT="18288" marB="18288" anchor="ctr">
                    <a:solidFill>
                      <a:srgbClr val="FFFFFF"/>
                    </a:solidFill>
                  </a:tcPr>
                </a:tc>
                <a:tc>
                  <a:txBody>
                    <a:bodyPr wrap="square"/>
                    <a:lstStyle/>
                    <a:p>
                      <a:pPr algn="ctr"/>
                      <a:r>
                        <a:rPr sz="1050" b="0">
                          <a:solidFill>
                            <a:srgbClr val="1B2A38"/>
                          </a:solidFill>
                          <a:latin typeface="Calibri"/>
                        </a:rPr>
                        <a:t>33.5M</a:t>
                      </a:r>
                    </a:p>
                  </a:txBody>
                  <a:tcPr marL="64008" marR="45720" marT="18288" marB="18288" anchor="ctr">
                    <a:solidFill>
                      <a:srgbClr val="FFFFFF"/>
                    </a:solidFill>
                  </a:tcPr>
                </a:tc>
                <a:tc>
                  <a:txBody>
                    <a:bodyPr wrap="square"/>
                    <a:lstStyle/>
                    <a:p>
                      <a:pPr algn="ctr"/>
                      <a:r>
                        <a:rPr sz="1050" b="0">
                          <a:solidFill>
                            <a:srgbClr val="1B2A38"/>
                          </a:solidFill>
                          <a:latin typeface="Calibri"/>
                        </a:rPr>
                        <a:t>0.829</a:t>
                      </a:r>
                    </a:p>
                  </a:txBody>
                  <a:tcPr marL="64008" marR="45720" marT="18288" marB="18288" anchor="ctr">
                    <a:solidFill>
                      <a:srgbClr val="FFFFFF"/>
                    </a:solidFill>
                  </a:tcPr>
                </a:tc>
              </a:tr>
              <a:tr h="342900">
                <a:tc>
                  <a:txBody>
                    <a:bodyPr wrap="square"/>
                    <a:lstStyle/>
                    <a:p>
                      <a:pPr algn="l"/>
                      <a:r>
                        <a:rPr sz="1050" b="0">
                          <a:solidFill>
                            <a:srgbClr val="1B2A38"/>
                          </a:solidFill>
                          <a:latin typeface="Calibri"/>
                        </a:rPr>
                        <a:t>U-Net</a:t>
                      </a:r>
                    </a:p>
                  </a:txBody>
                  <a:tcPr marL="64008" marR="45720" marT="18288" marB="18288" anchor="ctr">
                    <a:solidFill>
                      <a:srgbClr val="EEF3F5"/>
                    </a:solidFill>
                  </a:tcPr>
                </a:tc>
                <a:tc>
                  <a:txBody>
                    <a:bodyPr wrap="square"/>
                    <a:lstStyle/>
                    <a:p>
                      <a:pPr algn="ctr"/>
                      <a:r>
                        <a:rPr sz="1050" b="0">
                          <a:solidFill>
                            <a:srgbClr val="1B2A38"/>
                          </a:solidFill>
                          <a:latin typeface="Calibri"/>
                        </a:rPr>
                        <a:t>scratch</a:t>
                      </a:r>
                    </a:p>
                  </a:txBody>
                  <a:tcPr marL="64008" marR="45720" marT="18288" marB="18288" anchor="ctr">
                    <a:solidFill>
                      <a:srgbClr val="EEF3F5"/>
                    </a:solidFill>
                  </a:tcPr>
                </a:tc>
                <a:tc>
                  <a:txBody>
                    <a:bodyPr wrap="square"/>
                    <a:lstStyle/>
                    <a:p>
                      <a:pPr algn="ctr"/>
                      <a:r>
                        <a:rPr sz="1050" b="0">
                          <a:solidFill>
                            <a:srgbClr val="1B2A38"/>
                          </a:solidFill>
                          <a:latin typeface="Calibri"/>
                        </a:rPr>
                        <a:t>0.648</a:t>
                      </a:r>
                    </a:p>
                  </a:txBody>
                  <a:tcPr marL="64008" marR="45720" marT="18288" marB="18288" anchor="ctr">
                    <a:solidFill>
                      <a:srgbClr val="EEF3F5"/>
                    </a:solidFill>
                  </a:tcPr>
                </a:tc>
                <a:tc>
                  <a:txBody>
                    <a:bodyPr wrap="square"/>
                    <a:lstStyle/>
                    <a:p>
                      <a:pPr algn="ctr"/>
                      <a:r>
                        <a:rPr sz="1050" b="0">
                          <a:solidFill>
                            <a:srgbClr val="1B2A38"/>
                          </a:solidFill>
                          <a:latin typeface="Calibri"/>
                        </a:rPr>
                        <a:t>0.570</a:t>
                      </a:r>
                    </a:p>
                  </a:txBody>
                  <a:tcPr marL="64008" marR="45720" marT="18288" marB="18288" anchor="ctr">
                    <a:solidFill>
                      <a:srgbClr val="EEF3F5"/>
                    </a:solidFill>
                  </a:tcPr>
                </a:tc>
                <a:tc>
                  <a:txBody>
                    <a:bodyPr wrap="square"/>
                    <a:lstStyle/>
                    <a:p>
                      <a:pPr algn="ctr"/>
                      <a:r>
                        <a:rPr sz="1050" b="0">
                          <a:solidFill>
                            <a:srgbClr val="1B2A38"/>
                          </a:solidFill>
                          <a:latin typeface="Calibri"/>
                        </a:rPr>
                        <a:t>0.779</a:t>
                      </a:r>
                    </a:p>
                  </a:txBody>
                  <a:tcPr marL="64008" marR="45720" marT="18288" marB="18288" anchor="ctr">
                    <a:solidFill>
                      <a:srgbClr val="EEF3F5"/>
                    </a:solidFill>
                  </a:tcPr>
                </a:tc>
                <a:tc>
                  <a:txBody>
                    <a:bodyPr wrap="square"/>
                    <a:lstStyle/>
                    <a:p>
                      <a:pPr algn="ctr"/>
                      <a:r>
                        <a:rPr sz="1050" b="0">
                          <a:solidFill>
                            <a:srgbClr val="1B2A38"/>
                          </a:solidFill>
                          <a:latin typeface="Calibri"/>
                        </a:rPr>
                        <a:t>31.0M</a:t>
                      </a:r>
                    </a:p>
                  </a:txBody>
                  <a:tcPr marL="64008" marR="45720" marT="18288" marB="18288" anchor="ctr">
                    <a:solidFill>
                      <a:srgbClr val="EEF3F5"/>
                    </a:solidFill>
                  </a:tcPr>
                </a:tc>
                <a:tc>
                  <a:txBody>
                    <a:bodyPr wrap="square"/>
                    <a:lstStyle/>
                    <a:p>
                      <a:pPr algn="ctr"/>
                      <a:r>
                        <a:rPr sz="1050" b="0">
                          <a:solidFill>
                            <a:srgbClr val="1B2A38"/>
                          </a:solidFill>
                          <a:latin typeface="Calibri"/>
                        </a:rPr>
                        <a:t>—</a:t>
                      </a:r>
                    </a:p>
                  </a:txBody>
                  <a:tcPr marL="64008" marR="45720" marT="18288" marB="18288" anchor="ctr">
                    <a:solidFill>
                      <a:srgbClr val="EEF3F5"/>
                    </a:solidFill>
                  </a:tcPr>
                </a:tc>
              </a:tr>
              <a:tr h="342900">
                <a:tc>
                  <a:txBody>
                    <a:bodyPr wrap="square"/>
                    <a:lstStyle/>
                    <a:p>
                      <a:pPr algn="l"/>
                      <a:r>
                        <a:rPr sz="1050" b="0">
                          <a:solidFill>
                            <a:srgbClr val="1B2A38"/>
                          </a:solidFill>
                          <a:latin typeface="Calibri"/>
                        </a:rPr>
                        <a:t>Attention U-Net</a:t>
                      </a:r>
                    </a:p>
                  </a:txBody>
                  <a:tcPr marL="64008" marR="45720" marT="18288" marB="18288" anchor="ctr">
                    <a:solidFill>
                      <a:srgbClr val="FFFFFF"/>
                    </a:solidFill>
                  </a:tcPr>
                </a:tc>
                <a:tc>
                  <a:txBody>
                    <a:bodyPr wrap="square"/>
                    <a:lstStyle/>
                    <a:p>
                      <a:pPr algn="ctr"/>
                      <a:r>
                        <a:rPr sz="1050" b="0">
                          <a:solidFill>
                            <a:srgbClr val="1B2A38"/>
                          </a:solidFill>
                          <a:latin typeface="Calibri"/>
                        </a:rPr>
                        <a:t>scratch</a:t>
                      </a:r>
                    </a:p>
                  </a:txBody>
                  <a:tcPr marL="64008" marR="45720" marT="18288" marB="18288" anchor="ctr">
                    <a:solidFill>
                      <a:srgbClr val="FFFFFF"/>
                    </a:solidFill>
                  </a:tcPr>
                </a:tc>
                <a:tc>
                  <a:txBody>
                    <a:bodyPr wrap="square"/>
                    <a:lstStyle/>
                    <a:p>
                      <a:pPr algn="ctr"/>
                      <a:r>
                        <a:rPr sz="1050" b="0">
                          <a:solidFill>
                            <a:srgbClr val="1B2A38"/>
                          </a:solidFill>
                          <a:latin typeface="Calibri"/>
                        </a:rPr>
                        <a:t>0.629</a:t>
                      </a:r>
                    </a:p>
                  </a:txBody>
                  <a:tcPr marL="64008" marR="45720" marT="18288" marB="18288" anchor="ctr">
                    <a:solidFill>
                      <a:srgbClr val="FFFFFF"/>
                    </a:solidFill>
                  </a:tcPr>
                </a:tc>
                <a:tc>
                  <a:txBody>
                    <a:bodyPr wrap="square"/>
                    <a:lstStyle/>
                    <a:p>
                      <a:pPr algn="ctr"/>
                      <a:r>
                        <a:rPr sz="1050" b="0">
                          <a:solidFill>
                            <a:srgbClr val="1B2A38"/>
                          </a:solidFill>
                          <a:latin typeface="Calibri"/>
                        </a:rPr>
                        <a:t>0.540</a:t>
                      </a:r>
                    </a:p>
                  </a:txBody>
                  <a:tcPr marL="64008" marR="45720" marT="18288" marB="18288" anchor="ctr">
                    <a:solidFill>
                      <a:srgbClr val="FFFFFF"/>
                    </a:solidFill>
                  </a:tcPr>
                </a:tc>
                <a:tc>
                  <a:txBody>
                    <a:bodyPr wrap="square"/>
                    <a:lstStyle/>
                    <a:p>
                      <a:pPr algn="ctr"/>
                      <a:r>
                        <a:rPr sz="1050" b="0">
                          <a:solidFill>
                            <a:srgbClr val="1B2A38"/>
                          </a:solidFill>
                          <a:latin typeface="Calibri"/>
                        </a:rPr>
                        <a:t>0.631</a:t>
                      </a:r>
                    </a:p>
                  </a:txBody>
                  <a:tcPr marL="64008" marR="45720" marT="18288" marB="18288" anchor="ctr">
                    <a:solidFill>
                      <a:srgbClr val="FFFFFF"/>
                    </a:solidFill>
                  </a:tcPr>
                </a:tc>
                <a:tc>
                  <a:txBody>
                    <a:bodyPr wrap="square"/>
                    <a:lstStyle/>
                    <a:p>
                      <a:pPr algn="ctr"/>
                      <a:r>
                        <a:rPr sz="1050" b="0">
                          <a:solidFill>
                            <a:srgbClr val="1B2A38"/>
                          </a:solidFill>
                          <a:latin typeface="Calibri"/>
                        </a:rPr>
                        <a:t>31.4M</a:t>
                      </a:r>
                    </a:p>
                  </a:txBody>
                  <a:tcPr marL="64008" marR="45720" marT="18288" marB="18288" anchor="ctr">
                    <a:solidFill>
                      <a:srgbClr val="FFFFFF"/>
                    </a:solidFill>
                  </a:tcPr>
                </a:tc>
                <a:tc>
                  <a:txBody>
                    <a:bodyPr wrap="square"/>
                    <a:lstStyle/>
                    <a:p>
                      <a:pPr algn="ctr"/>
                      <a:r>
                        <a:rPr sz="1050" b="0">
                          <a:solidFill>
                            <a:srgbClr val="1B2A38"/>
                          </a:solidFill>
                          <a:latin typeface="Calibri"/>
                        </a:rPr>
                        <a:t>—</a:t>
                      </a:r>
                    </a:p>
                  </a:txBody>
                  <a:tcPr marL="64008" marR="45720" marT="18288" marB="18288" anchor="ctr">
                    <a:solidFill>
                      <a:srgbClr val="FFFFFF"/>
                    </a:solidFill>
                  </a:tcPr>
                </a:tc>
              </a:tr>
              <a:tr h="342900">
                <a:tc>
                  <a:txBody>
                    <a:bodyPr wrap="square"/>
                    <a:lstStyle/>
                    <a:p>
                      <a:pPr algn="l"/>
                      <a:r>
                        <a:rPr sz="1050" b="0">
                          <a:solidFill>
                            <a:srgbClr val="1B2A38"/>
                          </a:solidFill>
                          <a:latin typeface="Calibri"/>
                        </a:rPr>
                        <a:t>MTL-OCA (seg)</a:t>
                      </a:r>
                    </a:p>
                  </a:txBody>
                  <a:tcPr marL="64008" marR="45720" marT="18288" marB="18288" anchor="ctr">
                    <a:solidFill>
                      <a:srgbClr val="EEF3F5"/>
                    </a:solidFill>
                  </a:tcPr>
                </a:tc>
                <a:tc>
                  <a:txBody>
                    <a:bodyPr wrap="square"/>
                    <a:lstStyle/>
                    <a:p>
                      <a:pPr algn="ctr"/>
                      <a:r>
                        <a:rPr sz="1050" b="0">
                          <a:solidFill>
                            <a:srgbClr val="1B2A38"/>
                          </a:solidFill>
                          <a:latin typeface="Calibri"/>
                        </a:rPr>
                        <a:t>joint</a:t>
                      </a:r>
                    </a:p>
                  </a:txBody>
                  <a:tcPr marL="64008" marR="45720" marT="18288" marB="18288" anchor="ctr">
                    <a:solidFill>
                      <a:srgbClr val="EEF3F5"/>
                    </a:solidFill>
                  </a:tcPr>
                </a:tc>
                <a:tc>
                  <a:txBody>
                    <a:bodyPr wrap="square"/>
                    <a:lstStyle/>
                    <a:p>
                      <a:pPr algn="ctr"/>
                      <a:r>
                        <a:rPr sz="1050" b="0">
                          <a:solidFill>
                            <a:srgbClr val="1B2A38"/>
                          </a:solidFill>
                          <a:latin typeface="Calibri"/>
                        </a:rPr>
                        <a:t>0.612</a:t>
                      </a:r>
                    </a:p>
                  </a:txBody>
                  <a:tcPr marL="64008" marR="45720" marT="18288" marB="18288" anchor="ctr">
                    <a:solidFill>
                      <a:srgbClr val="EEF3F5"/>
                    </a:solidFill>
                  </a:tcPr>
                </a:tc>
                <a:tc>
                  <a:txBody>
                    <a:bodyPr wrap="square"/>
                    <a:lstStyle/>
                    <a:p>
                      <a:pPr algn="ctr"/>
                      <a:r>
                        <a:rPr sz="1050" b="0">
                          <a:solidFill>
                            <a:srgbClr val="1B2A38"/>
                          </a:solidFill>
                          <a:latin typeface="Calibri"/>
                        </a:rPr>
                        <a:t>0.515</a:t>
                      </a:r>
                    </a:p>
                  </a:txBody>
                  <a:tcPr marL="64008" marR="45720" marT="18288" marB="18288" anchor="ctr">
                    <a:solidFill>
                      <a:srgbClr val="EEF3F5"/>
                    </a:solidFill>
                  </a:tcPr>
                </a:tc>
                <a:tc>
                  <a:txBody>
                    <a:bodyPr wrap="square"/>
                    <a:lstStyle/>
                    <a:p>
                      <a:pPr algn="ctr"/>
                      <a:r>
                        <a:rPr sz="1050" b="0">
                          <a:solidFill>
                            <a:srgbClr val="1B2A38"/>
                          </a:solidFill>
                          <a:latin typeface="Calibri"/>
                        </a:rPr>
                        <a:t>—</a:t>
                      </a:r>
                    </a:p>
                  </a:txBody>
                  <a:tcPr marL="64008" marR="45720" marT="18288" marB="18288" anchor="ctr">
                    <a:solidFill>
                      <a:srgbClr val="EEF3F5"/>
                    </a:solidFill>
                  </a:tcPr>
                </a:tc>
                <a:tc>
                  <a:txBody>
                    <a:bodyPr wrap="square"/>
                    <a:lstStyle/>
                    <a:p>
                      <a:pPr algn="ctr"/>
                      <a:r>
                        <a:rPr sz="1050" b="0">
                          <a:solidFill>
                            <a:srgbClr val="1B2A38"/>
                          </a:solidFill>
                          <a:latin typeface="Calibri"/>
                        </a:rPr>
                        <a:t>8.2M</a:t>
                      </a:r>
                    </a:p>
                  </a:txBody>
                  <a:tcPr marL="64008" marR="45720" marT="18288" marB="18288" anchor="ctr">
                    <a:solidFill>
                      <a:srgbClr val="EEF3F5"/>
                    </a:solidFill>
                  </a:tcPr>
                </a:tc>
                <a:tc>
                  <a:txBody>
                    <a:bodyPr wrap="square"/>
                    <a:lstStyle/>
                    <a:p>
                      <a:pPr algn="ctr"/>
                      <a:r>
                        <a:rPr sz="1050" b="0">
                          <a:solidFill>
                            <a:srgbClr val="1B2A38"/>
                          </a:solidFill>
                          <a:latin typeface="Calibri"/>
                        </a:rPr>
                        <a:t>0.838</a:t>
                      </a:r>
                    </a:p>
                  </a:txBody>
                  <a:tcPr marL="64008" marR="45720" marT="18288" marB="18288" anchor="ctr">
                    <a:solidFill>
                      <a:srgbClr val="EEF3F5"/>
                    </a:solidFill>
                  </a:tcPr>
                </a:tc>
              </a:tr>
              <a:tr h="342900">
                <a:tc>
                  <a:txBody>
                    <a:bodyPr wrap="square"/>
                    <a:lstStyle/>
                    <a:p>
                      <a:pPr algn="l"/>
                      <a:r>
                        <a:rPr sz="1050" b="0">
                          <a:solidFill>
                            <a:srgbClr val="1B2A38"/>
                          </a:solidFill>
                          <a:latin typeface="Calibri"/>
                        </a:rPr>
                        <a:t>FCN-AlexNet</a:t>
                      </a:r>
                    </a:p>
                  </a:txBody>
                  <a:tcPr marL="64008" marR="45720" marT="18288" marB="18288" anchor="ctr">
                    <a:solidFill>
                      <a:srgbClr val="FFFFFF"/>
                    </a:solidFill>
                  </a:tcPr>
                </a:tc>
                <a:tc>
                  <a:txBody>
                    <a:bodyPr wrap="square"/>
                    <a:lstStyle/>
                    <a:p>
                      <a:pPr algn="ctr"/>
                      <a:r>
                        <a:rPr sz="1050" b="0">
                          <a:solidFill>
                            <a:srgbClr val="1B2A38"/>
                          </a:solidFill>
                          <a:latin typeface="Calibri"/>
                        </a:rPr>
                        <a:t>transfer</a:t>
                      </a:r>
                    </a:p>
                  </a:txBody>
                  <a:tcPr marL="64008" marR="45720" marT="18288" marB="18288" anchor="ctr">
                    <a:solidFill>
                      <a:srgbClr val="FFFFFF"/>
                    </a:solidFill>
                  </a:tcPr>
                </a:tc>
                <a:tc>
                  <a:txBody>
                    <a:bodyPr wrap="square"/>
                    <a:lstStyle/>
                    <a:p>
                      <a:pPr algn="ctr"/>
                      <a:r>
                        <a:rPr sz="1050" b="0">
                          <a:solidFill>
                            <a:srgbClr val="1B2A38"/>
                          </a:solidFill>
                          <a:latin typeface="Calibri"/>
                        </a:rPr>
                        <a:t>0.582</a:t>
                      </a:r>
                    </a:p>
                  </a:txBody>
                  <a:tcPr marL="64008" marR="45720" marT="18288" marB="18288" anchor="ctr">
                    <a:solidFill>
                      <a:srgbClr val="FFFFFF"/>
                    </a:solidFill>
                  </a:tcPr>
                </a:tc>
                <a:tc>
                  <a:txBody>
                    <a:bodyPr wrap="square"/>
                    <a:lstStyle/>
                    <a:p>
                      <a:pPr algn="ctr"/>
                      <a:r>
                        <a:rPr sz="1050" b="0">
                          <a:solidFill>
                            <a:srgbClr val="1B2A38"/>
                          </a:solidFill>
                          <a:latin typeface="Calibri"/>
                        </a:rPr>
                        <a:t>0.471</a:t>
                      </a:r>
                    </a:p>
                  </a:txBody>
                  <a:tcPr marL="64008" marR="45720" marT="18288" marB="18288" anchor="ctr">
                    <a:solidFill>
                      <a:srgbClr val="FFFFFF"/>
                    </a:solidFill>
                  </a:tcPr>
                </a:tc>
                <a:tc>
                  <a:txBody>
                    <a:bodyPr wrap="square"/>
                    <a:lstStyle/>
                    <a:p>
                      <a:pPr algn="ctr"/>
                      <a:r>
                        <a:rPr sz="1050" b="0">
                          <a:solidFill>
                            <a:srgbClr val="1B2A38"/>
                          </a:solidFill>
                          <a:latin typeface="Calibri"/>
                        </a:rPr>
                        <a:t>0.804</a:t>
                      </a:r>
                    </a:p>
                  </a:txBody>
                  <a:tcPr marL="64008" marR="45720" marT="18288" marB="18288" anchor="ctr">
                    <a:solidFill>
                      <a:srgbClr val="FFFFFF"/>
                    </a:solidFill>
                  </a:tcPr>
                </a:tc>
                <a:tc>
                  <a:txBody>
                    <a:bodyPr wrap="square"/>
                    <a:lstStyle/>
                    <a:p>
                      <a:pPr algn="ctr"/>
                      <a:r>
                        <a:rPr sz="1050" b="0">
                          <a:solidFill>
                            <a:srgbClr val="1B2A38"/>
                          </a:solidFill>
                          <a:latin typeface="Calibri"/>
                        </a:rPr>
                        <a:t>28.7M</a:t>
                      </a:r>
                    </a:p>
                  </a:txBody>
                  <a:tcPr marL="64008" marR="45720" marT="18288" marB="18288" anchor="ctr">
                    <a:solidFill>
                      <a:srgbClr val="FFFFFF"/>
                    </a:solidFill>
                  </a:tcPr>
                </a:tc>
                <a:tc>
                  <a:txBody>
                    <a:bodyPr wrap="square"/>
                    <a:lstStyle/>
                    <a:p>
                      <a:pPr algn="ctr"/>
                      <a:r>
                        <a:rPr sz="1050" b="0">
                          <a:solidFill>
                            <a:srgbClr val="1B2A38"/>
                          </a:solidFill>
                          <a:latin typeface="Calibri"/>
                        </a:rPr>
                        <a:t>—</a:t>
                      </a:r>
                    </a:p>
                  </a:txBody>
                  <a:tcPr marL="64008" marR="45720" marT="18288" marB="18288" anchor="ctr">
                    <a:solidFill>
                      <a:srgbClr val="FFFFFF"/>
                    </a:solidFill>
                  </a:tcPr>
                </a:tc>
              </a:tr>
            </a:tbl>
          </a:graphicData>
        </a:graphic>
      </p:graphicFrame>
      <p:sp>
        <p:nvSpPr>
          <p:cNvPr id="11" name="Rounded Rectangle 10"/>
          <p:cNvSpPr/>
          <p:nvPr/>
        </p:nvSpPr>
        <p:spPr>
          <a:xfrm>
            <a:off x="7909560" y="1554480"/>
            <a:ext cx="3520440" cy="4434840"/>
          </a:xfrm>
          <a:prstGeom prst="roundRect">
            <a:avLst/>
          </a:prstGeom>
          <a:solidFill>
            <a:srgbClr val="F1F6F8"/>
          </a:solidFill>
          <a:ln w="9525">
            <a:solidFill>
              <a:srgbClr val="CBD8DE"/>
            </a:solidFill>
          </a:ln>
          <a:effectLst/>
          <a:effectLst>
            <a:outerShdw blurRad="90000" dist="38100" dir="5400000" rotWithShape="0">
              <a:srgbClr val="1B2A38">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10727" y="1700784"/>
            <a:ext cx="3108960" cy="365760"/>
          </a:xfrm>
          <a:prstGeom prst="rect">
            <a:avLst/>
          </a:prstGeom>
          <a:noFill/>
        </p:spPr>
        <p:txBody>
          <a:bodyPr wrap="square" anchor="t" lIns="0" rIns="0" tIns="0" bIns="0">
            <a:spAutoFit/>
          </a:bodyPr>
          <a:lstStyle/>
          <a:p>
            <a:pPr algn="l">
              <a:lnSpc>
                <a:spcPct val="100000"/>
              </a:lnSpc>
              <a:spcBef>
                <a:spcPts val="0"/>
              </a:spcBef>
              <a:spcAft>
                <a:spcPts val="400"/>
              </a:spcAft>
            </a:pPr>
            <a:r>
              <a:rPr sz="1350" b="1" i="0">
                <a:solidFill>
                  <a:srgbClr val="0E4D64"/>
                </a:solidFill>
                <a:latin typeface="Calibri"/>
              </a:rPr>
              <a:t>Reading the board</a:t>
            </a:r>
          </a:p>
        </p:txBody>
      </p:sp>
      <p:sp>
        <p:nvSpPr>
          <p:cNvPr id="13" name="TextBox 12"/>
          <p:cNvSpPr txBox="1"/>
          <p:nvPr/>
        </p:nvSpPr>
        <p:spPr>
          <a:xfrm>
            <a:off x="8110727" y="2148840"/>
            <a:ext cx="3127248" cy="3749039"/>
          </a:xfrm>
          <a:prstGeom prst="rect">
            <a:avLst/>
          </a:prstGeom>
          <a:noFill/>
        </p:spPr>
        <p:txBody>
          <a:bodyPr wrap="square" lIns="0" rIns="0" tIns="0" bIns="0">
            <a:spAutoFit/>
          </a:bodyPr>
          <a:lstStyle/>
          <a:p>
            <a:pPr>
              <a:lnSpc>
                <a:spcPct val="102000"/>
              </a:lnSpc>
              <a:spcBef>
                <a:spcPts val="0"/>
              </a:spcBef>
              <a:spcAft>
                <a:spcPts val="1000"/>
              </a:spcAft>
            </a:pPr>
            <a:r>
              <a:rPr sz="1150" b="1">
                <a:solidFill>
                  <a:srgbClr val="E8A33D"/>
                </a:solidFill>
                <a:latin typeface="Calibri"/>
              </a:rPr>
              <a:t>•  </a:t>
            </a:r>
            <a:r>
              <a:rPr sz="1150" b="1">
                <a:solidFill>
                  <a:srgbClr val="0E4D64"/>
                </a:solidFill>
                <a:latin typeface="Calibri"/>
              </a:rPr>
              <a:t>① </a:t>
            </a:r>
            <a:r>
              <a:rPr sz="1150" b="0">
                <a:solidFill>
                  <a:srgbClr val="1B2A38"/>
                </a:solidFill>
                <a:latin typeface="Calibri"/>
              </a:rPr>
              <a:t>our pretrained U-Net wins (Dice 0.760).</a:t>
            </a:r>
          </a:p>
          <a:p>
            <a:pPr>
              <a:lnSpc>
                <a:spcPct val="102000"/>
              </a:lnSpc>
              <a:spcBef>
                <a:spcPts val="0"/>
              </a:spcBef>
              <a:spcAft>
                <a:spcPts val="1000"/>
              </a:spcAft>
            </a:pPr>
            <a:r>
              <a:rPr sz="1150" b="1">
                <a:solidFill>
                  <a:srgbClr val="E8A33D"/>
                </a:solidFill>
                <a:latin typeface="Calibri"/>
              </a:rPr>
              <a:t>•  </a:t>
            </a:r>
            <a:r>
              <a:rPr sz="1150" b="1">
                <a:solidFill>
                  <a:srgbClr val="0E4D64"/>
                </a:solidFill>
                <a:latin typeface="Calibri"/>
              </a:rPr>
              <a:t>② </a:t>
            </a:r>
            <a:r>
              <a:rPr sz="1150" b="0">
                <a:solidFill>
                  <a:srgbClr val="1B2A38"/>
                </a:solidFill>
                <a:latin typeface="Calibri"/>
              </a:rPr>
              <a:t>reproductions fall below paper numbers (CResU 0.829→0.693) — leakage removed = honest.</a:t>
            </a:r>
          </a:p>
          <a:p>
            <a:pPr>
              <a:lnSpc>
                <a:spcPct val="102000"/>
              </a:lnSpc>
              <a:spcBef>
                <a:spcPts val="0"/>
              </a:spcBef>
              <a:spcAft>
                <a:spcPts val="1000"/>
              </a:spcAft>
            </a:pPr>
            <a:r>
              <a:rPr sz="1150" b="1">
                <a:solidFill>
                  <a:srgbClr val="E8A33D"/>
                </a:solidFill>
                <a:latin typeface="Calibri"/>
              </a:rPr>
              <a:t>•  </a:t>
            </a:r>
            <a:r>
              <a:rPr sz="1150" b="1">
                <a:solidFill>
                  <a:srgbClr val="0E4D64"/>
                </a:solidFill>
                <a:latin typeface="Calibri"/>
              </a:rPr>
              <a:t>③ </a:t>
            </a:r>
            <a:r>
              <a:rPr sz="1150" b="0">
                <a:solidFill>
                  <a:srgbClr val="1B2A38"/>
                </a:solidFill>
                <a:latin typeface="Calibri"/>
              </a:rPr>
              <a:t>nnU-Net (0.717) does NOT dominate — a good pretrained encoder beats a heavy framework.</a:t>
            </a:r>
          </a:p>
          <a:p>
            <a:pPr>
              <a:lnSpc>
                <a:spcPct val="102000"/>
              </a:lnSpc>
              <a:spcBef>
                <a:spcPts val="0"/>
              </a:spcBef>
              <a:spcAft>
                <a:spcPts val="1000"/>
              </a:spcAft>
            </a:pPr>
            <a:r>
              <a:rPr sz="1150" b="1">
                <a:solidFill>
                  <a:srgbClr val="E8A33D"/>
                </a:solidFill>
                <a:latin typeface="Calibri"/>
              </a:rPr>
              <a:t>•  </a:t>
            </a:r>
            <a:r>
              <a:rPr sz="1150" b="1">
                <a:solidFill>
                  <a:srgbClr val="0E4D64"/>
                </a:solidFill>
                <a:latin typeface="Calibri"/>
              </a:rPr>
              <a:t>④ </a:t>
            </a:r>
            <a:r>
              <a:rPr sz="1150" b="0">
                <a:solidFill>
                  <a:srgbClr val="1B2A38"/>
                </a:solidFill>
                <a:latin typeface="Calibri"/>
              </a:rPr>
              <a:t>U-Net 0.648 vs Attn 0.629 (same recipe) → attention gate doesn't help here.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 y="475488"/>
            <a:ext cx="118872" cy="658368"/>
          </a:xfrm>
          <a:prstGeom prst="rect">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457200"/>
            <a:ext cx="10789920" cy="320040"/>
          </a:xfrm>
          <a:prstGeom prst="rect">
            <a:avLst/>
          </a:prstGeom>
          <a:noFill/>
        </p:spPr>
        <p:txBody>
          <a:bodyPr wrap="square" anchor="t" lIns="0" rIns="0" tIns="0" bIns="0">
            <a:spAutoFit/>
          </a:bodyPr>
          <a:lstStyle/>
          <a:p>
            <a:pPr algn="l">
              <a:lnSpc>
                <a:spcPct val="100000"/>
              </a:lnSpc>
              <a:spcBef>
                <a:spcPts val="0"/>
              </a:spcBef>
              <a:spcAft>
                <a:spcPts val="400"/>
              </a:spcAft>
            </a:pPr>
            <a:r>
              <a:rPr sz="1250" b="1" i="0">
                <a:solidFill>
                  <a:srgbClr val="E8A33D"/>
                </a:solidFill>
                <a:latin typeface="Calibri"/>
              </a:rPr>
              <a:t>5 · RESULTS</a:t>
            </a:r>
          </a:p>
        </p:txBody>
      </p:sp>
      <p:sp>
        <p:nvSpPr>
          <p:cNvPr id="6" name="TextBox 5"/>
          <p:cNvSpPr txBox="1"/>
          <p:nvPr/>
        </p:nvSpPr>
        <p:spPr>
          <a:xfrm>
            <a:off x="777240" y="713232"/>
            <a:ext cx="10881360" cy="566928"/>
          </a:xfrm>
          <a:prstGeom prst="rect">
            <a:avLst/>
          </a:prstGeom>
          <a:noFill/>
        </p:spPr>
        <p:txBody>
          <a:bodyPr wrap="square" anchor="t" lIns="0" rIns="0" tIns="0" bIns="0">
            <a:spAutoFit/>
          </a:bodyPr>
          <a:lstStyle/>
          <a:p>
            <a:pPr algn="l">
              <a:lnSpc>
                <a:spcPct val="100000"/>
              </a:lnSpc>
              <a:spcBef>
                <a:spcPts val="0"/>
              </a:spcBef>
              <a:spcAft>
                <a:spcPts val="400"/>
              </a:spcAft>
            </a:pPr>
            <a:r>
              <a:rPr sz="2500" b="1" i="0">
                <a:solidFill>
                  <a:srgbClr val="1B2A38"/>
                </a:solidFill>
                <a:latin typeface="Calibri"/>
              </a:rPr>
              <a:t>Classification results (3-class, 118 imgs)</a:t>
            </a:r>
          </a:p>
        </p:txBody>
      </p:sp>
      <p:sp>
        <p:nvSpPr>
          <p:cNvPr id="7" name="Rectangle 6"/>
          <p:cNvSpPr/>
          <p:nvPr/>
        </p:nvSpPr>
        <p:spPr>
          <a:xfrm>
            <a:off x="777240" y="1316736"/>
            <a:ext cx="10634472" cy="18288"/>
          </a:xfrm>
          <a:prstGeom prst="rect">
            <a:avLst/>
          </a:prstGeom>
          <a:solidFill>
            <a:srgbClr val="CBD8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73952"/>
            <a:ext cx="7315200" cy="274320"/>
          </a:xfrm>
          <a:prstGeom prst="rect">
            <a:avLst/>
          </a:prstGeom>
          <a:noFill/>
        </p:spPr>
        <p:txBody>
          <a:bodyPr wrap="square" anchor="t" lIns="0" rIns="0" tIns="0" bIns="0">
            <a:spAutoFit/>
          </a:bodyPr>
          <a:lstStyle/>
          <a:p>
            <a:pPr algn="l">
              <a:lnSpc>
                <a:spcPct val="100000"/>
              </a:lnSpc>
              <a:spcBef>
                <a:spcPts val="0"/>
              </a:spcBef>
              <a:spcAft>
                <a:spcPts val="400"/>
              </a:spcAft>
            </a:pPr>
            <a:r>
              <a:rPr sz="900" b="0" i="0">
                <a:solidFill>
                  <a:srgbClr val="8A94A6"/>
                </a:solidFill>
                <a:latin typeface="Calibri"/>
              </a:rPr>
              <a:t>COMP9444 · Group Project 047 · Breast Ultrasound (BUSI)</a:t>
            </a:r>
          </a:p>
        </p:txBody>
      </p:sp>
      <p:sp>
        <p:nvSpPr>
          <p:cNvPr id="9" name="TextBox 8"/>
          <p:cNvSpPr txBox="1"/>
          <p:nvPr/>
        </p:nvSpPr>
        <p:spPr>
          <a:xfrm>
            <a:off x="11064240" y="6473952"/>
            <a:ext cx="685800" cy="274320"/>
          </a:xfrm>
          <a:prstGeom prst="rect">
            <a:avLst/>
          </a:prstGeom>
          <a:noFill/>
        </p:spPr>
        <p:txBody>
          <a:bodyPr wrap="square" anchor="t" lIns="0" rIns="0" tIns="0" bIns="0">
            <a:spAutoFit/>
          </a:bodyPr>
          <a:lstStyle/>
          <a:p>
            <a:pPr algn="r">
              <a:lnSpc>
                <a:spcPct val="100000"/>
              </a:lnSpc>
              <a:spcBef>
                <a:spcPts val="0"/>
              </a:spcBef>
              <a:spcAft>
                <a:spcPts val="400"/>
              </a:spcAft>
            </a:pPr>
            <a:r>
              <a:rPr sz="900" b="1" i="0">
                <a:solidFill>
                  <a:srgbClr val="8A94A6"/>
                </a:solidFill>
                <a:latin typeface="Calibri"/>
              </a:rPr>
              <a:t>22</a:t>
            </a:r>
          </a:p>
        </p:txBody>
      </p:sp>
      <p:graphicFrame>
        <p:nvGraphicFramePr>
          <p:cNvPr id="10" name="Table 9"/>
          <p:cNvGraphicFramePr>
            <a:graphicFrameLocks noGrp="1"/>
          </p:cNvGraphicFramePr>
          <p:nvPr/>
        </p:nvGraphicFramePr>
        <p:xfrm>
          <a:off x="777240" y="1600200"/>
          <a:ext cx="6126480" cy="2240280"/>
        </p:xfrm>
        <a:graphic>
          <a:graphicData uri="http://schemas.openxmlformats.org/drawingml/2006/table">
            <a:tbl>
              <a:tblPr>
                <a:tableStyleId>{5C22544A-7EE6-4342-B048-85BDC9FD1C3A}</a:tableStyleId>
              </a:tblPr>
              <a:tblGrid>
                <a:gridCol w="2286000"/>
                <a:gridCol w="1051560"/>
                <a:gridCol w="1005840"/>
                <a:gridCol w="960120"/>
                <a:gridCol w="822960"/>
              </a:tblGrid>
              <a:tr h="411480">
                <a:tc>
                  <a:txBody>
                    <a:bodyPr wrap="square"/>
                    <a:lstStyle/>
                    <a:p>
                      <a:pPr algn="l"/>
                      <a:r>
                        <a:rPr sz="1250" b="1">
                          <a:solidFill>
                            <a:srgbClr val="FFFFFF"/>
                          </a:solidFill>
                          <a:latin typeface="Calibri"/>
                        </a:rPr>
                        <a:t>Model</a:t>
                      </a:r>
                    </a:p>
                  </a:txBody>
                  <a:tcPr marL="64008" marR="45720" marT="18288" marB="18288" anchor="ctr">
                    <a:solidFill>
                      <a:srgbClr val="0E4D64"/>
                    </a:solidFill>
                  </a:tcPr>
                </a:tc>
                <a:tc>
                  <a:txBody>
                    <a:bodyPr wrap="square"/>
                    <a:lstStyle/>
                    <a:p>
                      <a:pPr algn="ctr"/>
                      <a:r>
                        <a:rPr sz="1250" b="1">
                          <a:solidFill>
                            <a:srgbClr val="FFFFFF"/>
                          </a:solidFill>
                          <a:latin typeface="Calibri"/>
                        </a:rPr>
                        <a:t>Type</a:t>
                      </a:r>
                    </a:p>
                  </a:txBody>
                  <a:tcPr marL="64008" marR="45720" marT="18288" marB="18288" anchor="ctr">
                    <a:solidFill>
                      <a:srgbClr val="0E4D64"/>
                    </a:solidFill>
                  </a:tcPr>
                </a:tc>
                <a:tc>
                  <a:txBody>
                    <a:bodyPr wrap="square"/>
                    <a:lstStyle/>
                    <a:p>
                      <a:pPr algn="ctr"/>
                      <a:r>
                        <a:rPr sz="1250" b="1">
                          <a:solidFill>
                            <a:srgbClr val="FFFFFF"/>
                          </a:solidFill>
                          <a:latin typeface="Calibri"/>
                        </a:rPr>
                        <a:t>macro-F1</a:t>
                      </a:r>
                    </a:p>
                  </a:txBody>
                  <a:tcPr marL="64008" marR="45720" marT="18288" marB="18288" anchor="ctr">
                    <a:solidFill>
                      <a:srgbClr val="0E4D64"/>
                    </a:solidFill>
                  </a:tcPr>
                </a:tc>
                <a:tc>
                  <a:txBody>
                    <a:bodyPr wrap="square"/>
                    <a:lstStyle/>
                    <a:p>
                      <a:pPr algn="ctr"/>
                      <a:r>
                        <a:rPr sz="1250" b="1">
                          <a:solidFill>
                            <a:srgbClr val="FFFFFF"/>
                          </a:solidFill>
                          <a:latin typeface="Calibri"/>
                        </a:rPr>
                        <a:t>Accuracy</a:t>
                      </a:r>
                    </a:p>
                  </a:txBody>
                  <a:tcPr marL="64008" marR="45720" marT="18288" marB="18288" anchor="ctr">
                    <a:solidFill>
                      <a:srgbClr val="0E4D64"/>
                    </a:solidFill>
                  </a:tcPr>
                </a:tc>
                <a:tc>
                  <a:txBody>
                    <a:bodyPr wrap="square"/>
                    <a:lstStyle/>
                    <a:p>
                      <a:pPr algn="ctr"/>
                      <a:r>
                        <a:rPr sz="1250" b="1">
                          <a:solidFill>
                            <a:srgbClr val="FFFFFF"/>
                          </a:solidFill>
                          <a:latin typeface="Calibri"/>
                        </a:rPr>
                        <a:t>AUC</a:t>
                      </a:r>
                    </a:p>
                  </a:txBody>
                  <a:tcPr marL="64008" marR="45720" marT="18288" marB="18288" anchor="ctr">
                    <a:solidFill>
                      <a:srgbClr val="0E4D64"/>
                    </a:solidFill>
                  </a:tcPr>
                </a:tc>
              </a:tr>
              <a:tr h="457200">
                <a:tc>
                  <a:txBody>
                    <a:bodyPr wrap="square"/>
                    <a:lstStyle/>
                    <a:p>
                      <a:pPr algn="l"/>
                      <a:r>
                        <a:rPr sz="1250" b="1">
                          <a:solidFill>
                            <a:srgbClr val="1B2A38"/>
                          </a:solidFill>
                          <a:latin typeface="Calibri"/>
                        </a:rPr>
                        <a:t>EfficientNet-B0</a:t>
                      </a:r>
                    </a:p>
                  </a:txBody>
                  <a:tcPr marL="64008" marR="45720" marT="18288" marB="18288" anchor="ctr">
                    <a:solidFill>
                      <a:srgbClr val="FFF3D6"/>
                    </a:solidFill>
                  </a:tcPr>
                </a:tc>
                <a:tc>
                  <a:txBody>
                    <a:bodyPr wrap="square"/>
                    <a:lstStyle/>
                    <a:p>
                      <a:pPr algn="ctr"/>
                      <a:r>
                        <a:rPr sz="1250" b="1">
                          <a:solidFill>
                            <a:srgbClr val="1B2A38"/>
                          </a:solidFill>
                          <a:latin typeface="Calibri"/>
                        </a:rPr>
                        <a:t>transfer</a:t>
                      </a:r>
                    </a:p>
                  </a:txBody>
                  <a:tcPr marL="64008" marR="45720" marT="18288" marB="18288" anchor="ctr">
                    <a:solidFill>
                      <a:srgbClr val="FFF3D6"/>
                    </a:solidFill>
                  </a:tcPr>
                </a:tc>
                <a:tc>
                  <a:txBody>
                    <a:bodyPr wrap="square"/>
                    <a:lstStyle/>
                    <a:p>
                      <a:pPr algn="ctr"/>
                      <a:r>
                        <a:rPr sz="1250" b="1">
                          <a:solidFill>
                            <a:srgbClr val="1B2A38"/>
                          </a:solidFill>
                          <a:latin typeface="Calibri"/>
                        </a:rPr>
                        <a:t>0.828</a:t>
                      </a:r>
                    </a:p>
                  </a:txBody>
                  <a:tcPr marL="64008" marR="45720" marT="18288" marB="18288" anchor="ctr">
                    <a:solidFill>
                      <a:srgbClr val="FFF3D6"/>
                    </a:solidFill>
                  </a:tcPr>
                </a:tc>
                <a:tc>
                  <a:txBody>
                    <a:bodyPr wrap="square"/>
                    <a:lstStyle/>
                    <a:p>
                      <a:pPr algn="ctr"/>
                      <a:r>
                        <a:rPr sz="1250" b="1">
                          <a:solidFill>
                            <a:srgbClr val="1B2A38"/>
                          </a:solidFill>
                          <a:latin typeface="Calibri"/>
                        </a:rPr>
                        <a:t>0.848</a:t>
                      </a:r>
                    </a:p>
                  </a:txBody>
                  <a:tcPr marL="64008" marR="45720" marT="18288" marB="18288" anchor="ctr">
                    <a:solidFill>
                      <a:srgbClr val="FFF3D6"/>
                    </a:solidFill>
                  </a:tcPr>
                </a:tc>
                <a:tc>
                  <a:txBody>
                    <a:bodyPr wrap="square"/>
                    <a:lstStyle/>
                    <a:p>
                      <a:pPr algn="ctr"/>
                      <a:r>
                        <a:rPr sz="1250" b="1">
                          <a:solidFill>
                            <a:srgbClr val="1B2A38"/>
                          </a:solidFill>
                          <a:latin typeface="Calibri"/>
                        </a:rPr>
                        <a:t>0.969</a:t>
                      </a:r>
                    </a:p>
                  </a:txBody>
                  <a:tcPr marL="64008" marR="45720" marT="18288" marB="18288" anchor="ctr">
                    <a:solidFill>
                      <a:srgbClr val="FFF3D6"/>
                    </a:solidFill>
                  </a:tcPr>
                </a:tc>
              </a:tr>
              <a:tr h="457200">
                <a:tc>
                  <a:txBody>
                    <a:bodyPr wrap="square"/>
                    <a:lstStyle/>
                    <a:p>
                      <a:pPr algn="l"/>
                      <a:r>
                        <a:rPr sz="1250" b="0">
                          <a:solidFill>
                            <a:srgbClr val="1B2A38"/>
                          </a:solidFill>
                          <a:latin typeface="Calibri"/>
                        </a:rPr>
                        <a:t>ResNet-18</a:t>
                      </a:r>
                    </a:p>
                  </a:txBody>
                  <a:tcPr marL="64008" marR="45720" marT="18288" marB="18288" anchor="ctr">
                    <a:solidFill>
                      <a:srgbClr val="EEF3F5"/>
                    </a:solidFill>
                  </a:tcPr>
                </a:tc>
                <a:tc>
                  <a:txBody>
                    <a:bodyPr wrap="square"/>
                    <a:lstStyle/>
                    <a:p>
                      <a:pPr algn="ctr"/>
                      <a:r>
                        <a:rPr sz="1250" b="0">
                          <a:solidFill>
                            <a:srgbClr val="1B2A38"/>
                          </a:solidFill>
                          <a:latin typeface="Calibri"/>
                        </a:rPr>
                        <a:t>transfer</a:t>
                      </a:r>
                    </a:p>
                  </a:txBody>
                  <a:tcPr marL="64008" marR="45720" marT="18288" marB="18288" anchor="ctr">
                    <a:solidFill>
                      <a:srgbClr val="EEF3F5"/>
                    </a:solidFill>
                  </a:tcPr>
                </a:tc>
                <a:tc>
                  <a:txBody>
                    <a:bodyPr wrap="square"/>
                    <a:lstStyle/>
                    <a:p>
                      <a:pPr algn="ctr"/>
                      <a:r>
                        <a:rPr sz="1250" b="0">
                          <a:solidFill>
                            <a:srgbClr val="1B2A38"/>
                          </a:solidFill>
                          <a:latin typeface="Calibri"/>
                        </a:rPr>
                        <a:t>0.810</a:t>
                      </a:r>
                    </a:p>
                  </a:txBody>
                  <a:tcPr marL="64008" marR="45720" marT="18288" marB="18288" anchor="ctr">
                    <a:solidFill>
                      <a:srgbClr val="EEF3F5"/>
                    </a:solidFill>
                  </a:tcPr>
                </a:tc>
                <a:tc>
                  <a:txBody>
                    <a:bodyPr wrap="square"/>
                    <a:lstStyle/>
                    <a:p>
                      <a:pPr algn="ctr"/>
                      <a:r>
                        <a:rPr sz="1250" b="0">
                          <a:solidFill>
                            <a:srgbClr val="1B2A38"/>
                          </a:solidFill>
                          <a:latin typeface="Calibri"/>
                        </a:rPr>
                        <a:t>0.822</a:t>
                      </a:r>
                    </a:p>
                  </a:txBody>
                  <a:tcPr marL="64008" marR="45720" marT="18288" marB="18288" anchor="ctr">
                    <a:solidFill>
                      <a:srgbClr val="EEF3F5"/>
                    </a:solidFill>
                  </a:tcPr>
                </a:tc>
                <a:tc>
                  <a:txBody>
                    <a:bodyPr wrap="square"/>
                    <a:lstStyle/>
                    <a:p>
                      <a:pPr algn="ctr"/>
                      <a:r>
                        <a:rPr sz="1250" b="0">
                          <a:solidFill>
                            <a:srgbClr val="1B2A38"/>
                          </a:solidFill>
                          <a:latin typeface="Calibri"/>
                        </a:rPr>
                        <a:t>0.966</a:t>
                      </a:r>
                    </a:p>
                  </a:txBody>
                  <a:tcPr marL="64008" marR="45720" marT="18288" marB="18288" anchor="ctr">
                    <a:solidFill>
                      <a:srgbClr val="EEF3F5"/>
                    </a:solidFill>
                  </a:tcPr>
                </a:tc>
              </a:tr>
              <a:tr h="457200">
                <a:tc>
                  <a:txBody>
                    <a:bodyPr wrap="square"/>
                    <a:lstStyle/>
                    <a:p>
                      <a:pPr algn="l"/>
                      <a:r>
                        <a:rPr sz="1250" b="0">
                          <a:solidFill>
                            <a:srgbClr val="1B2A38"/>
                          </a:solidFill>
                          <a:latin typeface="Calibri"/>
                        </a:rPr>
                        <a:t>DenseNet-121</a:t>
                      </a:r>
                    </a:p>
                  </a:txBody>
                  <a:tcPr marL="64008" marR="45720" marT="18288" marB="18288" anchor="ctr">
                    <a:solidFill>
                      <a:srgbClr val="FFFFFF"/>
                    </a:solidFill>
                  </a:tcPr>
                </a:tc>
                <a:tc>
                  <a:txBody>
                    <a:bodyPr wrap="square"/>
                    <a:lstStyle/>
                    <a:p>
                      <a:pPr algn="ctr"/>
                      <a:r>
                        <a:rPr sz="1250" b="0">
                          <a:solidFill>
                            <a:srgbClr val="1B2A38"/>
                          </a:solidFill>
                          <a:latin typeface="Calibri"/>
                        </a:rPr>
                        <a:t>transfer</a:t>
                      </a:r>
                    </a:p>
                  </a:txBody>
                  <a:tcPr marL="64008" marR="45720" marT="18288" marB="18288" anchor="ctr">
                    <a:solidFill>
                      <a:srgbClr val="FFFFFF"/>
                    </a:solidFill>
                  </a:tcPr>
                </a:tc>
                <a:tc>
                  <a:txBody>
                    <a:bodyPr wrap="square"/>
                    <a:lstStyle/>
                    <a:p>
                      <a:pPr algn="ctr"/>
                      <a:r>
                        <a:rPr sz="1250" b="0">
                          <a:solidFill>
                            <a:srgbClr val="1B2A38"/>
                          </a:solidFill>
                          <a:latin typeface="Calibri"/>
                        </a:rPr>
                        <a:t>0.793</a:t>
                      </a:r>
                    </a:p>
                  </a:txBody>
                  <a:tcPr marL="64008" marR="45720" marT="18288" marB="18288" anchor="ctr">
                    <a:solidFill>
                      <a:srgbClr val="FFFFFF"/>
                    </a:solidFill>
                  </a:tcPr>
                </a:tc>
                <a:tc>
                  <a:txBody>
                    <a:bodyPr wrap="square"/>
                    <a:lstStyle/>
                    <a:p>
                      <a:pPr algn="ctr"/>
                      <a:r>
                        <a:rPr sz="1250" b="0">
                          <a:solidFill>
                            <a:srgbClr val="1B2A38"/>
                          </a:solidFill>
                          <a:latin typeface="Calibri"/>
                        </a:rPr>
                        <a:t>0.805</a:t>
                      </a:r>
                    </a:p>
                  </a:txBody>
                  <a:tcPr marL="64008" marR="45720" marT="18288" marB="18288" anchor="ctr">
                    <a:solidFill>
                      <a:srgbClr val="FFFFFF"/>
                    </a:solidFill>
                  </a:tcPr>
                </a:tc>
                <a:tc>
                  <a:txBody>
                    <a:bodyPr wrap="square"/>
                    <a:lstStyle/>
                    <a:p>
                      <a:pPr algn="ctr"/>
                      <a:r>
                        <a:rPr sz="1250" b="0">
                          <a:solidFill>
                            <a:srgbClr val="1B2A38"/>
                          </a:solidFill>
                          <a:latin typeface="Calibri"/>
                        </a:rPr>
                        <a:t>0.947</a:t>
                      </a:r>
                    </a:p>
                  </a:txBody>
                  <a:tcPr marL="64008" marR="45720" marT="18288" marB="18288" anchor="ctr">
                    <a:solidFill>
                      <a:srgbClr val="FFFFFF"/>
                    </a:solidFill>
                  </a:tcPr>
                </a:tc>
              </a:tr>
              <a:tr h="457200">
                <a:tc>
                  <a:txBody>
                    <a:bodyPr wrap="square"/>
                    <a:lstStyle/>
                    <a:p>
                      <a:pPr algn="l"/>
                      <a:r>
                        <a:rPr sz="1250" b="0">
                          <a:solidFill>
                            <a:srgbClr val="1B2A38"/>
                          </a:solidFill>
                          <a:latin typeface="Calibri"/>
                        </a:rPr>
                        <a:t>MTL-OCA (cls)</a:t>
                      </a:r>
                    </a:p>
                  </a:txBody>
                  <a:tcPr marL="64008" marR="45720" marT="18288" marB="18288" anchor="ctr">
                    <a:solidFill>
                      <a:srgbClr val="EEF3F5"/>
                    </a:solidFill>
                  </a:tcPr>
                </a:tc>
                <a:tc>
                  <a:txBody>
                    <a:bodyPr wrap="square"/>
                    <a:lstStyle/>
                    <a:p>
                      <a:pPr algn="ctr"/>
                      <a:r>
                        <a:rPr sz="1250" b="0">
                          <a:solidFill>
                            <a:srgbClr val="1B2A38"/>
                          </a:solidFill>
                          <a:latin typeface="Calibri"/>
                        </a:rPr>
                        <a:t>joint</a:t>
                      </a:r>
                    </a:p>
                  </a:txBody>
                  <a:tcPr marL="64008" marR="45720" marT="18288" marB="18288" anchor="ctr">
                    <a:solidFill>
                      <a:srgbClr val="EEF3F5"/>
                    </a:solidFill>
                  </a:tcPr>
                </a:tc>
                <a:tc>
                  <a:txBody>
                    <a:bodyPr wrap="square"/>
                    <a:lstStyle/>
                    <a:p>
                      <a:pPr algn="ctr"/>
                      <a:r>
                        <a:rPr sz="1250" b="0">
                          <a:solidFill>
                            <a:srgbClr val="1B2A38"/>
                          </a:solidFill>
                          <a:latin typeface="Calibri"/>
                        </a:rPr>
                        <a:t>0.720</a:t>
                      </a:r>
                    </a:p>
                  </a:txBody>
                  <a:tcPr marL="64008" marR="45720" marT="18288" marB="18288" anchor="ctr">
                    <a:solidFill>
                      <a:srgbClr val="EEF3F5"/>
                    </a:solidFill>
                  </a:tcPr>
                </a:tc>
                <a:tc>
                  <a:txBody>
                    <a:bodyPr wrap="square"/>
                    <a:lstStyle/>
                    <a:p>
                      <a:pPr algn="ctr"/>
                      <a:r>
                        <a:rPr sz="1250" b="0">
                          <a:solidFill>
                            <a:srgbClr val="1B2A38"/>
                          </a:solidFill>
                          <a:latin typeface="Calibri"/>
                        </a:rPr>
                        <a:t>0.746</a:t>
                      </a:r>
                    </a:p>
                  </a:txBody>
                  <a:tcPr marL="64008" marR="45720" marT="18288" marB="18288" anchor="ctr">
                    <a:solidFill>
                      <a:srgbClr val="EEF3F5"/>
                    </a:solidFill>
                  </a:tcPr>
                </a:tc>
                <a:tc>
                  <a:txBody>
                    <a:bodyPr wrap="square"/>
                    <a:lstStyle/>
                    <a:p>
                      <a:pPr algn="ctr"/>
                      <a:r>
                        <a:rPr sz="1250" b="0">
                          <a:solidFill>
                            <a:srgbClr val="1B2A38"/>
                          </a:solidFill>
                          <a:latin typeface="Calibri"/>
                        </a:rPr>
                        <a:t>0.900</a:t>
                      </a:r>
                    </a:p>
                  </a:txBody>
                  <a:tcPr marL="64008" marR="45720" marT="18288" marB="18288" anchor="ctr">
                    <a:solidFill>
                      <a:srgbClr val="EEF3F5"/>
                    </a:solidFill>
                  </a:tcPr>
                </a:tc>
              </a:tr>
            </a:tbl>
          </a:graphicData>
        </a:graphic>
      </p:graphicFrame>
      <p:pic>
        <p:nvPicPr>
          <p:cNvPr id="11" name="Picture 10" descr="EfficientNet_TanLe2019_confusion.png"/>
          <p:cNvPicPr>
            <a:picLocks noChangeAspect="1"/>
          </p:cNvPicPr>
          <p:nvPr/>
        </p:nvPicPr>
        <p:blipFill>
          <a:blip r:embed="rId2"/>
          <a:stretch>
            <a:fillRect/>
          </a:stretch>
        </p:blipFill>
        <p:spPr>
          <a:xfrm>
            <a:off x="1168146" y="3977639"/>
            <a:ext cx="2418587" cy="2103120"/>
          </a:xfrm>
          <a:prstGeom prst="rect">
            <a:avLst/>
          </a:prstGeom>
          <a:ln w="9525">
            <a:solidFill>
              <a:srgbClr val="CBD8DE"/>
            </a:solidFill>
          </a:ln>
        </p:spPr>
      </p:pic>
      <p:sp>
        <p:nvSpPr>
          <p:cNvPr id="12" name="TextBox 11"/>
          <p:cNvSpPr txBox="1"/>
          <p:nvPr/>
        </p:nvSpPr>
        <p:spPr>
          <a:xfrm>
            <a:off x="777240" y="3703320"/>
            <a:ext cx="3200400" cy="274320"/>
          </a:xfrm>
          <a:prstGeom prst="rect">
            <a:avLst/>
          </a:prstGeom>
          <a:noFill/>
        </p:spPr>
        <p:txBody>
          <a:bodyPr wrap="square" anchor="t" lIns="0" rIns="0" tIns="0" bIns="0">
            <a:spAutoFit/>
          </a:bodyPr>
          <a:lstStyle/>
          <a:p>
            <a:pPr algn="ctr">
              <a:lnSpc>
                <a:spcPct val="100000"/>
              </a:lnSpc>
              <a:spcBef>
                <a:spcPts val="0"/>
              </a:spcBef>
              <a:spcAft>
                <a:spcPts val="400"/>
              </a:spcAft>
            </a:pPr>
            <a:r>
              <a:rPr sz="1100" b="1" i="1">
                <a:solidFill>
                  <a:srgbClr val="45596B"/>
                </a:solidFill>
                <a:latin typeface="Calibri"/>
              </a:rPr>
              <a:t>Best model confusion matrix</a:t>
            </a:r>
          </a:p>
        </p:txBody>
      </p:sp>
      <p:sp>
        <p:nvSpPr>
          <p:cNvPr id="13" name="Rounded Rectangle 12"/>
          <p:cNvSpPr/>
          <p:nvPr/>
        </p:nvSpPr>
        <p:spPr>
          <a:xfrm>
            <a:off x="7086600" y="1600200"/>
            <a:ext cx="4343400" cy="4434840"/>
          </a:xfrm>
          <a:prstGeom prst="roundRect">
            <a:avLst/>
          </a:prstGeom>
          <a:solidFill>
            <a:srgbClr val="F1F6F8"/>
          </a:solidFill>
          <a:ln w="9525">
            <a:solidFill>
              <a:srgbClr val="CBD8DE"/>
            </a:solidFill>
          </a:ln>
          <a:effectLst/>
          <a:effectLst>
            <a:outerShdw blurRad="90000" dist="38100" dir="5400000" rotWithShape="0">
              <a:srgbClr val="1B2A38">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287768" y="1755648"/>
            <a:ext cx="3931920" cy="365760"/>
          </a:xfrm>
          <a:prstGeom prst="rect">
            <a:avLst/>
          </a:prstGeom>
          <a:noFill/>
        </p:spPr>
        <p:txBody>
          <a:bodyPr wrap="square" anchor="t" lIns="0" rIns="0" tIns="0" bIns="0">
            <a:spAutoFit/>
          </a:bodyPr>
          <a:lstStyle/>
          <a:p>
            <a:pPr algn="l">
              <a:lnSpc>
                <a:spcPct val="100000"/>
              </a:lnSpc>
              <a:spcBef>
                <a:spcPts val="0"/>
              </a:spcBef>
              <a:spcAft>
                <a:spcPts val="400"/>
              </a:spcAft>
            </a:pPr>
            <a:r>
              <a:rPr sz="1350" b="1" i="0">
                <a:solidFill>
                  <a:srgbClr val="0E4D64"/>
                </a:solidFill>
                <a:latin typeface="Calibri"/>
              </a:rPr>
              <a:t>Analysis</a:t>
            </a:r>
          </a:p>
        </p:txBody>
      </p:sp>
      <p:sp>
        <p:nvSpPr>
          <p:cNvPr id="15" name="TextBox 14"/>
          <p:cNvSpPr txBox="1"/>
          <p:nvPr/>
        </p:nvSpPr>
        <p:spPr>
          <a:xfrm>
            <a:off x="7287768" y="2212848"/>
            <a:ext cx="3950208" cy="3657600"/>
          </a:xfrm>
          <a:prstGeom prst="rect">
            <a:avLst/>
          </a:prstGeom>
          <a:noFill/>
        </p:spPr>
        <p:txBody>
          <a:bodyPr wrap="square" lIns="0" rIns="0" tIns="0" bIns="0">
            <a:spAutoFit/>
          </a:bodyPr>
          <a:lstStyle/>
          <a:p>
            <a:pPr>
              <a:lnSpc>
                <a:spcPct val="102000"/>
              </a:lnSpc>
              <a:spcBef>
                <a:spcPts val="0"/>
              </a:spcBef>
              <a:spcAft>
                <a:spcPts val="1100"/>
              </a:spcAft>
            </a:pPr>
            <a:r>
              <a:rPr sz="1250" b="1">
                <a:solidFill>
                  <a:srgbClr val="E8A33D"/>
                </a:solidFill>
                <a:latin typeface="Calibri"/>
              </a:rPr>
              <a:t>•  </a:t>
            </a:r>
            <a:r>
              <a:rPr sz="1250" b="1">
                <a:solidFill>
                  <a:srgbClr val="0E4D64"/>
                </a:solidFill>
                <a:latin typeface="Calibri"/>
              </a:rPr>
              <a:t>Winner: </a:t>
            </a:r>
            <a:r>
              <a:rPr sz="1250" b="0">
                <a:solidFill>
                  <a:srgbClr val="1B2A38"/>
                </a:solidFill>
                <a:latin typeface="Calibri"/>
              </a:rPr>
              <a:t>EfficientNet-B0 leads (macro-F1 0.828, AUC 0.969).</a:t>
            </a:r>
          </a:p>
          <a:p>
            <a:pPr>
              <a:lnSpc>
                <a:spcPct val="102000"/>
              </a:lnSpc>
              <a:spcBef>
                <a:spcPts val="0"/>
              </a:spcBef>
              <a:spcAft>
                <a:spcPts val="1100"/>
              </a:spcAft>
            </a:pPr>
            <a:r>
              <a:rPr sz="1250" b="1">
                <a:solidFill>
                  <a:srgbClr val="E8A33D"/>
                </a:solidFill>
                <a:latin typeface="Calibri"/>
              </a:rPr>
              <a:t>•  </a:t>
            </a:r>
            <a:r>
              <a:rPr sz="1250" b="1">
                <a:solidFill>
                  <a:srgbClr val="0E4D64"/>
                </a:solidFill>
                <a:latin typeface="Calibri"/>
              </a:rPr>
              <a:t>Specialists win: </a:t>
            </a:r>
            <a:r>
              <a:rPr sz="1250" b="0">
                <a:solidFill>
                  <a:srgbClr val="1B2A38"/>
                </a:solidFill>
                <a:latin typeface="Calibri"/>
              </a:rPr>
              <a:t>all 3 pretrained backbones beat the joint MTL-OCA (0.720).</a:t>
            </a:r>
          </a:p>
          <a:p>
            <a:pPr>
              <a:lnSpc>
                <a:spcPct val="102000"/>
              </a:lnSpc>
              <a:spcBef>
                <a:spcPts val="0"/>
              </a:spcBef>
              <a:spcAft>
                <a:spcPts val="1100"/>
              </a:spcAft>
            </a:pPr>
            <a:r>
              <a:rPr sz="1250" b="1">
                <a:solidFill>
                  <a:srgbClr val="E8A33D"/>
                </a:solidFill>
                <a:latin typeface="Calibri"/>
              </a:rPr>
              <a:t>•  </a:t>
            </a:r>
            <a:r>
              <a:rPr sz="1250" b="1">
                <a:solidFill>
                  <a:srgbClr val="0E4D64"/>
                </a:solidFill>
                <a:latin typeface="Calibri"/>
              </a:rPr>
              <a:t>Why: </a:t>
            </a:r>
            <a:r>
              <a:rPr sz="1250" b="0">
                <a:solidFill>
                  <a:srgbClr val="1B2A38"/>
                </a:solidFill>
                <a:latin typeface="Calibri"/>
              </a:rPr>
              <a:t>MTL underperforms on BOTH tasks — sharing one backbone is a compromise too costly on small data.</a:t>
            </a:r>
          </a:p>
          <a:p>
            <a:pPr>
              <a:lnSpc>
                <a:spcPct val="102000"/>
              </a:lnSpc>
              <a:spcBef>
                <a:spcPts val="0"/>
              </a:spcBef>
              <a:spcAft>
                <a:spcPts val="1100"/>
              </a:spcAft>
            </a:pPr>
            <a:r>
              <a:rPr sz="1250" b="1">
                <a:solidFill>
                  <a:srgbClr val="E8A33D"/>
                </a:solidFill>
                <a:latin typeface="Calibri"/>
              </a:rPr>
              <a:t>•  </a:t>
            </a:r>
            <a:r>
              <a:rPr sz="1250" b="1">
                <a:solidFill>
                  <a:srgbClr val="0E4D64"/>
                </a:solidFill>
                <a:latin typeface="Calibri"/>
              </a:rPr>
              <a:t>Error analysis: </a:t>
            </a:r>
            <a:r>
              <a:rPr sz="1250" b="0">
                <a:solidFill>
                  <a:srgbClr val="1B2A38"/>
                </a:solidFill>
                <a:latin typeface="Calibri"/>
              </a:rPr>
              <a:t>malignant (minority class) is the hardest and the main error source for every model.</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 y="475488"/>
            <a:ext cx="118872" cy="658368"/>
          </a:xfrm>
          <a:prstGeom prst="rect">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457200"/>
            <a:ext cx="10789920" cy="320040"/>
          </a:xfrm>
          <a:prstGeom prst="rect">
            <a:avLst/>
          </a:prstGeom>
          <a:noFill/>
        </p:spPr>
        <p:txBody>
          <a:bodyPr wrap="square" anchor="t" lIns="0" rIns="0" tIns="0" bIns="0">
            <a:spAutoFit/>
          </a:bodyPr>
          <a:lstStyle/>
          <a:p>
            <a:pPr algn="l">
              <a:lnSpc>
                <a:spcPct val="100000"/>
              </a:lnSpc>
              <a:spcBef>
                <a:spcPts val="0"/>
              </a:spcBef>
              <a:spcAft>
                <a:spcPts val="400"/>
              </a:spcAft>
            </a:pPr>
            <a:r>
              <a:rPr sz="1250" b="1" i="0">
                <a:solidFill>
                  <a:srgbClr val="E8A33D"/>
                </a:solidFill>
                <a:latin typeface="Calibri"/>
              </a:rPr>
              <a:t>5 · RESULTS</a:t>
            </a:r>
          </a:p>
        </p:txBody>
      </p:sp>
      <p:sp>
        <p:nvSpPr>
          <p:cNvPr id="6" name="TextBox 5"/>
          <p:cNvSpPr txBox="1"/>
          <p:nvPr/>
        </p:nvSpPr>
        <p:spPr>
          <a:xfrm>
            <a:off x="777240" y="713232"/>
            <a:ext cx="10881360" cy="566928"/>
          </a:xfrm>
          <a:prstGeom prst="rect">
            <a:avLst/>
          </a:prstGeom>
          <a:noFill/>
        </p:spPr>
        <p:txBody>
          <a:bodyPr wrap="square" anchor="t" lIns="0" rIns="0" tIns="0" bIns="0">
            <a:spAutoFit/>
          </a:bodyPr>
          <a:lstStyle/>
          <a:p>
            <a:pPr algn="l">
              <a:lnSpc>
                <a:spcPct val="100000"/>
              </a:lnSpc>
              <a:spcBef>
                <a:spcPts val="0"/>
              </a:spcBef>
              <a:spcAft>
                <a:spcPts val="400"/>
              </a:spcAft>
            </a:pPr>
            <a:r>
              <a:rPr sz="2500" b="1" i="0">
                <a:solidFill>
                  <a:srgbClr val="1B2A38"/>
                </a:solidFill>
                <a:latin typeface="Calibri"/>
              </a:rPr>
              <a:t>Dual-stage: the bottleneck is the classifier</a:t>
            </a:r>
          </a:p>
        </p:txBody>
      </p:sp>
      <p:sp>
        <p:nvSpPr>
          <p:cNvPr id="7" name="Rectangle 6"/>
          <p:cNvSpPr/>
          <p:nvPr/>
        </p:nvSpPr>
        <p:spPr>
          <a:xfrm>
            <a:off x="777240" y="1316736"/>
            <a:ext cx="10634472" cy="18288"/>
          </a:xfrm>
          <a:prstGeom prst="rect">
            <a:avLst/>
          </a:prstGeom>
          <a:solidFill>
            <a:srgbClr val="CBD8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73952"/>
            <a:ext cx="7315200" cy="274320"/>
          </a:xfrm>
          <a:prstGeom prst="rect">
            <a:avLst/>
          </a:prstGeom>
          <a:noFill/>
        </p:spPr>
        <p:txBody>
          <a:bodyPr wrap="square" anchor="t" lIns="0" rIns="0" tIns="0" bIns="0">
            <a:spAutoFit/>
          </a:bodyPr>
          <a:lstStyle/>
          <a:p>
            <a:pPr algn="l">
              <a:lnSpc>
                <a:spcPct val="100000"/>
              </a:lnSpc>
              <a:spcBef>
                <a:spcPts val="0"/>
              </a:spcBef>
              <a:spcAft>
                <a:spcPts val="400"/>
              </a:spcAft>
            </a:pPr>
            <a:r>
              <a:rPr sz="900" b="0" i="0">
                <a:solidFill>
                  <a:srgbClr val="8A94A6"/>
                </a:solidFill>
                <a:latin typeface="Calibri"/>
              </a:rPr>
              <a:t>COMP9444 · Group Project 047 · Breast Ultrasound (BUSI)</a:t>
            </a:r>
          </a:p>
        </p:txBody>
      </p:sp>
      <p:sp>
        <p:nvSpPr>
          <p:cNvPr id="9" name="TextBox 8"/>
          <p:cNvSpPr txBox="1"/>
          <p:nvPr/>
        </p:nvSpPr>
        <p:spPr>
          <a:xfrm>
            <a:off x="11064240" y="6473952"/>
            <a:ext cx="685800" cy="274320"/>
          </a:xfrm>
          <a:prstGeom prst="rect">
            <a:avLst/>
          </a:prstGeom>
          <a:noFill/>
        </p:spPr>
        <p:txBody>
          <a:bodyPr wrap="square" anchor="t" lIns="0" rIns="0" tIns="0" bIns="0">
            <a:spAutoFit/>
          </a:bodyPr>
          <a:lstStyle/>
          <a:p>
            <a:pPr algn="r">
              <a:lnSpc>
                <a:spcPct val="100000"/>
              </a:lnSpc>
              <a:spcBef>
                <a:spcPts val="0"/>
              </a:spcBef>
              <a:spcAft>
                <a:spcPts val="400"/>
              </a:spcAft>
            </a:pPr>
            <a:r>
              <a:rPr sz="900" b="1" i="0">
                <a:solidFill>
                  <a:srgbClr val="8A94A6"/>
                </a:solidFill>
                <a:latin typeface="Calibri"/>
              </a:rPr>
              <a:t>23</a:t>
            </a:r>
          </a:p>
        </p:txBody>
      </p:sp>
      <p:sp>
        <p:nvSpPr>
          <p:cNvPr id="10" name="TextBox 9"/>
          <p:cNvSpPr txBox="1"/>
          <p:nvPr/>
        </p:nvSpPr>
        <p:spPr>
          <a:xfrm>
            <a:off x="777240" y="1463040"/>
            <a:ext cx="10607040" cy="320040"/>
          </a:xfrm>
          <a:prstGeom prst="rect">
            <a:avLst/>
          </a:prstGeom>
          <a:noFill/>
        </p:spPr>
        <p:txBody>
          <a:bodyPr wrap="square" anchor="t" lIns="0" rIns="0" tIns="0" bIns="0">
            <a:spAutoFit/>
          </a:bodyPr>
          <a:lstStyle/>
          <a:p>
            <a:pPr algn="l">
              <a:lnSpc>
                <a:spcPct val="100000"/>
              </a:lnSpc>
              <a:spcBef>
                <a:spcPts val="0"/>
              </a:spcBef>
              <a:spcAft>
                <a:spcPts val="400"/>
              </a:spcAft>
            </a:pPr>
            <a:r>
              <a:rPr sz="1250" b="1" i="1">
                <a:solidFill>
                  <a:srgbClr val="45596B"/>
                </a:solidFill>
                <a:latin typeface="Calibri"/>
              </a:rPr>
              <a:t>(a) single-run ladder — looks like a tidy climb…</a:t>
            </a:r>
          </a:p>
        </p:txBody>
      </p:sp>
      <p:graphicFrame>
        <p:nvGraphicFramePr>
          <p:cNvPr id="11" name="Table 10"/>
          <p:cNvGraphicFramePr>
            <a:graphicFrameLocks noGrp="1"/>
          </p:cNvGraphicFramePr>
          <p:nvPr/>
        </p:nvGraphicFramePr>
        <p:xfrm>
          <a:off x="777240" y="1810512"/>
          <a:ext cx="5660136" cy="1828800"/>
        </p:xfrm>
        <a:graphic>
          <a:graphicData uri="http://schemas.openxmlformats.org/drawingml/2006/table">
            <a:tbl>
              <a:tblPr>
                <a:tableStyleId>{5C22544A-7EE6-4342-B048-85BDC9FD1C3A}</a:tableStyleId>
              </a:tblPr>
              <a:tblGrid>
                <a:gridCol w="2606040"/>
                <a:gridCol w="822960"/>
                <a:gridCol w="658368"/>
                <a:gridCol w="658368"/>
                <a:gridCol w="914400"/>
              </a:tblGrid>
              <a:tr h="365760">
                <a:tc>
                  <a:txBody>
                    <a:bodyPr wrap="square"/>
                    <a:lstStyle/>
                    <a:p>
                      <a:pPr algn="l"/>
                      <a:r>
                        <a:rPr sz="1050" b="1">
                          <a:solidFill>
                            <a:srgbClr val="FFFFFF"/>
                          </a:solidFill>
                          <a:latin typeface="Calibri"/>
                        </a:rPr>
                        <a:t>Pipeline</a:t>
                      </a:r>
                    </a:p>
                  </a:txBody>
                  <a:tcPr marL="64008" marR="45720" marT="18288" marB="18288" anchor="ctr">
                    <a:solidFill>
                      <a:srgbClr val="1F8AA6"/>
                    </a:solidFill>
                  </a:tcPr>
                </a:tc>
                <a:tc>
                  <a:txBody>
                    <a:bodyPr wrap="square"/>
                    <a:lstStyle/>
                    <a:p>
                      <a:pPr algn="ctr"/>
                      <a:r>
                        <a:rPr sz="1050" b="1">
                          <a:solidFill>
                            <a:srgbClr val="FFFFFF"/>
                          </a:solidFill>
                          <a:latin typeface="Calibri"/>
                        </a:rPr>
                        <a:t>St-1 Dice</a:t>
                      </a:r>
                    </a:p>
                  </a:txBody>
                  <a:tcPr marL="64008" marR="45720" marT="18288" marB="18288" anchor="ctr">
                    <a:solidFill>
                      <a:srgbClr val="1F8AA6"/>
                    </a:solidFill>
                  </a:tcPr>
                </a:tc>
                <a:tc>
                  <a:txBody>
                    <a:bodyPr wrap="square"/>
                    <a:lstStyle/>
                    <a:p>
                      <a:pPr algn="ctr"/>
                      <a:r>
                        <a:rPr sz="1050" b="1">
                          <a:solidFill>
                            <a:srgbClr val="FFFFFF"/>
                          </a:solidFill>
                          <a:latin typeface="Calibri"/>
                        </a:rPr>
                        <a:t>F1</a:t>
                      </a:r>
                    </a:p>
                  </a:txBody>
                  <a:tcPr marL="64008" marR="45720" marT="18288" marB="18288" anchor="ctr">
                    <a:solidFill>
                      <a:srgbClr val="1F8AA6"/>
                    </a:solidFill>
                  </a:tcPr>
                </a:tc>
                <a:tc>
                  <a:txBody>
                    <a:bodyPr wrap="square"/>
                    <a:lstStyle/>
                    <a:p>
                      <a:pPr algn="ctr"/>
                      <a:r>
                        <a:rPr sz="1050" b="1">
                          <a:solidFill>
                            <a:srgbClr val="FFFFFF"/>
                          </a:solidFill>
                          <a:latin typeface="Calibri"/>
                        </a:rPr>
                        <a:t>Acc</a:t>
                      </a:r>
                    </a:p>
                  </a:txBody>
                  <a:tcPr marL="64008" marR="45720" marT="18288" marB="18288" anchor="ctr">
                    <a:solidFill>
                      <a:srgbClr val="1F8AA6"/>
                    </a:solidFill>
                  </a:tcPr>
                </a:tc>
                <a:tc>
                  <a:txBody>
                    <a:bodyPr wrap="square"/>
                    <a:lstStyle/>
                    <a:p>
                      <a:pPr algn="ctr"/>
                      <a:r>
                        <a:rPr sz="1050" b="1">
                          <a:solidFill>
                            <a:srgbClr val="FFFFFF"/>
                          </a:solidFill>
                          <a:latin typeface="Calibri"/>
                        </a:rPr>
                        <a:t>GT-ROI F1</a:t>
                      </a:r>
                    </a:p>
                  </a:txBody>
                  <a:tcPr marL="64008" marR="45720" marT="18288" marB="18288" anchor="ctr">
                    <a:solidFill>
                      <a:srgbClr val="1F8AA6"/>
                    </a:solidFill>
                  </a:tcPr>
                </a:tc>
              </a:tr>
              <a:tr h="365760">
                <a:tc>
                  <a:txBody>
                    <a:bodyPr wrap="square"/>
                    <a:lstStyle/>
                    <a:p>
                      <a:pPr algn="l"/>
                      <a:r>
                        <a:rPr sz="1050" b="0">
                          <a:solidFill>
                            <a:srgbClr val="1B2A38"/>
                          </a:solidFill>
                          <a:latin typeface="Calibri"/>
                        </a:rPr>
                        <a:t>Bruno (DeepLabV3+→EffB0)</a:t>
                      </a:r>
                    </a:p>
                  </a:txBody>
                  <a:tcPr marL="64008" marR="45720" marT="18288" marB="18288" anchor="ctr">
                    <a:solidFill>
                      <a:srgbClr val="FFFFFF"/>
                    </a:solidFill>
                  </a:tcPr>
                </a:tc>
                <a:tc>
                  <a:txBody>
                    <a:bodyPr wrap="square"/>
                    <a:lstStyle/>
                    <a:p>
                      <a:pPr algn="ctr"/>
                      <a:r>
                        <a:rPr sz="1050" b="0">
                          <a:solidFill>
                            <a:srgbClr val="1B2A38"/>
                          </a:solidFill>
                          <a:latin typeface="Calibri"/>
                        </a:rPr>
                        <a:t>0.739</a:t>
                      </a:r>
                    </a:p>
                  </a:txBody>
                  <a:tcPr marL="64008" marR="45720" marT="18288" marB="18288" anchor="ctr">
                    <a:solidFill>
                      <a:srgbClr val="FFFFFF"/>
                    </a:solidFill>
                  </a:tcPr>
                </a:tc>
                <a:tc>
                  <a:txBody>
                    <a:bodyPr wrap="square"/>
                    <a:lstStyle/>
                    <a:p>
                      <a:pPr algn="ctr"/>
                      <a:r>
                        <a:rPr sz="1050" b="0">
                          <a:solidFill>
                            <a:srgbClr val="1B2A38"/>
                          </a:solidFill>
                          <a:latin typeface="Calibri"/>
                        </a:rPr>
                        <a:t>0.804</a:t>
                      </a:r>
                    </a:p>
                  </a:txBody>
                  <a:tcPr marL="64008" marR="45720" marT="18288" marB="18288" anchor="ctr">
                    <a:solidFill>
                      <a:srgbClr val="FFFFFF"/>
                    </a:solidFill>
                  </a:tcPr>
                </a:tc>
                <a:tc>
                  <a:txBody>
                    <a:bodyPr wrap="square"/>
                    <a:lstStyle/>
                    <a:p>
                      <a:pPr algn="ctr"/>
                      <a:r>
                        <a:rPr sz="1050" b="0">
                          <a:solidFill>
                            <a:srgbClr val="1B2A38"/>
                          </a:solidFill>
                          <a:latin typeface="Calibri"/>
                        </a:rPr>
                        <a:t>0.827</a:t>
                      </a:r>
                    </a:p>
                  </a:txBody>
                  <a:tcPr marL="64008" marR="45720" marT="18288" marB="18288" anchor="ctr">
                    <a:solidFill>
                      <a:srgbClr val="FFFFFF"/>
                    </a:solidFill>
                  </a:tcPr>
                </a:tc>
                <a:tc>
                  <a:txBody>
                    <a:bodyPr wrap="square"/>
                    <a:lstStyle/>
                    <a:p>
                      <a:pPr algn="ctr"/>
                      <a:r>
                        <a:rPr sz="1050" b="0">
                          <a:solidFill>
                            <a:srgbClr val="1B2A38"/>
                          </a:solidFill>
                          <a:latin typeface="Calibri"/>
                        </a:rPr>
                        <a:t>0.865</a:t>
                      </a:r>
                    </a:p>
                  </a:txBody>
                  <a:tcPr marL="64008" marR="45720" marT="18288" marB="18288" anchor="ctr">
                    <a:solidFill>
                      <a:srgbClr val="FFFFFF"/>
                    </a:solidFill>
                  </a:tcPr>
                </a:tc>
              </a:tr>
              <a:tr h="365760">
                <a:tc>
                  <a:txBody>
                    <a:bodyPr wrap="square"/>
                    <a:lstStyle/>
                    <a:p>
                      <a:pPr algn="l"/>
                      <a:r>
                        <a:rPr sz="1050" b="0">
                          <a:solidFill>
                            <a:srgbClr val="1B2A38"/>
                          </a:solidFill>
                          <a:latin typeface="Calibri"/>
                        </a:rPr>
                        <a:t>Ours: Improved-UNet Stage 1</a:t>
                      </a:r>
                    </a:p>
                  </a:txBody>
                  <a:tcPr marL="64008" marR="45720" marT="18288" marB="18288" anchor="ctr">
                    <a:solidFill>
                      <a:srgbClr val="EEF3F5"/>
                    </a:solidFill>
                  </a:tcPr>
                </a:tc>
                <a:tc>
                  <a:txBody>
                    <a:bodyPr wrap="square"/>
                    <a:lstStyle/>
                    <a:p>
                      <a:pPr algn="ctr"/>
                      <a:r>
                        <a:rPr sz="1050" b="0">
                          <a:solidFill>
                            <a:srgbClr val="1B2A38"/>
                          </a:solidFill>
                          <a:latin typeface="Calibri"/>
                        </a:rPr>
                        <a:t>0.760</a:t>
                      </a:r>
                    </a:p>
                  </a:txBody>
                  <a:tcPr marL="64008" marR="45720" marT="18288" marB="18288" anchor="ctr">
                    <a:solidFill>
                      <a:srgbClr val="EEF3F5"/>
                    </a:solidFill>
                  </a:tcPr>
                </a:tc>
                <a:tc>
                  <a:txBody>
                    <a:bodyPr wrap="square"/>
                    <a:lstStyle/>
                    <a:p>
                      <a:pPr algn="ctr"/>
                      <a:r>
                        <a:rPr sz="1050" b="0">
                          <a:solidFill>
                            <a:srgbClr val="1B2A38"/>
                          </a:solidFill>
                          <a:latin typeface="Calibri"/>
                        </a:rPr>
                        <a:t>0.807</a:t>
                      </a:r>
                    </a:p>
                  </a:txBody>
                  <a:tcPr marL="64008" marR="45720" marT="18288" marB="18288" anchor="ctr">
                    <a:solidFill>
                      <a:srgbClr val="EEF3F5"/>
                    </a:solidFill>
                  </a:tcPr>
                </a:tc>
                <a:tc>
                  <a:txBody>
                    <a:bodyPr wrap="square"/>
                    <a:lstStyle/>
                    <a:p>
                      <a:pPr algn="ctr"/>
                      <a:r>
                        <a:rPr sz="1050" b="0">
                          <a:solidFill>
                            <a:srgbClr val="1B2A38"/>
                          </a:solidFill>
                          <a:latin typeface="Calibri"/>
                        </a:rPr>
                        <a:t>0.827</a:t>
                      </a:r>
                    </a:p>
                  </a:txBody>
                  <a:tcPr marL="64008" marR="45720" marT="18288" marB="18288" anchor="ctr">
                    <a:solidFill>
                      <a:srgbClr val="EEF3F5"/>
                    </a:solidFill>
                  </a:tcPr>
                </a:tc>
                <a:tc>
                  <a:txBody>
                    <a:bodyPr wrap="square"/>
                    <a:lstStyle/>
                    <a:p>
                      <a:pPr algn="ctr"/>
                      <a:r>
                        <a:rPr sz="1050" b="0">
                          <a:solidFill>
                            <a:srgbClr val="1B2A38"/>
                          </a:solidFill>
                          <a:latin typeface="Calibri"/>
                        </a:rPr>
                        <a:t>0.884</a:t>
                      </a:r>
                    </a:p>
                  </a:txBody>
                  <a:tcPr marL="64008" marR="45720" marT="18288" marB="18288" anchor="ctr">
                    <a:solidFill>
                      <a:srgbClr val="EEF3F5"/>
                    </a:solidFill>
                  </a:tcPr>
                </a:tc>
              </a:tr>
              <a:tr h="365760">
                <a:tc>
                  <a:txBody>
                    <a:bodyPr wrap="square"/>
                    <a:lstStyle/>
                    <a:p>
                      <a:pPr algn="l"/>
                      <a:r>
                        <a:rPr sz="1050" b="0">
                          <a:solidFill>
                            <a:srgbClr val="1B2A38"/>
                          </a:solidFill>
                          <a:latin typeface="Calibri"/>
                        </a:rPr>
                        <a:t>Ours: + strengthened Stage 2</a:t>
                      </a:r>
                    </a:p>
                  </a:txBody>
                  <a:tcPr marL="64008" marR="45720" marT="18288" marB="18288" anchor="ctr">
                    <a:solidFill>
                      <a:srgbClr val="FFFFFF"/>
                    </a:solidFill>
                  </a:tcPr>
                </a:tc>
                <a:tc>
                  <a:txBody>
                    <a:bodyPr wrap="square"/>
                    <a:lstStyle/>
                    <a:p>
                      <a:pPr algn="ctr"/>
                      <a:r>
                        <a:rPr sz="1050" b="0">
                          <a:solidFill>
                            <a:srgbClr val="1B2A38"/>
                          </a:solidFill>
                          <a:latin typeface="Calibri"/>
                        </a:rPr>
                        <a:t>0.760</a:t>
                      </a:r>
                    </a:p>
                  </a:txBody>
                  <a:tcPr marL="64008" marR="45720" marT="18288" marB="18288" anchor="ctr">
                    <a:solidFill>
                      <a:srgbClr val="FFFFFF"/>
                    </a:solidFill>
                  </a:tcPr>
                </a:tc>
                <a:tc>
                  <a:txBody>
                    <a:bodyPr wrap="square"/>
                    <a:lstStyle/>
                    <a:p>
                      <a:pPr algn="ctr"/>
                      <a:r>
                        <a:rPr sz="1050" b="0">
                          <a:solidFill>
                            <a:srgbClr val="1B2A38"/>
                          </a:solidFill>
                          <a:latin typeface="Calibri"/>
                        </a:rPr>
                        <a:t>0.817</a:t>
                      </a:r>
                    </a:p>
                  </a:txBody>
                  <a:tcPr marL="64008" marR="45720" marT="18288" marB="18288" anchor="ctr">
                    <a:solidFill>
                      <a:srgbClr val="FFFFFF"/>
                    </a:solidFill>
                  </a:tcPr>
                </a:tc>
                <a:tc>
                  <a:txBody>
                    <a:bodyPr wrap="square"/>
                    <a:lstStyle/>
                    <a:p>
                      <a:pPr algn="ctr"/>
                      <a:r>
                        <a:rPr sz="1050" b="0">
                          <a:solidFill>
                            <a:srgbClr val="1B2A38"/>
                          </a:solidFill>
                          <a:latin typeface="Calibri"/>
                        </a:rPr>
                        <a:t>0.837</a:t>
                      </a:r>
                    </a:p>
                  </a:txBody>
                  <a:tcPr marL="64008" marR="45720" marT="18288" marB="18288" anchor="ctr">
                    <a:solidFill>
                      <a:srgbClr val="FFFFFF"/>
                    </a:solidFill>
                  </a:tcPr>
                </a:tc>
                <a:tc>
                  <a:txBody>
                    <a:bodyPr wrap="square"/>
                    <a:lstStyle/>
                    <a:p>
                      <a:pPr algn="ctr"/>
                      <a:r>
                        <a:rPr sz="1050" b="0">
                          <a:solidFill>
                            <a:srgbClr val="1B2A38"/>
                          </a:solidFill>
                          <a:latin typeface="Calibri"/>
                        </a:rPr>
                        <a:t>0.882</a:t>
                      </a:r>
                    </a:p>
                  </a:txBody>
                  <a:tcPr marL="64008" marR="45720" marT="18288" marB="18288" anchor="ctr">
                    <a:solidFill>
                      <a:srgbClr val="FFFFFF"/>
                    </a:solidFill>
                  </a:tcPr>
                </a:tc>
              </a:tr>
              <a:tr h="365760">
                <a:tc>
                  <a:txBody>
                    <a:bodyPr wrap="square"/>
                    <a:lstStyle/>
                    <a:p>
                      <a:pPr algn="l"/>
                      <a:r>
                        <a:rPr sz="1050" b="0">
                          <a:solidFill>
                            <a:srgbClr val="1B2A38"/>
                          </a:solidFill>
                          <a:latin typeface="Calibri"/>
                        </a:rPr>
                        <a:t>Ours: + shape features</a:t>
                      </a:r>
                    </a:p>
                  </a:txBody>
                  <a:tcPr marL="64008" marR="45720" marT="18288" marB="18288" anchor="ctr">
                    <a:solidFill>
                      <a:srgbClr val="EEF3F5"/>
                    </a:solidFill>
                  </a:tcPr>
                </a:tc>
                <a:tc>
                  <a:txBody>
                    <a:bodyPr wrap="square"/>
                    <a:lstStyle/>
                    <a:p>
                      <a:pPr algn="ctr"/>
                      <a:r>
                        <a:rPr sz="1050" b="0">
                          <a:solidFill>
                            <a:srgbClr val="1B2A38"/>
                          </a:solidFill>
                          <a:latin typeface="Calibri"/>
                        </a:rPr>
                        <a:t>0.761</a:t>
                      </a:r>
                    </a:p>
                  </a:txBody>
                  <a:tcPr marL="64008" marR="45720" marT="18288" marB="18288" anchor="ctr">
                    <a:solidFill>
                      <a:srgbClr val="EEF3F5"/>
                    </a:solidFill>
                  </a:tcPr>
                </a:tc>
                <a:tc>
                  <a:txBody>
                    <a:bodyPr wrap="square"/>
                    <a:lstStyle/>
                    <a:p>
                      <a:pPr algn="ctr"/>
                      <a:r>
                        <a:rPr sz="1050" b="0">
                          <a:solidFill>
                            <a:srgbClr val="1B2A38"/>
                          </a:solidFill>
                          <a:latin typeface="Calibri"/>
                        </a:rPr>
                        <a:t>0.840</a:t>
                      </a:r>
                    </a:p>
                  </a:txBody>
                  <a:tcPr marL="64008" marR="45720" marT="18288" marB="18288" anchor="ctr">
                    <a:solidFill>
                      <a:srgbClr val="EEF3F5"/>
                    </a:solidFill>
                  </a:tcPr>
                </a:tc>
                <a:tc>
                  <a:txBody>
                    <a:bodyPr wrap="square"/>
                    <a:lstStyle/>
                    <a:p>
                      <a:pPr algn="ctr"/>
                      <a:r>
                        <a:rPr sz="1050" b="0">
                          <a:solidFill>
                            <a:srgbClr val="1B2A38"/>
                          </a:solidFill>
                          <a:latin typeface="Calibri"/>
                        </a:rPr>
                        <a:t>0.857</a:t>
                      </a:r>
                    </a:p>
                  </a:txBody>
                  <a:tcPr marL="64008" marR="45720" marT="18288" marB="18288" anchor="ctr">
                    <a:solidFill>
                      <a:srgbClr val="EEF3F5"/>
                    </a:solidFill>
                  </a:tcPr>
                </a:tc>
                <a:tc>
                  <a:txBody>
                    <a:bodyPr wrap="square"/>
                    <a:lstStyle/>
                    <a:p>
                      <a:pPr algn="ctr"/>
                      <a:r>
                        <a:rPr sz="1050" b="0">
                          <a:solidFill>
                            <a:srgbClr val="1B2A38"/>
                          </a:solidFill>
                          <a:latin typeface="Calibri"/>
                        </a:rPr>
                        <a:t>0.850</a:t>
                      </a:r>
                    </a:p>
                  </a:txBody>
                  <a:tcPr marL="64008" marR="45720" marT="18288" marB="18288" anchor="ctr">
                    <a:solidFill>
                      <a:srgbClr val="EEF3F5"/>
                    </a:solidFill>
                  </a:tcPr>
                </a:tc>
              </a:tr>
            </a:tbl>
          </a:graphicData>
        </a:graphic>
      </p:graphicFrame>
      <p:sp>
        <p:nvSpPr>
          <p:cNvPr id="12" name="TextBox 11"/>
          <p:cNvSpPr txBox="1"/>
          <p:nvPr/>
        </p:nvSpPr>
        <p:spPr>
          <a:xfrm>
            <a:off x="777240" y="3977639"/>
            <a:ext cx="10607040" cy="320040"/>
          </a:xfrm>
          <a:prstGeom prst="rect">
            <a:avLst/>
          </a:prstGeom>
          <a:noFill/>
        </p:spPr>
        <p:txBody>
          <a:bodyPr wrap="square" anchor="t" lIns="0" rIns="0" tIns="0" bIns="0">
            <a:spAutoFit/>
          </a:bodyPr>
          <a:lstStyle/>
          <a:p>
            <a:pPr algn="l">
              <a:lnSpc>
                <a:spcPct val="100000"/>
              </a:lnSpc>
              <a:spcBef>
                <a:spcPts val="0"/>
              </a:spcBef>
              <a:spcAft>
                <a:spcPts val="400"/>
              </a:spcAft>
            </a:pPr>
            <a:r>
              <a:rPr sz="1250" b="1" i="1">
                <a:solidFill>
                  <a:srgbClr val="45596B"/>
                </a:solidFill>
                <a:latin typeface="Calibri"/>
              </a:rPr>
              <a:t>(b) rigorous: out-of-fold + 5-seed ensemble + bootstrap 95% CI</a:t>
            </a:r>
          </a:p>
        </p:txBody>
      </p:sp>
      <p:graphicFrame>
        <p:nvGraphicFramePr>
          <p:cNvPr id="13" name="Table 12"/>
          <p:cNvGraphicFramePr>
            <a:graphicFrameLocks noGrp="1"/>
          </p:cNvGraphicFramePr>
          <p:nvPr/>
        </p:nvGraphicFramePr>
        <p:xfrm>
          <a:off x="777240" y="4315968"/>
          <a:ext cx="6309360" cy="1536192"/>
        </p:xfrm>
        <a:graphic>
          <a:graphicData uri="http://schemas.openxmlformats.org/drawingml/2006/table">
            <a:tbl>
              <a:tblPr>
                <a:tableStyleId>{5C22544A-7EE6-4342-B048-85BDC9FD1C3A}</a:tableStyleId>
              </a:tblPr>
              <a:tblGrid>
                <a:gridCol w="2606040"/>
                <a:gridCol w="1051560"/>
                <a:gridCol w="1417320"/>
                <a:gridCol w="1234440"/>
              </a:tblGrid>
              <a:tr h="384048">
                <a:tc>
                  <a:txBody>
                    <a:bodyPr wrap="square"/>
                    <a:lstStyle/>
                    <a:p>
                      <a:pPr algn="l"/>
                      <a:r>
                        <a:rPr sz="1050" b="1">
                          <a:solidFill>
                            <a:srgbClr val="FFFFFF"/>
                          </a:solidFill>
                          <a:latin typeface="Calibri"/>
                        </a:rPr>
                        <a:t>Pipeline (rigorous)</a:t>
                      </a:r>
                    </a:p>
                  </a:txBody>
                  <a:tcPr marL="64008" marR="45720" marT="18288" marB="18288" anchor="ctr">
                    <a:solidFill>
                      <a:srgbClr val="E1595B"/>
                    </a:solidFill>
                  </a:tcPr>
                </a:tc>
                <a:tc>
                  <a:txBody>
                    <a:bodyPr wrap="square"/>
                    <a:lstStyle/>
                    <a:p>
                      <a:pPr algn="ctr"/>
                      <a:r>
                        <a:rPr sz="1050" b="1">
                          <a:solidFill>
                            <a:srgbClr val="FFFFFF"/>
                          </a:solidFill>
                          <a:latin typeface="Calibri"/>
                        </a:rPr>
                        <a:t>Ensemble F1</a:t>
                      </a:r>
                    </a:p>
                  </a:txBody>
                  <a:tcPr marL="64008" marR="45720" marT="18288" marB="18288" anchor="ctr">
                    <a:solidFill>
                      <a:srgbClr val="E1595B"/>
                    </a:solidFill>
                  </a:tcPr>
                </a:tc>
                <a:tc>
                  <a:txBody>
                    <a:bodyPr wrap="square"/>
                    <a:lstStyle/>
                    <a:p>
                      <a:pPr algn="ctr"/>
                      <a:r>
                        <a:rPr sz="1050" b="1">
                          <a:solidFill>
                            <a:srgbClr val="FFFFFF"/>
                          </a:solidFill>
                          <a:latin typeface="Calibri"/>
                        </a:rPr>
                        <a:t>per-seed mean±std</a:t>
                      </a:r>
                    </a:p>
                  </a:txBody>
                  <a:tcPr marL="64008" marR="45720" marT="18288" marB="18288" anchor="ctr">
                    <a:solidFill>
                      <a:srgbClr val="E1595B"/>
                    </a:solidFill>
                  </a:tcPr>
                </a:tc>
                <a:tc>
                  <a:txBody>
                    <a:bodyPr wrap="square"/>
                    <a:lstStyle/>
                    <a:p>
                      <a:pPr algn="ctr"/>
                      <a:r>
                        <a:rPr sz="1050" b="1">
                          <a:solidFill>
                            <a:srgbClr val="FFFFFF"/>
                          </a:solidFill>
                          <a:latin typeface="Calibri"/>
                        </a:rPr>
                        <a:t>95% CI</a:t>
                      </a:r>
                    </a:p>
                  </a:txBody>
                  <a:tcPr marL="64008" marR="45720" marT="18288" marB="18288" anchor="ctr">
                    <a:solidFill>
                      <a:srgbClr val="E1595B"/>
                    </a:solidFill>
                  </a:tcPr>
                </a:tc>
              </a:tr>
              <a:tr h="384048">
                <a:tc>
                  <a:txBody>
                    <a:bodyPr wrap="square"/>
                    <a:lstStyle/>
                    <a:p>
                      <a:pPr algn="l"/>
                      <a:r>
                        <a:rPr sz="1050" b="1">
                          <a:solidFill>
                            <a:srgbClr val="1B2A38"/>
                          </a:solidFill>
                          <a:latin typeface="Calibri"/>
                        </a:rPr>
                        <a:t>OOF + no hand features (pure CNN)</a:t>
                      </a:r>
                    </a:p>
                  </a:txBody>
                  <a:tcPr marL="64008" marR="45720" marT="18288" marB="18288" anchor="ctr">
                    <a:solidFill>
                      <a:srgbClr val="FFF3D6"/>
                    </a:solidFill>
                  </a:tcPr>
                </a:tc>
                <a:tc>
                  <a:txBody>
                    <a:bodyPr wrap="square"/>
                    <a:lstStyle/>
                    <a:p>
                      <a:pPr algn="ctr"/>
                      <a:r>
                        <a:rPr sz="1050" b="1">
                          <a:solidFill>
                            <a:srgbClr val="1B2A38"/>
                          </a:solidFill>
                          <a:latin typeface="Calibri"/>
                        </a:rPr>
                        <a:t>0.875</a:t>
                      </a:r>
                    </a:p>
                  </a:txBody>
                  <a:tcPr marL="64008" marR="45720" marT="18288" marB="18288" anchor="ctr">
                    <a:solidFill>
                      <a:srgbClr val="FFF3D6"/>
                    </a:solidFill>
                  </a:tcPr>
                </a:tc>
                <a:tc>
                  <a:txBody>
                    <a:bodyPr wrap="square"/>
                    <a:lstStyle/>
                    <a:p>
                      <a:pPr algn="ctr"/>
                      <a:r>
                        <a:rPr sz="1050" b="1">
                          <a:solidFill>
                            <a:srgbClr val="1B2A38"/>
                          </a:solidFill>
                          <a:latin typeface="Calibri"/>
                        </a:rPr>
                        <a:t>0.847 ± 0.011</a:t>
                      </a:r>
                    </a:p>
                  </a:txBody>
                  <a:tcPr marL="64008" marR="45720" marT="18288" marB="18288" anchor="ctr">
                    <a:solidFill>
                      <a:srgbClr val="FFF3D6"/>
                    </a:solidFill>
                  </a:tcPr>
                </a:tc>
                <a:tc>
                  <a:txBody>
                    <a:bodyPr wrap="square"/>
                    <a:lstStyle/>
                    <a:p>
                      <a:pPr algn="ctr"/>
                      <a:r>
                        <a:rPr sz="1050" b="1">
                          <a:solidFill>
                            <a:srgbClr val="1B2A38"/>
                          </a:solidFill>
                          <a:latin typeface="Calibri"/>
                        </a:rPr>
                        <a:t>[0.80, 0.94]</a:t>
                      </a:r>
                    </a:p>
                  </a:txBody>
                  <a:tcPr marL="64008" marR="45720" marT="18288" marB="18288" anchor="ctr">
                    <a:solidFill>
                      <a:srgbClr val="FFF3D6"/>
                    </a:solidFill>
                  </a:tcPr>
                </a:tc>
              </a:tr>
              <a:tr h="384048">
                <a:tc>
                  <a:txBody>
                    <a:bodyPr wrap="square"/>
                    <a:lstStyle/>
                    <a:p>
                      <a:pPr algn="l"/>
                      <a:r>
                        <a:rPr sz="1050" b="0">
                          <a:solidFill>
                            <a:srgbClr val="1B2A38"/>
                          </a:solidFill>
                          <a:latin typeface="Calibri"/>
                        </a:rPr>
                        <a:t>OOF + shape</a:t>
                      </a:r>
                    </a:p>
                  </a:txBody>
                  <a:tcPr marL="64008" marR="45720" marT="18288" marB="18288" anchor="ctr">
                    <a:solidFill>
                      <a:srgbClr val="EEF3F5"/>
                    </a:solidFill>
                  </a:tcPr>
                </a:tc>
                <a:tc>
                  <a:txBody>
                    <a:bodyPr wrap="square"/>
                    <a:lstStyle/>
                    <a:p>
                      <a:pPr algn="ctr"/>
                      <a:r>
                        <a:rPr sz="1050" b="0">
                          <a:solidFill>
                            <a:srgbClr val="1B2A38"/>
                          </a:solidFill>
                          <a:latin typeface="Calibri"/>
                        </a:rPr>
                        <a:t>0.875</a:t>
                      </a:r>
                    </a:p>
                  </a:txBody>
                  <a:tcPr marL="64008" marR="45720" marT="18288" marB="18288" anchor="ctr">
                    <a:solidFill>
                      <a:srgbClr val="EEF3F5"/>
                    </a:solidFill>
                  </a:tcPr>
                </a:tc>
                <a:tc>
                  <a:txBody>
                    <a:bodyPr wrap="square"/>
                    <a:lstStyle/>
                    <a:p>
                      <a:pPr algn="ctr"/>
                      <a:r>
                        <a:rPr sz="1050" b="0">
                          <a:solidFill>
                            <a:srgbClr val="1B2A38"/>
                          </a:solidFill>
                          <a:latin typeface="Calibri"/>
                        </a:rPr>
                        <a:t>0.861 ± 0.016</a:t>
                      </a:r>
                    </a:p>
                  </a:txBody>
                  <a:tcPr marL="64008" marR="45720" marT="18288" marB="18288" anchor="ctr">
                    <a:solidFill>
                      <a:srgbClr val="EEF3F5"/>
                    </a:solidFill>
                  </a:tcPr>
                </a:tc>
                <a:tc>
                  <a:txBody>
                    <a:bodyPr wrap="square"/>
                    <a:lstStyle/>
                    <a:p>
                      <a:pPr algn="ctr"/>
                      <a:r>
                        <a:rPr sz="1050" b="0">
                          <a:solidFill>
                            <a:srgbClr val="1B2A38"/>
                          </a:solidFill>
                          <a:latin typeface="Calibri"/>
                        </a:rPr>
                        <a:t>[0.80, 0.94]</a:t>
                      </a:r>
                    </a:p>
                  </a:txBody>
                  <a:tcPr marL="64008" marR="45720" marT="18288" marB="18288" anchor="ctr">
                    <a:solidFill>
                      <a:srgbClr val="EEF3F5"/>
                    </a:solidFill>
                  </a:tcPr>
                </a:tc>
              </a:tr>
              <a:tr h="384048">
                <a:tc>
                  <a:txBody>
                    <a:bodyPr wrap="square"/>
                    <a:lstStyle/>
                    <a:p>
                      <a:pPr algn="l"/>
                      <a:r>
                        <a:rPr sz="1050" b="0">
                          <a:solidFill>
                            <a:srgbClr val="1B2A38"/>
                          </a:solidFill>
                          <a:latin typeface="Calibri"/>
                        </a:rPr>
                        <a:t>OOF + radiomics (shape+texture)</a:t>
                      </a:r>
                    </a:p>
                  </a:txBody>
                  <a:tcPr marL="64008" marR="45720" marT="18288" marB="18288" anchor="ctr">
                    <a:solidFill>
                      <a:srgbClr val="FFFFFF"/>
                    </a:solidFill>
                  </a:tcPr>
                </a:tc>
                <a:tc>
                  <a:txBody>
                    <a:bodyPr wrap="square"/>
                    <a:lstStyle/>
                    <a:p>
                      <a:pPr algn="ctr"/>
                      <a:r>
                        <a:rPr sz="1050" b="0">
                          <a:solidFill>
                            <a:srgbClr val="1B2A38"/>
                          </a:solidFill>
                          <a:latin typeface="Calibri"/>
                        </a:rPr>
                        <a:t>0.863</a:t>
                      </a:r>
                    </a:p>
                  </a:txBody>
                  <a:tcPr marL="64008" marR="45720" marT="18288" marB="18288" anchor="ctr">
                    <a:solidFill>
                      <a:srgbClr val="FFFFFF"/>
                    </a:solidFill>
                  </a:tcPr>
                </a:tc>
                <a:tc>
                  <a:txBody>
                    <a:bodyPr wrap="square"/>
                    <a:lstStyle/>
                    <a:p>
                      <a:pPr algn="ctr"/>
                      <a:r>
                        <a:rPr sz="1050" b="0">
                          <a:solidFill>
                            <a:srgbClr val="1B2A38"/>
                          </a:solidFill>
                          <a:latin typeface="Calibri"/>
                        </a:rPr>
                        <a:t>0.862 ± 0.013</a:t>
                      </a:r>
                    </a:p>
                  </a:txBody>
                  <a:tcPr marL="64008" marR="45720" marT="18288" marB="18288" anchor="ctr">
                    <a:solidFill>
                      <a:srgbClr val="FFFFFF"/>
                    </a:solidFill>
                  </a:tcPr>
                </a:tc>
                <a:tc>
                  <a:txBody>
                    <a:bodyPr wrap="square"/>
                    <a:lstStyle/>
                    <a:p>
                      <a:pPr algn="ctr"/>
                      <a:r>
                        <a:rPr sz="1050" b="0">
                          <a:solidFill>
                            <a:srgbClr val="1B2A38"/>
                          </a:solidFill>
                          <a:latin typeface="Calibri"/>
                        </a:rPr>
                        <a:t>[0.79, 0.93]</a:t>
                      </a:r>
                    </a:p>
                  </a:txBody>
                  <a:tcPr marL="64008" marR="45720" marT="18288" marB="18288" anchor="ctr">
                    <a:solidFill>
                      <a:srgbClr val="FFFFFF"/>
                    </a:solidFill>
                  </a:tcPr>
                </a:tc>
              </a:tr>
            </a:tbl>
          </a:graphicData>
        </a:graphic>
      </p:graphicFrame>
      <p:sp>
        <p:nvSpPr>
          <p:cNvPr id="14" name="Rounded Rectangle 13"/>
          <p:cNvSpPr/>
          <p:nvPr/>
        </p:nvSpPr>
        <p:spPr>
          <a:xfrm>
            <a:off x="6858000" y="1810512"/>
            <a:ext cx="4572000" cy="4160520"/>
          </a:xfrm>
          <a:prstGeom prst="roundRect">
            <a:avLst/>
          </a:prstGeom>
          <a:solidFill>
            <a:srgbClr val="F7E9E9"/>
          </a:solidFill>
          <a:ln w="9525">
            <a:solidFill>
              <a:srgbClr val="CBD8DE"/>
            </a:solidFill>
          </a:ln>
          <a:effectLst/>
          <a:effectLst>
            <a:outerShdw blurRad="90000" dist="38100" dir="5400000" rotWithShape="0">
              <a:srgbClr val="1B2A38">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059168" y="1965960"/>
            <a:ext cx="4206240" cy="365760"/>
          </a:xfrm>
          <a:prstGeom prst="rect">
            <a:avLst/>
          </a:prstGeom>
          <a:noFill/>
        </p:spPr>
        <p:txBody>
          <a:bodyPr wrap="square" anchor="t" lIns="0" rIns="0" tIns="0" bIns="0">
            <a:spAutoFit/>
          </a:bodyPr>
          <a:lstStyle/>
          <a:p>
            <a:pPr algn="l">
              <a:lnSpc>
                <a:spcPct val="100000"/>
              </a:lnSpc>
              <a:spcBef>
                <a:spcPts val="0"/>
              </a:spcBef>
              <a:spcAft>
                <a:spcPts val="400"/>
              </a:spcAft>
            </a:pPr>
            <a:r>
              <a:rPr sz="1400" b="1" i="0">
                <a:solidFill>
                  <a:srgbClr val="E1595B"/>
                </a:solidFill>
                <a:latin typeface="Calibri"/>
              </a:rPr>
              <a:t>Two messages</a:t>
            </a:r>
          </a:p>
        </p:txBody>
      </p:sp>
      <p:sp>
        <p:nvSpPr>
          <p:cNvPr id="16" name="TextBox 15"/>
          <p:cNvSpPr txBox="1"/>
          <p:nvPr/>
        </p:nvSpPr>
        <p:spPr>
          <a:xfrm>
            <a:off x="7059168" y="2423160"/>
            <a:ext cx="4206240" cy="3474720"/>
          </a:xfrm>
          <a:prstGeom prst="rect">
            <a:avLst/>
          </a:prstGeom>
          <a:noFill/>
        </p:spPr>
        <p:txBody>
          <a:bodyPr wrap="square" lIns="0" rIns="0" tIns="0" bIns="0">
            <a:spAutoFit/>
          </a:bodyPr>
          <a:lstStyle/>
          <a:p>
            <a:pPr>
              <a:lnSpc>
                <a:spcPct val="102000"/>
              </a:lnSpc>
              <a:spcBef>
                <a:spcPts val="0"/>
              </a:spcBef>
              <a:spcAft>
                <a:spcPts val="1300"/>
              </a:spcAft>
            </a:pPr>
            <a:r>
              <a:rPr sz="1200" b="1">
                <a:solidFill>
                  <a:srgbClr val="E1595B"/>
                </a:solidFill>
                <a:latin typeface="Calibri"/>
              </a:rPr>
              <a:t>•  </a:t>
            </a:r>
            <a:r>
              <a:rPr sz="1200" b="1">
                <a:solidFill>
                  <a:srgbClr val="0E4D64"/>
                </a:solidFill>
                <a:latin typeface="Calibri"/>
              </a:rPr>
              <a:t>① Bottleneck: </a:t>
            </a:r>
            <a:r>
              <a:rPr sz="1200" b="0">
                <a:solidFill>
                  <a:srgbClr val="1B2A38"/>
                </a:solidFill>
                <a:latin typeface="Calibri"/>
              </a:rPr>
              <a:t>a much stronger Stage-1 (Dice 0.739→0.760) barely moves F1 (0.804→0.807). The gap to the GT-ROI upper bound (~0.87) is the classifier's own error.</a:t>
            </a:r>
          </a:p>
          <a:p>
            <a:pPr>
              <a:lnSpc>
                <a:spcPct val="102000"/>
              </a:lnSpc>
              <a:spcBef>
                <a:spcPts val="0"/>
              </a:spcBef>
              <a:spcAft>
                <a:spcPts val="1300"/>
              </a:spcAft>
            </a:pPr>
            <a:r>
              <a:rPr sz="1200" b="1">
                <a:solidFill>
                  <a:srgbClr val="E1595B"/>
                </a:solidFill>
                <a:latin typeface="Calibri"/>
              </a:rPr>
              <a:t>•  </a:t>
            </a:r>
            <a:r>
              <a:rPr sz="1200" b="1">
                <a:solidFill>
                  <a:srgbClr val="0E4D64"/>
                </a:solidFill>
                <a:latin typeface="Calibri"/>
              </a:rPr>
              <a:t>② Rigour: </a:t>
            </a:r>
            <a:r>
              <a:rPr sz="1200" b="0">
                <a:solidFill>
                  <a:srgbClr val="1B2A38"/>
                </a:solidFill>
                <a:latin typeface="Calibri"/>
              </a:rPr>
              <a:t>the tidy ladder in (a) dissolves under CIs in (b): shape/texture features give no reliable gain — only ensembling survives (0.847→0.875).</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 y="475488"/>
            <a:ext cx="118872" cy="658368"/>
          </a:xfrm>
          <a:prstGeom prst="rect">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457200"/>
            <a:ext cx="10789920" cy="320040"/>
          </a:xfrm>
          <a:prstGeom prst="rect">
            <a:avLst/>
          </a:prstGeom>
          <a:noFill/>
        </p:spPr>
        <p:txBody>
          <a:bodyPr wrap="square" anchor="t" lIns="0" rIns="0" tIns="0" bIns="0">
            <a:spAutoFit/>
          </a:bodyPr>
          <a:lstStyle/>
          <a:p>
            <a:pPr algn="l">
              <a:lnSpc>
                <a:spcPct val="100000"/>
              </a:lnSpc>
              <a:spcBef>
                <a:spcPts val="0"/>
              </a:spcBef>
              <a:spcAft>
                <a:spcPts val="400"/>
              </a:spcAft>
            </a:pPr>
            <a:r>
              <a:rPr sz="1250" b="1" i="0">
                <a:solidFill>
                  <a:srgbClr val="E8A33D"/>
                </a:solidFill>
                <a:latin typeface="Calibri"/>
              </a:rPr>
              <a:t>5 · COMPARISON</a:t>
            </a:r>
          </a:p>
        </p:txBody>
      </p:sp>
      <p:sp>
        <p:nvSpPr>
          <p:cNvPr id="6" name="TextBox 5"/>
          <p:cNvSpPr txBox="1"/>
          <p:nvPr/>
        </p:nvSpPr>
        <p:spPr>
          <a:xfrm>
            <a:off x="777240" y="713232"/>
            <a:ext cx="10881360" cy="566928"/>
          </a:xfrm>
          <a:prstGeom prst="rect">
            <a:avLst/>
          </a:prstGeom>
          <a:noFill/>
        </p:spPr>
        <p:txBody>
          <a:bodyPr wrap="square" anchor="t" lIns="0" rIns="0" tIns="0" bIns="0">
            <a:spAutoFit/>
          </a:bodyPr>
          <a:lstStyle/>
          <a:p>
            <a:pPr algn="l">
              <a:lnSpc>
                <a:spcPct val="100000"/>
              </a:lnSpc>
              <a:spcBef>
                <a:spcPts val="0"/>
              </a:spcBef>
              <a:spcAft>
                <a:spcPts val="400"/>
              </a:spcAft>
            </a:pPr>
            <a:r>
              <a:rPr sz="2500" b="1" i="0">
                <a:solidFill>
                  <a:srgbClr val="1B2A38"/>
                </a:solidFill>
                <a:latin typeface="Calibri"/>
              </a:rPr>
              <a:t>Two comparisons: across models &amp; vs. reported</a:t>
            </a:r>
          </a:p>
        </p:txBody>
      </p:sp>
      <p:sp>
        <p:nvSpPr>
          <p:cNvPr id="7" name="Rectangle 6"/>
          <p:cNvSpPr/>
          <p:nvPr/>
        </p:nvSpPr>
        <p:spPr>
          <a:xfrm>
            <a:off x="777240" y="1316736"/>
            <a:ext cx="10634472" cy="18288"/>
          </a:xfrm>
          <a:prstGeom prst="rect">
            <a:avLst/>
          </a:prstGeom>
          <a:solidFill>
            <a:srgbClr val="CBD8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73952"/>
            <a:ext cx="7315200" cy="274320"/>
          </a:xfrm>
          <a:prstGeom prst="rect">
            <a:avLst/>
          </a:prstGeom>
          <a:noFill/>
        </p:spPr>
        <p:txBody>
          <a:bodyPr wrap="square" anchor="t" lIns="0" rIns="0" tIns="0" bIns="0">
            <a:spAutoFit/>
          </a:bodyPr>
          <a:lstStyle/>
          <a:p>
            <a:pPr algn="l">
              <a:lnSpc>
                <a:spcPct val="100000"/>
              </a:lnSpc>
              <a:spcBef>
                <a:spcPts val="0"/>
              </a:spcBef>
              <a:spcAft>
                <a:spcPts val="400"/>
              </a:spcAft>
            </a:pPr>
            <a:r>
              <a:rPr sz="900" b="0" i="0">
                <a:solidFill>
                  <a:srgbClr val="8A94A6"/>
                </a:solidFill>
                <a:latin typeface="Calibri"/>
              </a:rPr>
              <a:t>COMP9444 · Group Project 047 · Breast Ultrasound (BUSI)</a:t>
            </a:r>
          </a:p>
        </p:txBody>
      </p:sp>
      <p:sp>
        <p:nvSpPr>
          <p:cNvPr id="9" name="TextBox 8"/>
          <p:cNvSpPr txBox="1"/>
          <p:nvPr/>
        </p:nvSpPr>
        <p:spPr>
          <a:xfrm>
            <a:off x="11064240" y="6473952"/>
            <a:ext cx="685800" cy="274320"/>
          </a:xfrm>
          <a:prstGeom prst="rect">
            <a:avLst/>
          </a:prstGeom>
          <a:noFill/>
        </p:spPr>
        <p:txBody>
          <a:bodyPr wrap="square" anchor="t" lIns="0" rIns="0" tIns="0" bIns="0">
            <a:spAutoFit/>
          </a:bodyPr>
          <a:lstStyle/>
          <a:p>
            <a:pPr algn="r">
              <a:lnSpc>
                <a:spcPct val="100000"/>
              </a:lnSpc>
              <a:spcBef>
                <a:spcPts val="0"/>
              </a:spcBef>
              <a:spcAft>
                <a:spcPts val="400"/>
              </a:spcAft>
            </a:pPr>
            <a:r>
              <a:rPr sz="900" b="1" i="0">
                <a:solidFill>
                  <a:srgbClr val="8A94A6"/>
                </a:solidFill>
                <a:latin typeface="Calibri"/>
              </a:rPr>
              <a:t>24</a:t>
            </a:r>
          </a:p>
        </p:txBody>
      </p:sp>
      <p:sp>
        <p:nvSpPr>
          <p:cNvPr id="10" name="Rounded Rectangle 9"/>
          <p:cNvSpPr/>
          <p:nvPr/>
        </p:nvSpPr>
        <p:spPr>
          <a:xfrm>
            <a:off x="777240" y="1645920"/>
            <a:ext cx="5212080" cy="4297680"/>
          </a:xfrm>
          <a:prstGeom prst="roundRect">
            <a:avLst/>
          </a:prstGeom>
          <a:solidFill>
            <a:srgbClr val="F1F6F8"/>
          </a:solidFill>
          <a:ln w="9525">
            <a:solidFill>
              <a:srgbClr val="CBD8DE"/>
            </a:solidFill>
          </a:ln>
          <a:effectLst/>
          <a:effectLst>
            <a:outerShdw blurRad="90000" dist="38100" dir="5400000" rotWithShape="0">
              <a:srgbClr val="1B2A38">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1810512"/>
            <a:ext cx="4754880" cy="365760"/>
          </a:xfrm>
          <a:prstGeom prst="rect">
            <a:avLst/>
          </a:prstGeom>
          <a:noFill/>
        </p:spPr>
        <p:txBody>
          <a:bodyPr wrap="square" anchor="t" lIns="0" rIns="0" tIns="0" bIns="0">
            <a:spAutoFit/>
          </a:bodyPr>
          <a:lstStyle/>
          <a:p>
            <a:pPr algn="l">
              <a:lnSpc>
                <a:spcPct val="100000"/>
              </a:lnSpc>
              <a:spcBef>
                <a:spcPts val="0"/>
              </a:spcBef>
              <a:spcAft>
                <a:spcPts val="400"/>
              </a:spcAft>
            </a:pPr>
            <a:r>
              <a:rPr sz="1250" b="1" i="0">
                <a:solidFill>
                  <a:srgbClr val="0E4D64"/>
                </a:solidFill>
                <a:latin typeface="Calibri"/>
              </a:rPr>
              <a:t>HORIZONTAL — best per task (ours vs baseline)</a:t>
            </a:r>
          </a:p>
        </p:txBody>
      </p:sp>
      <p:sp>
        <p:nvSpPr>
          <p:cNvPr id="12" name="TextBox 11"/>
          <p:cNvSpPr txBox="1"/>
          <p:nvPr/>
        </p:nvSpPr>
        <p:spPr>
          <a:xfrm>
            <a:off x="1005840" y="2286000"/>
            <a:ext cx="2743200" cy="274320"/>
          </a:xfrm>
          <a:prstGeom prst="rect">
            <a:avLst/>
          </a:prstGeom>
          <a:noFill/>
        </p:spPr>
        <p:txBody>
          <a:bodyPr wrap="square" anchor="t" lIns="0" rIns="0" tIns="0" bIns="0">
            <a:spAutoFit/>
          </a:bodyPr>
          <a:lstStyle/>
          <a:p>
            <a:pPr algn="l">
              <a:lnSpc>
                <a:spcPct val="100000"/>
              </a:lnSpc>
              <a:spcBef>
                <a:spcPts val="0"/>
              </a:spcBef>
              <a:spcAft>
                <a:spcPts val="400"/>
              </a:spcAft>
            </a:pPr>
            <a:r>
              <a:rPr sz="1050" b="0" i="0">
                <a:solidFill>
                  <a:srgbClr val="1B2A38"/>
                </a:solidFill>
                <a:latin typeface="Calibri"/>
              </a:rPr>
              <a:t>Seg · Improved U-Net</a:t>
            </a:r>
          </a:p>
        </p:txBody>
      </p:sp>
      <p:sp>
        <p:nvSpPr>
          <p:cNvPr id="13" name="Rectangle 12"/>
          <p:cNvSpPr/>
          <p:nvPr/>
        </p:nvSpPr>
        <p:spPr>
          <a:xfrm>
            <a:off x="1005840" y="2560320"/>
            <a:ext cx="4480560" cy="146304"/>
          </a:xfrm>
          <a:prstGeom prst="rect">
            <a:avLst/>
          </a:prstGeom>
          <a:solidFill>
            <a:srgbClr val="E1E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005840" y="2560320"/>
            <a:ext cx="3405225" cy="146304"/>
          </a:xfrm>
          <a:prstGeom prst="rect">
            <a:avLst/>
          </a:prstGeom>
          <a:solidFill>
            <a:srgbClr val="3AA6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504688" y="2432304"/>
            <a:ext cx="457200" cy="274320"/>
          </a:xfrm>
          <a:prstGeom prst="rect">
            <a:avLst/>
          </a:prstGeom>
          <a:noFill/>
        </p:spPr>
        <p:txBody>
          <a:bodyPr wrap="square" anchor="t" lIns="0" rIns="0" tIns="0" bIns="0">
            <a:spAutoFit/>
          </a:bodyPr>
          <a:lstStyle/>
          <a:p>
            <a:pPr algn="l">
              <a:lnSpc>
                <a:spcPct val="100000"/>
              </a:lnSpc>
              <a:spcBef>
                <a:spcPts val="0"/>
              </a:spcBef>
              <a:spcAft>
                <a:spcPts val="400"/>
              </a:spcAft>
            </a:pPr>
            <a:r>
              <a:rPr sz="1000" b="1" i="0">
                <a:solidFill>
                  <a:srgbClr val="3AA655"/>
                </a:solidFill>
                <a:latin typeface="Calibri"/>
              </a:rPr>
              <a:t>0.760</a:t>
            </a:r>
          </a:p>
        </p:txBody>
      </p:sp>
      <p:sp>
        <p:nvSpPr>
          <p:cNvPr id="16" name="TextBox 15"/>
          <p:cNvSpPr txBox="1"/>
          <p:nvPr/>
        </p:nvSpPr>
        <p:spPr>
          <a:xfrm>
            <a:off x="1005840" y="2852928"/>
            <a:ext cx="2743200" cy="274320"/>
          </a:xfrm>
          <a:prstGeom prst="rect">
            <a:avLst/>
          </a:prstGeom>
          <a:noFill/>
        </p:spPr>
        <p:txBody>
          <a:bodyPr wrap="square" anchor="t" lIns="0" rIns="0" tIns="0" bIns="0">
            <a:spAutoFit/>
          </a:bodyPr>
          <a:lstStyle/>
          <a:p>
            <a:pPr algn="l">
              <a:lnSpc>
                <a:spcPct val="100000"/>
              </a:lnSpc>
              <a:spcBef>
                <a:spcPts val="0"/>
              </a:spcBef>
              <a:spcAft>
                <a:spcPts val="400"/>
              </a:spcAft>
            </a:pPr>
            <a:r>
              <a:rPr sz="1050" b="0" i="0">
                <a:solidFill>
                  <a:srgbClr val="1B2A38"/>
                </a:solidFill>
                <a:latin typeface="Calibri"/>
              </a:rPr>
              <a:t>Seg · DeepLabV3+ (base)</a:t>
            </a:r>
          </a:p>
        </p:txBody>
      </p:sp>
      <p:sp>
        <p:nvSpPr>
          <p:cNvPr id="17" name="Rectangle 16"/>
          <p:cNvSpPr/>
          <p:nvPr/>
        </p:nvSpPr>
        <p:spPr>
          <a:xfrm>
            <a:off x="1005840" y="3127248"/>
            <a:ext cx="4480560" cy="146304"/>
          </a:xfrm>
          <a:prstGeom prst="rect">
            <a:avLst/>
          </a:prstGeom>
          <a:solidFill>
            <a:srgbClr val="E1E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005840" y="3127248"/>
            <a:ext cx="3311133" cy="146304"/>
          </a:xfrm>
          <a:prstGeom prst="rect">
            <a:avLst/>
          </a:prstGeom>
          <a:solidFill>
            <a:srgbClr val="1F8A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504688" y="2999232"/>
            <a:ext cx="457200" cy="274320"/>
          </a:xfrm>
          <a:prstGeom prst="rect">
            <a:avLst/>
          </a:prstGeom>
          <a:noFill/>
        </p:spPr>
        <p:txBody>
          <a:bodyPr wrap="square" anchor="t" lIns="0" rIns="0" tIns="0" bIns="0">
            <a:spAutoFit/>
          </a:bodyPr>
          <a:lstStyle/>
          <a:p>
            <a:pPr algn="l">
              <a:lnSpc>
                <a:spcPct val="100000"/>
              </a:lnSpc>
              <a:spcBef>
                <a:spcPts val="0"/>
              </a:spcBef>
              <a:spcAft>
                <a:spcPts val="400"/>
              </a:spcAft>
            </a:pPr>
            <a:r>
              <a:rPr sz="1000" b="1" i="0">
                <a:solidFill>
                  <a:srgbClr val="1F8AA6"/>
                </a:solidFill>
                <a:latin typeface="Calibri"/>
              </a:rPr>
              <a:t>0.739</a:t>
            </a:r>
          </a:p>
        </p:txBody>
      </p:sp>
      <p:sp>
        <p:nvSpPr>
          <p:cNvPr id="20" name="TextBox 19"/>
          <p:cNvSpPr txBox="1"/>
          <p:nvPr/>
        </p:nvSpPr>
        <p:spPr>
          <a:xfrm>
            <a:off x="1005840" y="3419856"/>
            <a:ext cx="2743200" cy="274320"/>
          </a:xfrm>
          <a:prstGeom prst="rect">
            <a:avLst/>
          </a:prstGeom>
          <a:noFill/>
        </p:spPr>
        <p:txBody>
          <a:bodyPr wrap="square" anchor="t" lIns="0" rIns="0" tIns="0" bIns="0">
            <a:spAutoFit/>
          </a:bodyPr>
          <a:lstStyle/>
          <a:p>
            <a:pPr algn="l">
              <a:lnSpc>
                <a:spcPct val="100000"/>
              </a:lnSpc>
              <a:spcBef>
                <a:spcPts val="0"/>
              </a:spcBef>
              <a:spcAft>
                <a:spcPts val="400"/>
              </a:spcAft>
            </a:pPr>
            <a:r>
              <a:rPr sz="1050" b="0" i="0">
                <a:solidFill>
                  <a:srgbClr val="1B2A38"/>
                </a:solidFill>
                <a:latin typeface="Calibri"/>
              </a:rPr>
              <a:t>Cls · EfficientNet-B0</a:t>
            </a:r>
          </a:p>
        </p:txBody>
      </p:sp>
      <p:sp>
        <p:nvSpPr>
          <p:cNvPr id="21" name="Rectangle 20"/>
          <p:cNvSpPr/>
          <p:nvPr/>
        </p:nvSpPr>
        <p:spPr>
          <a:xfrm>
            <a:off x="1005840" y="3694176"/>
            <a:ext cx="4480560" cy="146304"/>
          </a:xfrm>
          <a:prstGeom prst="rect">
            <a:avLst/>
          </a:prstGeom>
          <a:solidFill>
            <a:srgbClr val="E1E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005840" y="3694176"/>
            <a:ext cx="3709903" cy="146304"/>
          </a:xfrm>
          <a:prstGeom prst="rect">
            <a:avLst/>
          </a:prstGeom>
          <a:solidFill>
            <a:srgbClr val="3AA6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504688" y="3566160"/>
            <a:ext cx="457200" cy="274320"/>
          </a:xfrm>
          <a:prstGeom prst="rect">
            <a:avLst/>
          </a:prstGeom>
          <a:noFill/>
        </p:spPr>
        <p:txBody>
          <a:bodyPr wrap="square" anchor="t" lIns="0" rIns="0" tIns="0" bIns="0">
            <a:spAutoFit/>
          </a:bodyPr>
          <a:lstStyle/>
          <a:p>
            <a:pPr algn="l">
              <a:lnSpc>
                <a:spcPct val="100000"/>
              </a:lnSpc>
              <a:spcBef>
                <a:spcPts val="0"/>
              </a:spcBef>
              <a:spcAft>
                <a:spcPts val="400"/>
              </a:spcAft>
            </a:pPr>
            <a:r>
              <a:rPr sz="1000" b="1" i="0">
                <a:solidFill>
                  <a:srgbClr val="3AA655"/>
                </a:solidFill>
                <a:latin typeface="Calibri"/>
              </a:rPr>
              <a:t>0.828</a:t>
            </a:r>
          </a:p>
        </p:txBody>
      </p:sp>
      <p:sp>
        <p:nvSpPr>
          <p:cNvPr id="24" name="TextBox 23"/>
          <p:cNvSpPr txBox="1"/>
          <p:nvPr/>
        </p:nvSpPr>
        <p:spPr>
          <a:xfrm>
            <a:off x="1005840" y="3986784"/>
            <a:ext cx="2743200" cy="274320"/>
          </a:xfrm>
          <a:prstGeom prst="rect">
            <a:avLst/>
          </a:prstGeom>
          <a:noFill/>
        </p:spPr>
        <p:txBody>
          <a:bodyPr wrap="square" anchor="t" lIns="0" rIns="0" tIns="0" bIns="0">
            <a:spAutoFit/>
          </a:bodyPr>
          <a:lstStyle/>
          <a:p>
            <a:pPr algn="l">
              <a:lnSpc>
                <a:spcPct val="100000"/>
              </a:lnSpc>
              <a:spcBef>
                <a:spcPts val="0"/>
              </a:spcBef>
              <a:spcAft>
                <a:spcPts val="400"/>
              </a:spcAft>
            </a:pPr>
            <a:r>
              <a:rPr sz="1050" b="0" i="0">
                <a:solidFill>
                  <a:srgbClr val="1B2A38"/>
                </a:solidFill>
                <a:latin typeface="Calibri"/>
              </a:rPr>
              <a:t>Cls · MTL-OCA (base)</a:t>
            </a:r>
          </a:p>
        </p:txBody>
      </p:sp>
      <p:sp>
        <p:nvSpPr>
          <p:cNvPr id="25" name="Rectangle 24"/>
          <p:cNvSpPr/>
          <p:nvPr/>
        </p:nvSpPr>
        <p:spPr>
          <a:xfrm>
            <a:off x="1005840" y="4261104"/>
            <a:ext cx="4480560" cy="146304"/>
          </a:xfrm>
          <a:prstGeom prst="rect">
            <a:avLst/>
          </a:prstGeom>
          <a:solidFill>
            <a:srgbClr val="E1E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005840" y="4261104"/>
            <a:ext cx="3226003" cy="146304"/>
          </a:xfrm>
          <a:prstGeom prst="rect">
            <a:avLst/>
          </a:prstGeom>
          <a:solidFill>
            <a:srgbClr val="8A94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504688" y="4133088"/>
            <a:ext cx="457200" cy="274320"/>
          </a:xfrm>
          <a:prstGeom prst="rect">
            <a:avLst/>
          </a:prstGeom>
          <a:noFill/>
        </p:spPr>
        <p:txBody>
          <a:bodyPr wrap="square" anchor="t" lIns="0" rIns="0" tIns="0" bIns="0">
            <a:spAutoFit/>
          </a:bodyPr>
          <a:lstStyle/>
          <a:p>
            <a:pPr algn="l">
              <a:lnSpc>
                <a:spcPct val="100000"/>
              </a:lnSpc>
              <a:spcBef>
                <a:spcPts val="0"/>
              </a:spcBef>
              <a:spcAft>
                <a:spcPts val="400"/>
              </a:spcAft>
            </a:pPr>
            <a:r>
              <a:rPr sz="1000" b="1" i="0">
                <a:solidFill>
                  <a:srgbClr val="8A94A6"/>
                </a:solidFill>
                <a:latin typeface="Calibri"/>
              </a:rPr>
              <a:t>0.720</a:t>
            </a:r>
          </a:p>
        </p:txBody>
      </p:sp>
      <p:sp>
        <p:nvSpPr>
          <p:cNvPr id="28" name="TextBox 27"/>
          <p:cNvSpPr txBox="1"/>
          <p:nvPr/>
        </p:nvSpPr>
        <p:spPr>
          <a:xfrm>
            <a:off x="1005840" y="4553712"/>
            <a:ext cx="2743200" cy="274320"/>
          </a:xfrm>
          <a:prstGeom prst="rect">
            <a:avLst/>
          </a:prstGeom>
          <a:noFill/>
        </p:spPr>
        <p:txBody>
          <a:bodyPr wrap="square" anchor="t" lIns="0" rIns="0" tIns="0" bIns="0">
            <a:spAutoFit/>
          </a:bodyPr>
          <a:lstStyle/>
          <a:p>
            <a:pPr algn="l">
              <a:lnSpc>
                <a:spcPct val="100000"/>
              </a:lnSpc>
              <a:spcBef>
                <a:spcPts val="0"/>
              </a:spcBef>
              <a:spcAft>
                <a:spcPts val="400"/>
              </a:spcAft>
            </a:pPr>
            <a:r>
              <a:rPr sz="1050" b="0" i="0">
                <a:solidFill>
                  <a:srgbClr val="1B2A38"/>
                </a:solidFill>
                <a:latin typeface="Calibri"/>
              </a:rPr>
              <a:t>Dual · OOF+ensemble (ours)</a:t>
            </a:r>
          </a:p>
        </p:txBody>
      </p:sp>
      <p:sp>
        <p:nvSpPr>
          <p:cNvPr id="29" name="Rectangle 28"/>
          <p:cNvSpPr/>
          <p:nvPr/>
        </p:nvSpPr>
        <p:spPr>
          <a:xfrm>
            <a:off x="1005840" y="4828032"/>
            <a:ext cx="4480560" cy="146304"/>
          </a:xfrm>
          <a:prstGeom prst="rect">
            <a:avLst/>
          </a:prstGeom>
          <a:solidFill>
            <a:srgbClr val="E1E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005840" y="4828032"/>
            <a:ext cx="3920490" cy="146304"/>
          </a:xfrm>
          <a:prstGeom prst="rect">
            <a:avLst/>
          </a:prstGeom>
          <a:solidFill>
            <a:srgbClr val="E159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504688" y="4700016"/>
            <a:ext cx="457200" cy="274320"/>
          </a:xfrm>
          <a:prstGeom prst="rect">
            <a:avLst/>
          </a:prstGeom>
          <a:noFill/>
        </p:spPr>
        <p:txBody>
          <a:bodyPr wrap="square" anchor="t" lIns="0" rIns="0" tIns="0" bIns="0">
            <a:spAutoFit/>
          </a:bodyPr>
          <a:lstStyle/>
          <a:p>
            <a:pPr algn="l">
              <a:lnSpc>
                <a:spcPct val="100000"/>
              </a:lnSpc>
              <a:spcBef>
                <a:spcPts val="0"/>
              </a:spcBef>
              <a:spcAft>
                <a:spcPts val="400"/>
              </a:spcAft>
            </a:pPr>
            <a:r>
              <a:rPr sz="1000" b="1" i="0">
                <a:solidFill>
                  <a:srgbClr val="E1595B"/>
                </a:solidFill>
                <a:latin typeface="Calibri"/>
              </a:rPr>
              <a:t>0.875</a:t>
            </a:r>
          </a:p>
        </p:txBody>
      </p:sp>
      <p:sp>
        <p:nvSpPr>
          <p:cNvPr id="32" name="TextBox 31"/>
          <p:cNvSpPr txBox="1"/>
          <p:nvPr/>
        </p:nvSpPr>
        <p:spPr>
          <a:xfrm>
            <a:off x="1005840" y="5120640"/>
            <a:ext cx="2743200" cy="274320"/>
          </a:xfrm>
          <a:prstGeom prst="rect">
            <a:avLst/>
          </a:prstGeom>
          <a:noFill/>
        </p:spPr>
        <p:txBody>
          <a:bodyPr wrap="square" anchor="t" lIns="0" rIns="0" tIns="0" bIns="0">
            <a:spAutoFit/>
          </a:bodyPr>
          <a:lstStyle/>
          <a:p>
            <a:pPr algn="l">
              <a:lnSpc>
                <a:spcPct val="100000"/>
              </a:lnSpc>
              <a:spcBef>
                <a:spcPts val="0"/>
              </a:spcBef>
              <a:spcAft>
                <a:spcPts val="400"/>
              </a:spcAft>
            </a:pPr>
            <a:r>
              <a:rPr sz="1050" b="0" i="0">
                <a:solidFill>
                  <a:srgbClr val="1B2A38"/>
                </a:solidFill>
                <a:latin typeface="Calibri"/>
              </a:rPr>
              <a:t>Dual · Bruno (base)</a:t>
            </a:r>
          </a:p>
        </p:txBody>
      </p:sp>
      <p:sp>
        <p:nvSpPr>
          <p:cNvPr id="33" name="Rectangle 32"/>
          <p:cNvSpPr/>
          <p:nvPr/>
        </p:nvSpPr>
        <p:spPr>
          <a:xfrm>
            <a:off x="1005840" y="5394960"/>
            <a:ext cx="4480560" cy="146304"/>
          </a:xfrm>
          <a:prstGeom prst="rect">
            <a:avLst/>
          </a:prstGeom>
          <a:solidFill>
            <a:srgbClr val="E1E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1005840" y="5394960"/>
            <a:ext cx="3602370" cy="146304"/>
          </a:xfrm>
          <a:prstGeom prst="rect">
            <a:avLst/>
          </a:prstGeom>
          <a:solidFill>
            <a:srgbClr val="8A94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504688" y="5266944"/>
            <a:ext cx="457200" cy="274320"/>
          </a:xfrm>
          <a:prstGeom prst="rect">
            <a:avLst/>
          </a:prstGeom>
          <a:noFill/>
        </p:spPr>
        <p:txBody>
          <a:bodyPr wrap="square" anchor="t" lIns="0" rIns="0" tIns="0" bIns="0">
            <a:spAutoFit/>
          </a:bodyPr>
          <a:lstStyle/>
          <a:p>
            <a:pPr algn="l">
              <a:lnSpc>
                <a:spcPct val="100000"/>
              </a:lnSpc>
              <a:spcBef>
                <a:spcPts val="0"/>
              </a:spcBef>
              <a:spcAft>
                <a:spcPts val="400"/>
              </a:spcAft>
            </a:pPr>
            <a:r>
              <a:rPr sz="1000" b="1" i="0">
                <a:solidFill>
                  <a:srgbClr val="8A94A6"/>
                </a:solidFill>
                <a:latin typeface="Calibri"/>
              </a:rPr>
              <a:t>0.804</a:t>
            </a:r>
          </a:p>
        </p:txBody>
      </p:sp>
      <p:sp>
        <p:nvSpPr>
          <p:cNvPr id="36" name="Rounded Rectangle 35"/>
          <p:cNvSpPr/>
          <p:nvPr/>
        </p:nvSpPr>
        <p:spPr>
          <a:xfrm>
            <a:off x="6172200" y="1645920"/>
            <a:ext cx="5257800" cy="4297680"/>
          </a:xfrm>
          <a:prstGeom prst="roundRect">
            <a:avLst/>
          </a:prstGeom>
          <a:solidFill>
            <a:srgbClr val="F1F6F8"/>
          </a:solidFill>
          <a:ln w="9525">
            <a:solidFill>
              <a:srgbClr val="CBD8DE"/>
            </a:solidFill>
          </a:ln>
          <a:effectLst/>
          <a:effectLst>
            <a:outerShdw blurRad="90000" dist="38100" dir="5400000" rotWithShape="0">
              <a:srgbClr val="1B2A38">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00800" y="1810512"/>
            <a:ext cx="4846320" cy="365760"/>
          </a:xfrm>
          <a:prstGeom prst="rect">
            <a:avLst/>
          </a:prstGeom>
          <a:noFill/>
        </p:spPr>
        <p:txBody>
          <a:bodyPr wrap="square" anchor="t" lIns="0" rIns="0" tIns="0" bIns="0">
            <a:spAutoFit/>
          </a:bodyPr>
          <a:lstStyle/>
          <a:p>
            <a:pPr algn="l">
              <a:lnSpc>
                <a:spcPct val="100000"/>
              </a:lnSpc>
              <a:spcBef>
                <a:spcPts val="0"/>
              </a:spcBef>
              <a:spcAft>
                <a:spcPts val="400"/>
              </a:spcAft>
            </a:pPr>
            <a:r>
              <a:rPr sz="1250" b="1" i="0">
                <a:solidFill>
                  <a:srgbClr val="0E4D64"/>
                </a:solidFill>
                <a:latin typeface="Calibri"/>
              </a:rPr>
              <a:t>VERTICAL — our leakage-free vs. paper-reported Dice</a:t>
            </a:r>
          </a:p>
        </p:txBody>
      </p:sp>
      <p:sp>
        <p:nvSpPr>
          <p:cNvPr id="38" name="TextBox 37"/>
          <p:cNvSpPr txBox="1"/>
          <p:nvPr/>
        </p:nvSpPr>
        <p:spPr>
          <a:xfrm>
            <a:off x="6400800" y="2331720"/>
            <a:ext cx="4846320" cy="274320"/>
          </a:xfrm>
          <a:prstGeom prst="rect">
            <a:avLst/>
          </a:prstGeom>
          <a:noFill/>
        </p:spPr>
        <p:txBody>
          <a:bodyPr wrap="square" anchor="t" lIns="0" rIns="0" tIns="0" bIns="0">
            <a:spAutoFit/>
          </a:bodyPr>
          <a:lstStyle/>
          <a:p>
            <a:pPr algn="l">
              <a:lnSpc>
                <a:spcPct val="100000"/>
              </a:lnSpc>
              <a:spcBef>
                <a:spcPts val="0"/>
              </a:spcBef>
              <a:spcAft>
                <a:spcPts val="400"/>
              </a:spcAft>
            </a:pPr>
            <a:r>
              <a:rPr sz="1150" b="1" i="0">
                <a:solidFill>
                  <a:srgbClr val="1B2A38"/>
                </a:solidFill>
                <a:latin typeface="Calibri"/>
              </a:rPr>
              <a:t>CResU-Net</a:t>
            </a:r>
          </a:p>
        </p:txBody>
      </p:sp>
      <p:sp>
        <p:nvSpPr>
          <p:cNvPr id="39" name="Rectangle 38"/>
          <p:cNvSpPr/>
          <p:nvPr/>
        </p:nvSpPr>
        <p:spPr>
          <a:xfrm>
            <a:off x="6400800" y="2624327"/>
            <a:ext cx="3941795" cy="182880"/>
          </a:xfrm>
          <a:prstGeom prst="rect">
            <a:avLst/>
          </a:prstGeom>
          <a:solidFill>
            <a:srgbClr val="C7D4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388315" y="2606039"/>
            <a:ext cx="1097280" cy="219456"/>
          </a:xfrm>
          <a:prstGeom prst="rect">
            <a:avLst/>
          </a:prstGeom>
          <a:noFill/>
        </p:spPr>
        <p:txBody>
          <a:bodyPr wrap="square" anchor="t" lIns="0" rIns="0" tIns="0" bIns="0">
            <a:spAutoFit/>
          </a:bodyPr>
          <a:lstStyle/>
          <a:p>
            <a:pPr algn="l">
              <a:lnSpc>
                <a:spcPct val="100000"/>
              </a:lnSpc>
              <a:spcBef>
                <a:spcPts val="0"/>
              </a:spcBef>
              <a:spcAft>
                <a:spcPts val="400"/>
              </a:spcAft>
            </a:pPr>
            <a:r>
              <a:rPr sz="950" b="1" i="0">
                <a:solidFill>
                  <a:srgbClr val="45596B"/>
                </a:solidFill>
                <a:latin typeface="Calibri"/>
              </a:rPr>
              <a:t>paper 0.829</a:t>
            </a:r>
          </a:p>
        </p:txBody>
      </p:sp>
      <p:sp>
        <p:nvSpPr>
          <p:cNvPr id="41" name="Rectangle 40"/>
          <p:cNvSpPr/>
          <p:nvPr/>
        </p:nvSpPr>
        <p:spPr>
          <a:xfrm>
            <a:off x="6400800" y="2862072"/>
            <a:ext cx="3295131" cy="182880"/>
          </a:xfrm>
          <a:prstGeom prst="rect">
            <a:avLst/>
          </a:prstGeom>
          <a:solidFill>
            <a:srgbClr val="E159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741651" y="2843784"/>
            <a:ext cx="1097280" cy="219456"/>
          </a:xfrm>
          <a:prstGeom prst="rect">
            <a:avLst/>
          </a:prstGeom>
          <a:noFill/>
        </p:spPr>
        <p:txBody>
          <a:bodyPr wrap="square" anchor="t" lIns="0" rIns="0" tIns="0" bIns="0">
            <a:spAutoFit/>
          </a:bodyPr>
          <a:lstStyle/>
          <a:p>
            <a:pPr algn="l">
              <a:lnSpc>
                <a:spcPct val="100000"/>
              </a:lnSpc>
              <a:spcBef>
                <a:spcPts val="0"/>
              </a:spcBef>
              <a:spcAft>
                <a:spcPts val="400"/>
              </a:spcAft>
            </a:pPr>
            <a:r>
              <a:rPr sz="950" b="1" i="0">
                <a:solidFill>
                  <a:srgbClr val="E1595B"/>
                </a:solidFill>
                <a:latin typeface="Calibri"/>
              </a:rPr>
              <a:t>ours 0.693</a:t>
            </a:r>
          </a:p>
        </p:txBody>
      </p:sp>
      <p:sp>
        <p:nvSpPr>
          <p:cNvPr id="43" name="TextBox 42"/>
          <p:cNvSpPr txBox="1"/>
          <p:nvPr/>
        </p:nvSpPr>
        <p:spPr>
          <a:xfrm>
            <a:off x="6400800" y="3291839"/>
            <a:ext cx="4846320" cy="274320"/>
          </a:xfrm>
          <a:prstGeom prst="rect">
            <a:avLst/>
          </a:prstGeom>
          <a:noFill/>
        </p:spPr>
        <p:txBody>
          <a:bodyPr wrap="square" anchor="t" lIns="0" rIns="0" tIns="0" bIns="0">
            <a:spAutoFit/>
          </a:bodyPr>
          <a:lstStyle/>
          <a:p>
            <a:pPr algn="l">
              <a:lnSpc>
                <a:spcPct val="100000"/>
              </a:lnSpc>
              <a:spcBef>
                <a:spcPts val="0"/>
              </a:spcBef>
              <a:spcAft>
                <a:spcPts val="400"/>
              </a:spcAft>
            </a:pPr>
            <a:r>
              <a:rPr sz="1150" b="1" i="0">
                <a:solidFill>
                  <a:srgbClr val="1B2A38"/>
                </a:solidFill>
                <a:latin typeface="Calibri"/>
              </a:rPr>
              <a:t>AAU-Net</a:t>
            </a:r>
          </a:p>
        </p:txBody>
      </p:sp>
      <p:sp>
        <p:nvSpPr>
          <p:cNvPr id="44" name="Rectangle 43"/>
          <p:cNvSpPr/>
          <p:nvPr/>
        </p:nvSpPr>
        <p:spPr>
          <a:xfrm>
            <a:off x="6400800" y="3584447"/>
            <a:ext cx="3685032" cy="182880"/>
          </a:xfrm>
          <a:prstGeom prst="rect">
            <a:avLst/>
          </a:prstGeom>
          <a:solidFill>
            <a:srgbClr val="C7D4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131552" y="3566159"/>
            <a:ext cx="1097280" cy="219456"/>
          </a:xfrm>
          <a:prstGeom prst="rect">
            <a:avLst/>
          </a:prstGeom>
          <a:noFill/>
        </p:spPr>
        <p:txBody>
          <a:bodyPr wrap="square" anchor="t" lIns="0" rIns="0" tIns="0" bIns="0">
            <a:spAutoFit/>
          </a:bodyPr>
          <a:lstStyle/>
          <a:p>
            <a:pPr algn="l">
              <a:lnSpc>
                <a:spcPct val="100000"/>
              </a:lnSpc>
              <a:spcBef>
                <a:spcPts val="0"/>
              </a:spcBef>
              <a:spcAft>
                <a:spcPts val="400"/>
              </a:spcAft>
            </a:pPr>
            <a:r>
              <a:rPr sz="950" b="1" i="0">
                <a:solidFill>
                  <a:srgbClr val="45596B"/>
                </a:solidFill>
                <a:latin typeface="Calibri"/>
              </a:rPr>
              <a:t>paper 0.775</a:t>
            </a:r>
          </a:p>
        </p:txBody>
      </p:sp>
      <p:sp>
        <p:nvSpPr>
          <p:cNvPr id="46" name="Rectangle 45"/>
          <p:cNvSpPr/>
          <p:nvPr/>
        </p:nvSpPr>
        <p:spPr>
          <a:xfrm>
            <a:off x="6400800" y="3822191"/>
            <a:ext cx="3471062" cy="182880"/>
          </a:xfrm>
          <a:prstGeom prst="rect">
            <a:avLst/>
          </a:prstGeom>
          <a:solidFill>
            <a:srgbClr val="E159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917582" y="3803904"/>
            <a:ext cx="1097280" cy="219456"/>
          </a:xfrm>
          <a:prstGeom prst="rect">
            <a:avLst/>
          </a:prstGeom>
          <a:noFill/>
        </p:spPr>
        <p:txBody>
          <a:bodyPr wrap="square" anchor="t" lIns="0" rIns="0" tIns="0" bIns="0">
            <a:spAutoFit/>
          </a:bodyPr>
          <a:lstStyle/>
          <a:p>
            <a:pPr algn="l">
              <a:lnSpc>
                <a:spcPct val="100000"/>
              </a:lnSpc>
              <a:spcBef>
                <a:spcPts val="0"/>
              </a:spcBef>
              <a:spcAft>
                <a:spcPts val="400"/>
              </a:spcAft>
            </a:pPr>
            <a:r>
              <a:rPr sz="950" b="1" i="0">
                <a:solidFill>
                  <a:srgbClr val="E1595B"/>
                </a:solidFill>
                <a:latin typeface="Calibri"/>
              </a:rPr>
              <a:t>ours 0.730</a:t>
            </a:r>
          </a:p>
        </p:txBody>
      </p:sp>
      <p:sp>
        <p:nvSpPr>
          <p:cNvPr id="48" name="TextBox 47"/>
          <p:cNvSpPr txBox="1"/>
          <p:nvPr/>
        </p:nvSpPr>
        <p:spPr>
          <a:xfrm>
            <a:off x="6400800" y="4251959"/>
            <a:ext cx="4846320" cy="274320"/>
          </a:xfrm>
          <a:prstGeom prst="rect">
            <a:avLst/>
          </a:prstGeom>
          <a:noFill/>
        </p:spPr>
        <p:txBody>
          <a:bodyPr wrap="square" anchor="t" lIns="0" rIns="0" tIns="0" bIns="0">
            <a:spAutoFit/>
          </a:bodyPr>
          <a:lstStyle/>
          <a:p>
            <a:pPr algn="l">
              <a:lnSpc>
                <a:spcPct val="100000"/>
              </a:lnSpc>
              <a:spcBef>
                <a:spcPts val="0"/>
              </a:spcBef>
              <a:spcAft>
                <a:spcPts val="400"/>
              </a:spcAft>
            </a:pPr>
            <a:r>
              <a:rPr sz="1150" b="1" i="0">
                <a:solidFill>
                  <a:srgbClr val="1B2A38"/>
                </a:solidFill>
                <a:latin typeface="Calibri"/>
              </a:rPr>
              <a:t>MTL-OCA</a:t>
            </a:r>
          </a:p>
        </p:txBody>
      </p:sp>
      <p:sp>
        <p:nvSpPr>
          <p:cNvPr id="49" name="Rectangle 48"/>
          <p:cNvSpPr/>
          <p:nvPr/>
        </p:nvSpPr>
        <p:spPr>
          <a:xfrm>
            <a:off x="6400800" y="4544568"/>
            <a:ext cx="3984589" cy="182880"/>
          </a:xfrm>
          <a:prstGeom prst="rect">
            <a:avLst/>
          </a:prstGeom>
          <a:solidFill>
            <a:srgbClr val="C7D4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431109" y="4526279"/>
            <a:ext cx="1097280" cy="219456"/>
          </a:xfrm>
          <a:prstGeom prst="rect">
            <a:avLst/>
          </a:prstGeom>
          <a:noFill/>
        </p:spPr>
        <p:txBody>
          <a:bodyPr wrap="square" anchor="t" lIns="0" rIns="0" tIns="0" bIns="0">
            <a:spAutoFit/>
          </a:bodyPr>
          <a:lstStyle/>
          <a:p>
            <a:pPr algn="l">
              <a:lnSpc>
                <a:spcPct val="100000"/>
              </a:lnSpc>
              <a:spcBef>
                <a:spcPts val="0"/>
              </a:spcBef>
              <a:spcAft>
                <a:spcPts val="400"/>
              </a:spcAft>
            </a:pPr>
            <a:r>
              <a:rPr sz="950" b="1" i="0">
                <a:solidFill>
                  <a:srgbClr val="45596B"/>
                </a:solidFill>
                <a:latin typeface="Calibri"/>
              </a:rPr>
              <a:t>paper 0.838</a:t>
            </a:r>
          </a:p>
        </p:txBody>
      </p:sp>
      <p:sp>
        <p:nvSpPr>
          <p:cNvPr id="51" name="Rectangle 50"/>
          <p:cNvSpPr/>
          <p:nvPr/>
        </p:nvSpPr>
        <p:spPr>
          <a:xfrm>
            <a:off x="6400800" y="4782312"/>
            <a:ext cx="2909986" cy="182880"/>
          </a:xfrm>
          <a:prstGeom prst="rect">
            <a:avLst/>
          </a:prstGeom>
          <a:solidFill>
            <a:srgbClr val="E159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9356506" y="4764023"/>
            <a:ext cx="1097280" cy="219456"/>
          </a:xfrm>
          <a:prstGeom prst="rect">
            <a:avLst/>
          </a:prstGeom>
          <a:noFill/>
        </p:spPr>
        <p:txBody>
          <a:bodyPr wrap="square" anchor="t" lIns="0" rIns="0" tIns="0" bIns="0">
            <a:spAutoFit/>
          </a:bodyPr>
          <a:lstStyle/>
          <a:p>
            <a:pPr algn="l">
              <a:lnSpc>
                <a:spcPct val="100000"/>
              </a:lnSpc>
              <a:spcBef>
                <a:spcPts val="0"/>
              </a:spcBef>
              <a:spcAft>
                <a:spcPts val="400"/>
              </a:spcAft>
            </a:pPr>
            <a:r>
              <a:rPr sz="950" b="1" i="0">
                <a:solidFill>
                  <a:srgbClr val="E1595B"/>
                </a:solidFill>
                <a:latin typeface="Calibri"/>
              </a:rPr>
              <a:t>ours 0.612</a:t>
            </a:r>
          </a:p>
        </p:txBody>
      </p:sp>
      <p:sp>
        <p:nvSpPr>
          <p:cNvPr id="53" name="TextBox 52"/>
          <p:cNvSpPr txBox="1"/>
          <p:nvPr/>
        </p:nvSpPr>
        <p:spPr>
          <a:xfrm>
            <a:off x="6400800" y="5440680"/>
            <a:ext cx="4846320" cy="457200"/>
          </a:xfrm>
          <a:prstGeom prst="rect">
            <a:avLst/>
          </a:prstGeom>
          <a:noFill/>
        </p:spPr>
        <p:txBody>
          <a:bodyPr wrap="square" anchor="t" lIns="0" rIns="0" tIns="0" bIns="0">
            <a:spAutoFit/>
          </a:bodyPr>
          <a:lstStyle/>
          <a:p>
            <a:pPr algn="l">
              <a:lnSpc>
                <a:spcPct val="105000"/>
              </a:lnSpc>
              <a:spcBef>
                <a:spcPts val="0"/>
              </a:spcBef>
              <a:spcAft>
                <a:spcPts val="400"/>
              </a:spcAft>
            </a:pPr>
            <a:r>
              <a:rPr sz="1100" b="1" i="0">
                <a:solidFill>
                  <a:srgbClr val="1B2A38"/>
                </a:solidFill>
                <a:latin typeface="Calibri"/>
              </a:rPr>
              <a:t>The drop = removed near-duplicate leakage. </a:t>
            </a:r>
            <a:r>
              <a:rPr sz="1100" b="1" i="0">
                <a:solidFill>
                  <a:srgbClr val="E1595B"/>
                </a:solidFill>
                <a:latin typeface="Calibri"/>
              </a:rPr>
              <a:t>Our numbers are lower but trustworthy.</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 y="475488"/>
            <a:ext cx="118872" cy="658368"/>
          </a:xfrm>
          <a:prstGeom prst="rect">
            <a:avLst/>
          </a:prstGeom>
          <a:solidFill>
            <a:srgbClr val="4559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457200"/>
            <a:ext cx="10789920" cy="320040"/>
          </a:xfrm>
          <a:prstGeom prst="rect">
            <a:avLst/>
          </a:prstGeom>
          <a:noFill/>
        </p:spPr>
        <p:txBody>
          <a:bodyPr wrap="square" anchor="t" lIns="0" rIns="0" tIns="0" bIns="0">
            <a:spAutoFit/>
          </a:bodyPr>
          <a:lstStyle/>
          <a:p>
            <a:pPr algn="l">
              <a:lnSpc>
                <a:spcPct val="100000"/>
              </a:lnSpc>
              <a:spcBef>
                <a:spcPts val="0"/>
              </a:spcBef>
              <a:spcAft>
                <a:spcPts val="400"/>
              </a:spcAft>
            </a:pPr>
            <a:r>
              <a:rPr sz="1250" b="1" i="0">
                <a:solidFill>
                  <a:srgbClr val="45596B"/>
                </a:solidFill>
                <a:latin typeface="Calibri"/>
              </a:rPr>
              <a:t>6 · DISCUSSION</a:t>
            </a:r>
          </a:p>
        </p:txBody>
      </p:sp>
      <p:sp>
        <p:nvSpPr>
          <p:cNvPr id="6" name="TextBox 5"/>
          <p:cNvSpPr txBox="1"/>
          <p:nvPr/>
        </p:nvSpPr>
        <p:spPr>
          <a:xfrm>
            <a:off x="777240" y="713232"/>
            <a:ext cx="10881360" cy="566928"/>
          </a:xfrm>
          <a:prstGeom prst="rect">
            <a:avLst/>
          </a:prstGeom>
          <a:noFill/>
        </p:spPr>
        <p:txBody>
          <a:bodyPr wrap="square" anchor="t" lIns="0" rIns="0" tIns="0" bIns="0">
            <a:spAutoFit/>
          </a:bodyPr>
          <a:lstStyle/>
          <a:p>
            <a:pPr algn="l">
              <a:lnSpc>
                <a:spcPct val="100000"/>
              </a:lnSpc>
              <a:spcBef>
                <a:spcPts val="0"/>
              </a:spcBef>
              <a:spcAft>
                <a:spcPts val="400"/>
              </a:spcAft>
            </a:pPr>
            <a:r>
              <a:rPr sz="2500" b="1" i="0">
                <a:solidFill>
                  <a:srgbClr val="1B2A38"/>
                </a:solidFill>
                <a:latin typeface="Calibri"/>
              </a:rPr>
              <a:t>Three findings that generalise</a:t>
            </a:r>
          </a:p>
        </p:txBody>
      </p:sp>
      <p:sp>
        <p:nvSpPr>
          <p:cNvPr id="7" name="Rectangle 6"/>
          <p:cNvSpPr/>
          <p:nvPr/>
        </p:nvSpPr>
        <p:spPr>
          <a:xfrm>
            <a:off x="777240" y="1316736"/>
            <a:ext cx="10634472" cy="18288"/>
          </a:xfrm>
          <a:prstGeom prst="rect">
            <a:avLst/>
          </a:prstGeom>
          <a:solidFill>
            <a:srgbClr val="CBD8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73952"/>
            <a:ext cx="7315200" cy="274320"/>
          </a:xfrm>
          <a:prstGeom prst="rect">
            <a:avLst/>
          </a:prstGeom>
          <a:noFill/>
        </p:spPr>
        <p:txBody>
          <a:bodyPr wrap="square" anchor="t" lIns="0" rIns="0" tIns="0" bIns="0">
            <a:spAutoFit/>
          </a:bodyPr>
          <a:lstStyle/>
          <a:p>
            <a:pPr algn="l">
              <a:lnSpc>
                <a:spcPct val="100000"/>
              </a:lnSpc>
              <a:spcBef>
                <a:spcPts val="0"/>
              </a:spcBef>
              <a:spcAft>
                <a:spcPts val="400"/>
              </a:spcAft>
            </a:pPr>
            <a:r>
              <a:rPr sz="900" b="0" i="0">
                <a:solidFill>
                  <a:srgbClr val="8A94A6"/>
                </a:solidFill>
                <a:latin typeface="Calibri"/>
              </a:rPr>
              <a:t>COMP9444 · Group Project 047 · Breast Ultrasound (BUSI)</a:t>
            </a:r>
          </a:p>
        </p:txBody>
      </p:sp>
      <p:sp>
        <p:nvSpPr>
          <p:cNvPr id="9" name="TextBox 8"/>
          <p:cNvSpPr txBox="1"/>
          <p:nvPr/>
        </p:nvSpPr>
        <p:spPr>
          <a:xfrm>
            <a:off x="11064240" y="6473952"/>
            <a:ext cx="685800" cy="274320"/>
          </a:xfrm>
          <a:prstGeom prst="rect">
            <a:avLst/>
          </a:prstGeom>
          <a:noFill/>
        </p:spPr>
        <p:txBody>
          <a:bodyPr wrap="square" anchor="t" lIns="0" rIns="0" tIns="0" bIns="0">
            <a:spAutoFit/>
          </a:bodyPr>
          <a:lstStyle/>
          <a:p>
            <a:pPr algn="r">
              <a:lnSpc>
                <a:spcPct val="100000"/>
              </a:lnSpc>
              <a:spcBef>
                <a:spcPts val="0"/>
              </a:spcBef>
              <a:spcAft>
                <a:spcPts val="400"/>
              </a:spcAft>
            </a:pPr>
            <a:r>
              <a:rPr sz="900" b="1" i="0">
                <a:solidFill>
                  <a:srgbClr val="8A94A6"/>
                </a:solidFill>
                <a:latin typeface="Calibri"/>
              </a:rPr>
              <a:t>25</a:t>
            </a:r>
          </a:p>
        </p:txBody>
      </p:sp>
      <p:sp>
        <p:nvSpPr>
          <p:cNvPr id="10" name="Rounded Rectangle 9"/>
          <p:cNvSpPr/>
          <p:nvPr/>
        </p:nvSpPr>
        <p:spPr>
          <a:xfrm>
            <a:off x="777240" y="1691640"/>
            <a:ext cx="10634472" cy="1280160"/>
          </a:xfrm>
          <a:prstGeom prst="roundRect">
            <a:avLst/>
          </a:prstGeom>
          <a:solidFill>
            <a:srgbClr val="F1F6F8"/>
          </a:solidFill>
          <a:ln w="9525">
            <a:solidFill>
              <a:srgbClr val="CBD8DE"/>
            </a:solidFill>
          </a:ln>
          <a:effectLst/>
          <a:effectLst>
            <a:outerShdw blurRad="90000" dist="38100" dir="5400000" rotWithShape="0">
              <a:srgbClr val="1B2A38">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77240" y="1691640"/>
            <a:ext cx="822960" cy="1280160"/>
          </a:xfrm>
          <a:prstGeom prst="roundRect">
            <a:avLst/>
          </a:prstGeom>
          <a:solidFill>
            <a:srgbClr val="E159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1691640"/>
            <a:ext cx="822960" cy="1280160"/>
          </a:xfrm>
          <a:prstGeom prst="rect">
            <a:avLst/>
          </a:prstGeom>
          <a:noFill/>
        </p:spPr>
        <p:txBody>
          <a:bodyPr wrap="square" anchor="ctr" lIns="0" rIns="0" tIns="0" bIns="0">
            <a:spAutoFit/>
          </a:bodyPr>
          <a:lstStyle/>
          <a:p>
            <a:pPr algn="ctr">
              <a:lnSpc>
                <a:spcPct val="100000"/>
              </a:lnSpc>
              <a:spcBef>
                <a:spcPts val="0"/>
              </a:spcBef>
              <a:spcAft>
                <a:spcPts val="400"/>
              </a:spcAft>
            </a:pPr>
            <a:r>
              <a:rPr sz="3000" b="1" i="0">
                <a:solidFill>
                  <a:srgbClr val="FFFFFF"/>
                </a:solidFill>
                <a:latin typeface="Calibri"/>
              </a:rPr>
              <a:t>1</a:t>
            </a:r>
          </a:p>
        </p:txBody>
      </p:sp>
      <p:sp>
        <p:nvSpPr>
          <p:cNvPr id="13" name="TextBox 12"/>
          <p:cNvSpPr txBox="1"/>
          <p:nvPr/>
        </p:nvSpPr>
        <p:spPr>
          <a:xfrm>
            <a:off x="1828800" y="1874520"/>
            <a:ext cx="9418320" cy="411480"/>
          </a:xfrm>
          <a:prstGeom prst="rect">
            <a:avLst/>
          </a:prstGeom>
          <a:noFill/>
        </p:spPr>
        <p:txBody>
          <a:bodyPr wrap="square" anchor="t" lIns="0" rIns="0" tIns="0" bIns="0">
            <a:spAutoFit/>
          </a:bodyPr>
          <a:lstStyle/>
          <a:p>
            <a:pPr algn="l">
              <a:lnSpc>
                <a:spcPct val="100000"/>
              </a:lnSpc>
              <a:spcBef>
                <a:spcPts val="0"/>
              </a:spcBef>
              <a:spcAft>
                <a:spcPts val="400"/>
              </a:spcAft>
            </a:pPr>
            <a:r>
              <a:rPr sz="1650" b="1" i="0">
                <a:solidFill>
                  <a:srgbClr val="1B2A38"/>
                </a:solidFill>
                <a:latin typeface="Calibri"/>
              </a:rPr>
              <a:t>Evaluation hygiene matters most</a:t>
            </a:r>
          </a:p>
        </p:txBody>
      </p:sp>
      <p:sp>
        <p:nvSpPr>
          <p:cNvPr id="14" name="TextBox 13"/>
          <p:cNvSpPr txBox="1"/>
          <p:nvPr/>
        </p:nvSpPr>
        <p:spPr>
          <a:xfrm>
            <a:off x="1828800" y="2313432"/>
            <a:ext cx="9418320" cy="594360"/>
          </a:xfrm>
          <a:prstGeom prst="rect">
            <a:avLst/>
          </a:prstGeom>
          <a:noFill/>
        </p:spPr>
        <p:txBody>
          <a:bodyPr wrap="square" anchor="t" lIns="0" rIns="0" tIns="0" bIns="0">
            <a:spAutoFit/>
          </a:bodyPr>
          <a:lstStyle/>
          <a:p>
            <a:pPr algn="l">
              <a:lnSpc>
                <a:spcPct val="108000"/>
              </a:lnSpc>
              <a:spcBef>
                <a:spcPts val="0"/>
              </a:spcBef>
              <a:spcAft>
                <a:spcPts val="400"/>
              </a:spcAft>
            </a:pPr>
            <a:r>
              <a:rPr sz="1300" b="0" i="0">
                <a:solidFill>
                  <a:srgbClr val="45596B"/>
                </a:solidFill>
                <a:latin typeface="Calibri"/>
              </a:rPr>
              <a:t>Removing near-duplicate leakage drops published BUSI scores substantially (CResU 0.829→0.693). Much 'SOTA' rests on how you split.</a:t>
            </a:r>
          </a:p>
        </p:txBody>
      </p:sp>
      <p:sp>
        <p:nvSpPr>
          <p:cNvPr id="15" name="Rounded Rectangle 14"/>
          <p:cNvSpPr/>
          <p:nvPr/>
        </p:nvSpPr>
        <p:spPr>
          <a:xfrm>
            <a:off x="777240" y="3108960"/>
            <a:ext cx="10634472" cy="1280160"/>
          </a:xfrm>
          <a:prstGeom prst="roundRect">
            <a:avLst/>
          </a:prstGeom>
          <a:solidFill>
            <a:srgbClr val="F1F6F8"/>
          </a:solidFill>
          <a:ln w="9525">
            <a:solidFill>
              <a:srgbClr val="CBD8DE"/>
            </a:solidFill>
          </a:ln>
          <a:effectLst/>
          <a:effectLst>
            <a:outerShdw blurRad="90000" dist="38100" dir="5400000" rotWithShape="0">
              <a:srgbClr val="1B2A38">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777240" y="3108960"/>
            <a:ext cx="822960" cy="1280160"/>
          </a:xfrm>
          <a:prstGeom prst="roundRect">
            <a:avLst/>
          </a:prstGeom>
          <a:solidFill>
            <a:srgbClr val="3AA6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3108960"/>
            <a:ext cx="822960" cy="1280160"/>
          </a:xfrm>
          <a:prstGeom prst="rect">
            <a:avLst/>
          </a:prstGeom>
          <a:noFill/>
        </p:spPr>
        <p:txBody>
          <a:bodyPr wrap="square" anchor="ctr" lIns="0" rIns="0" tIns="0" bIns="0">
            <a:spAutoFit/>
          </a:bodyPr>
          <a:lstStyle/>
          <a:p>
            <a:pPr algn="ctr">
              <a:lnSpc>
                <a:spcPct val="100000"/>
              </a:lnSpc>
              <a:spcBef>
                <a:spcPts val="0"/>
              </a:spcBef>
              <a:spcAft>
                <a:spcPts val="400"/>
              </a:spcAft>
            </a:pPr>
            <a:r>
              <a:rPr sz="3000" b="1" i="0">
                <a:solidFill>
                  <a:srgbClr val="FFFFFF"/>
                </a:solidFill>
                <a:latin typeface="Calibri"/>
              </a:rPr>
              <a:t>2</a:t>
            </a:r>
          </a:p>
        </p:txBody>
      </p:sp>
      <p:sp>
        <p:nvSpPr>
          <p:cNvPr id="18" name="TextBox 17"/>
          <p:cNvSpPr txBox="1"/>
          <p:nvPr/>
        </p:nvSpPr>
        <p:spPr>
          <a:xfrm>
            <a:off x="1828800" y="3291840"/>
            <a:ext cx="9418320" cy="411480"/>
          </a:xfrm>
          <a:prstGeom prst="rect">
            <a:avLst/>
          </a:prstGeom>
          <a:noFill/>
        </p:spPr>
        <p:txBody>
          <a:bodyPr wrap="square" anchor="t" lIns="0" rIns="0" tIns="0" bIns="0">
            <a:spAutoFit/>
          </a:bodyPr>
          <a:lstStyle/>
          <a:p>
            <a:pPr algn="l">
              <a:lnSpc>
                <a:spcPct val="100000"/>
              </a:lnSpc>
              <a:spcBef>
                <a:spcPts val="0"/>
              </a:spcBef>
              <a:spcAft>
                <a:spcPts val="400"/>
              </a:spcAft>
            </a:pPr>
            <a:r>
              <a:rPr sz="1650" b="1" i="0">
                <a:solidFill>
                  <a:srgbClr val="1B2A38"/>
                </a:solidFill>
                <a:latin typeface="Calibri"/>
              </a:rPr>
              <a:t>Transfer learning is decisive</a:t>
            </a:r>
          </a:p>
        </p:txBody>
      </p:sp>
      <p:sp>
        <p:nvSpPr>
          <p:cNvPr id="19" name="TextBox 18"/>
          <p:cNvSpPr txBox="1"/>
          <p:nvPr/>
        </p:nvSpPr>
        <p:spPr>
          <a:xfrm>
            <a:off x="1828800" y="3730752"/>
            <a:ext cx="9418320" cy="594360"/>
          </a:xfrm>
          <a:prstGeom prst="rect">
            <a:avLst/>
          </a:prstGeom>
          <a:noFill/>
        </p:spPr>
        <p:txBody>
          <a:bodyPr wrap="square" anchor="t" lIns="0" rIns="0" tIns="0" bIns="0">
            <a:spAutoFit/>
          </a:bodyPr>
          <a:lstStyle/>
          <a:p>
            <a:pPr algn="l">
              <a:lnSpc>
                <a:spcPct val="108000"/>
              </a:lnSpc>
              <a:spcBef>
                <a:spcPts val="0"/>
              </a:spcBef>
              <a:spcAft>
                <a:spcPts val="400"/>
              </a:spcAft>
            </a:pPr>
            <a:r>
              <a:rPr sz="1300" b="0" i="0">
                <a:solidFill>
                  <a:srgbClr val="45596B"/>
                </a:solidFill>
                <a:latin typeface="Calibri"/>
              </a:rPr>
              <a:t>An ImageNet encoder alone lifts Dice 0.648→0.765 and slashes missed lesions — beating attention gates, custom losses &amp; nnU-Net.</a:t>
            </a:r>
          </a:p>
        </p:txBody>
      </p:sp>
      <p:sp>
        <p:nvSpPr>
          <p:cNvPr id="20" name="Rounded Rectangle 19"/>
          <p:cNvSpPr/>
          <p:nvPr/>
        </p:nvSpPr>
        <p:spPr>
          <a:xfrm>
            <a:off x="777240" y="4526280"/>
            <a:ext cx="10634472" cy="1280160"/>
          </a:xfrm>
          <a:prstGeom prst="roundRect">
            <a:avLst/>
          </a:prstGeom>
          <a:solidFill>
            <a:srgbClr val="F1F6F8"/>
          </a:solidFill>
          <a:ln w="9525">
            <a:solidFill>
              <a:srgbClr val="CBD8DE"/>
            </a:solidFill>
          </a:ln>
          <a:effectLst/>
          <a:effectLst>
            <a:outerShdw blurRad="90000" dist="38100" dir="5400000" rotWithShape="0">
              <a:srgbClr val="1B2A38">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777240" y="4526280"/>
            <a:ext cx="822960" cy="1280160"/>
          </a:xfrm>
          <a:prstGeom prst="roundRect">
            <a:avLst/>
          </a:prstGeom>
          <a:solidFill>
            <a:srgbClr val="1F8A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40" y="4526280"/>
            <a:ext cx="822960" cy="1280160"/>
          </a:xfrm>
          <a:prstGeom prst="rect">
            <a:avLst/>
          </a:prstGeom>
          <a:noFill/>
        </p:spPr>
        <p:txBody>
          <a:bodyPr wrap="square" anchor="ctr" lIns="0" rIns="0" tIns="0" bIns="0">
            <a:spAutoFit/>
          </a:bodyPr>
          <a:lstStyle/>
          <a:p>
            <a:pPr algn="ctr">
              <a:lnSpc>
                <a:spcPct val="100000"/>
              </a:lnSpc>
              <a:spcBef>
                <a:spcPts val="0"/>
              </a:spcBef>
              <a:spcAft>
                <a:spcPts val="400"/>
              </a:spcAft>
            </a:pPr>
            <a:r>
              <a:rPr sz="3000" b="1" i="0">
                <a:solidFill>
                  <a:srgbClr val="FFFFFF"/>
                </a:solidFill>
                <a:latin typeface="Calibri"/>
              </a:rPr>
              <a:t>3</a:t>
            </a:r>
          </a:p>
        </p:txBody>
      </p:sp>
      <p:sp>
        <p:nvSpPr>
          <p:cNvPr id="23" name="TextBox 22"/>
          <p:cNvSpPr txBox="1"/>
          <p:nvPr/>
        </p:nvSpPr>
        <p:spPr>
          <a:xfrm>
            <a:off x="1828800" y="4709160"/>
            <a:ext cx="9418320" cy="411480"/>
          </a:xfrm>
          <a:prstGeom prst="rect">
            <a:avLst/>
          </a:prstGeom>
          <a:noFill/>
        </p:spPr>
        <p:txBody>
          <a:bodyPr wrap="square" anchor="t" lIns="0" rIns="0" tIns="0" bIns="0">
            <a:spAutoFit/>
          </a:bodyPr>
          <a:lstStyle/>
          <a:p>
            <a:pPr algn="l">
              <a:lnSpc>
                <a:spcPct val="100000"/>
              </a:lnSpc>
              <a:spcBef>
                <a:spcPts val="0"/>
              </a:spcBef>
              <a:spcAft>
                <a:spcPts val="400"/>
              </a:spcAft>
            </a:pPr>
            <a:r>
              <a:rPr sz="1650" b="1" i="0">
                <a:solidFill>
                  <a:srgbClr val="1B2A38"/>
                </a:solidFill>
                <a:latin typeface="Calibri"/>
              </a:rPr>
              <a:t>Fix the real bottleneck</a:t>
            </a:r>
          </a:p>
        </p:txBody>
      </p:sp>
      <p:sp>
        <p:nvSpPr>
          <p:cNvPr id="24" name="TextBox 23"/>
          <p:cNvSpPr txBox="1"/>
          <p:nvPr/>
        </p:nvSpPr>
        <p:spPr>
          <a:xfrm>
            <a:off x="1828800" y="5148072"/>
            <a:ext cx="9418320" cy="594360"/>
          </a:xfrm>
          <a:prstGeom prst="rect">
            <a:avLst/>
          </a:prstGeom>
          <a:noFill/>
        </p:spPr>
        <p:txBody>
          <a:bodyPr wrap="square" anchor="t" lIns="0" rIns="0" tIns="0" bIns="0">
            <a:spAutoFit/>
          </a:bodyPr>
          <a:lstStyle/>
          <a:p>
            <a:pPr algn="l">
              <a:lnSpc>
                <a:spcPct val="108000"/>
              </a:lnSpc>
              <a:spcBef>
                <a:spcPts val="0"/>
              </a:spcBef>
              <a:spcAft>
                <a:spcPts val="400"/>
              </a:spcAft>
            </a:pPr>
            <a:r>
              <a:rPr sz="1300" b="0" i="0">
                <a:solidFill>
                  <a:srgbClr val="45596B"/>
                </a:solidFill>
                <a:latin typeface="Calibri"/>
              </a:rPr>
              <a:t>The dual-stage pipeline is limited by its classifier, not its segmenter. Invest capacity where the measured gap is — and report CIs.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 y="475488"/>
            <a:ext cx="118872" cy="658368"/>
          </a:xfrm>
          <a:prstGeom prst="rect">
            <a:avLst/>
          </a:prstGeom>
          <a:solidFill>
            <a:srgbClr val="4559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457200"/>
            <a:ext cx="10789920" cy="320040"/>
          </a:xfrm>
          <a:prstGeom prst="rect">
            <a:avLst/>
          </a:prstGeom>
          <a:noFill/>
        </p:spPr>
        <p:txBody>
          <a:bodyPr wrap="square" anchor="t" lIns="0" rIns="0" tIns="0" bIns="0">
            <a:spAutoFit/>
          </a:bodyPr>
          <a:lstStyle/>
          <a:p>
            <a:pPr algn="l">
              <a:lnSpc>
                <a:spcPct val="100000"/>
              </a:lnSpc>
              <a:spcBef>
                <a:spcPts val="0"/>
              </a:spcBef>
              <a:spcAft>
                <a:spcPts val="400"/>
              </a:spcAft>
            </a:pPr>
            <a:r>
              <a:rPr sz="1250" b="1" i="0">
                <a:solidFill>
                  <a:srgbClr val="45596B"/>
                </a:solidFill>
                <a:latin typeface="Calibri"/>
              </a:rPr>
              <a:t>6 · DISCUSSION</a:t>
            </a:r>
          </a:p>
        </p:txBody>
      </p:sp>
      <p:sp>
        <p:nvSpPr>
          <p:cNvPr id="6" name="TextBox 5"/>
          <p:cNvSpPr txBox="1"/>
          <p:nvPr/>
        </p:nvSpPr>
        <p:spPr>
          <a:xfrm>
            <a:off x="777240" y="713232"/>
            <a:ext cx="10881360" cy="566928"/>
          </a:xfrm>
          <a:prstGeom prst="rect">
            <a:avLst/>
          </a:prstGeom>
          <a:noFill/>
        </p:spPr>
        <p:txBody>
          <a:bodyPr wrap="square" anchor="t" lIns="0" rIns="0" tIns="0" bIns="0">
            <a:spAutoFit/>
          </a:bodyPr>
          <a:lstStyle/>
          <a:p>
            <a:pPr algn="l">
              <a:lnSpc>
                <a:spcPct val="100000"/>
              </a:lnSpc>
              <a:spcBef>
                <a:spcPts val="0"/>
              </a:spcBef>
              <a:spcAft>
                <a:spcPts val="400"/>
              </a:spcAft>
            </a:pPr>
            <a:r>
              <a:rPr sz="2500" b="1" i="0">
                <a:solidFill>
                  <a:srgbClr val="1B2A38"/>
                </a:solidFill>
                <a:latin typeface="Calibri"/>
              </a:rPr>
              <a:t>Strengths, limitations &amp; future work</a:t>
            </a:r>
          </a:p>
        </p:txBody>
      </p:sp>
      <p:sp>
        <p:nvSpPr>
          <p:cNvPr id="7" name="Rectangle 6"/>
          <p:cNvSpPr/>
          <p:nvPr/>
        </p:nvSpPr>
        <p:spPr>
          <a:xfrm>
            <a:off x="777240" y="1316736"/>
            <a:ext cx="10634472" cy="18288"/>
          </a:xfrm>
          <a:prstGeom prst="rect">
            <a:avLst/>
          </a:prstGeom>
          <a:solidFill>
            <a:srgbClr val="CBD8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73952"/>
            <a:ext cx="7315200" cy="274320"/>
          </a:xfrm>
          <a:prstGeom prst="rect">
            <a:avLst/>
          </a:prstGeom>
          <a:noFill/>
        </p:spPr>
        <p:txBody>
          <a:bodyPr wrap="square" anchor="t" lIns="0" rIns="0" tIns="0" bIns="0">
            <a:spAutoFit/>
          </a:bodyPr>
          <a:lstStyle/>
          <a:p>
            <a:pPr algn="l">
              <a:lnSpc>
                <a:spcPct val="100000"/>
              </a:lnSpc>
              <a:spcBef>
                <a:spcPts val="0"/>
              </a:spcBef>
              <a:spcAft>
                <a:spcPts val="400"/>
              </a:spcAft>
            </a:pPr>
            <a:r>
              <a:rPr sz="900" b="0" i="0">
                <a:solidFill>
                  <a:srgbClr val="8A94A6"/>
                </a:solidFill>
                <a:latin typeface="Calibri"/>
              </a:rPr>
              <a:t>COMP9444 · Group Project 047 · Breast Ultrasound (BUSI)</a:t>
            </a:r>
          </a:p>
        </p:txBody>
      </p:sp>
      <p:sp>
        <p:nvSpPr>
          <p:cNvPr id="9" name="TextBox 8"/>
          <p:cNvSpPr txBox="1"/>
          <p:nvPr/>
        </p:nvSpPr>
        <p:spPr>
          <a:xfrm>
            <a:off x="11064240" y="6473952"/>
            <a:ext cx="685800" cy="274320"/>
          </a:xfrm>
          <a:prstGeom prst="rect">
            <a:avLst/>
          </a:prstGeom>
          <a:noFill/>
        </p:spPr>
        <p:txBody>
          <a:bodyPr wrap="square" anchor="t" lIns="0" rIns="0" tIns="0" bIns="0">
            <a:spAutoFit/>
          </a:bodyPr>
          <a:lstStyle/>
          <a:p>
            <a:pPr algn="r">
              <a:lnSpc>
                <a:spcPct val="100000"/>
              </a:lnSpc>
              <a:spcBef>
                <a:spcPts val="0"/>
              </a:spcBef>
              <a:spcAft>
                <a:spcPts val="400"/>
              </a:spcAft>
            </a:pPr>
            <a:r>
              <a:rPr sz="900" b="1" i="0">
                <a:solidFill>
                  <a:srgbClr val="8A94A6"/>
                </a:solidFill>
                <a:latin typeface="Calibri"/>
              </a:rPr>
              <a:t>26</a:t>
            </a:r>
          </a:p>
        </p:txBody>
      </p:sp>
      <p:sp>
        <p:nvSpPr>
          <p:cNvPr id="10" name="Rounded Rectangle 9"/>
          <p:cNvSpPr/>
          <p:nvPr/>
        </p:nvSpPr>
        <p:spPr>
          <a:xfrm>
            <a:off x="777240" y="1691640"/>
            <a:ext cx="3401568" cy="4251960"/>
          </a:xfrm>
          <a:prstGeom prst="roundRect">
            <a:avLst/>
          </a:prstGeom>
          <a:solidFill>
            <a:srgbClr val="F1F6F8"/>
          </a:solidFill>
          <a:ln w="9525">
            <a:solidFill>
              <a:srgbClr val="CBD8DE"/>
            </a:solidFill>
          </a:ln>
          <a:effectLst/>
          <a:effectLst>
            <a:outerShdw blurRad="90000" dist="38100" dir="5400000" rotWithShape="0">
              <a:srgbClr val="1B2A38">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77240" y="1691640"/>
            <a:ext cx="3401568" cy="502920"/>
          </a:xfrm>
          <a:prstGeom prst="roundRect">
            <a:avLst/>
          </a:prstGeom>
          <a:solidFill>
            <a:srgbClr val="3AA6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1965960"/>
            <a:ext cx="3401568" cy="228600"/>
          </a:xfrm>
          <a:prstGeom prst="rect">
            <a:avLst/>
          </a:prstGeom>
          <a:solidFill>
            <a:srgbClr val="F1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1737360"/>
            <a:ext cx="3401568" cy="457200"/>
          </a:xfrm>
          <a:prstGeom prst="rect">
            <a:avLst/>
          </a:prstGeom>
          <a:noFill/>
        </p:spPr>
        <p:txBody>
          <a:bodyPr wrap="square" anchor="ctr" lIns="0" rIns="0" tIns="0" bIns="0">
            <a:spAutoFit/>
          </a:bodyPr>
          <a:lstStyle/>
          <a:p>
            <a:pPr algn="ctr">
              <a:lnSpc>
                <a:spcPct val="100000"/>
              </a:lnSpc>
              <a:spcBef>
                <a:spcPts val="0"/>
              </a:spcBef>
              <a:spcAft>
                <a:spcPts val="400"/>
              </a:spcAft>
            </a:pPr>
            <a:r>
              <a:rPr sz="1400" b="1" i="0">
                <a:solidFill>
                  <a:srgbClr val="FFFFFF"/>
                </a:solidFill>
                <a:latin typeface="Calibri"/>
              </a:rPr>
              <a:t>STRENGTHS</a:t>
            </a:r>
          </a:p>
        </p:txBody>
      </p:sp>
      <p:sp>
        <p:nvSpPr>
          <p:cNvPr id="14" name="TextBox 13"/>
          <p:cNvSpPr txBox="1"/>
          <p:nvPr/>
        </p:nvSpPr>
        <p:spPr>
          <a:xfrm>
            <a:off x="978408" y="2377440"/>
            <a:ext cx="3017520" cy="3383280"/>
          </a:xfrm>
          <a:prstGeom prst="rect">
            <a:avLst/>
          </a:prstGeom>
          <a:noFill/>
        </p:spPr>
        <p:txBody>
          <a:bodyPr wrap="square" lIns="0" rIns="0" tIns="0" bIns="0">
            <a:spAutoFit/>
          </a:bodyPr>
          <a:lstStyle/>
          <a:p>
            <a:pPr>
              <a:lnSpc>
                <a:spcPct val="102000"/>
              </a:lnSpc>
              <a:spcBef>
                <a:spcPts val="0"/>
              </a:spcBef>
              <a:spcAft>
                <a:spcPts val="1300"/>
              </a:spcAft>
            </a:pPr>
            <a:r>
              <a:rPr sz="1200" b="1">
                <a:solidFill>
                  <a:srgbClr val="3AA655"/>
                </a:solidFill>
                <a:latin typeface="Calibri"/>
              </a:rPr>
              <a:t>›  </a:t>
            </a:r>
            <a:r>
              <a:rPr sz="1200" b="0">
                <a:solidFill>
                  <a:srgbClr val="1B2A38"/>
                </a:solidFill>
                <a:latin typeface="Calibri"/>
              </a:rPr>
              <a:t>one leakage-free split for all 15 models → truly fair</a:t>
            </a:r>
          </a:p>
          <a:p>
            <a:pPr>
              <a:lnSpc>
                <a:spcPct val="102000"/>
              </a:lnSpc>
              <a:spcBef>
                <a:spcPts val="0"/>
              </a:spcBef>
              <a:spcAft>
                <a:spcPts val="1300"/>
              </a:spcAft>
            </a:pPr>
            <a:r>
              <a:rPr sz="1200" b="1">
                <a:solidFill>
                  <a:srgbClr val="3AA655"/>
                </a:solidFill>
                <a:latin typeface="Calibri"/>
              </a:rPr>
              <a:t>›  </a:t>
            </a:r>
            <a:r>
              <a:rPr sz="1200" b="0">
                <a:solidFill>
                  <a:srgbClr val="1B2A38"/>
                </a:solidFill>
                <a:latin typeface="Calibri"/>
              </a:rPr>
              <a:t>controlled ablations &amp; substitutions attribute gains</a:t>
            </a:r>
          </a:p>
          <a:p>
            <a:pPr>
              <a:lnSpc>
                <a:spcPct val="102000"/>
              </a:lnSpc>
              <a:spcBef>
                <a:spcPts val="0"/>
              </a:spcBef>
              <a:spcAft>
                <a:spcPts val="1300"/>
              </a:spcAft>
            </a:pPr>
            <a:r>
              <a:rPr sz="1200" b="1">
                <a:solidFill>
                  <a:srgbClr val="3AA655"/>
                </a:solidFill>
                <a:latin typeface="Calibri"/>
              </a:rPr>
              <a:t>›  </a:t>
            </a:r>
            <a:r>
              <a:rPr sz="1200" b="0">
                <a:solidFill>
                  <a:srgbClr val="1B2A38"/>
                </a:solidFill>
                <a:latin typeface="Calibri"/>
              </a:rPr>
              <a:t>multi-seed + bootstrap CIs → statistically honest</a:t>
            </a:r>
          </a:p>
          <a:p>
            <a:pPr>
              <a:lnSpc>
                <a:spcPct val="102000"/>
              </a:lnSpc>
              <a:spcBef>
                <a:spcPts val="0"/>
              </a:spcBef>
              <a:spcAft>
                <a:spcPts val="1300"/>
              </a:spcAft>
            </a:pPr>
            <a:r>
              <a:rPr sz="1200" b="1">
                <a:solidFill>
                  <a:srgbClr val="3AA655"/>
                </a:solidFill>
                <a:latin typeface="Calibri"/>
              </a:rPr>
              <a:t>›  </a:t>
            </a:r>
            <a:r>
              <a:rPr sz="1200" b="0">
                <a:solidFill>
                  <a:srgbClr val="1B2A38"/>
                </a:solidFill>
                <a:latin typeface="Calibri"/>
              </a:rPr>
              <a:t>best-in-class segmenter (0.760) &amp; pipeline (0.875)</a:t>
            </a:r>
          </a:p>
        </p:txBody>
      </p:sp>
      <p:sp>
        <p:nvSpPr>
          <p:cNvPr id="15" name="Rounded Rectangle 14"/>
          <p:cNvSpPr/>
          <p:nvPr/>
        </p:nvSpPr>
        <p:spPr>
          <a:xfrm>
            <a:off x="4398264" y="1691640"/>
            <a:ext cx="3401568" cy="4251960"/>
          </a:xfrm>
          <a:prstGeom prst="roundRect">
            <a:avLst/>
          </a:prstGeom>
          <a:solidFill>
            <a:srgbClr val="F1F6F8"/>
          </a:solidFill>
          <a:ln w="9525">
            <a:solidFill>
              <a:srgbClr val="CBD8DE"/>
            </a:solidFill>
          </a:ln>
          <a:effectLst/>
          <a:effectLst>
            <a:outerShdw blurRad="90000" dist="38100" dir="5400000" rotWithShape="0">
              <a:srgbClr val="1B2A38">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398264" y="1691640"/>
            <a:ext cx="3401568" cy="502920"/>
          </a:xfrm>
          <a:prstGeom prst="roundRect">
            <a:avLst/>
          </a:prstGeom>
          <a:solidFill>
            <a:srgbClr val="E159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1965960"/>
            <a:ext cx="3401568" cy="228600"/>
          </a:xfrm>
          <a:prstGeom prst="rect">
            <a:avLst/>
          </a:prstGeom>
          <a:solidFill>
            <a:srgbClr val="F1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398264" y="1737360"/>
            <a:ext cx="3401568" cy="457200"/>
          </a:xfrm>
          <a:prstGeom prst="rect">
            <a:avLst/>
          </a:prstGeom>
          <a:noFill/>
        </p:spPr>
        <p:txBody>
          <a:bodyPr wrap="square" anchor="ctr" lIns="0" rIns="0" tIns="0" bIns="0">
            <a:spAutoFit/>
          </a:bodyPr>
          <a:lstStyle/>
          <a:p>
            <a:pPr algn="ctr">
              <a:lnSpc>
                <a:spcPct val="100000"/>
              </a:lnSpc>
              <a:spcBef>
                <a:spcPts val="0"/>
              </a:spcBef>
              <a:spcAft>
                <a:spcPts val="400"/>
              </a:spcAft>
            </a:pPr>
            <a:r>
              <a:rPr sz="1400" b="1" i="0">
                <a:solidFill>
                  <a:srgbClr val="FFFFFF"/>
                </a:solidFill>
                <a:latin typeface="Calibri"/>
              </a:rPr>
              <a:t>LIMITATIONS</a:t>
            </a:r>
          </a:p>
        </p:txBody>
      </p:sp>
      <p:sp>
        <p:nvSpPr>
          <p:cNvPr id="19" name="TextBox 18"/>
          <p:cNvSpPr txBox="1"/>
          <p:nvPr/>
        </p:nvSpPr>
        <p:spPr>
          <a:xfrm>
            <a:off x="4599431" y="2377440"/>
            <a:ext cx="3017520" cy="3383280"/>
          </a:xfrm>
          <a:prstGeom prst="rect">
            <a:avLst/>
          </a:prstGeom>
          <a:noFill/>
        </p:spPr>
        <p:txBody>
          <a:bodyPr wrap="square" lIns="0" rIns="0" tIns="0" bIns="0">
            <a:spAutoFit/>
          </a:bodyPr>
          <a:lstStyle/>
          <a:p>
            <a:pPr>
              <a:lnSpc>
                <a:spcPct val="102000"/>
              </a:lnSpc>
              <a:spcBef>
                <a:spcPts val="0"/>
              </a:spcBef>
              <a:spcAft>
                <a:spcPts val="1300"/>
              </a:spcAft>
            </a:pPr>
            <a:r>
              <a:rPr sz="1200" b="1">
                <a:solidFill>
                  <a:srgbClr val="E1595B"/>
                </a:solidFill>
                <a:latin typeface="Calibri"/>
              </a:rPr>
              <a:t>›  </a:t>
            </a:r>
            <a:r>
              <a:rPr sz="1200" b="0">
                <a:solidFill>
                  <a:srgbClr val="1B2A38"/>
                </a:solidFill>
                <a:latin typeface="Calibri"/>
              </a:rPr>
              <a:t>single small dataset (98-image test) → wide CIs</a:t>
            </a:r>
          </a:p>
          <a:p>
            <a:pPr>
              <a:lnSpc>
                <a:spcPct val="102000"/>
              </a:lnSpc>
              <a:spcBef>
                <a:spcPts val="0"/>
              </a:spcBef>
              <a:spcAft>
                <a:spcPts val="1300"/>
              </a:spcAft>
            </a:pPr>
            <a:r>
              <a:rPr sz="1200" b="1">
                <a:solidFill>
                  <a:srgbClr val="E1595B"/>
                </a:solidFill>
                <a:latin typeface="Calibri"/>
              </a:rPr>
              <a:t>›  </a:t>
            </a:r>
            <a:r>
              <a:rPr sz="1200" b="0">
                <a:solidFill>
                  <a:srgbClr val="1B2A38"/>
                </a:solidFill>
                <a:latin typeface="Calibri"/>
              </a:rPr>
              <a:t>no full nested cross-validation (compute)</a:t>
            </a:r>
          </a:p>
          <a:p>
            <a:pPr>
              <a:lnSpc>
                <a:spcPct val="102000"/>
              </a:lnSpc>
              <a:spcBef>
                <a:spcPts val="0"/>
              </a:spcBef>
              <a:spcAft>
                <a:spcPts val="1300"/>
              </a:spcAft>
            </a:pPr>
            <a:r>
              <a:rPr sz="1200" b="1">
                <a:solidFill>
                  <a:srgbClr val="E1595B"/>
                </a:solidFill>
                <a:latin typeface="Calibri"/>
              </a:rPr>
              <a:t>›  </a:t>
            </a:r>
            <a:r>
              <a:rPr sz="1200" b="0">
                <a:solidFill>
                  <a:srgbClr val="1B2A38"/>
                </a:solidFill>
                <a:latin typeface="Calibri"/>
              </a:rPr>
              <a:t>2D only; no external / multi-centre validation</a:t>
            </a:r>
          </a:p>
          <a:p>
            <a:pPr>
              <a:lnSpc>
                <a:spcPct val="102000"/>
              </a:lnSpc>
              <a:spcBef>
                <a:spcPts val="0"/>
              </a:spcBef>
              <a:spcAft>
                <a:spcPts val="1300"/>
              </a:spcAft>
            </a:pPr>
            <a:r>
              <a:rPr sz="1200" b="1">
                <a:solidFill>
                  <a:srgbClr val="E1595B"/>
                </a:solidFill>
                <a:latin typeface="Calibri"/>
              </a:rPr>
              <a:t>›  </a:t>
            </a:r>
            <a:r>
              <a:rPr sz="1200" b="0">
                <a:solidFill>
                  <a:srgbClr val="1B2A38"/>
                </a:solidFill>
                <a:latin typeface="Calibri"/>
              </a:rPr>
              <a:t>hand-crafted radiomics gave no reliable lift</a:t>
            </a:r>
          </a:p>
        </p:txBody>
      </p:sp>
      <p:sp>
        <p:nvSpPr>
          <p:cNvPr id="20" name="Rounded Rectangle 19"/>
          <p:cNvSpPr/>
          <p:nvPr/>
        </p:nvSpPr>
        <p:spPr>
          <a:xfrm>
            <a:off x="8019288" y="1691640"/>
            <a:ext cx="3401568" cy="4251960"/>
          </a:xfrm>
          <a:prstGeom prst="roundRect">
            <a:avLst/>
          </a:prstGeom>
          <a:solidFill>
            <a:srgbClr val="F1F6F8"/>
          </a:solidFill>
          <a:ln w="9525">
            <a:solidFill>
              <a:srgbClr val="CBD8DE"/>
            </a:solidFill>
          </a:ln>
          <a:effectLst/>
          <a:effectLst>
            <a:outerShdw blurRad="90000" dist="38100" dir="5400000" rotWithShape="0">
              <a:srgbClr val="1B2A38">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8019288" y="1691640"/>
            <a:ext cx="3401568" cy="502920"/>
          </a:xfrm>
          <a:prstGeom prst="roundRect">
            <a:avLst/>
          </a:prstGeom>
          <a:solidFill>
            <a:srgbClr val="1F8A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019288" y="1965960"/>
            <a:ext cx="3401568" cy="228600"/>
          </a:xfrm>
          <a:prstGeom prst="rect">
            <a:avLst/>
          </a:prstGeom>
          <a:solidFill>
            <a:srgbClr val="F1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019288" y="1737360"/>
            <a:ext cx="3401568" cy="457200"/>
          </a:xfrm>
          <a:prstGeom prst="rect">
            <a:avLst/>
          </a:prstGeom>
          <a:noFill/>
        </p:spPr>
        <p:txBody>
          <a:bodyPr wrap="square" anchor="ctr" lIns="0" rIns="0" tIns="0" bIns="0">
            <a:spAutoFit/>
          </a:bodyPr>
          <a:lstStyle/>
          <a:p>
            <a:pPr algn="ctr">
              <a:lnSpc>
                <a:spcPct val="100000"/>
              </a:lnSpc>
              <a:spcBef>
                <a:spcPts val="0"/>
              </a:spcBef>
              <a:spcAft>
                <a:spcPts val="400"/>
              </a:spcAft>
            </a:pPr>
            <a:r>
              <a:rPr sz="1400" b="1" i="0">
                <a:solidFill>
                  <a:srgbClr val="FFFFFF"/>
                </a:solidFill>
                <a:latin typeface="Calibri"/>
              </a:rPr>
              <a:t>FUTURE WORK</a:t>
            </a:r>
          </a:p>
        </p:txBody>
      </p:sp>
      <p:sp>
        <p:nvSpPr>
          <p:cNvPr id="24" name="TextBox 23"/>
          <p:cNvSpPr txBox="1"/>
          <p:nvPr/>
        </p:nvSpPr>
        <p:spPr>
          <a:xfrm>
            <a:off x="8220456" y="2377440"/>
            <a:ext cx="3017520" cy="3383280"/>
          </a:xfrm>
          <a:prstGeom prst="rect">
            <a:avLst/>
          </a:prstGeom>
          <a:noFill/>
        </p:spPr>
        <p:txBody>
          <a:bodyPr wrap="square" lIns="0" rIns="0" tIns="0" bIns="0">
            <a:spAutoFit/>
          </a:bodyPr>
          <a:lstStyle/>
          <a:p>
            <a:pPr>
              <a:lnSpc>
                <a:spcPct val="102000"/>
              </a:lnSpc>
              <a:spcBef>
                <a:spcPts val="0"/>
              </a:spcBef>
              <a:spcAft>
                <a:spcPts val="1300"/>
              </a:spcAft>
            </a:pPr>
            <a:r>
              <a:rPr sz="1200" b="1">
                <a:solidFill>
                  <a:srgbClr val="1F8AA6"/>
                </a:solidFill>
                <a:latin typeface="Calibri"/>
              </a:rPr>
              <a:t>›  </a:t>
            </a:r>
            <a:r>
              <a:rPr sz="1200" b="0">
                <a:solidFill>
                  <a:srgbClr val="1B2A38"/>
                </a:solidFill>
                <a:latin typeface="Calibri"/>
              </a:rPr>
              <a:t>foundation-model segmenters (MedSAM)</a:t>
            </a:r>
          </a:p>
          <a:p>
            <a:pPr>
              <a:lnSpc>
                <a:spcPct val="102000"/>
              </a:lnSpc>
              <a:spcBef>
                <a:spcPts val="0"/>
              </a:spcBef>
              <a:spcAft>
                <a:spcPts val="1300"/>
              </a:spcAft>
            </a:pPr>
            <a:r>
              <a:rPr sz="1200" b="1">
                <a:solidFill>
                  <a:srgbClr val="1F8AA6"/>
                </a:solidFill>
                <a:latin typeface="Calibri"/>
              </a:rPr>
              <a:t>›  </a:t>
            </a:r>
            <a:r>
              <a:rPr sz="1200" b="0">
                <a:solidFill>
                  <a:srgbClr val="1B2A38"/>
                </a:solidFill>
                <a:latin typeface="Calibri"/>
              </a:rPr>
              <a:t>stronger / ensembled ROI classifiers</a:t>
            </a:r>
          </a:p>
          <a:p>
            <a:pPr>
              <a:lnSpc>
                <a:spcPct val="102000"/>
              </a:lnSpc>
              <a:spcBef>
                <a:spcPts val="0"/>
              </a:spcBef>
              <a:spcAft>
                <a:spcPts val="1300"/>
              </a:spcAft>
            </a:pPr>
            <a:r>
              <a:rPr sz="1200" b="1">
                <a:solidFill>
                  <a:srgbClr val="1F8AA6"/>
                </a:solidFill>
                <a:latin typeface="Calibri"/>
              </a:rPr>
              <a:t>›  </a:t>
            </a:r>
            <a:r>
              <a:rPr sz="1200" b="0">
                <a:solidFill>
                  <a:srgbClr val="1B2A38"/>
                </a:solidFill>
                <a:latin typeface="Calibri"/>
              </a:rPr>
              <a:t>nested CV under the same leakage-free protocol</a:t>
            </a:r>
          </a:p>
          <a:p>
            <a:pPr>
              <a:lnSpc>
                <a:spcPct val="102000"/>
              </a:lnSpc>
              <a:spcBef>
                <a:spcPts val="0"/>
              </a:spcBef>
              <a:spcAft>
                <a:spcPts val="1300"/>
              </a:spcAft>
            </a:pPr>
            <a:r>
              <a:rPr sz="1200" b="1">
                <a:solidFill>
                  <a:srgbClr val="1F8AA6"/>
                </a:solidFill>
                <a:latin typeface="Calibri"/>
              </a:rPr>
              <a:t>›  </a:t>
            </a:r>
            <a:r>
              <a:rPr sz="1200" b="0">
                <a:solidFill>
                  <a:srgbClr val="1B2A38"/>
                </a:solidFill>
                <a:latin typeface="Calibri"/>
              </a:rPr>
              <a:t>multi-centre external validation</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8A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5486400"/>
            <a:ext cx="12191695" cy="1371600"/>
          </a:xfrm>
          <a:prstGeom prst="rect">
            <a:avLst/>
          </a:prstGeom>
          <a:solidFill>
            <a:srgbClr val="0A36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051560"/>
            <a:ext cx="10515600" cy="457200"/>
          </a:xfrm>
          <a:prstGeom prst="rect">
            <a:avLst/>
          </a:prstGeom>
          <a:noFill/>
        </p:spPr>
        <p:txBody>
          <a:bodyPr wrap="square" anchor="t" lIns="0" rIns="0" tIns="0" bIns="0">
            <a:spAutoFit/>
          </a:bodyPr>
          <a:lstStyle/>
          <a:p>
            <a:pPr algn="l">
              <a:lnSpc>
                <a:spcPct val="100000"/>
              </a:lnSpc>
              <a:spcBef>
                <a:spcPts val="0"/>
              </a:spcBef>
              <a:spcAft>
                <a:spcPts val="400"/>
              </a:spcAft>
            </a:pPr>
            <a:r>
              <a:rPr sz="1400" b="1" i="0">
                <a:solidFill>
                  <a:srgbClr val="9FD0DE"/>
                </a:solidFill>
                <a:latin typeface="Calibri"/>
              </a:rPr>
              <a:t>IN ONE SENTENCE</a:t>
            </a:r>
          </a:p>
        </p:txBody>
      </p:sp>
      <p:sp>
        <p:nvSpPr>
          <p:cNvPr id="6" name="TextBox 5"/>
          <p:cNvSpPr txBox="1"/>
          <p:nvPr/>
        </p:nvSpPr>
        <p:spPr>
          <a:xfrm>
            <a:off x="804672" y="1554480"/>
            <a:ext cx="10607040" cy="2011680"/>
          </a:xfrm>
          <a:prstGeom prst="rect">
            <a:avLst/>
          </a:prstGeom>
          <a:noFill/>
        </p:spPr>
        <p:txBody>
          <a:bodyPr wrap="square" anchor="t" lIns="0" rIns="0" tIns="0" bIns="0">
            <a:spAutoFit/>
          </a:bodyPr>
          <a:lstStyle/>
          <a:p>
            <a:pPr algn="l">
              <a:lnSpc>
                <a:spcPct val="106000"/>
              </a:lnSpc>
              <a:spcBef>
                <a:spcPts val="0"/>
              </a:spcBef>
              <a:spcAft>
                <a:spcPts val="400"/>
              </a:spcAft>
            </a:pPr>
            <a:r>
              <a:rPr sz="3000" b="1" i="0">
                <a:solidFill>
                  <a:srgbClr val="FFFFFF"/>
                </a:solidFill>
                <a:latin typeface="Calibri"/>
              </a:rPr>
              <a:t>On small, noisy ultrasound data,</a:t>
            </a:r>
          </a:p>
          <a:p>
            <a:pPr algn="l">
              <a:lnSpc>
                <a:spcPct val="106000"/>
              </a:lnSpc>
              <a:spcBef>
                <a:spcPts val="0"/>
              </a:spcBef>
              <a:spcAft>
                <a:spcPts val="400"/>
              </a:spcAft>
            </a:pPr>
            <a:r>
              <a:rPr sz="3000" b="1" i="0">
                <a:solidFill>
                  <a:srgbClr val="FFFFFF"/>
                </a:solidFill>
                <a:latin typeface="Calibri"/>
              </a:rPr>
              <a:t>clean evaluation + transfer learning beat</a:t>
            </a:r>
          </a:p>
          <a:p>
            <a:pPr algn="l">
              <a:lnSpc>
                <a:spcPct val="106000"/>
              </a:lnSpc>
              <a:spcBef>
                <a:spcPts val="0"/>
              </a:spcBef>
              <a:spcAft>
                <a:spcPts val="400"/>
              </a:spcAft>
            </a:pPr>
            <a:r>
              <a:rPr sz="3000" b="1" i="0">
                <a:solidFill>
                  <a:srgbClr val="FFFFFF"/>
                </a:solidFill>
                <a:latin typeface="Calibri"/>
              </a:rPr>
              <a:t>architectural complexity — every time.</a:t>
            </a:r>
          </a:p>
        </p:txBody>
      </p:sp>
      <p:sp>
        <p:nvSpPr>
          <p:cNvPr id="7" name="Rounded Rectangle 6"/>
          <p:cNvSpPr/>
          <p:nvPr/>
        </p:nvSpPr>
        <p:spPr>
          <a:xfrm>
            <a:off x="822960" y="3794760"/>
            <a:ext cx="3383280" cy="1234440"/>
          </a:xfrm>
          <a:prstGeom prst="roundRect">
            <a:avLst/>
          </a:prstGeom>
          <a:solidFill>
            <a:srgbClr val="0A3646"/>
          </a:solidFill>
          <a:ln w="12700">
            <a:solidFill>
              <a:srgbClr val="1F8A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3950208"/>
            <a:ext cx="3383280" cy="548640"/>
          </a:xfrm>
          <a:prstGeom prst="rect">
            <a:avLst/>
          </a:prstGeom>
          <a:noFill/>
        </p:spPr>
        <p:txBody>
          <a:bodyPr wrap="square" anchor="t" lIns="0" rIns="0" tIns="0" bIns="0">
            <a:spAutoFit/>
          </a:bodyPr>
          <a:lstStyle/>
          <a:p>
            <a:pPr algn="ctr">
              <a:lnSpc>
                <a:spcPct val="100000"/>
              </a:lnSpc>
              <a:spcBef>
                <a:spcPts val="0"/>
              </a:spcBef>
              <a:spcAft>
                <a:spcPts val="400"/>
              </a:spcAft>
            </a:pPr>
            <a:r>
              <a:rPr sz="2800" b="1" i="0">
                <a:solidFill>
                  <a:srgbClr val="E8A33D"/>
                </a:solidFill>
                <a:latin typeface="Calibri"/>
              </a:rPr>
              <a:t>0.760</a:t>
            </a:r>
          </a:p>
        </p:txBody>
      </p:sp>
      <p:sp>
        <p:nvSpPr>
          <p:cNvPr id="9" name="TextBox 8"/>
          <p:cNvSpPr txBox="1"/>
          <p:nvPr/>
        </p:nvSpPr>
        <p:spPr>
          <a:xfrm>
            <a:off x="822960" y="4526280"/>
            <a:ext cx="3383280" cy="365760"/>
          </a:xfrm>
          <a:prstGeom prst="rect">
            <a:avLst/>
          </a:prstGeom>
          <a:noFill/>
        </p:spPr>
        <p:txBody>
          <a:bodyPr wrap="square" anchor="t" lIns="0" rIns="0" tIns="0" bIns="0">
            <a:spAutoFit/>
          </a:bodyPr>
          <a:lstStyle/>
          <a:p>
            <a:pPr algn="ctr">
              <a:lnSpc>
                <a:spcPct val="100000"/>
              </a:lnSpc>
              <a:spcBef>
                <a:spcPts val="0"/>
              </a:spcBef>
              <a:spcAft>
                <a:spcPts val="400"/>
              </a:spcAft>
            </a:pPr>
            <a:r>
              <a:rPr sz="1200" b="1" i="0">
                <a:solidFill>
                  <a:srgbClr val="CFE6EC"/>
                </a:solidFill>
                <a:latin typeface="Calibri"/>
              </a:rPr>
              <a:t>best Dice (segmenter)</a:t>
            </a:r>
          </a:p>
        </p:txBody>
      </p:sp>
      <p:sp>
        <p:nvSpPr>
          <p:cNvPr id="10" name="Rounded Rectangle 9"/>
          <p:cNvSpPr/>
          <p:nvPr/>
        </p:nvSpPr>
        <p:spPr>
          <a:xfrm>
            <a:off x="4480560" y="3794760"/>
            <a:ext cx="3383280" cy="1234440"/>
          </a:xfrm>
          <a:prstGeom prst="roundRect">
            <a:avLst/>
          </a:prstGeom>
          <a:solidFill>
            <a:srgbClr val="0A3646"/>
          </a:solidFill>
          <a:ln w="12700">
            <a:solidFill>
              <a:srgbClr val="1F8A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80560" y="3950208"/>
            <a:ext cx="3383280" cy="548640"/>
          </a:xfrm>
          <a:prstGeom prst="rect">
            <a:avLst/>
          </a:prstGeom>
          <a:noFill/>
        </p:spPr>
        <p:txBody>
          <a:bodyPr wrap="square" anchor="t" lIns="0" rIns="0" tIns="0" bIns="0">
            <a:spAutoFit/>
          </a:bodyPr>
          <a:lstStyle/>
          <a:p>
            <a:pPr algn="ctr">
              <a:lnSpc>
                <a:spcPct val="100000"/>
              </a:lnSpc>
              <a:spcBef>
                <a:spcPts val="0"/>
              </a:spcBef>
              <a:spcAft>
                <a:spcPts val="400"/>
              </a:spcAft>
            </a:pPr>
            <a:r>
              <a:rPr sz="2800" b="1" i="0">
                <a:solidFill>
                  <a:srgbClr val="E8A33D"/>
                </a:solidFill>
                <a:latin typeface="Calibri"/>
              </a:rPr>
              <a:t>0.828</a:t>
            </a:r>
          </a:p>
        </p:txBody>
      </p:sp>
      <p:sp>
        <p:nvSpPr>
          <p:cNvPr id="12" name="TextBox 11"/>
          <p:cNvSpPr txBox="1"/>
          <p:nvPr/>
        </p:nvSpPr>
        <p:spPr>
          <a:xfrm>
            <a:off x="4480560" y="4526280"/>
            <a:ext cx="3383280" cy="365760"/>
          </a:xfrm>
          <a:prstGeom prst="rect">
            <a:avLst/>
          </a:prstGeom>
          <a:noFill/>
        </p:spPr>
        <p:txBody>
          <a:bodyPr wrap="square" anchor="t" lIns="0" rIns="0" tIns="0" bIns="0">
            <a:spAutoFit/>
          </a:bodyPr>
          <a:lstStyle/>
          <a:p>
            <a:pPr algn="ctr">
              <a:lnSpc>
                <a:spcPct val="100000"/>
              </a:lnSpc>
              <a:spcBef>
                <a:spcPts val="0"/>
              </a:spcBef>
              <a:spcAft>
                <a:spcPts val="400"/>
              </a:spcAft>
            </a:pPr>
            <a:r>
              <a:rPr sz="1200" b="1" i="0">
                <a:solidFill>
                  <a:srgbClr val="CFE6EC"/>
                </a:solidFill>
                <a:latin typeface="Calibri"/>
              </a:rPr>
              <a:t>best macro-F1 (classifier)</a:t>
            </a:r>
          </a:p>
        </p:txBody>
      </p:sp>
      <p:sp>
        <p:nvSpPr>
          <p:cNvPr id="13" name="Rounded Rectangle 12"/>
          <p:cNvSpPr/>
          <p:nvPr/>
        </p:nvSpPr>
        <p:spPr>
          <a:xfrm>
            <a:off x="8138160" y="3794760"/>
            <a:ext cx="3383280" cy="1234440"/>
          </a:xfrm>
          <a:prstGeom prst="roundRect">
            <a:avLst/>
          </a:prstGeom>
          <a:solidFill>
            <a:srgbClr val="0A3646"/>
          </a:solidFill>
          <a:ln w="12700">
            <a:solidFill>
              <a:srgbClr val="1F8A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38160" y="3950208"/>
            <a:ext cx="3383280" cy="548640"/>
          </a:xfrm>
          <a:prstGeom prst="rect">
            <a:avLst/>
          </a:prstGeom>
          <a:noFill/>
        </p:spPr>
        <p:txBody>
          <a:bodyPr wrap="square" anchor="t" lIns="0" rIns="0" tIns="0" bIns="0">
            <a:spAutoFit/>
          </a:bodyPr>
          <a:lstStyle/>
          <a:p>
            <a:pPr algn="ctr">
              <a:lnSpc>
                <a:spcPct val="100000"/>
              </a:lnSpc>
              <a:spcBef>
                <a:spcPts val="0"/>
              </a:spcBef>
              <a:spcAft>
                <a:spcPts val="400"/>
              </a:spcAft>
            </a:pPr>
            <a:r>
              <a:rPr sz="2800" b="1" i="0">
                <a:solidFill>
                  <a:srgbClr val="E8A33D"/>
                </a:solidFill>
                <a:latin typeface="Calibri"/>
              </a:rPr>
              <a:t>0.875</a:t>
            </a:r>
          </a:p>
        </p:txBody>
      </p:sp>
      <p:sp>
        <p:nvSpPr>
          <p:cNvPr id="15" name="TextBox 14"/>
          <p:cNvSpPr txBox="1"/>
          <p:nvPr/>
        </p:nvSpPr>
        <p:spPr>
          <a:xfrm>
            <a:off x="8138160" y="4526280"/>
            <a:ext cx="3383280" cy="365760"/>
          </a:xfrm>
          <a:prstGeom prst="rect">
            <a:avLst/>
          </a:prstGeom>
          <a:noFill/>
        </p:spPr>
        <p:txBody>
          <a:bodyPr wrap="square" anchor="t" lIns="0" rIns="0" tIns="0" bIns="0">
            <a:spAutoFit/>
          </a:bodyPr>
          <a:lstStyle/>
          <a:p>
            <a:pPr algn="ctr">
              <a:lnSpc>
                <a:spcPct val="100000"/>
              </a:lnSpc>
              <a:spcBef>
                <a:spcPts val="0"/>
              </a:spcBef>
              <a:spcAft>
                <a:spcPts val="400"/>
              </a:spcAft>
            </a:pPr>
            <a:r>
              <a:rPr sz="1200" b="1" i="0">
                <a:solidFill>
                  <a:srgbClr val="CFE6EC"/>
                </a:solidFill>
                <a:latin typeface="Calibri"/>
              </a:rPr>
              <a:t>dual-stage F1 (CI 0.80–0.94)</a:t>
            </a:r>
          </a:p>
        </p:txBody>
      </p:sp>
      <p:sp>
        <p:nvSpPr>
          <p:cNvPr id="16" name="TextBox 15"/>
          <p:cNvSpPr txBox="1"/>
          <p:nvPr/>
        </p:nvSpPr>
        <p:spPr>
          <a:xfrm>
            <a:off x="822960" y="5806440"/>
            <a:ext cx="7315200" cy="457200"/>
          </a:xfrm>
          <a:prstGeom prst="rect">
            <a:avLst/>
          </a:prstGeom>
          <a:noFill/>
        </p:spPr>
        <p:txBody>
          <a:bodyPr wrap="square" anchor="t" lIns="0" rIns="0" tIns="0" bIns="0">
            <a:spAutoFit/>
          </a:bodyPr>
          <a:lstStyle/>
          <a:p>
            <a:pPr algn="l">
              <a:lnSpc>
                <a:spcPct val="100000"/>
              </a:lnSpc>
              <a:spcBef>
                <a:spcPts val="0"/>
              </a:spcBef>
              <a:spcAft>
                <a:spcPts val="400"/>
              </a:spcAft>
            </a:pPr>
            <a:r>
              <a:rPr sz="1500" b="1" i="0">
                <a:solidFill>
                  <a:srgbClr val="FFFFFF"/>
                </a:solidFill>
                <a:latin typeface="Calibri"/>
              </a:rPr>
              <a:t>COMP9444 · Group Project 047</a:t>
            </a:r>
          </a:p>
          <a:p>
            <a:pPr algn="l">
              <a:lnSpc>
                <a:spcPct val="100000"/>
              </a:lnSpc>
              <a:spcBef>
                <a:spcPts val="0"/>
              </a:spcBef>
              <a:spcAft>
                <a:spcPts val="400"/>
              </a:spcAft>
            </a:pPr>
            <a:r>
              <a:rPr sz="1200" b="0" i="0">
                <a:solidFill>
                  <a:srgbClr val="9FD0DE"/>
                </a:solidFill>
                <a:latin typeface="Calibri"/>
              </a:rPr>
              <a:t>Breast Cancer Classification &amp; Segmentation · BUSI</a:t>
            </a:r>
          </a:p>
        </p:txBody>
      </p:sp>
      <p:sp>
        <p:nvSpPr>
          <p:cNvPr id="17" name="TextBox 16"/>
          <p:cNvSpPr txBox="1"/>
          <p:nvPr/>
        </p:nvSpPr>
        <p:spPr>
          <a:xfrm>
            <a:off x="8686800" y="5943600"/>
            <a:ext cx="2743200" cy="548640"/>
          </a:xfrm>
          <a:prstGeom prst="rect">
            <a:avLst/>
          </a:prstGeom>
          <a:noFill/>
        </p:spPr>
        <p:txBody>
          <a:bodyPr wrap="square" anchor="t" lIns="0" rIns="0" tIns="0" bIns="0">
            <a:spAutoFit/>
          </a:bodyPr>
          <a:lstStyle/>
          <a:p>
            <a:pPr algn="r">
              <a:lnSpc>
                <a:spcPct val="100000"/>
              </a:lnSpc>
              <a:spcBef>
                <a:spcPts val="0"/>
              </a:spcBef>
              <a:spcAft>
                <a:spcPts val="400"/>
              </a:spcAft>
            </a:pPr>
            <a:r>
              <a:rPr sz="1600" b="1" i="0">
                <a:solidFill>
                  <a:srgbClr val="FFFFFF"/>
                </a:solidFill>
                <a:latin typeface="Calibri"/>
              </a:rPr>
              <a:t>Thank you — questions?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 y="457200"/>
            <a:ext cx="118872" cy="658368"/>
          </a:xfrm>
          <a:prstGeom prst="rect">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438912"/>
            <a:ext cx="10789920" cy="320040"/>
          </a:xfrm>
          <a:prstGeom prst="rect">
            <a:avLst/>
          </a:prstGeom>
          <a:noFill/>
        </p:spPr>
        <p:txBody>
          <a:bodyPr wrap="square" anchor="t" lIns="0" rIns="0" tIns="0" bIns="0">
            <a:spAutoFit/>
          </a:bodyPr>
          <a:lstStyle/>
          <a:p>
            <a:pPr algn="l">
              <a:lnSpc>
                <a:spcPct val="100000"/>
              </a:lnSpc>
              <a:spcBef>
                <a:spcPts val="0"/>
              </a:spcBef>
              <a:spcAft>
                <a:spcPts val="400"/>
              </a:spcAft>
            </a:pPr>
            <a:r>
              <a:rPr sz="1250" b="1" i="0">
                <a:solidFill>
                  <a:srgbClr val="E8A33D"/>
                </a:solidFill>
                <a:latin typeface="Calibri"/>
              </a:rPr>
              <a:t>APPENDIX</a:t>
            </a:r>
          </a:p>
        </p:txBody>
      </p:sp>
      <p:sp>
        <p:nvSpPr>
          <p:cNvPr id="6" name="TextBox 5"/>
          <p:cNvSpPr txBox="1"/>
          <p:nvPr/>
        </p:nvSpPr>
        <p:spPr>
          <a:xfrm>
            <a:off x="777240" y="694944"/>
            <a:ext cx="10881360" cy="548640"/>
          </a:xfrm>
          <a:prstGeom prst="rect">
            <a:avLst/>
          </a:prstGeom>
          <a:noFill/>
        </p:spPr>
        <p:txBody>
          <a:bodyPr wrap="square" anchor="t" lIns="0" rIns="0" tIns="0" bIns="0">
            <a:spAutoFit/>
          </a:bodyPr>
          <a:lstStyle/>
          <a:p>
            <a:pPr algn="l">
              <a:lnSpc>
                <a:spcPct val="100000"/>
              </a:lnSpc>
              <a:spcBef>
                <a:spcPts val="0"/>
              </a:spcBef>
              <a:spcAft>
                <a:spcPts val="400"/>
              </a:spcAft>
            </a:pPr>
            <a:r>
              <a:rPr sz="2500" b="1" i="0">
                <a:solidFill>
                  <a:srgbClr val="1B2A38"/>
                </a:solidFill>
                <a:latin typeface="Calibri"/>
              </a:rPr>
              <a:t>Paper index — 25 references</a:t>
            </a:r>
          </a:p>
        </p:txBody>
      </p:sp>
      <p:sp>
        <p:nvSpPr>
          <p:cNvPr id="7" name="Rectangle 6"/>
          <p:cNvSpPr/>
          <p:nvPr/>
        </p:nvSpPr>
        <p:spPr>
          <a:xfrm>
            <a:off x="777240" y="1298448"/>
            <a:ext cx="10634472" cy="18288"/>
          </a:xfrm>
          <a:prstGeom prst="rect">
            <a:avLst/>
          </a:prstGeom>
          <a:solidFill>
            <a:srgbClr val="CBD8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8" name="Table 7"/>
          <p:cNvGraphicFramePr>
            <a:graphicFrameLocks noGrp="1"/>
          </p:cNvGraphicFramePr>
          <p:nvPr/>
        </p:nvGraphicFramePr>
        <p:xfrm>
          <a:off x="566928" y="1481328"/>
          <a:ext cx="5029200" cy="4476892"/>
        </p:xfrm>
        <a:graphic>
          <a:graphicData uri="http://schemas.openxmlformats.org/drawingml/2006/table">
            <a:tbl>
              <a:tblPr>
                <a:tableStyleId>{5C22544A-7EE6-4342-B048-85BDC9FD1C3A}</a:tableStyleId>
              </a:tblPr>
              <a:tblGrid>
                <a:gridCol w="365760"/>
                <a:gridCol w="3639312"/>
                <a:gridCol w="1024128"/>
              </a:tblGrid>
              <a:tr h="292608">
                <a:tc>
                  <a:txBody>
                    <a:bodyPr/>
                    <a:lstStyle/>
                    <a:p>
                      <a:pPr algn="ctr"/>
                      <a:r>
                        <a:rPr sz="950" b="1">
                          <a:solidFill>
                            <a:srgbClr val="FFFFFF"/>
                          </a:solidFill>
                          <a:latin typeface="Calibri"/>
                        </a:rPr>
                        <a:t>#</a:t>
                      </a:r>
                    </a:p>
                  </a:txBody>
                  <a:tcPr anchor="ctr" marL="54864" marT="9144" marB="9144">
                    <a:solidFill>
                      <a:srgbClr val="0A3646"/>
                    </a:solidFill>
                  </a:tcPr>
                </a:tc>
                <a:tc>
                  <a:txBody>
                    <a:bodyPr/>
                    <a:lstStyle/>
                    <a:p>
                      <a:pPr algn="l"/>
                      <a:r>
                        <a:rPr sz="950" b="1">
                          <a:solidFill>
                            <a:srgbClr val="FFFFFF"/>
                          </a:solidFill>
                          <a:latin typeface="Calibri"/>
                        </a:rPr>
                        <a:t>Reference</a:t>
                      </a:r>
                    </a:p>
                  </a:txBody>
                  <a:tcPr anchor="ctr" marL="54864" marT="9144" marB="9144">
                    <a:solidFill>
                      <a:srgbClr val="0A3646"/>
                    </a:solidFill>
                  </a:tcPr>
                </a:tc>
                <a:tc>
                  <a:txBody>
                    <a:bodyPr/>
                    <a:lstStyle/>
                    <a:p>
                      <a:pPr algn="ctr"/>
                      <a:r>
                        <a:rPr sz="950" b="1">
                          <a:solidFill>
                            <a:srgbClr val="FFFFFF"/>
                          </a:solidFill>
                          <a:latin typeface="Calibri"/>
                        </a:rPr>
                        <a:t>Task</a:t>
                      </a:r>
                    </a:p>
                  </a:txBody>
                  <a:tcPr anchor="ctr" marL="54864" marT="9144" marB="9144">
                    <a:solidFill>
                      <a:srgbClr val="0A3646"/>
                    </a:solidFill>
                  </a:tcPr>
                </a:tc>
              </a:tr>
              <a:tr h="321868">
                <a:tc>
                  <a:txBody>
                    <a:bodyPr/>
                    <a:lstStyle/>
                    <a:p>
                      <a:pPr algn="ctr"/>
                      <a:r>
                        <a:rPr sz="900" b="1">
                          <a:solidFill>
                            <a:srgbClr val="FFFFFF"/>
                          </a:solidFill>
                          <a:latin typeface="Calibri"/>
                        </a:rPr>
                        <a:t>1</a:t>
                      </a:r>
                    </a:p>
                  </a:txBody>
                  <a:tcPr anchor="ctr" marL="54864" marR="27432" marT="0" marB="0">
                    <a:solidFill>
                      <a:srgbClr val="3AA655"/>
                    </a:solidFill>
                  </a:tcPr>
                </a:tc>
                <a:tc>
                  <a:txBody>
                    <a:bodyPr/>
                    <a:lstStyle/>
                    <a:p>
                      <a:pPr algn="l"/>
                      <a:r>
                        <a:rPr sz="869">
                          <a:solidFill>
                            <a:srgbClr val="1B2A38"/>
                          </a:solidFill>
                          <a:latin typeface="Calibri"/>
                        </a:rPr>
                        <a:t>Al-Dhabyani et al. (2020). Dataset of breast ultrasound images</a:t>
                      </a:r>
                    </a:p>
                  </a:txBody>
                  <a:tcPr anchor="ctr" marL="54864" marR="27432" marT="0" marB="0">
                    <a:solidFill>
                      <a:srgbClr val="FFFFFF"/>
                    </a:solidFill>
                  </a:tcPr>
                </a:tc>
                <a:tc>
                  <a:txBody>
                    <a:bodyPr/>
                    <a:lstStyle/>
                    <a:p>
                      <a:pPr algn="ctr"/>
                      <a:r>
                        <a:rPr sz="830" b="1">
                          <a:solidFill>
                            <a:srgbClr val="3AA655"/>
                          </a:solidFill>
                          <a:latin typeface="Calibri"/>
                        </a:rPr>
                        <a:t>Dataset</a:t>
                      </a:r>
                    </a:p>
                  </a:txBody>
                  <a:tcPr anchor="ctr" marL="54864" marR="27432" marT="0" marB="0">
                    <a:solidFill>
                      <a:srgbClr val="FFFFFF"/>
                    </a:solidFill>
                  </a:tcPr>
                </a:tc>
              </a:tr>
              <a:tr h="321868">
                <a:tc>
                  <a:txBody>
                    <a:bodyPr/>
                    <a:lstStyle/>
                    <a:p>
                      <a:pPr algn="ctr"/>
                      <a:r>
                        <a:rPr sz="900" b="1">
                          <a:solidFill>
                            <a:srgbClr val="FFFFFF"/>
                          </a:solidFill>
                          <a:latin typeface="Calibri"/>
                        </a:rPr>
                        <a:t>2</a:t>
                      </a:r>
                    </a:p>
                  </a:txBody>
                  <a:tcPr anchor="ctr" marL="54864" marR="27432" marT="0" marB="0">
                    <a:solidFill>
                      <a:srgbClr val="3AA655"/>
                    </a:solidFill>
                  </a:tcPr>
                </a:tc>
                <a:tc>
                  <a:txBody>
                    <a:bodyPr/>
                    <a:lstStyle/>
                    <a:p>
                      <a:pPr algn="l"/>
                      <a:r>
                        <a:rPr sz="869">
                          <a:solidFill>
                            <a:srgbClr val="1B2A38"/>
                          </a:solidFill>
                          <a:latin typeface="Calibri"/>
                        </a:rPr>
                        <a:t>Yap et al. (2018). Automated BUS lesion detection using CNNs</a:t>
                      </a:r>
                    </a:p>
                  </a:txBody>
                  <a:tcPr anchor="ctr" marL="54864" marR="27432" marT="0" marB="0">
                    <a:solidFill>
                      <a:srgbClr val="EEF3F5"/>
                    </a:solidFill>
                  </a:tcPr>
                </a:tc>
                <a:tc>
                  <a:txBody>
                    <a:bodyPr/>
                    <a:lstStyle/>
                    <a:p>
                      <a:pPr algn="ctr"/>
                      <a:r>
                        <a:rPr sz="830" b="1">
                          <a:solidFill>
                            <a:srgbClr val="1F8AA6"/>
                          </a:solidFill>
                          <a:latin typeface="Calibri"/>
                        </a:rPr>
                        <a:t>Seg/Detect</a:t>
                      </a:r>
                    </a:p>
                  </a:txBody>
                  <a:tcPr anchor="ctr" marL="54864" marR="27432" marT="0" marB="0">
                    <a:solidFill>
                      <a:srgbClr val="EEF3F5"/>
                    </a:solidFill>
                  </a:tcPr>
                </a:tc>
              </a:tr>
              <a:tr h="321868">
                <a:tc>
                  <a:txBody>
                    <a:bodyPr/>
                    <a:lstStyle/>
                    <a:p>
                      <a:pPr algn="ctr"/>
                      <a:r>
                        <a:rPr sz="900" b="1">
                          <a:solidFill>
                            <a:srgbClr val="FFFFFF"/>
                          </a:solidFill>
                          <a:latin typeface="Calibri"/>
                        </a:rPr>
                        <a:t>3</a:t>
                      </a:r>
                    </a:p>
                  </a:txBody>
                  <a:tcPr anchor="ctr" marL="54864" marR="27432" marT="0" marB="0">
                    <a:solidFill>
                      <a:srgbClr val="3AA655"/>
                    </a:solidFill>
                  </a:tcPr>
                </a:tc>
                <a:tc>
                  <a:txBody>
                    <a:bodyPr/>
                    <a:lstStyle/>
                    <a:p>
                      <a:pPr algn="l"/>
                      <a:r>
                        <a:rPr sz="869">
                          <a:solidFill>
                            <a:srgbClr val="1B2A38"/>
                          </a:solidFill>
                          <a:latin typeface="Calibri"/>
                        </a:rPr>
                        <a:t>Ronneberger et al. (2015). U-Net: CNNs for biomedical segmentation</a:t>
                      </a:r>
                    </a:p>
                  </a:txBody>
                  <a:tcPr anchor="ctr" marL="54864" marR="27432" marT="0" marB="0">
                    <a:solidFill>
                      <a:srgbClr val="FFFFFF"/>
                    </a:solidFill>
                  </a:tcPr>
                </a:tc>
                <a:tc>
                  <a:txBody>
                    <a:bodyPr/>
                    <a:lstStyle/>
                    <a:p>
                      <a:pPr algn="ctr"/>
                      <a:r>
                        <a:rPr sz="830" b="1">
                          <a:solidFill>
                            <a:srgbClr val="1F8AA6"/>
                          </a:solidFill>
                          <a:latin typeface="Calibri"/>
                        </a:rPr>
                        <a:t>Seg</a:t>
                      </a:r>
                    </a:p>
                  </a:txBody>
                  <a:tcPr anchor="ctr" marL="54864" marR="27432" marT="0" marB="0">
                    <a:solidFill>
                      <a:srgbClr val="FFFFFF"/>
                    </a:solidFill>
                  </a:tcPr>
                </a:tc>
              </a:tr>
              <a:tr h="321868">
                <a:tc>
                  <a:txBody>
                    <a:bodyPr/>
                    <a:lstStyle/>
                    <a:p>
                      <a:pPr algn="ctr"/>
                      <a:r>
                        <a:rPr sz="900" b="1">
                          <a:solidFill>
                            <a:srgbClr val="FFFFFF"/>
                          </a:solidFill>
                          <a:latin typeface="Calibri"/>
                        </a:rPr>
                        <a:t>4</a:t>
                      </a:r>
                    </a:p>
                  </a:txBody>
                  <a:tcPr anchor="ctr" marL="54864" marR="27432" marT="0" marB="0">
                    <a:solidFill>
                      <a:srgbClr val="3AA655"/>
                    </a:solidFill>
                  </a:tcPr>
                </a:tc>
                <a:tc>
                  <a:txBody>
                    <a:bodyPr/>
                    <a:lstStyle/>
                    <a:p>
                      <a:pPr algn="l"/>
                      <a:r>
                        <a:rPr sz="869">
                          <a:solidFill>
                            <a:srgbClr val="1B2A38"/>
                          </a:solidFill>
                          <a:latin typeface="Calibri"/>
                        </a:rPr>
                        <a:t>He et al. (2016). Deep residual learning (ResNet)</a:t>
                      </a:r>
                    </a:p>
                  </a:txBody>
                  <a:tcPr anchor="ctr" marL="54864" marR="27432" marT="0" marB="0">
                    <a:solidFill>
                      <a:srgbClr val="EEF3F5"/>
                    </a:solidFill>
                  </a:tcPr>
                </a:tc>
                <a:tc>
                  <a:txBody>
                    <a:bodyPr/>
                    <a:lstStyle/>
                    <a:p>
                      <a:pPr algn="ctr"/>
                      <a:r>
                        <a:rPr sz="830" b="1">
                          <a:solidFill>
                            <a:srgbClr val="0E4D64"/>
                          </a:solidFill>
                          <a:latin typeface="Calibri"/>
                        </a:rPr>
                        <a:t>Cls</a:t>
                      </a:r>
                    </a:p>
                  </a:txBody>
                  <a:tcPr anchor="ctr" marL="54864" marR="27432" marT="0" marB="0">
                    <a:solidFill>
                      <a:srgbClr val="EEF3F5"/>
                    </a:solidFill>
                  </a:tcPr>
                </a:tc>
              </a:tr>
              <a:tr h="321868">
                <a:tc>
                  <a:txBody>
                    <a:bodyPr/>
                    <a:lstStyle/>
                    <a:p>
                      <a:pPr algn="ctr"/>
                      <a:r>
                        <a:rPr sz="900" b="1">
                          <a:solidFill>
                            <a:srgbClr val="FFFFFF"/>
                          </a:solidFill>
                          <a:latin typeface="Calibri"/>
                        </a:rPr>
                        <a:t>5</a:t>
                      </a:r>
                    </a:p>
                  </a:txBody>
                  <a:tcPr anchor="ctr" marL="54864" marR="27432" marT="0" marB="0">
                    <a:solidFill>
                      <a:srgbClr val="3AA655"/>
                    </a:solidFill>
                  </a:tcPr>
                </a:tc>
                <a:tc>
                  <a:txBody>
                    <a:bodyPr/>
                    <a:lstStyle/>
                    <a:p>
                      <a:pPr algn="l"/>
                      <a:r>
                        <a:rPr sz="869">
                          <a:solidFill>
                            <a:srgbClr val="1B2A38"/>
                          </a:solidFill>
                          <a:latin typeface="Calibri"/>
                        </a:rPr>
                        <a:t>Huang et al. (2017). Densely connected CNNs (DenseNet)</a:t>
                      </a:r>
                    </a:p>
                  </a:txBody>
                  <a:tcPr anchor="ctr" marL="54864" marR="27432" marT="0" marB="0">
                    <a:solidFill>
                      <a:srgbClr val="FFFFFF"/>
                    </a:solidFill>
                  </a:tcPr>
                </a:tc>
                <a:tc>
                  <a:txBody>
                    <a:bodyPr/>
                    <a:lstStyle/>
                    <a:p>
                      <a:pPr algn="ctr"/>
                      <a:r>
                        <a:rPr sz="830" b="1">
                          <a:solidFill>
                            <a:srgbClr val="0E4D64"/>
                          </a:solidFill>
                          <a:latin typeface="Calibri"/>
                        </a:rPr>
                        <a:t>Cls</a:t>
                      </a:r>
                    </a:p>
                  </a:txBody>
                  <a:tcPr anchor="ctr" marL="54864" marR="27432" marT="0" marB="0">
                    <a:solidFill>
                      <a:srgbClr val="FFFFFF"/>
                    </a:solidFill>
                  </a:tcPr>
                </a:tc>
              </a:tr>
              <a:tr h="321868">
                <a:tc>
                  <a:txBody>
                    <a:bodyPr/>
                    <a:lstStyle/>
                    <a:p>
                      <a:pPr algn="ctr"/>
                      <a:r>
                        <a:rPr sz="900" b="1">
                          <a:solidFill>
                            <a:srgbClr val="FFFFFF"/>
                          </a:solidFill>
                          <a:latin typeface="Calibri"/>
                        </a:rPr>
                        <a:t>6</a:t>
                      </a:r>
                    </a:p>
                  </a:txBody>
                  <a:tcPr anchor="ctr" marL="54864" marR="27432" marT="0" marB="0">
                    <a:solidFill>
                      <a:srgbClr val="3AA655"/>
                    </a:solidFill>
                  </a:tcPr>
                </a:tc>
                <a:tc>
                  <a:txBody>
                    <a:bodyPr/>
                    <a:lstStyle/>
                    <a:p>
                      <a:pPr algn="l"/>
                      <a:r>
                        <a:rPr sz="869">
                          <a:solidFill>
                            <a:srgbClr val="1B2A38"/>
                          </a:solidFill>
                          <a:latin typeface="Calibri"/>
                        </a:rPr>
                        <a:t>Tan &amp; Le (2019). EfficientNet: rethinking model scaling</a:t>
                      </a:r>
                    </a:p>
                  </a:txBody>
                  <a:tcPr anchor="ctr" marL="54864" marR="27432" marT="0" marB="0">
                    <a:solidFill>
                      <a:srgbClr val="EEF3F5"/>
                    </a:solidFill>
                  </a:tcPr>
                </a:tc>
                <a:tc>
                  <a:txBody>
                    <a:bodyPr/>
                    <a:lstStyle/>
                    <a:p>
                      <a:pPr algn="ctr"/>
                      <a:r>
                        <a:rPr sz="830" b="1">
                          <a:solidFill>
                            <a:srgbClr val="0E4D64"/>
                          </a:solidFill>
                          <a:latin typeface="Calibri"/>
                        </a:rPr>
                        <a:t>Cls</a:t>
                      </a:r>
                    </a:p>
                  </a:txBody>
                  <a:tcPr anchor="ctr" marL="54864" marR="27432" marT="0" marB="0">
                    <a:solidFill>
                      <a:srgbClr val="EEF3F5"/>
                    </a:solidFill>
                  </a:tcPr>
                </a:tc>
              </a:tr>
              <a:tr h="321868">
                <a:tc>
                  <a:txBody>
                    <a:bodyPr/>
                    <a:lstStyle/>
                    <a:p>
                      <a:pPr algn="ctr"/>
                      <a:r>
                        <a:rPr sz="900" b="1">
                          <a:solidFill>
                            <a:srgbClr val="FFFFFF"/>
                          </a:solidFill>
                          <a:latin typeface="Calibri"/>
                        </a:rPr>
                        <a:t>7</a:t>
                      </a:r>
                    </a:p>
                  </a:txBody>
                  <a:tcPr anchor="ctr" marL="54864" marR="27432" marT="0" marB="0">
                    <a:solidFill>
                      <a:srgbClr val="3AA655"/>
                    </a:solidFill>
                  </a:tcPr>
                </a:tc>
                <a:tc>
                  <a:txBody>
                    <a:bodyPr/>
                    <a:lstStyle/>
                    <a:p>
                      <a:pPr algn="l"/>
                      <a:r>
                        <a:rPr sz="869">
                          <a:solidFill>
                            <a:srgbClr val="1B2A38"/>
                          </a:solidFill>
                          <a:latin typeface="Calibri"/>
                        </a:rPr>
                        <a:t>Chen et al. (2018). DeepLabV3+: atrous separable convolution</a:t>
                      </a:r>
                    </a:p>
                  </a:txBody>
                  <a:tcPr anchor="ctr" marL="54864" marR="27432" marT="0" marB="0">
                    <a:solidFill>
                      <a:srgbClr val="FFFFFF"/>
                    </a:solidFill>
                  </a:tcPr>
                </a:tc>
                <a:tc>
                  <a:txBody>
                    <a:bodyPr/>
                    <a:lstStyle/>
                    <a:p>
                      <a:pPr algn="ctr"/>
                      <a:r>
                        <a:rPr sz="830" b="1">
                          <a:solidFill>
                            <a:srgbClr val="1F8AA6"/>
                          </a:solidFill>
                          <a:latin typeface="Calibri"/>
                        </a:rPr>
                        <a:t>Seg</a:t>
                      </a:r>
                    </a:p>
                  </a:txBody>
                  <a:tcPr anchor="ctr" marL="54864" marR="27432" marT="0" marB="0">
                    <a:solidFill>
                      <a:srgbClr val="FFFFFF"/>
                    </a:solidFill>
                  </a:tcPr>
                </a:tc>
              </a:tr>
              <a:tr h="321868">
                <a:tc>
                  <a:txBody>
                    <a:bodyPr/>
                    <a:lstStyle/>
                    <a:p>
                      <a:pPr algn="ctr"/>
                      <a:r>
                        <a:rPr sz="900" b="1">
                          <a:solidFill>
                            <a:srgbClr val="FFFFFF"/>
                          </a:solidFill>
                          <a:latin typeface="Calibri"/>
                        </a:rPr>
                        <a:t>8</a:t>
                      </a:r>
                    </a:p>
                  </a:txBody>
                  <a:tcPr anchor="ctr" marL="54864" marR="27432" marT="0" marB="0">
                    <a:solidFill>
                      <a:srgbClr val="8A94A6"/>
                    </a:solidFill>
                  </a:tcPr>
                </a:tc>
                <a:tc>
                  <a:txBody>
                    <a:bodyPr/>
                    <a:lstStyle/>
                    <a:p>
                      <a:pPr algn="l"/>
                      <a:r>
                        <a:rPr sz="869">
                          <a:solidFill>
                            <a:srgbClr val="1B2A38"/>
                          </a:solidFill>
                          <a:latin typeface="Calibri"/>
                        </a:rPr>
                        <a:t>Zhou et al. (2018). UNet++: nested U-Net</a:t>
                      </a:r>
                    </a:p>
                  </a:txBody>
                  <a:tcPr anchor="ctr" marL="54864" marR="27432" marT="0" marB="0">
                    <a:solidFill>
                      <a:srgbClr val="EEF3F5"/>
                    </a:solidFill>
                  </a:tcPr>
                </a:tc>
                <a:tc>
                  <a:txBody>
                    <a:bodyPr/>
                    <a:lstStyle/>
                    <a:p>
                      <a:pPr algn="ctr"/>
                      <a:r>
                        <a:rPr sz="830" b="1">
                          <a:solidFill>
                            <a:srgbClr val="1F8AA6"/>
                          </a:solidFill>
                          <a:latin typeface="Calibri"/>
                        </a:rPr>
                        <a:t>Seg</a:t>
                      </a:r>
                    </a:p>
                  </a:txBody>
                  <a:tcPr anchor="ctr" marL="54864" marR="27432" marT="0" marB="0">
                    <a:solidFill>
                      <a:srgbClr val="EEF3F5"/>
                    </a:solidFill>
                  </a:tcPr>
                </a:tc>
              </a:tr>
              <a:tr h="321868">
                <a:tc>
                  <a:txBody>
                    <a:bodyPr/>
                    <a:lstStyle/>
                    <a:p>
                      <a:pPr algn="ctr"/>
                      <a:r>
                        <a:rPr sz="900" b="1">
                          <a:solidFill>
                            <a:srgbClr val="FFFFFF"/>
                          </a:solidFill>
                          <a:latin typeface="Calibri"/>
                        </a:rPr>
                        <a:t>9</a:t>
                      </a:r>
                    </a:p>
                  </a:txBody>
                  <a:tcPr anchor="ctr" marL="54864" marR="27432" marT="0" marB="0">
                    <a:solidFill>
                      <a:srgbClr val="3AA655"/>
                    </a:solidFill>
                  </a:tcPr>
                </a:tc>
                <a:tc>
                  <a:txBody>
                    <a:bodyPr/>
                    <a:lstStyle/>
                    <a:p>
                      <a:pPr algn="l"/>
                      <a:r>
                        <a:rPr sz="869">
                          <a:solidFill>
                            <a:srgbClr val="1B2A38"/>
                          </a:solidFill>
                          <a:latin typeface="Calibri"/>
                        </a:rPr>
                        <a:t>Oktay et al. (2018). Attention U-Net</a:t>
                      </a:r>
                    </a:p>
                  </a:txBody>
                  <a:tcPr anchor="ctr" marL="54864" marR="27432" marT="0" marB="0">
                    <a:solidFill>
                      <a:srgbClr val="FFFFFF"/>
                    </a:solidFill>
                  </a:tcPr>
                </a:tc>
                <a:tc>
                  <a:txBody>
                    <a:bodyPr/>
                    <a:lstStyle/>
                    <a:p>
                      <a:pPr algn="ctr"/>
                      <a:r>
                        <a:rPr sz="830" b="1">
                          <a:solidFill>
                            <a:srgbClr val="1F8AA6"/>
                          </a:solidFill>
                          <a:latin typeface="Calibri"/>
                        </a:rPr>
                        <a:t>Seg</a:t>
                      </a:r>
                    </a:p>
                  </a:txBody>
                  <a:tcPr anchor="ctr" marL="54864" marR="27432" marT="0" marB="0">
                    <a:solidFill>
                      <a:srgbClr val="FFFFFF"/>
                    </a:solidFill>
                  </a:tcPr>
                </a:tc>
              </a:tr>
              <a:tr h="321868">
                <a:tc>
                  <a:txBody>
                    <a:bodyPr/>
                    <a:lstStyle/>
                    <a:p>
                      <a:pPr algn="ctr"/>
                      <a:r>
                        <a:rPr sz="900" b="1">
                          <a:solidFill>
                            <a:srgbClr val="FFFFFF"/>
                          </a:solidFill>
                          <a:latin typeface="Calibri"/>
                        </a:rPr>
                        <a:t>10</a:t>
                      </a:r>
                    </a:p>
                  </a:txBody>
                  <a:tcPr anchor="ctr" marL="54864" marR="27432" marT="0" marB="0">
                    <a:solidFill>
                      <a:srgbClr val="8A94A6"/>
                    </a:solidFill>
                  </a:tcPr>
                </a:tc>
                <a:tc>
                  <a:txBody>
                    <a:bodyPr/>
                    <a:lstStyle/>
                    <a:p>
                      <a:pPr algn="l"/>
                      <a:r>
                        <a:rPr sz="869">
                          <a:solidFill>
                            <a:srgbClr val="1B2A38"/>
                          </a:solidFill>
                          <a:latin typeface="Calibri"/>
                        </a:rPr>
                        <a:t>Huang et al. (2020). UNet 3+: full-scale connected UNet</a:t>
                      </a:r>
                    </a:p>
                  </a:txBody>
                  <a:tcPr anchor="ctr" marL="54864" marR="27432" marT="0" marB="0">
                    <a:solidFill>
                      <a:srgbClr val="EEF3F5"/>
                    </a:solidFill>
                  </a:tcPr>
                </a:tc>
                <a:tc>
                  <a:txBody>
                    <a:bodyPr/>
                    <a:lstStyle/>
                    <a:p>
                      <a:pPr algn="ctr"/>
                      <a:r>
                        <a:rPr sz="830" b="1">
                          <a:solidFill>
                            <a:srgbClr val="1F8AA6"/>
                          </a:solidFill>
                          <a:latin typeface="Calibri"/>
                        </a:rPr>
                        <a:t>Seg</a:t>
                      </a:r>
                    </a:p>
                  </a:txBody>
                  <a:tcPr anchor="ctr" marL="54864" marR="27432" marT="0" marB="0">
                    <a:solidFill>
                      <a:srgbClr val="EEF3F5"/>
                    </a:solidFill>
                  </a:tcPr>
                </a:tc>
              </a:tr>
              <a:tr h="321868">
                <a:tc>
                  <a:txBody>
                    <a:bodyPr/>
                    <a:lstStyle/>
                    <a:p>
                      <a:pPr algn="ctr"/>
                      <a:r>
                        <a:rPr sz="900" b="1">
                          <a:solidFill>
                            <a:srgbClr val="FFFFFF"/>
                          </a:solidFill>
                          <a:latin typeface="Calibri"/>
                        </a:rPr>
                        <a:t>11</a:t>
                      </a:r>
                    </a:p>
                  </a:txBody>
                  <a:tcPr anchor="ctr" marL="54864" marR="27432" marT="0" marB="0">
                    <a:solidFill>
                      <a:srgbClr val="8A94A6"/>
                    </a:solidFill>
                  </a:tcPr>
                </a:tc>
                <a:tc>
                  <a:txBody>
                    <a:bodyPr/>
                    <a:lstStyle/>
                    <a:p>
                      <a:pPr algn="l"/>
                      <a:r>
                        <a:rPr sz="869">
                          <a:solidFill>
                            <a:srgbClr val="1B2A38"/>
                          </a:solidFill>
                          <a:latin typeface="Calibri"/>
                        </a:rPr>
                        <a:t>Chen et al. (2021). TransUNet: transformers for medical seg</a:t>
                      </a:r>
                    </a:p>
                  </a:txBody>
                  <a:tcPr anchor="ctr" marL="54864" marR="27432" marT="0" marB="0">
                    <a:solidFill>
                      <a:srgbClr val="FFFFFF"/>
                    </a:solidFill>
                  </a:tcPr>
                </a:tc>
                <a:tc>
                  <a:txBody>
                    <a:bodyPr/>
                    <a:lstStyle/>
                    <a:p>
                      <a:pPr algn="ctr"/>
                      <a:r>
                        <a:rPr sz="830" b="1">
                          <a:solidFill>
                            <a:srgbClr val="1F8AA6"/>
                          </a:solidFill>
                          <a:latin typeface="Calibri"/>
                        </a:rPr>
                        <a:t>Seg</a:t>
                      </a:r>
                    </a:p>
                  </a:txBody>
                  <a:tcPr anchor="ctr" marL="54864" marR="27432" marT="0" marB="0">
                    <a:solidFill>
                      <a:srgbClr val="FFFFFF"/>
                    </a:solidFill>
                  </a:tcPr>
                </a:tc>
              </a:tr>
              <a:tr h="321868">
                <a:tc>
                  <a:txBody>
                    <a:bodyPr/>
                    <a:lstStyle/>
                    <a:p>
                      <a:pPr algn="ctr"/>
                      <a:r>
                        <a:rPr sz="900" b="1">
                          <a:solidFill>
                            <a:srgbClr val="FFFFFF"/>
                          </a:solidFill>
                          <a:latin typeface="Calibri"/>
                        </a:rPr>
                        <a:t>12</a:t>
                      </a:r>
                    </a:p>
                  </a:txBody>
                  <a:tcPr anchor="ctr" marL="54864" marR="27432" marT="0" marB="0">
                    <a:solidFill>
                      <a:srgbClr val="3AA655"/>
                    </a:solidFill>
                  </a:tcPr>
                </a:tc>
                <a:tc>
                  <a:txBody>
                    <a:bodyPr/>
                    <a:lstStyle/>
                    <a:p>
                      <a:pPr algn="l"/>
                      <a:r>
                        <a:rPr sz="869">
                          <a:solidFill>
                            <a:srgbClr val="1B2A38"/>
                          </a:solidFill>
                          <a:latin typeface="Calibri"/>
                        </a:rPr>
                        <a:t>Chen et al. (2023). AAU-Net: adaptive attention U-Net (BUS)</a:t>
                      </a:r>
                    </a:p>
                  </a:txBody>
                  <a:tcPr anchor="ctr" marL="54864" marR="27432" marT="0" marB="0">
                    <a:solidFill>
                      <a:srgbClr val="EEF3F5"/>
                    </a:solidFill>
                  </a:tcPr>
                </a:tc>
                <a:tc>
                  <a:txBody>
                    <a:bodyPr/>
                    <a:lstStyle/>
                    <a:p>
                      <a:pPr algn="ctr"/>
                      <a:r>
                        <a:rPr sz="830" b="1">
                          <a:solidFill>
                            <a:srgbClr val="1F8AA6"/>
                          </a:solidFill>
                          <a:latin typeface="Calibri"/>
                        </a:rPr>
                        <a:t>Seg</a:t>
                      </a:r>
                    </a:p>
                  </a:txBody>
                  <a:tcPr anchor="ctr" marL="54864" marR="27432" marT="0" marB="0">
                    <a:solidFill>
                      <a:srgbClr val="EEF3F5"/>
                    </a:solidFill>
                  </a:tcPr>
                </a:tc>
              </a:tr>
              <a:tr h="321868">
                <a:tc>
                  <a:txBody>
                    <a:bodyPr/>
                    <a:lstStyle/>
                    <a:p>
                      <a:pPr algn="ctr"/>
                      <a:r>
                        <a:rPr sz="900" b="1">
                          <a:solidFill>
                            <a:srgbClr val="FFFFFF"/>
                          </a:solidFill>
                          <a:latin typeface="Calibri"/>
                        </a:rPr>
                        <a:t>13</a:t>
                      </a:r>
                    </a:p>
                  </a:txBody>
                  <a:tcPr anchor="ctr" marL="54864" marR="27432" marT="0" marB="0">
                    <a:solidFill>
                      <a:srgbClr val="3AA655"/>
                    </a:solidFill>
                  </a:tcPr>
                </a:tc>
                <a:tc>
                  <a:txBody>
                    <a:bodyPr/>
                    <a:lstStyle/>
                    <a:p>
                      <a:pPr algn="l"/>
                      <a:r>
                        <a:rPr sz="869">
                          <a:solidFill>
                            <a:srgbClr val="1B2A38"/>
                          </a:solidFill>
                          <a:latin typeface="Calibri"/>
                        </a:rPr>
                        <a:t>Derakhshandeh &amp; Mahloojifar (2024). CResU-Net (BUSI)</a:t>
                      </a:r>
                    </a:p>
                  </a:txBody>
                  <a:tcPr anchor="ctr" marL="54864" marR="27432" marT="0" marB="0">
                    <a:solidFill>
                      <a:srgbClr val="FFFFFF"/>
                    </a:solidFill>
                  </a:tcPr>
                </a:tc>
                <a:tc>
                  <a:txBody>
                    <a:bodyPr/>
                    <a:lstStyle/>
                    <a:p>
                      <a:pPr algn="ctr"/>
                      <a:r>
                        <a:rPr sz="830" b="1">
                          <a:solidFill>
                            <a:srgbClr val="1F8AA6"/>
                          </a:solidFill>
                          <a:latin typeface="Calibri"/>
                        </a:rPr>
                        <a:t>Seg</a:t>
                      </a:r>
                    </a:p>
                  </a:txBody>
                  <a:tcPr anchor="ctr" marL="54864" marR="27432" marT="0" marB="0">
                    <a:solidFill>
                      <a:srgbClr val="FFFFFF"/>
                    </a:solidFill>
                  </a:tcPr>
                </a:tc>
              </a:tr>
            </a:tbl>
          </a:graphicData>
        </a:graphic>
      </p:graphicFrame>
      <p:graphicFrame>
        <p:nvGraphicFramePr>
          <p:cNvPr id="9" name="Table 8"/>
          <p:cNvGraphicFramePr>
            <a:graphicFrameLocks noGrp="1"/>
          </p:cNvGraphicFramePr>
          <p:nvPr/>
        </p:nvGraphicFramePr>
        <p:xfrm>
          <a:off x="6263640" y="1481328"/>
          <a:ext cx="5029200" cy="4155024"/>
        </p:xfrm>
        <a:graphic>
          <a:graphicData uri="http://schemas.openxmlformats.org/drawingml/2006/table">
            <a:tbl>
              <a:tblPr>
                <a:tableStyleId>{5C22544A-7EE6-4342-B048-85BDC9FD1C3A}</a:tableStyleId>
              </a:tblPr>
              <a:tblGrid>
                <a:gridCol w="365760"/>
                <a:gridCol w="3639312"/>
                <a:gridCol w="1024128"/>
              </a:tblGrid>
              <a:tr h="292608">
                <a:tc>
                  <a:txBody>
                    <a:bodyPr/>
                    <a:lstStyle/>
                    <a:p>
                      <a:pPr algn="ctr"/>
                      <a:r>
                        <a:rPr sz="950" b="1">
                          <a:solidFill>
                            <a:srgbClr val="FFFFFF"/>
                          </a:solidFill>
                          <a:latin typeface="Calibri"/>
                        </a:rPr>
                        <a:t>#</a:t>
                      </a:r>
                    </a:p>
                  </a:txBody>
                  <a:tcPr anchor="ctr" marL="54864" marT="9144" marB="9144">
                    <a:solidFill>
                      <a:srgbClr val="0A3646"/>
                    </a:solidFill>
                  </a:tcPr>
                </a:tc>
                <a:tc>
                  <a:txBody>
                    <a:bodyPr/>
                    <a:lstStyle/>
                    <a:p>
                      <a:pPr algn="l"/>
                      <a:r>
                        <a:rPr sz="950" b="1">
                          <a:solidFill>
                            <a:srgbClr val="FFFFFF"/>
                          </a:solidFill>
                          <a:latin typeface="Calibri"/>
                        </a:rPr>
                        <a:t>Reference</a:t>
                      </a:r>
                    </a:p>
                  </a:txBody>
                  <a:tcPr anchor="ctr" marL="54864" marT="9144" marB="9144">
                    <a:solidFill>
                      <a:srgbClr val="0A3646"/>
                    </a:solidFill>
                  </a:tcPr>
                </a:tc>
                <a:tc>
                  <a:txBody>
                    <a:bodyPr/>
                    <a:lstStyle/>
                    <a:p>
                      <a:pPr algn="ctr"/>
                      <a:r>
                        <a:rPr sz="950" b="1">
                          <a:solidFill>
                            <a:srgbClr val="FFFFFF"/>
                          </a:solidFill>
                          <a:latin typeface="Calibri"/>
                        </a:rPr>
                        <a:t>Task</a:t>
                      </a:r>
                    </a:p>
                  </a:txBody>
                  <a:tcPr anchor="ctr" marL="54864" marT="9144" marB="9144">
                    <a:solidFill>
                      <a:srgbClr val="0A3646"/>
                    </a:solidFill>
                  </a:tcPr>
                </a:tc>
              </a:tr>
              <a:tr h="321868">
                <a:tc>
                  <a:txBody>
                    <a:bodyPr/>
                    <a:lstStyle/>
                    <a:p>
                      <a:pPr algn="ctr"/>
                      <a:r>
                        <a:rPr sz="900" b="1">
                          <a:solidFill>
                            <a:srgbClr val="FFFFFF"/>
                          </a:solidFill>
                          <a:latin typeface="Calibri"/>
                        </a:rPr>
                        <a:t>14</a:t>
                      </a:r>
                    </a:p>
                  </a:txBody>
                  <a:tcPr anchor="ctr" marL="54864" marR="27432" marT="0" marB="0">
                    <a:solidFill>
                      <a:srgbClr val="8A94A6"/>
                    </a:solidFill>
                  </a:tcPr>
                </a:tc>
                <a:tc>
                  <a:txBody>
                    <a:bodyPr/>
                    <a:lstStyle/>
                    <a:p>
                      <a:pPr algn="l"/>
                      <a:r>
                        <a:rPr sz="869">
                          <a:solidFill>
                            <a:srgbClr val="1B2A38"/>
                          </a:solidFill>
                          <a:latin typeface="Calibri"/>
                        </a:rPr>
                        <a:t>Latha et al. (2024). EfficientNet-B7 + explainable AI (BUSI)</a:t>
                      </a:r>
                    </a:p>
                  </a:txBody>
                  <a:tcPr anchor="ctr" marL="54864" marR="27432" marT="0" marB="0">
                    <a:solidFill>
                      <a:srgbClr val="FFFFFF"/>
                    </a:solidFill>
                  </a:tcPr>
                </a:tc>
                <a:tc>
                  <a:txBody>
                    <a:bodyPr/>
                    <a:lstStyle/>
                    <a:p>
                      <a:pPr algn="ctr"/>
                      <a:r>
                        <a:rPr sz="830" b="1">
                          <a:solidFill>
                            <a:srgbClr val="0E4D64"/>
                          </a:solidFill>
                          <a:latin typeface="Calibri"/>
                        </a:rPr>
                        <a:t>Cls</a:t>
                      </a:r>
                    </a:p>
                  </a:txBody>
                  <a:tcPr anchor="ctr" marL="54864" marR="27432" marT="0" marB="0">
                    <a:solidFill>
                      <a:srgbClr val="FFFFFF"/>
                    </a:solidFill>
                  </a:tcPr>
                </a:tc>
              </a:tr>
              <a:tr h="321868">
                <a:tc>
                  <a:txBody>
                    <a:bodyPr/>
                    <a:lstStyle/>
                    <a:p>
                      <a:pPr algn="ctr"/>
                      <a:r>
                        <a:rPr sz="900" b="1">
                          <a:solidFill>
                            <a:srgbClr val="FFFFFF"/>
                          </a:solidFill>
                          <a:latin typeface="Calibri"/>
                        </a:rPr>
                        <a:t>15</a:t>
                      </a:r>
                    </a:p>
                  </a:txBody>
                  <a:tcPr anchor="ctr" marL="54864" marR="27432" marT="0" marB="0">
                    <a:solidFill>
                      <a:srgbClr val="8A94A6"/>
                    </a:solidFill>
                  </a:tcPr>
                </a:tc>
                <a:tc>
                  <a:txBody>
                    <a:bodyPr/>
                    <a:lstStyle/>
                    <a:p>
                      <a:pPr algn="l"/>
                      <a:r>
                        <a:rPr sz="869">
                          <a:solidFill>
                            <a:srgbClr val="1B2A38"/>
                          </a:solidFill>
                          <a:latin typeface="Calibri"/>
                        </a:rPr>
                        <a:t>Sulaiman et al. (2024). Attention U-Net on BUSI</a:t>
                      </a:r>
                    </a:p>
                  </a:txBody>
                  <a:tcPr anchor="ctr" marL="54864" marR="27432" marT="0" marB="0">
                    <a:solidFill>
                      <a:srgbClr val="EEF3F5"/>
                    </a:solidFill>
                  </a:tcPr>
                </a:tc>
                <a:tc>
                  <a:txBody>
                    <a:bodyPr/>
                    <a:lstStyle/>
                    <a:p>
                      <a:pPr algn="ctr"/>
                      <a:r>
                        <a:rPr sz="830" b="1">
                          <a:solidFill>
                            <a:srgbClr val="1F8AA6"/>
                          </a:solidFill>
                          <a:latin typeface="Calibri"/>
                        </a:rPr>
                        <a:t>Seg</a:t>
                      </a:r>
                    </a:p>
                  </a:txBody>
                  <a:tcPr anchor="ctr" marL="54864" marR="27432" marT="0" marB="0">
                    <a:solidFill>
                      <a:srgbClr val="EEF3F5"/>
                    </a:solidFill>
                  </a:tcPr>
                </a:tc>
              </a:tr>
              <a:tr h="321868">
                <a:tc>
                  <a:txBody>
                    <a:bodyPr/>
                    <a:lstStyle/>
                    <a:p>
                      <a:pPr algn="ctr"/>
                      <a:r>
                        <a:rPr sz="900" b="1">
                          <a:solidFill>
                            <a:srgbClr val="FFFFFF"/>
                          </a:solidFill>
                          <a:latin typeface="Calibri"/>
                        </a:rPr>
                        <a:t>16</a:t>
                      </a:r>
                    </a:p>
                  </a:txBody>
                  <a:tcPr anchor="ctr" marL="54864" marR="27432" marT="0" marB="0">
                    <a:solidFill>
                      <a:srgbClr val="8A94A6"/>
                    </a:solidFill>
                  </a:tcPr>
                </a:tc>
                <a:tc>
                  <a:txBody>
                    <a:bodyPr/>
                    <a:lstStyle/>
                    <a:p>
                      <a:pPr algn="l"/>
                      <a:r>
                        <a:rPr sz="869">
                          <a:solidFill>
                            <a:srgbClr val="1B2A38"/>
                          </a:solidFill>
                          <a:latin typeface="Calibri"/>
                        </a:rPr>
                        <a:t>Anari et al. (2025). Explainable attention tumor seg (UNet+enc.)</a:t>
                      </a:r>
                    </a:p>
                  </a:txBody>
                  <a:tcPr anchor="ctr" marL="54864" marR="27432" marT="0" marB="0">
                    <a:solidFill>
                      <a:srgbClr val="FFFFFF"/>
                    </a:solidFill>
                  </a:tcPr>
                </a:tc>
                <a:tc>
                  <a:txBody>
                    <a:bodyPr/>
                    <a:lstStyle/>
                    <a:p>
                      <a:pPr algn="ctr"/>
                      <a:r>
                        <a:rPr sz="830" b="1">
                          <a:solidFill>
                            <a:srgbClr val="1F8AA6"/>
                          </a:solidFill>
                          <a:latin typeface="Calibri"/>
                        </a:rPr>
                        <a:t>Seg</a:t>
                      </a:r>
                    </a:p>
                  </a:txBody>
                  <a:tcPr anchor="ctr" marL="54864" marR="27432" marT="0" marB="0">
                    <a:solidFill>
                      <a:srgbClr val="FFFFFF"/>
                    </a:solidFill>
                  </a:tcPr>
                </a:tc>
              </a:tr>
              <a:tr h="321868">
                <a:tc>
                  <a:txBody>
                    <a:bodyPr/>
                    <a:lstStyle/>
                    <a:p>
                      <a:pPr algn="ctr"/>
                      <a:r>
                        <a:rPr sz="900" b="1">
                          <a:solidFill>
                            <a:srgbClr val="FFFFFF"/>
                          </a:solidFill>
                          <a:latin typeface="Calibri"/>
                        </a:rPr>
                        <a:t>17</a:t>
                      </a:r>
                    </a:p>
                  </a:txBody>
                  <a:tcPr anchor="ctr" marL="54864" marR="27432" marT="0" marB="0">
                    <a:solidFill>
                      <a:srgbClr val="3AA655"/>
                    </a:solidFill>
                  </a:tcPr>
                </a:tc>
                <a:tc>
                  <a:txBody>
                    <a:bodyPr/>
                    <a:lstStyle/>
                    <a:p>
                      <a:pPr algn="l"/>
                      <a:r>
                        <a:rPr sz="869">
                          <a:solidFill>
                            <a:srgbClr val="1B2A38"/>
                          </a:solidFill>
                          <a:latin typeface="Calibri"/>
                        </a:rPr>
                        <a:t>Bruno et al. (2025). Dual-stage seg + classification framework</a:t>
                      </a:r>
                    </a:p>
                  </a:txBody>
                  <a:tcPr anchor="ctr" marL="54864" marR="27432" marT="0" marB="0">
                    <a:solidFill>
                      <a:srgbClr val="EEF3F5"/>
                    </a:solidFill>
                  </a:tcPr>
                </a:tc>
                <a:tc>
                  <a:txBody>
                    <a:bodyPr/>
                    <a:lstStyle/>
                    <a:p>
                      <a:pPr algn="ctr"/>
                      <a:r>
                        <a:rPr sz="830" b="1">
                          <a:solidFill>
                            <a:srgbClr val="E1595B"/>
                          </a:solidFill>
                          <a:latin typeface="Calibri"/>
                        </a:rPr>
                        <a:t>Both</a:t>
                      </a:r>
                    </a:p>
                  </a:txBody>
                  <a:tcPr anchor="ctr" marL="54864" marR="27432" marT="0" marB="0">
                    <a:solidFill>
                      <a:srgbClr val="EEF3F5"/>
                    </a:solidFill>
                  </a:tcPr>
                </a:tc>
              </a:tr>
              <a:tr h="321868">
                <a:tc>
                  <a:txBody>
                    <a:bodyPr/>
                    <a:lstStyle/>
                    <a:p>
                      <a:pPr algn="ctr"/>
                      <a:r>
                        <a:rPr sz="900" b="1">
                          <a:solidFill>
                            <a:srgbClr val="FFFFFF"/>
                          </a:solidFill>
                          <a:latin typeface="Calibri"/>
                        </a:rPr>
                        <a:t>18</a:t>
                      </a:r>
                    </a:p>
                  </a:txBody>
                  <a:tcPr anchor="ctr" marL="54864" marR="27432" marT="0" marB="0">
                    <a:solidFill>
                      <a:srgbClr val="8A94A6"/>
                    </a:solidFill>
                  </a:tcPr>
                </a:tc>
                <a:tc>
                  <a:txBody>
                    <a:bodyPr/>
                    <a:lstStyle/>
                    <a:p>
                      <a:pPr algn="l"/>
                      <a:r>
                        <a:rPr sz="869">
                          <a:solidFill>
                            <a:srgbClr val="1B2A38"/>
                          </a:solidFill>
                          <a:latin typeface="Calibri"/>
                        </a:rPr>
                        <a:t>Xian et al. (2018). BUS image segmentation: a survey</a:t>
                      </a:r>
                    </a:p>
                  </a:txBody>
                  <a:tcPr anchor="ctr" marL="54864" marR="27432" marT="0" marB="0">
                    <a:solidFill>
                      <a:srgbClr val="FFFFFF"/>
                    </a:solidFill>
                  </a:tcPr>
                </a:tc>
                <a:tc>
                  <a:txBody>
                    <a:bodyPr/>
                    <a:lstStyle/>
                    <a:p>
                      <a:pPr algn="ctr"/>
                      <a:r>
                        <a:rPr sz="830" b="1">
                          <a:solidFill>
                            <a:srgbClr val="8A94A6"/>
                          </a:solidFill>
                          <a:latin typeface="Calibri"/>
                        </a:rPr>
                        <a:t>Survey</a:t>
                      </a:r>
                    </a:p>
                  </a:txBody>
                  <a:tcPr anchor="ctr" marL="54864" marR="27432" marT="0" marB="0">
                    <a:solidFill>
                      <a:srgbClr val="FFFFFF"/>
                    </a:solidFill>
                  </a:tcPr>
                </a:tc>
              </a:tr>
              <a:tr h="321868">
                <a:tc>
                  <a:txBody>
                    <a:bodyPr/>
                    <a:lstStyle/>
                    <a:p>
                      <a:pPr algn="ctr"/>
                      <a:r>
                        <a:rPr sz="900" b="1">
                          <a:solidFill>
                            <a:srgbClr val="FFFFFF"/>
                          </a:solidFill>
                          <a:latin typeface="Calibri"/>
                        </a:rPr>
                        <a:t>19</a:t>
                      </a:r>
                    </a:p>
                  </a:txBody>
                  <a:tcPr anchor="ctr" marL="54864" marR="27432" marT="0" marB="0">
                    <a:solidFill>
                      <a:srgbClr val="8A94A6"/>
                    </a:solidFill>
                  </a:tcPr>
                </a:tc>
                <a:tc>
                  <a:txBody>
                    <a:bodyPr/>
                    <a:lstStyle/>
                    <a:p>
                      <a:pPr algn="l"/>
                      <a:r>
                        <a:rPr sz="869">
                          <a:solidFill>
                            <a:srgbClr val="1B2A38"/>
                          </a:solidFill>
                          <a:latin typeface="Calibri"/>
                        </a:rPr>
                        <a:t>Cheng et al. (2010). BUS detection &amp; classification: a survey</a:t>
                      </a:r>
                    </a:p>
                  </a:txBody>
                  <a:tcPr anchor="ctr" marL="54864" marR="27432" marT="0" marB="0">
                    <a:solidFill>
                      <a:srgbClr val="EEF3F5"/>
                    </a:solidFill>
                  </a:tcPr>
                </a:tc>
                <a:tc>
                  <a:txBody>
                    <a:bodyPr/>
                    <a:lstStyle/>
                    <a:p>
                      <a:pPr algn="ctr"/>
                      <a:r>
                        <a:rPr sz="830" b="1">
                          <a:solidFill>
                            <a:srgbClr val="8A94A6"/>
                          </a:solidFill>
                          <a:latin typeface="Calibri"/>
                        </a:rPr>
                        <a:t>Survey</a:t>
                      </a:r>
                    </a:p>
                  </a:txBody>
                  <a:tcPr anchor="ctr" marL="54864" marR="27432" marT="0" marB="0">
                    <a:solidFill>
                      <a:srgbClr val="EEF3F5"/>
                    </a:solidFill>
                  </a:tcPr>
                </a:tc>
              </a:tr>
              <a:tr h="321868">
                <a:tc>
                  <a:txBody>
                    <a:bodyPr/>
                    <a:lstStyle/>
                    <a:p>
                      <a:pPr algn="ctr"/>
                      <a:r>
                        <a:rPr sz="900" b="1">
                          <a:solidFill>
                            <a:srgbClr val="FFFFFF"/>
                          </a:solidFill>
                          <a:latin typeface="Calibri"/>
                        </a:rPr>
                        <a:t>20</a:t>
                      </a:r>
                    </a:p>
                  </a:txBody>
                  <a:tcPr anchor="ctr" marL="54864" marR="27432" marT="0" marB="0">
                    <a:solidFill>
                      <a:srgbClr val="3AA655"/>
                    </a:solidFill>
                  </a:tcPr>
                </a:tc>
                <a:tc>
                  <a:txBody>
                    <a:bodyPr/>
                    <a:lstStyle/>
                    <a:p>
                      <a:pPr algn="l"/>
                      <a:r>
                        <a:rPr sz="869">
                          <a:solidFill>
                            <a:srgbClr val="1B2A38"/>
                          </a:solidFill>
                          <a:latin typeface="Calibri"/>
                        </a:rPr>
                        <a:t>Isensee et al. (2021). nnU-Net: self-configuring segmentation</a:t>
                      </a:r>
                    </a:p>
                  </a:txBody>
                  <a:tcPr anchor="ctr" marL="54864" marR="27432" marT="0" marB="0">
                    <a:solidFill>
                      <a:srgbClr val="FFFFFF"/>
                    </a:solidFill>
                  </a:tcPr>
                </a:tc>
                <a:tc>
                  <a:txBody>
                    <a:bodyPr/>
                    <a:lstStyle/>
                    <a:p>
                      <a:pPr algn="ctr"/>
                      <a:r>
                        <a:rPr sz="830" b="1">
                          <a:solidFill>
                            <a:srgbClr val="1F8AA6"/>
                          </a:solidFill>
                          <a:latin typeface="Calibri"/>
                        </a:rPr>
                        <a:t>Seg</a:t>
                      </a:r>
                    </a:p>
                  </a:txBody>
                  <a:tcPr anchor="ctr" marL="54864" marR="27432" marT="0" marB="0">
                    <a:solidFill>
                      <a:srgbClr val="FFFFFF"/>
                    </a:solidFill>
                  </a:tcPr>
                </a:tc>
              </a:tr>
              <a:tr h="321868">
                <a:tc>
                  <a:txBody>
                    <a:bodyPr/>
                    <a:lstStyle/>
                    <a:p>
                      <a:pPr algn="ctr"/>
                      <a:r>
                        <a:rPr sz="900" b="1">
                          <a:solidFill>
                            <a:srgbClr val="FFFFFF"/>
                          </a:solidFill>
                          <a:latin typeface="Calibri"/>
                        </a:rPr>
                        <a:t>21</a:t>
                      </a:r>
                    </a:p>
                  </a:txBody>
                  <a:tcPr anchor="ctr" marL="54864" marR="27432" marT="0" marB="0">
                    <a:solidFill>
                      <a:srgbClr val="8A94A6"/>
                    </a:solidFill>
                  </a:tcPr>
                </a:tc>
                <a:tc>
                  <a:txBody>
                    <a:bodyPr/>
                    <a:lstStyle/>
                    <a:p>
                      <a:pPr algn="l"/>
                      <a:r>
                        <a:rPr sz="869">
                          <a:solidFill>
                            <a:srgbClr val="1B2A38"/>
                          </a:solidFill>
                          <a:latin typeface="Calibri"/>
                        </a:rPr>
                        <a:t>Kirillov et al. (2023). Segment Anything (SAM)</a:t>
                      </a:r>
                    </a:p>
                  </a:txBody>
                  <a:tcPr anchor="ctr" marL="54864" marR="27432" marT="0" marB="0">
                    <a:solidFill>
                      <a:srgbClr val="EEF3F5"/>
                    </a:solidFill>
                  </a:tcPr>
                </a:tc>
                <a:tc>
                  <a:txBody>
                    <a:bodyPr/>
                    <a:lstStyle/>
                    <a:p>
                      <a:pPr algn="ctr"/>
                      <a:r>
                        <a:rPr sz="830" b="1">
                          <a:solidFill>
                            <a:srgbClr val="1F8AA6"/>
                          </a:solidFill>
                          <a:latin typeface="Calibri"/>
                        </a:rPr>
                        <a:t>Seg</a:t>
                      </a:r>
                    </a:p>
                  </a:txBody>
                  <a:tcPr anchor="ctr" marL="54864" marR="27432" marT="0" marB="0">
                    <a:solidFill>
                      <a:srgbClr val="EEF3F5"/>
                    </a:solidFill>
                  </a:tcPr>
                </a:tc>
              </a:tr>
              <a:tr h="321868">
                <a:tc>
                  <a:txBody>
                    <a:bodyPr/>
                    <a:lstStyle/>
                    <a:p>
                      <a:pPr algn="ctr"/>
                      <a:r>
                        <a:rPr sz="900" b="1">
                          <a:solidFill>
                            <a:srgbClr val="FFFFFF"/>
                          </a:solidFill>
                          <a:latin typeface="Calibri"/>
                        </a:rPr>
                        <a:t>22</a:t>
                      </a:r>
                    </a:p>
                  </a:txBody>
                  <a:tcPr anchor="ctr" marL="54864" marR="27432" marT="0" marB="0">
                    <a:solidFill>
                      <a:srgbClr val="8A94A6"/>
                    </a:solidFill>
                  </a:tcPr>
                </a:tc>
                <a:tc>
                  <a:txBody>
                    <a:bodyPr/>
                    <a:lstStyle/>
                    <a:p>
                      <a:pPr algn="l"/>
                      <a:r>
                        <a:rPr sz="869">
                          <a:solidFill>
                            <a:srgbClr val="1B2A38"/>
                          </a:solidFill>
                          <a:latin typeface="Calibri"/>
                        </a:rPr>
                        <a:t>Ma et al. (2024). MedSAM: segment anything in medical images</a:t>
                      </a:r>
                    </a:p>
                  </a:txBody>
                  <a:tcPr anchor="ctr" marL="54864" marR="27432" marT="0" marB="0">
                    <a:solidFill>
                      <a:srgbClr val="FFFFFF"/>
                    </a:solidFill>
                  </a:tcPr>
                </a:tc>
                <a:tc>
                  <a:txBody>
                    <a:bodyPr/>
                    <a:lstStyle/>
                    <a:p>
                      <a:pPr algn="ctr"/>
                      <a:r>
                        <a:rPr sz="830" b="1">
                          <a:solidFill>
                            <a:srgbClr val="1F8AA6"/>
                          </a:solidFill>
                          <a:latin typeface="Calibri"/>
                        </a:rPr>
                        <a:t>Seg</a:t>
                      </a:r>
                    </a:p>
                  </a:txBody>
                  <a:tcPr anchor="ctr" marL="54864" marR="27432" marT="0" marB="0">
                    <a:solidFill>
                      <a:srgbClr val="FFFFFF"/>
                    </a:solidFill>
                  </a:tcPr>
                </a:tc>
              </a:tr>
              <a:tr h="321868">
                <a:tc>
                  <a:txBody>
                    <a:bodyPr/>
                    <a:lstStyle/>
                    <a:p>
                      <a:pPr algn="ctr"/>
                      <a:r>
                        <a:rPr sz="900" b="1">
                          <a:solidFill>
                            <a:srgbClr val="FFFFFF"/>
                          </a:solidFill>
                          <a:latin typeface="Calibri"/>
                        </a:rPr>
                        <a:t>23</a:t>
                      </a:r>
                    </a:p>
                  </a:txBody>
                  <a:tcPr anchor="ctr" marL="54864" marR="27432" marT="0" marB="0">
                    <a:solidFill>
                      <a:srgbClr val="8A94A6"/>
                    </a:solidFill>
                  </a:tcPr>
                </a:tc>
                <a:tc>
                  <a:txBody>
                    <a:bodyPr/>
                    <a:lstStyle/>
                    <a:p>
                      <a:pPr algn="l"/>
                      <a:r>
                        <a:rPr sz="869">
                          <a:solidFill>
                            <a:srgbClr val="1B2A38"/>
                          </a:solidFill>
                          <a:latin typeface="Calibri"/>
                        </a:rPr>
                        <a:t>Selvaraju et al. (2017). Grad-CAM: gradient-based localization</a:t>
                      </a:r>
                    </a:p>
                  </a:txBody>
                  <a:tcPr anchor="ctr" marL="54864" marR="27432" marT="0" marB="0">
                    <a:solidFill>
                      <a:srgbClr val="EEF3F5"/>
                    </a:solidFill>
                  </a:tcPr>
                </a:tc>
                <a:tc>
                  <a:txBody>
                    <a:bodyPr/>
                    <a:lstStyle/>
                    <a:p>
                      <a:pPr algn="ctr"/>
                      <a:r>
                        <a:rPr sz="830" b="1">
                          <a:solidFill>
                            <a:srgbClr val="E8A33D"/>
                          </a:solidFill>
                          <a:latin typeface="Calibri"/>
                        </a:rPr>
                        <a:t>XAI</a:t>
                      </a:r>
                    </a:p>
                  </a:txBody>
                  <a:tcPr anchor="ctr" marL="54864" marR="27432" marT="0" marB="0">
                    <a:solidFill>
                      <a:srgbClr val="EEF3F5"/>
                    </a:solidFill>
                  </a:tcPr>
                </a:tc>
              </a:tr>
              <a:tr h="321868">
                <a:tc>
                  <a:txBody>
                    <a:bodyPr/>
                    <a:lstStyle/>
                    <a:p>
                      <a:pPr algn="ctr"/>
                      <a:r>
                        <a:rPr sz="900" b="1">
                          <a:solidFill>
                            <a:srgbClr val="FFFFFF"/>
                          </a:solidFill>
                          <a:latin typeface="Calibri"/>
                        </a:rPr>
                        <a:t>24</a:t>
                      </a:r>
                    </a:p>
                  </a:txBody>
                  <a:tcPr anchor="ctr" marL="54864" marR="27432" marT="0" marB="0">
                    <a:solidFill>
                      <a:srgbClr val="8A94A6"/>
                    </a:solidFill>
                  </a:tcPr>
                </a:tc>
                <a:tc>
                  <a:txBody>
                    <a:bodyPr/>
                    <a:lstStyle/>
                    <a:p>
                      <a:pPr algn="l"/>
                      <a:r>
                        <a:rPr sz="869">
                          <a:solidFill>
                            <a:srgbClr val="1B2A38"/>
                          </a:solidFill>
                          <a:latin typeface="Calibri"/>
                        </a:rPr>
                        <a:t>Al-Dhabyani et al. (2019). DL augmentation &amp; classification (BUS)</a:t>
                      </a:r>
                    </a:p>
                  </a:txBody>
                  <a:tcPr anchor="ctr" marL="54864" marR="27432" marT="0" marB="0">
                    <a:solidFill>
                      <a:srgbClr val="FFFFFF"/>
                    </a:solidFill>
                  </a:tcPr>
                </a:tc>
                <a:tc>
                  <a:txBody>
                    <a:bodyPr/>
                    <a:lstStyle/>
                    <a:p>
                      <a:pPr algn="ctr"/>
                      <a:r>
                        <a:rPr sz="830" b="1">
                          <a:solidFill>
                            <a:srgbClr val="0E4D64"/>
                          </a:solidFill>
                          <a:latin typeface="Calibri"/>
                        </a:rPr>
                        <a:t>Cls</a:t>
                      </a:r>
                    </a:p>
                  </a:txBody>
                  <a:tcPr anchor="ctr" marL="54864" marR="27432" marT="0" marB="0">
                    <a:solidFill>
                      <a:srgbClr val="FFFFFF"/>
                    </a:solidFill>
                  </a:tcPr>
                </a:tc>
              </a:tr>
              <a:tr h="321868">
                <a:tc>
                  <a:txBody>
                    <a:bodyPr/>
                    <a:lstStyle/>
                    <a:p>
                      <a:pPr algn="ctr"/>
                      <a:r>
                        <a:rPr sz="900" b="1">
                          <a:solidFill>
                            <a:srgbClr val="FFFFFF"/>
                          </a:solidFill>
                          <a:latin typeface="Calibri"/>
                        </a:rPr>
                        <a:t>25</a:t>
                      </a:r>
                    </a:p>
                  </a:txBody>
                  <a:tcPr anchor="ctr" marL="54864" marR="27432" marT="0" marB="0">
                    <a:solidFill>
                      <a:srgbClr val="3AA655"/>
                    </a:solidFill>
                  </a:tcPr>
                </a:tc>
                <a:tc>
                  <a:txBody>
                    <a:bodyPr/>
                    <a:lstStyle/>
                    <a:p>
                      <a:pPr algn="l"/>
                      <a:r>
                        <a:rPr sz="869">
                          <a:solidFill>
                            <a:srgbClr val="1B2A38"/>
                          </a:solidFill>
                          <a:latin typeface="Calibri"/>
                        </a:rPr>
                        <a:t>Lu et al. (2025). Multi-task joint seg + classification (OCA)</a:t>
                      </a:r>
                    </a:p>
                  </a:txBody>
                  <a:tcPr anchor="ctr" marL="54864" marR="27432" marT="0" marB="0">
                    <a:solidFill>
                      <a:srgbClr val="EEF3F5"/>
                    </a:solidFill>
                  </a:tcPr>
                </a:tc>
                <a:tc>
                  <a:txBody>
                    <a:bodyPr/>
                    <a:lstStyle/>
                    <a:p>
                      <a:pPr algn="ctr"/>
                      <a:r>
                        <a:rPr sz="830" b="1">
                          <a:solidFill>
                            <a:srgbClr val="E1595B"/>
                          </a:solidFill>
                          <a:latin typeface="Calibri"/>
                        </a:rPr>
                        <a:t>Both</a:t>
                      </a:r>
                    </a:p>
                  </a:txBody>
                  <a:tcPr anchor="ctr" marL="54864" marR="27432" marT="0" marB="0">
                    <a:solidFill>
                      <a:srgbClr val="EEF3F5"/>
                    </a:solidFill>
                  </a:tcPr>
                </a:tc>
              </a:tr>
            </a:tbl>
          </a:graphicData>
        </a:graphic>
      </p:graphicFrame>
      <p:sp>
        <p:nvSpPr>
          <p:cNvPr id="10" name="Oval 9"/>
          <p:cNvSpPr/>
          <p:nvPr/>
        </p:nvSpPr>
        <p:spPr>
          <a:xfrm>
            <a:off x="777240" y="5989320"/>
            <a:ext cx="201168" cy="201168"/>
          </a:xfrm>
          <a:prstGeom prst="ellipse">
            <a:avLst/>
          </a:prstGeom>
          <a:solidFill>
            <a:srgbClr val="3AA6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42415" y="5971032"/>
            <a:ext cx="2926080" cy="274320"/>
          </a:xfrm>
          <a:prstGeom prst="rect">
            <a:avLst/>
          </a:prstGeom>
          <a:noFill/>
        </p:spPr>
        <p:txBody>
          <a:bodyPr wrap="square" anchor="t" lIns="0" rIns="0" tIns="0" bIns="0">
            <a:spAutoFit/>
          </a:bodyPr>
          <a:lstStyle/>
          <a:p>
            <a:pPr algn="l">
              <a:lnSpc>
                <a:spcPct val="100000"/>
              </a:lnSpc>
              <a:spcBef>
                <a:spcPts val="0"/>
              </a:spcBef>
              <a:spcAft>
                <a:spcPts val="400"/>
              </a:spcAft>
            </a:pPr>
            <a:r>
              <a:rPr sz="1000" b="0" i="0">
                <a:solidFill>
                  <a:srgbClr val="1B2A38"/>
                </a:solidFill>
                <a:latin typeface="Calibri"/>
              </a:rPr>
              <a:t>reproduced / used in our benchmark</a:t>
            </a:r>
          </a:p>
        </p:txBody>
      </p:sp>
      <p:sp>
        <p:nvSpPr>
          <p:cNvPr id="12" name="Oval 11"/>
          <p:cNvSpPr/>
          <p:nvPr/>
        </p:nvSpPr>
        <p:spPr>
          <a:xfrm>
            <a:off x="4343400" y="5989320"/>
            <a:ext cx="201168" cy="201168"/>
          </a:xfrm>
          <a:prstGeom prst="ellipse">
            <a:avLst/>
          </a:prstGeom>
          <a:solidFill>
            <a:srgbClr val="8A94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08576" y="5971032"/>
            <a:ext cx="2743200" cy="274320"/>
          </a:xfrm>
          <a:prstGeom prst="rect">
            <a:avLst/>
          </a:prstGeom>
          <a:noFill/>
        </p:spPr>
        <p:txBody>
          <a:bodyPr wrap="square" anchor="t" lIns="0" rIns="0" tIns="0" bIns="0">
            <a:spAutoFit/>
          </a:bodyPr>
          <a:lstStyle/>
          <a:p>
            <a:pPr algn="l">
              <a:lnSpc>
                <a:spcPct val="100000"/>
              </a:lnSpc>
              <a:spcBef>
                <a:spcPts val="0"/>
              </a:spcBef>
              <a:spcAft>
                <a:spcPts val="400"/>
              </a:spcAft>
            </a:pPr>
            <a:r>
              <a:rPr sz="1000" b="0" i="0">
                <a:solidFill>
                  <a:srgbClr val="1B2A38"/>
                </a:solidFill>
                <a:latin typeface="Calibri"/>
              </a:rPr>
              <a:t>cited as context / background</a:t>
            </a:r>
          </a:p>
        </p:txBody>
      </p:sp>
      <p:sp>
        <p:nvSpPr>
          <p:cNvPr id="14" name="TextBox 13"/>
          <p:cNvSpPr txBox="1"/>
          <p:nvPr/>
        </p:nvSpPr>
        <p:spPr>
          <a:xfrm>
            <a:off x="7680960" y="5971032"/>
            <a:ext cx="3749039" cy="274320"/>
          </a:xfrm>
          <a:prstGeom prst="rect">
            <a:avLst/>
          </a:prstGeom>
          <a:noFill/>
        </p:spPr>
        <p:txBody>
          <a:bodyPr wrap="square" anchor="t" lIns="0" rIns="0" tIns="0" bIns="0">
            <a:spAutoFit/>
          </a:bodyPr>
          <a:lstStyle/>
          <a:p>
            <a:pPr algn="r">
              <a:lnSpc>
                <a:spcPct val="100000"/>
              </a:lnSpc>
              <a:spcBef>
                <a:spcPts val="0"/>
              </a:spcBef>
              <a:spcAft>
                <a:spcPts val="400"/>
              </a:spcAft>
            </a:pPr>
            <a:r>
              <a:rPr sz="1000" b="1" i="1">
                <a:solidFill>
                  <a:srgbClr val="45596B"/>
                </a:solidFill>
                <a:latin typeface="Calibri"/>
              </a:rPr>
              <a:t>Task colour: Seg · Cls · Both · Survey</a:t>
            </a:r>
          </a:p>
        </p:txBody>
      </p:sp>
      <p:sp>
        <p:nvSpPr>
          <p:cNvPr id="15" name="TextBox 14"/>
          <p:cNvSpPr txBox="1"/>
          <p:nvPr/>
        </p:nvSpPr>
        <p:spPr>
          <a:xfrm>
            <a:off x="502920" y="6473952"/>
            <a:ext cx="7315200" cy="274320"/>
          </a:xfrm>
          <a:prstGeom prst="rect">
            <a:avLst/>
          </a:prstGeom>
          <a:noFill/>
        </p:spPr>
        <p:txBody>
          <a:bodyPr wrap="square" anchor="t" lIns="0" rIns="0" tIns="0" bIns="0">
            <a:spAutoFit/>
          </a:bodyPr>
          <a:lstStyle/>
          <a:p>
            <a:pPr algn="l">
              <a:lnSpc>
                <a:spcPct val="100000"/>
              </a:lnSpc>
              <a:spcBef>
                <a:spcPts val="0"/>
              </a:spcBef>
              <a:spcAft>
                <a:spcPts val="400"/>
              </a:spcAft>
            </a:pPr>
            <a:r>
              <a:rPr sz="900" b="0" i="0">
                <a:solidFill>
                  <a:srgbClr val="8A94A6"/>
                </a:solidFill>
                <a:latin typeface="Calibri"/>
              </a:rPr>
              <a:t>COMP9444 · Group Project 047 · Breast Ultrasound (BUSI)</a:t>
            </a:r>
          </a:p>
        </p:txBody>
      </p:sp>
      <p:sp>
        <p:nvSpPr>
          <p:cNvPr id="16" name="TextBox 15"/>
          <p:cNvSpPr txBox="1"/>
          <p:nvPr/>
        </p:nvSpPr>
        <p:spPr>
          <a:xfrm>
            <a:off x="11064240" y="6473952"/>
            <a:ext cx="685800" cy="274320"/>
          </a:xfrm>
          <a:prstGeom prst="rect">
            <a:avLst/>
          </a:prstGeom>
          <a:noFill/>
        </p:spPr>
        <p:txBody>
          <a:bodyPr wrap="square" anchor="t" lIns="0" rIns="0" tIns="0" bIns="0">
            <a:spAutoFit/>
          </a:bodyPr>
          <a:lstStyle/>
          <a:p>
            <a:pPr algn="r">
              <a:lnSpc>
                <a:spcPct val="100000"/>
              </a:lnSpc>
              <a:spcBef>
                <a:spcPts val="0"/>
              </a:spcBef>
              <a:spcAft>
                <a:spcPts val="400"/>
              </a:spcAft>
            </a:pPr>
            <a:r>
              <a:rPr sz="900" b="1" i="0">
                <a:solidFill>
                  <a:srgbClr val="8A94A6"/>
                </a:solidFill>
                <a:latin typeface="Calibri"/>
              </a:rPr>
              <a:t>A1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